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706"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378655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Herkese merhaba arkadaşlar, biz KCŞ A.Ş. takımıyız. Geçen sefer HTML ile sayfanın iskeletini kurmuştuk. Bugün o iskelete kıyafet giydiriyoruz: MDN çekirdek modüllerinden CSS styling basics, CSS text styling ve CSS layout başlıklarını, yani CSS'in temellerini, metin stilini ve sayfa düzenini anlatacağız. Tüm içerik MDN Web Docs'tan eğitim amaçlı çevrilip derlendi.
SAHNEDE: Sağdaki iç içe kutuları göster: “Bunun adı box model; birazdan CSS'in en önemli fikri olduğunu göreceğiz.”
GEÇİŞ: Önce bugünkü yolculuğun haritasına bakalım.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Üç modülde toplam 26 ders var. Birinci modül CSS temelleri, 15 ders: kural yazmak, seçiciler, box model, çakışan kurallar, birimler, boyut, arka plan, taşma, form ve tablolar, bir de hata ayıklama. İkinci modül metin stili, 4 ders: fontlar, listeler, linkler ve web fontları. Üçüncü modül düzen, 7 ders: normal akıştan başlayıp float, konumlandırma, flexbox, grid ve duyarlı tasarıma kadar. Bu sırayı bilerek takip edeceğiz: önce boya ve mobilya, sonra yazılar, en son odaların yerleşimi.
SAHNEDE: Her kartı söylerken rengine dikkat çek: “Camgöbeği gördüğünüz her slayt 1. modül, pembe 2., yeşil 3. modül.” Alttaki ilerleme çubuğunu da göster.
GEÇİŞ: Başlamadan önce CSS'in nereden geldiğine kısaca bakalım.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Web'in ilk yıllarında görünüm doğrudan HTML'in içine yazılıyordu ve kod çok karışıyordu. 1994'te Håkon Wium Lie, CERN'de bir öneri yaptı: içerik HTML'de kalsın, görünüm ayrı bir dilde yazılsın. Bu CSS'in doğuşu. 1996'da CSS1 standart oldu: font, renk, margin, padding gibi temel özellikler geldi. 1998'de CSS2 ile konumlandırma ve z-index geldi. 2011'de CSS 2.1 resmîleşti ve CSS3 tek dosya olmaktan çıkıp ayrı modüllere bölündü. 2010'larda Flexbox ve media queries yaygınlaştı, 2017'de tarayıcılar Grid'i destekledi. 2020'lerde :has(), container queries ve iç içe CSS geldi. Yani CSS hâlâ büyüyen bir dil.
SAHNEDE: Zaman çizgisini soldan sağa parmakla takip et. 2017'de dur: “Bugün anlatacağımız Grid aslında oldukça yeni.”
GEÇİŞ: Şimdi birinci modüle, CSS temellerine geçiyoruz.</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Birinci modül CSS styling basics. 15 ders var ve bu dersler CSS'in alfabesi. Burada öğrendiklerimiz diğer iki modülün de temeli olacak.
SAHNEDE: Ders adlarını tek tek okuma; sadece “15 ders, hepsine sırayla gireceğiz” de ve geç.
GEÇİŞ: İlk soru: CSS nedir?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CSS, Cascading Style Sheets, yani basamaklı stil sayfaları. Görevi HTML öğelerinin tarayıcıda nasıl görüneceğini belirlemek. İlginç bir nokta: hiç CSS yazmasanız da başlıklar büyük, linkler mavi görünür. Bu HTML'den değil, tarayıcının içine gömülü varsayılan stil sayfasından gelir. CSS kural tabanlı bir dildir. Soldaki örnekte h1 seçicidir, yani hangi öğe. Süslü parantez bildirim bloğu. color özellik, red değer. Her özellik belli türde değer kabul eder. Tarayıcı ise önce HTML'den DOM ağacını kurar, sonra kuralları öğelere dağıtıp render ağacını oluşturur ve en son ekrana boyar.
SAHNEDE: Renkli etiketleri kodla eşleştir: pembe seçici, mavi özellik, sarı değer. Bu renkleri bütün sunumda aynı kullandığımızı söyle.
GEÇİŞ: Peki bu CSS'i sayfaya nasıl ekliyoruz?</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Üç yol var. Birincisi harici stil dosyası: CSS'i ayrı bir .css dosyasına yazıp head'de link etiketiyle bağlarız. En yaygın ve en iyi yöntem, çünkü tek dosya yüzlerce sayfayı stiller. İkincisi dahili stil: head içindeki style etiketine yazmak. Dosyaya erişemediğiniz bazı içerik yönetim sistemlerinde işe yarar, ama çok sayfalı sitede her sayfaya tekrar yazmanız gerekir. Üçüncüsü satır içi stil: öğenin style özniteliğine yazmak. MDN bundan kaçınmamızı söylüyor, çünkü bakımı en zor yöntem ve görünümle içeriği birbirine karıştırıyor.
SAHNEDE: Kartların renklerini göster: yeşil önerilen, sarı idare eder, kırmızı kaçın.
GEÇİŞ: CSS yazarken kullandığımız başka söz dizimi parçaları da var.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Beş parça var. Fonksiyonlar: calc() ile CSS içinde hesap yapabiliriz, örneğin yüzde 90 eksi 30 piksel; rotate() gibi fonksiyonlar da transform'a verilir. @kurallar CSS'e talimat verir; en yaygını @media, koşul sağlanınca içindeki kuralları uygular. Kısayol özellikler birden çok değeri tek satırda yazar; padding'de dört değer saat yönünde gider: üst, sağ, alt, sol. Yorumlar /* ile başlar */ ile biter. Son olarak boşluk: fazla boşluk yok sayılır ama değerler arasında bir boşluk şart. 0auto yazarsanız geçersiz olur, 0 auto yazmalısınız.
SAHNEDE: “Üst, sağ, alt, sol” derken elinle saat yönünde bir daire çiz.
GEÇİŞ: Şimdi CSS'in en temel parçasına, seçicilere geçiyoruz.</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Seçici, kuralın hangi öğelere uygulanacağını söyler. Tür seçici o türdeki bütün öğeleri seçer. Sınıf seçici nokta ile başlar ve o sınıfı taşıyan her öğeyi seçer; bir öğe birden fazla sınıf taşıyabilir ve iki sınıfı boşluksuz yan yana yazarsak ikisine birden sahip olanları seçeriz. ID seçici diyez ile başlar ve tek bir öğeyi seçer; aynı id'yi sayfada iki kez kullanmayın. Aynı stili birden fazla seçiciye virgülle verebiliriz, buna seçici listesi denir. Ama dikkat: listede tek bir seçici hatalıysa bütün kural yok sayılır. Yıldız ise evrensel seçicidir, her şeyi seçer.
SAHNEDE: Benzetmeyi söyle: okul anonsu. Sonra kırmızı uyarıyı vurgula: “Listede tek hata, bütün kuralı öldürür.”
GEÇİŞ: Öğeleri özniteliklerine göre de seçebiliriz.</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Köşeli parantezle yazılan öznitelik seçicileri, öğeyi öznitelikleri üzerinden seçer. Sadece köşeli parantez içinde ad yazarsak, o özniteliğe sahip olan her öğe seçilir. Eşittir ile değer tam eşitse seçilir. Tilde-eşittir ile boşlukla ayrılmış listede kelime olarak geçiyorsa seçilir. Şapka-eşittir “ile başlıyorsa”, dolar-eşittir “ile bitiyorsa”, yıldız-eşittir “içinde geçiyorsa” demek. Sağdaki örnekte class eşittir a sadece ilkini seçer, çünkü a b tam olarak a değil. Tilde ile ilk ikisi seçilir. Şapka ile üçü de seçilir, çünkü hepsi a ile başlıyor.
SAHNEDE: Sağdaki kutuyu bir mini soru gibi kullan: “Sizce class tilde eşittir a hangilerini seçer?” Cevabı bekle.
GEÇİŞ: Bir de öğenin durumuna göre seçim yapan seçiciler var.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Sözde sınıf tek iki nokta ile yazılır ve öğenin bir durumda olmasını seçer. Örneğin first-child her zaman ilk çocuğu seçer; HTML'e yeni paragraf eklenince sınıfı taşımamız gerekmez. hover fare üstüne gelince, focus klavyeyle odaklanınca devreye girer. Sözde öğe ise iki çift nokta ile yazılır ve sanki HTML'e yeni bir öğe eklenmiş gibi davranır. first-line ekran genişliği değişse bile her zaman ilk satırı bulur. before ve after, content özelliğiyle sayfaya CSS'ten içerik ekler. Ama ekran okuyucular bu içeriği okumayabilir, o yüzden önemli metin değil, süs ikonları için kullanın.
SAHNEDE: Tek iki nokta ve çift iki nokta farkını elinle 1 ve 2 parmak göstererek vurgula.
GEÇİŞ: Seçicileri birbirine bağlayan birleştiricilere bakalım.</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Birleştiriciler öğeleri DOM'daki konumlarına göre seçer. Boşluk torun birleştiricisidir: .box p, box'ın içindeki her seviyedeki paragrafı seçer. Büyüktür işareti çocuk birleştiricisi: sadece doğrudan çocukları seçer. Artı işareti hemen ardından gelen tek kardeşi seçer, örneğin başlıktan hemen sonraki paragraf. Tilde ise sonrasındaki bütün kardeşleri seçer, araya başka öğe girse bile. MDN bir uyarı yapıyor: çok uzun ve özel seçici zincirleri CSS'i HTML yapısına kilitler. Çoğu zaman basit bir sınıf eklemek daha iyidir. Birleştiriciler daha çok HTML'i değiştiremediğiniz durumlarda kurtarıcıdır.
SAHNEDE: Aile ağacı benzetmesini parmaklarınla anlat: torunlar, çocuklar, hemen sonraki kardeş, tüm kardeşler.
GEÇİŞ: Şimdi CSS'in en önemli konularından birine geliyoruz: box model.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CSS'te her şey bir kutudur. Kutular ikiye ayrılır: blok ve satır içi. Blok kutular yeni satırda başlar, width ve height'a uyar ve genişlik verilmezse kabın tamamını doldurur; h1 ve p böyledir. Satır içi kutular yeni satıra geçmez, width ve height onlarda işe yaramaz; üst ve alt padding görünür ama komşularını itmez, üstlerine biner; a, span ve em böyledir. inline-block ikisinin ortası: satıra geçmez ama width ve height'a uyar. Navigasyon linklerine geniş tıklama alanı vermek için çok kullanılır. Bir de kutuların dış ve iç görüntüleme türü var: display flex dediğimizde dışarıdan blok, içeride flex davranır.
SAHNEDE: Kitap rafı ve cümle benzetmesini yap: “Kitaplar rafa tek tek dizilir, kelimeler cümlede yan yana akar.”
GEÇİŞ: Kutunun katmanlarına daha yakından bakalım.</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Bir kutunun dört katmanı var: içte content, yani içerik; sonra padding, iç boşluk; sonra border, kenarlık; en dışta margin, dış boşluk. Standart modelde width sadece içeriği ölçer. Bu kodda genişlik 350 piksel ama padding ve border eklenince kutu ekranda 410'a 210 piksel olur. box-sizing border-box dersek width görünen kutunun tamamı olur, hesap yapmamıza gerek kalmaz, kutu tam 350'ye 150 olur. Bir de margin çökmesi var: dikeyde iki pozitif margin değerse birleşir ve büyük olan kalır. 50 ile 30 piksel yan yana gelince 80 değil, 50 piksel boşluk olur. Margin negatif olabilir, padding olamaz.
SAHNEDE: Soldaki çizimde katmanları dıştan içe parmakla göster. Sonra sınıfa sor: “350 + 25 + 25 + 5 + 5 kaç eder?” Cevap 410.
GEÇİŞ: Peki aynı öğeye iki farklı kural gelirse hangisi kazanır?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CSS'in adındaki “cascading” kelimesi tam olarak bu konudan geliyor. Üç kavram var. Cascade: eşit güçteki iki kuraldan sonra yazılan kazanır; ilk örnekte başlık mavi olur. Özgüllük: daha isabetli seçici kazanır; sınıf seçicisi tür seçicisinden güçlü olduğu için ikinci örnekte başlık kırmızı kalır. Kalıtım: color ve font-family gibi bazı özellikler ebeveynden çocuklara geçer, ama width, margin ve border geçmez. Kalıtımı yönetmek için her özelliğe verilebilecek özel değerler var: inherit ebeveynden al, initial ilk değere dön, unset doğal davranışa dön, revert tarayıcı varsayılanına dön. all unset ise öğenin bütün özelliklerini sıfırlar.
SAHNEDE: Üç kartı sırayla göster; her birinde sonucu (mavi, kırmızı) sınıfa sorarak söylet.
GEÇİŞ: Özgüllüğü nasıl hesapladığımıza bakalım.</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Özgüllük üç sütunlu bir puanla hesaplanır. Her ID 100, her sınıf, öznitelik seçicisi ve sözde sınıf 10, her öğe ve sözde öğe 1 puan. Tabloda h1 sıfır-sıfır-bir, ID seçici ise bir-sıfır-sıfır. Çok önemli bir kural var: sütunlar birbirinden bağımsız, yani bir milyon sınıf bile tek bir ID'yi yenemez. Evrensel seçici, birleştiriciler ve where puan eklemez. Sağda öncelik sırası var: tarayıcı varsayılanı en zayıf, sonra kullanıcı stili, sonra bizim CSS'imiz. Satır içi stil normal kuralların hepsini ezer. important ise bunların da üstüne çıkar. MDN mecbur kalmadıkça important kullanmamamızı söylüyor, çünkü hata ayıklamayı çok zorlaştırıyor.
SAHNEDE: Futbol puan tablosu benzetmesini yap. Sonra “Bir milyon sınıf bir ID'yi yenebilir mi?” diye sor.
GEÇİŞ: Kuralların değer kısmına, birimlere geçelim.</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Uzunluklar ikiye ayrılır. Mutlak birimler her yerde aynı boyuttur: santimetre, inç, punto gibi birimler çoğunlukla baskı içindir, ekranda en çok piksel kullanılır. Göreli birimler ise başka bir şeye göre hesaplanır. em, font-size'da ebeveynin font boyutuna göredir ve iç içe kullanınca büyüye büyüye gider. rem ise her zaman kök html'in font boyutuna göredir, iç içe olunca büyümez. vw ve vh ekranın genişliğinin ve yüksekliğinin yüzde biri. Yüzde de her zaman başka bir değere göredir: 400 piksellik kutuda yüzde 40, 160 piksel eder. Bazı özellikler ise opacity gibi birimsiz sayı alır.
SAHNEDE: em/rem farkını benzetmeyle anlat: anne ayakkabısı ve standart kalıp.
GEÇİŞ: Uzunluk dışında renkler ve diğer değer türleri de var.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Rengi dört şekilde yazabiliriz: anahtar kelimeyle, mesela antiquewhite; onaltılık kodla, diyez ve altı karakter; rgb fonksiyonuyla kırmızı, yeşil, mavi değerleri; ve hsl ile ton, doygunluk ve açıklık. Eğik çizgiyle alfa yani şeffaflık eklenebilir. Dikkat: alfa sadece rengi saydamlaştırır, opacity ise öğeyi içeriğiyle birlikte saydamlaştırır. MDN projede tek bir renk yazımı seçmemizi öneriyor. Diğer değer türleri: resim, yani url ya da gradyan; konum, önce yatay sonra dikey; tırnaksız anahtar kelimeler ve tırnaklı metinler; bir de fonksiyonlar: calc, min, max ve clamp gibi matematik fonksiyonları.
SAHNEDE: Soldaki renk kutularını tek tek göster ve kodlarını oku.
GEÇİŞ: Bu birimleri kullanarak öğeleri nasıl boyutlandırdığımıza bakalım.</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 öğenin CSS'ten önce doğal bir boyutu vardır: resmin boyutu dosyadan gelir, boş bir div'in yüksekliği sıfırdır. width ya da height verdiğimizde içerik o kutuya sığmak zorunda kalır; sığmazsa taşar. Bu yüzden sabit yükseklik risklidir. İçerik değişken olacaksa height yerine min-height kullanın: en az bu yükseklikte ol, gerekirse büyü. Yüzdeler kapsayan bloğa göredir. Şaşırtıcı bir nokta: yüzde ile verilen margin ve padding, dikeyde bile genişliğe göre hesaplanır. max-width yüzde 100 resmi kaba sığdırır ama doğal boyutundan büyütmez. vw ve vh ekranın yüzde biri; 100vh tam ekran bir banner yapar.
SAHNEDE: Esnek kemer benzetmesini yap. Kırmızı uyarı kartını da göster: büyük resmi CSS ile küçültmek indirme boyutunu küçültmez.
GEÇİŞ: Kutularımızı süslemeye geçelim: arka planlar ve kenarlıklar.</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background-color içeriğin ve padding'in altına uzanır. background-image ile resim ekleriz; renk de varsa resim rengin üstünde durur. background-repeat resmin tekrar edip etmeyeceğini, background-size boyutunu belirler: cover kutuyu tamamen kaplar ve taşan kısım kesilir, contain resmi tamamen sığdırır ama boşluk kalabilir. background-position konumu, background-attachment da kaydırmadaki davranışı belirler. Gradyanlar da resim gibi background-image'a verilir. Birden çok resim virgülle verilir ve listedeki son resim en altta kalır. Kenarlık için border kısayolu ya da tek kenar özellikleri, köşeleri yuvarlamak için border-radius kullanılır. Erişilebilirlik için metinle zemin arasında yeterli kontrast olmalı.
SAHNEDE: Duvar kağıdı benzetmesini kullan. Kod panelinde cover satırını göster.
GEÇİŞ: Peki içerik kutuya sığmazsa ne olur?</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Kutuya fazla içerik gelirse taşma olur. CSS varsayılan olarak içeriği gizlemez, taşırır. Neden? Çünkü gizlenen içerik fark edilmeyebilir: mesela formun gönder butonu kaybolur ve kullanıcı formu dolduramaz. Görünen taşma ise sorunu hemen gösterir. overflow özelliğiyle bunu yönetiriz: visible varsayılan, clip keser ve asla gösterilmez, auto gerekirse kaydırma çubuğu çıkarır, scroll her zaman çubuk gösterir, hidden keser ama içerik kodla ya da Tab tuşuyla yine kaydırılabilir. Eksenleri overflow-x ve overflow-y ile ayrı ayarlayabiliriz. En sağlam yol ise sabit yükseklikten kaçınmak ve sayfayı az ve çok içerikle test etmek.
SAHNEDE: Bavul benzetmesini yap. Tabloda auto satırını göster: “En çok kullanacağınız değer bu.”
GEÇİŞ: Resimler ve formlar ise biraz farklı kutulardır.</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Resim ve video yerine geçen öğelerdir: CSS onların iç düzenini değiştiremez ve doğal bir en-boy oranları vardır. max-width yüzde 100 onları kaba sığdırır. Sabit bir kutuyu resimle doldurmak istersek object-fit kullanırız: cover kutuyu doldurur ve fazlasını kırpar, contain resmin tamamını gösterir ama kenarda boşluk kalabilir. Bunun çalışması için img'in kendisinin boyutlandırılmış olması gerekir. Formlarda metin kutuları normal kutular gibi stillenir, ama tarih seçici gibi karmaşık girişleri işletim sistemi çizer ve stillemek zordur. Tarayıcılar arasında tutarlılık için sağdaki sıfırlama kodu kullanılır. Ve unutmayın: form kontrolleri form kontrolü gibi görünmeye devam etmeli.
SAHNEDE: Çerçeve benzetmesini kullan: fotoğrafı kırparak sığdırmak ya da kenarda boşluk bırakmak.
GEÇİŞ: Tabloları da düzgün görünecek hale getirelim.</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Tarayıcının varsayılan tablosu sıkışık ve okunması zor. MDN birkaç adım öneriyor. table-layout fixed ile sütun genişlikleri öngörülebilir olur. border-collapse collapse ile yan yana kenarlıklar tek çizgiye birleşir. Hücrelere padding vererek nefes payı bırakırız. Metni sola, sayıları sağa hizalarız; belirli sütunları nth-child ile seçeriz. Zebra deseni için tek satırlara arka plan rengi veririz; göz satırı kolay takip eder. Son olarak caption-side bottom ile tablo açıklamasını alta taşırız.
SAHNEDE: Defter çizgileri benzetmesini yap; kod panelinde nth-child(odd) satırını göster.
GEÇİŞ: Ve bir şeyler yolunda gitmediğinde CSS'te nasıl hata ayıklarız?</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CSS genelde hata mesajı vermez; işe yaramayan kural sessizce yok sayılır. Bu yüzden tarayıcı geliştirici araçları en iyi dostumuz. F12 ile açılır. View Source sunucudaki HTML'i, DOM ise tarayıcının gerçekte çizdiğini gösterir. Rules görünümünde öğeye uygulanan ve kalıtılan kuralları görürüz; bir bildirimin kutucuğunu kaldırıp kapatabilir, değeri canlı değiştirebiliriz. Ezilen kural üstü çizili görünür. Layout görünümü box model diyagramını gösterir. Sağda MDN'in önerdiği adımlar var: ara vermek, HTML ve CSS'i doğrulamak, tarayıcı desteğine bakmak, ezen kuralı bulmak ve sorunu en küçük örneğe indirmek.
SAHNEDE: Elektrikçi benzetmesini kullan: sigortaları tek tek kapatmak gibi kutucukları kaldırmak.
GEÇİŞ: Birinci modülü bitirdik. İkinci modül: metin stili.</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İkinci modül CSS text styling, dört ders. Web sayfalarındaki içeriğin büyük kısmı metin olduğu için CSS'le en çok yaptığımız iş de metni stillemek.
SAHNEDE: Dört dersi kısaca say: font temelleri, listeler, linkler, web fontları.
GEÇİŞ: İlk ders: font temelleri.</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font-family ile fontu seçeriz. Ama tarayıcı sadece kullanıcının bilgisayarında kurulu fontu kullanabilir. Bu yüzden virgülle ayrılmış bir yığın veririz ve tarayıcı ilk bulduğunu kullanır. Yığını her zaman sans-serif gibi genel bir aileyle bitirin. Arial, Courier New, Georgia gibi web-safe fontlar hemen her sistemde vardır. Boşluk içeren font adlarını tırnağa alın, genel aile adlarını tırnağa almayın. Font boyutunda px mutlaktır; em ebeveyne göredir ve iç içe katlanır; rem köke göredir ve hesabı kolaydır. Kökün varsayılanı 16 piksel. Sağdaki örnekte kökü 10 piksel yapınca 5rem 50, 1.5rem 15 piksel eder. MDN mümkünse rem kullanmamızı öneriyor.
SAHNEDE: Restoran siparişi benzetmesini yap: “Helvetica yoksa Arial, o da yoksa herhangi bir sans-serif.”
GEÇİŞ: Fontun stili ve metnin düzeni için başka özellikler de var.</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Tabloda en çok kullanılan özellikler var. font-style italik, font-weight kalınlık, text-transform büyük-küçük harf, text-decoration alt çizgi; linklerin alt çizgisini kaldırmak için none kullanılır. text-shadow sırasıyla yatay kayma, dikey kayma, bulanıklık ve renk alır. text-align hizalama, line-height satır yüksekliği, letter-spacing ve word-spacing harf ve kelime aralığı. font kısayolu bunların çoğunu tek satırda yazar; sadece boyut ve aile zorunlu, boyutla satır yüksekliği arasına eğik çizgi konur. İki ipucu: line-height'ı birimsiz verin, gövde metni için 1.5 ile 2 arası iyi; justify uzun kelimelerde kötü durur.
SAHNEDE: Defter satır aralığı benzetmesini yap.
GEÇİŞ: Metnin özel bir türü olan listelere geçelim.</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Listelerin varsayılan bir aralığı var: üstte ve altta 1em margin, solda 40 piksel padding. MDN listeleri paragraflarla aynı font boyutunda ve aynı satır yüksekliğinde tutmamızı öneriyor ki sayfanın dikey ritmi bozulmasın. Listeye özel üç özellik var: list-style-type madde işaretinin türü, kare, Roma rakamı, harf gibi; list-style-position işaretin içeride mi dışarıda mı duracağı; list-style-image özel bir resim. list-style ise üçünün kısayolu. HTML tarafında saymayı da kontrol edebiliriz: start ile başka bir sayıdan başlarız, reversed ile geriye sayarız, value ile tek bir maddeye numara veririz.
SAHNEDE: Sağdaki ol örneğini göster: “4'ten başlıyor ve geriye sayıyor.”
GEÇİŞ: Metnin en etkileşimli parçası olan linklere bakalım.</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Linkin beş durumu var: link, yani ziyaret edilmemiş; visited, ziyaret edilmiş; focus, klavyeyle odaklanmış; hover, fare üstünde; active, tıklanıyor. Bu kuralları bu sırayla yazmalıyız, çünkü sonraki kural öncekini ezer. Akılda tutmak için İngilizce bir cümle var: LoVe FeArs HAte. MDN'in kuralları şunlar: linkin altını çizin, başka şeyin altını çizmeyin; hover ve active'te farklı geri bildirim verin; outline'ı başka bir odak göstergesi koymadan kaldırmayın, çünkü klavye kullanıcıları onunla nerede olduklarını görür. Ayrıca öznitelik seçici ve after ile dış linklere ikon ekleyebilir, flexbox ile linkleri buton gibi bir menüye dönüştürebiliriz.
SAHNEDE: LoVe FeArs HAte'i büyük harflerini vurgulayarak yavaşça söyle; sınıfa tekrar ettir.
GEÇİŞ: Metin modülünün son dersi: web fontları.</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Web-safe fontlar az ve sıkıcı olabilir. Web fontları sayesinde font dosyası sitemizle birlikte indirilir ve istediğimiz fontu kullanırız. Önce @font-face ile fontu tanımlarız: bir ad veririz ve src ile dosyanın yolunu gösteririz. Sonra bu adı normal font-family içinde kullanırız. Bugün bütün modern tarayıcılar WOFF2 formatını destekliyor. Dikkat edilecekler: fontların çoğu ücretsiz değildir, lisansa ve atıf koşullarına uymalıyız. Fontu kendimiz barındırabiliriz ya da Google Fonts gibi bir servis kullanabiliriz. Ve her zaman yığının sonuna genel bir aile koyarız; font yüklenmezse sistem fontu devreye girer.
SAHNEDE: Terlik benzetmesini yap: misafirden kendi terliğini getirmesini beklemek yerine kapıda hazır tutmak.
GEÇİŞ: İkinci modülü de bitirdik. Son modül: CSS düzeni.</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Üçüncü modül CSS layout, yedi ders. Şimdiye kadar tek tek öğeleri stilledik; bu modülde kutuları birbirine ve ekrana göre nereye yerleştireceğimizi öğreneceğiz.
SAHNEDE: Yedi dersi say ve Flexbox ile Grid'in modülün kalbi olduğunu söyle.
GEÇİŞ: Önce hiçbir şey yapmadığımızda tarayıcının ne yaptığına bakalım: normal akış.</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CSS ile düzeni değiştirmezsek tarayıcı öğeleri normal akışa göre dizer: kaynak koddaki sırayla. Blok öğeler alt alta, margin'leriyle ayrılarak dizilir. Satır içi öğeler yer oldukça aynı satırda durur, sığmayan alt satıra geçer. Dikey margin'ler de çöker. MDN'in önemli bir tavsiyesi var: iyi yapılandırılmış HTML her ekranda ve ekran okuyucuda okunabilir, o yüzden düzene normal akışla savaşarak değil, onunla birlikte çalışarak başlayın. Akışı değiştiren araçlar sağda: display değerleri, float, position, Flexbox ve Grid düzen sistemleri ve duyarlı tasarım için media queries.
SAHNEDE: Yazı yazma benzetmesini yap: kelimeler yan yana, paragraflar alt alta.
GEÇİŞ: İlk araç: float.</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Float aslında gazetelerdeki gibi bir resmin etrafına metni sarmak için icat edildi. float left dediğimizde kutu normal akıştan çıkar ve sola yapışır; arkasından gelen metin onun etrafından akar. Metni float'tan uzaklaştırmak için float'ın kendisine margin veririz; metne margin vermek işe yaramaz. Sonraki bir öğenin float'ın yanına çıkmasını istemiyorsak clear kullanırız: left, right ya da both. Bir kapsayıcı içindeki float'ı saramıyorsa, ona display flow-root veririz. MDN bir uyarı yapıyor: eskiden bütün sayfa düzenleri float ile kurulurdu, bu artık eski bir teknik. Sayfa düzeni için Flexbox ve Grid kullanılmalı.
SAHNEDE: Derede kaya benzetmesini yap: su kayanın etrafından akar.
GEÇİŞ: Öğeleri tam istediğimiz yere koymak için konumlandırma kullanırız.</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position özelliğinin beş değeri var. static varsayılandır, normal akış. relative öğeyi akışta tutar ama top ve left ile kaydırabiliriz, başka öğelerin üstüne binebilir. Dikkat: top 30 piksel, üst kenarı aşağı iter, yani kutu aşağı kayar. absolute öğeyi akıştan çıkarır ve konumlandırılmış en yakın ataya göre yerleştirir; o yüzden genelde ebeveyne position relative verilir. fixed öğeyi ekrana sabitler, sayfa kaysa da yerinden oynamaz; sabit menüler böyle yapılır. sticky ise bir eşiğe kadar relative gibi davranır, sonra yapışır. Üst üste binen öğelerin sırasını z-index belirler: büyük sayı üstte durur ve sadece sıralama önemlidir.
SAHNEDE: Benzetmeyi beşe böl: koltukta kaymak, sahneye çıkmak, altyazı, asansör kat göstergesi.
GEÇİŞ: Şimdi modern düzenin ilk büyük aracına geliyoruz: Flexbox.</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Flexbox tek boyutlu bir düzen yöntemi: öğeleri ya bir satıra ya bir sütuna dizer. Neden var? Eskiden içeriği dikeyde ortalamak, çocuklara eşit genişlik vermek ya da içerikleri farklı sütunları eşit yükseklikte yapmak çok zordu. Ebeveyne display flex dediğimizde ebeveyn flex container, çocukları flex item olur ve tek satırla eşit yükseklikte sütunlar elde ederiz. İki eksen var: öğelerin dizildiği ana eksen ve ona dik çapraz eksen. flex-direction ana eksenin yönünü belirler, varsayılanı row. flex-wrap wrap dersek sığmayan öğeler alt satıra geçer. flex-flow ikisinin kısayolu.
SAHNEDE: Diyagramda ana ekseni (yatay ok) ve çapraz ekseni (dikey ok) parmakla göster.
GEÇİŞ: Flex öğelerinin boyutunu, hizalamasını ve sırasını da kontrol edebiliriz.</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flex özelliği üç şeyi birden ayarlar: büyüme, küçülme ve temel boyut. Üç öğeye 1, 1 ve 2 dersek boş alan dörde bölünür: ilk ikisi çeyrek, sonuncusu yarım alır. flex 1 100px dersek her öğe önce 100 piksel alır, kalan alan oranla paylaşılır. Hizalamada align-items çapraz ekseni yönetir: stretch, center, başa ya da sona. align-self tek bir öğe için bunu değiştirir. justify-content ise ana ekseni yönetir: center, space-between, space-around. Son olarak order ile görsel sırayı değiştirebiliriz. Ama büyük bir uyarı var: order Tab sırasını değiştirmez, klavye kullanıcısı hâlâ kaynak koddaki sırayla gezer.
SAHNEDE: Pasta paylaşma benzetmesini yap: 1-1-2.
GEÇİŞ: Flexbox tek boyutluydu. İki boyut için Grid var.</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Grid iki boyutlu bir düzen: satırları ve sütunları aynı anda kontrol eder. display grid ve grid-template-columns ile sütunları tanımlarız. fr birimi kullanılabilir alanı oranla böler: 2fr 1fr 1fr dersek ilk sütun diğerlerinin iki katı olur. gap satır ve sütun arasındaki boşluktur. repeat 3 virgül 1fr, üç eşit sütun demek. Tanımladığımız ızgaraya açık ızgara denir; içerik taşarsa tarayıcı otomatik satırlar oluşturur, buna örtük ızgara denir ve boyutunu grid-auto-rows ile veririz. minmax bir en küçük ve en büyük boyut verir. Kodda gördüğünüz auto-fit ve minmax birleşimi ise sığdığı kadar sütun oluşturur, hiç media query yazmadan duyarlı bir ızgara elde ederiz.
SAHNEDE: Satranç tahtası benzetmesini yap; çizimde 2fr ile 1fr'ı karşılaştır.
GEÇİŞ: Izgarayı kurduk; öğeleri içine nasıl yerleştiririz?</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İki yöntem var. Birincisi çizgi tabanlı yerleşim: ızgara çizgileri 1'den başlar. header için grid-column 1 eğik çizgi 3 dersek, birinci çizgiden üçüncü çizgiye kadar, yani iki sütunu kaplar. Eksi 1 son çizgi demek. İkinci yöntem grid-template-areas: alanlara isim verip ızgarayı neredeyse bir harita gibi çizeriz. Sağdaki mini harita koddaki alanların aynısı. Kuralları var: her hücre dolu olmalı, boş hücre için nokta konur, alanlar dikdörtgen olmalı, L şekli olmaz. Grid içindeki bir öğe de grid olabilir; subgrid ile ebeveynin sütunlarını devralır. MDN'e göre artık 12 sütunlu düzen için ayrı bir kütüphaneye gerek yok, yerleşik CSS yetiyor.
SAHNEDE: Kod ile mini haritayı yan yana göster; “header header” satırının haritadaki karşılığını parmakla işaret et.
GEÇİŞ: Bütün bu düzenler farklı ekran boyutlarında nasıl çalışacak? Duyarlı tasarım.</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Duyarlı tasarım ayrı bir teknoloji değil, bir yaklaşım. Adını 2010'da Ethan Marcotte koydu ve üç parçası vardı: akışkan ızgaralar, akışkan resimler ve media queries. Bugün Flexbox ve Grid zaten kendiliğinden duyarlı. Resimler için max-width yüzde 100 kullanırız; büyük resmi küçültmek yerine srcset ya da picture ile cihaza uygun dosyayı sunarız. Yazı boyutunu media query ile değiştirebiliriz. Bir uyarı var: metni sadece vw ile boyutlandırırsanız kullanıcı yakınlaştıramaz; calc ile rem ve vw'yi birleştirin. En önemli satır ise viewport meta etiketi: o olmazsa telefon sayfayı 980 piksel genişlikte sanıp uzaklaştırır ve dar ekran kurallarınız hiç çalışmaz.
SAHNEDE: Su benzetmesini yap: hangi bardağa koyarsan onun şeklini alır.
GEÇİŞ: Duyarlı tasarımın ana aracı medya sorgularına daha yakından bakalım.</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Medya sorgusu @media ile yazılır: bir medya türü, bir koşul ve koşul sağlanınca uygulanacak kurallar. Türler all, screen ve print. En çok kullanılan koşul genişlik; ister min ve max ile, ister okunması daha kolay olan aralık söz dizimiyle yazılır. Bunun dışında yön, hover ve pointer gibi özellikler var; pointer coarse ise kullanıcı dokunmatik kullanıyordur ve butonları büyütebiliriz. and ile birleştirir, virgülle veya, not ile tersine çeviririz. MDN mobil öncelikli tasarımı öneriyor: en küçük ekranla, tek sütunla başla, ekran büyüdükçe sütun ekle. Kırılma noktalarını cihaz modellerine göre değil, içeriğin bozulduğu yere koy.
SAHNEDE: Mini ekranları soldan sağa göster: tek sütun, iki sütun, üç sütun.
GEÇİŞ: Üç modülü de bitirdik. Bu konuları nasıl pekiştireceğimize bakalım.</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MDN bu modüllerde öğrendiklerimizi ölçmek için iki tür çalışma sunuyor. Testler kısa görevlerdir: birinci modülde sekiz, düzen modülünde beş test var. Uygulama görevleri ise gerçek bir sayfa üzerinde çalışmaktır: biyografi sayfası, blog stillerini düzeltme, bir paneli boyutlandırıp süsleme, renk şeması arama sayfası, bir okulun ana sayfasının dizgisi, temel bir sayfa düzeni ve mobil öncelikli bir tasarım. Evde denemenizi öneririz; özellikle blog stillerini düzeltme görevi, hata ayıklama becerisi için çok iyi.
SAHNEDE: Ehliyet benzetmesini yap: teorik sınav, deneme sınavı, direksiyon sınavı.
GEÇİŞ: Ana yolun dışında bir de ek kılavuzlar var.</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MDN ana derslerin yanında sekiz ek kılavuz veriyor. Temeller modülünde: gölge ve filtre gibi gelişmiş efektler, kuralları katmanlara ayıran cascade layers, farklı yazı yönlerini yöneten mantıksal özellikler ve büyük projelerde CSS'i düzenli tutma yöntemleri. Düzen modülünde: gazete gibi çok sütunlu düzen, sekmeli kutu gibi pratik konumlandırma örnekleri, eski düzen yöntemleri ve @supports ile eski tarayıcıları destekleme. Bunlar zorunlu değil ama merak edenler için bir sonraki adım.
SAHNEDE: Renk ayrımını söyle: camgöbeği kartlar temeller modülünün, yeşil kartlar düzen modülünün ek kılavuzları.
GEÇİŞ: Toparlayalım.</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Bugün üç modülde CSS'in temelini gördük. Bir kural seçici, özellik ve değerden oluşur ve en iyisi harici dosyaya yazılır. Seçicilerle neyi stilleyeceğimizi söyleriz. Her şey bir kutudur ve kutunun content, padding, border, margin katmanları vardır; border-box hayatımızı kolaylaştırır. Çakışmaları cascade, özgüllük ve kalıtım çözer. Metinde font yığını, rem, satır yüksekliği ve link durumlarının sırası önemli. Düzende ise normal akıştan başlar; tek boyut için flex, iki boyut için grid kullanır ve mobil öncelikli düşünürüz. Tek cümleyle: HTML iskelet, CSS onun kıyafeti ve duruşu.
SAHNEDE: Son cümleyi yavaş ve net söyle. Sınıfın aklında kalacak cümle bu.
GEÇİŞ: Dinlediğiniz için teşekkürler.</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Dinlediğiniz için teşekkür ederiz. Kullandığımız tüm içerik MDN Web Docs'tan alındı ve eğitim amaçlı çevrildi. Şimdi sorularınızı alabiliriz.
SAHNEDE: Soru gelirse önce soruyu sınıfa tekrar et, sonra cevapla. Bilmediğin bir şey sorulursa “Güzel soru, MDN'de bakıp size dönelim” de, uydurma.</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transition spd="med">
    <p:pull/>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OYU">
    <p:bg>
      <p:bgPr>
        <a:solidFill>
          <a:srgbClr val="10142B"/>
        </a:solidFill>
        <a:effectLst/>
      </p:bgPr>
    </p:bg>
    <p:spTree>
      <p:nvGrpSpPr>
        <p:cNvPr id="1" name=""/>
        <p:cNvGrpSpPr/>
        <p:nvPr/>
      </p:nvGrpSpPr>
      <p:grpSpPr>
        <a:xfrm>
          <a:off x="0" y="0"/>
          <a:ext cx="0" cy="0"/>
          <a:chOff x="0" y="0"/>
          <a:chExt cx="0" cy="0"/>
        </a:xfrm>
      </p:grpSpPr>
    </p:spTree>
  </p:cSld>
  <p:clrMapOvr>
    <a:masterClrMapping/>
  </p:clrMapOvr>
  <p:transition spd="med">
    <p:pull/>
  </p:transition>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ransition spd="med">
    <p:pull/>
  </p:transition>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457200"/>
            <a:ext cx="5486400" cy="228600"/>
          </a:xfrm>
          <a:prstGeom prst="rect">
            <a:avLst/>
          </a:prstGeom>
          <a:noFill/>
          <a:ln/>
        </p:spPr>
        <p:txBody>
          <a:bodyPr wrap="square" lIns="0" tIns="0" rIns="0" bIns="0" rtlCol="0" anchor="t"/>
          <a:lstStyle/>
          <a:p>
            <a:pPr marL="0" indent="0">
              <a:buNone/>
            </a:pPr>
            <a:r>
              <a:rPr lang="en-US" sz="1000" b="1" kern="0" spc="200" dirty="0">
                <a:solidFill>
                  <a:srgbClr val="22D3EE"/>
                </a:solidFill>
                <a:latin typeface="Arial" pitchFamily="34" charset="0"/>
                <a:ea typeface="Arial" pitchFamily="34" charset="-122"/>
                <a:cs typeface="Arial" pitchFamily="34" charset="-120"/>
              </a:rPr>
              <a:t>WEB PROGRAMLAMA I  ·  MDN ÇEKİRDEK MODÜLLER</a:t>
            </a:r>
            <a:endParaRPr lang="en-US" sz="1000" dirty="0"/>
          </a:p>
        </p:txBody>
      </p:sp>
      <p:sp>
        <p:nvSpPr>
          <p:cNvPr id="3" name="Text 1"/>
          <p:cNvSpPr txBox="1"/>
          <p:nvPr/>
        </p:nvSpPr>
        <p:spPr>
          <a:xfrm>
            <a:off x="548640" y="868680"/>
            <a:ext cx="4754880" cy="1737360"/>
          </a:xfrm>
          <a:prstGeom prst="rect">
            <a:avLst/>
          </a:prstGeom>
          <a:noFill/>
          <a:ln/>
        </p:spPr>
        <p:txBody>
          <a:bodyPr wrap="square" lIns="0" tIns="0" rIns="0" bIns="0" rtlCol="0" anchor="t"/>
          <a:lstStyle/>
          <a:p>
            <a:pPr marL="0" indent="0">
              <a:buNone/>
            </a:pPr>
            <a:r>
              <a:rPr lang="en-US" sz="4400" b="1" dirty="0">
                <a:solidFill>
                  <a:srgbClr val="EEF0F8"/>
                </a:solidFill>
                <a:latin typeface="Arial" pitchFamily="34" charset="0"/>
                <a:ea typeface="Arial" pitchFamily="34" charset="-122"/>
                <a:cs typeface="Arial" pitchFamily="34" charset="-120"/>
              </a:rPr>
              <a:t>CSS ile</a:t>
            </a:r>
            <a:endParaRPr lang="en-US" sz="4400" dirty="0"/>
          </a:p>
          <a:p>
            <a:pPr marL="0" indent="0">
              <a:buNone/>
            </a:pPr>
            <a:r>
              <a:rPr lang="en-US" sz="4400" b="1" dirty="0">
                <a:solidFill>
                  <a:srgbClr val="EEF0F8"/>
                </a:solidFill>
                <a:latin typeface="Arial" pitchFamily="34" charset="0"/>
                <a:ea typeface="Arial" pitchFamily="34" charset="-122"/>
                <a:cs typeface="Arial" pitchFamily="34" charset="-120"/>
              </a:rPr>
              <a:t>Stil ve Düzen</a:t>
            </a:r>
            <a:endParaRPr lang="en-US" sz="4400" dirty="0"/>
          </a:p>
        </p:txBody>
      </p:sp>
      <p:sp>
        <p:nvSpPr>
          <p:cNvPr id="4" name="Text 2"/>
          <p:cNvSpPr txBox="1"/>
          <p:nvPr/>
        </p:nvSpPr>
        <p:spPr>
          <a:xfrm>
            <a:off x="548640" y="2697480"/>
            <a:ext cx="4572000" cy="822960"/>
          </a:xfrm>
          <a:prstGeom prst="rect">
            <a:avLst/>
          </a:prstGeom>
          <a:noFill/>
          <a:ln/>
        </p:spPr>
        <p:txBody>
          <a:bodyPr wrap="square" lIns="0" tIns="0" rIns="0" bIns="0" rtlCol="0" anchor="t"/>
          <a:lstStyle/>
          <a:p>
            <a:pPr marL="0" indent="0">
              <a:buNone/>
            </a:pPr>
            <a:r>
              <a:rPr lang="en-US" sz="1400" dirty="0">
                <a:solidFill>
                  <a:srgbClr val="22D3EE"/>
                </a:solidFill>
                <a:latin typeface="Courier New" pitchFamily="34" charset="0"/>
                <a:ea typeface="Courier New" pitchFamily="34" charset="-122"/>
                <a:cs typeface="Courier New" pitchFamily="34" charset="-120"/>
              </a:rPr>
              <a:t>CSS styling basics</a:t>
            </a:r>
            <a:endParaRPr lang="en-US" sz="1400" dirty="0"/>
          </a:p>
          <a:p>
            <a:pPr marL="0" indent="0">
              <a:buNone/>
            </a:pPr>
            <a:r>
              <a:rPr lang="en-US" sz="1400" dirty="0">
                <a:solidFill>
                  <a:srgbClr val="F472B6"/>
                </a:solidFill>
                <a:latin typeface="Courier New" pitchFamily="34" charset="0"/>
                <a:ea typeface="Courier New" pitchFamily="34" charset="-122"/>
                <a:cs typeface="Courier New" pitchFamily="34" charset="-120"/>
              </a:rPr>
              <a:t>CSS text styling</a:t>
            </a:r>
            <a:endParaRPr lang="en-US" sz="1400" dirty="0"/>
          </a:p>
          <a:p>
            <a:pPr marL="0" indent="0">
              <a:buNone/>
            </a:pPr>
            <a:r>
              <a:rPr lang="en-US" sz="1400" dirty="0">
                <a:solidFill>
                  <a:srgbClr val="A3E635"/>
                </a:solidFill>
                <a:latin typeface="Courier New" pitchFamily="34" charset="0"/>
                <a:ea typeface="Courier New" pitchFamily="34" charset="-122"/>
                <a:cs typeface="Courier New" pitchFamily="34" charset="-120"/>
              </a:rPr>
              <a:t>CSS layout</a:t>
            </a:r>
            <a:endParaRPr lang="en-US" sz="1400" dirty="0"/>
          </a:p>
        </p:txBody>
      </p:sp>
      <p:sp>
        <p:nvSpPr>
          <p:cNvPr id="5" name="Text 3"/>
          <p:cNvSpPr txBox="1"/>
          <p:nvPr/>
        </p:nvSpPr>
        <p:spPr>
          <a:xfrm>
            <a:off x="548640" y="3611880"/>
            <a:ext cx="5029200" cy="274320"/>
          </a:xfrm>
          <a:prstGeom prst="rect">
            <a:avLst/>
          </a:prstGeom>
          <a:noFill/>
          <a:ln/>
        </p:spPr>
        <p:txBody>
          <a:bodyPr wrap="square" lIns="0" tIns="0" rIns="0" bIns="0" rtlCol="0" anchor="t"/>
          <a:lstStyle/>
          <a:p>
            <a:pPr marL="0" indent="0">
              <a:buNone/>
            </a:pPr>
            <a:r>
              <a:rPr lang="en-US" sz="1300" dirty="0">
                <a:solidFill>
                  <a:srgbClr val="9AA3C7"/>
                </a:solidFill>
                <a:latin typeface="Arial" pitchFamily="34" charset="0"/>
                <a:ea typeface="Arial" pitchFamily="34" charset="-122"/>
                <a:cs typeface="Arial" pitchFamily="34" charset="-120"/>
              </a:rPr>
              <a:t>KCŞ A.Ş.  |  Çekirdek modüller: 2, 3 ve 4. başlıklar</a:t>
            </a:r>
            <a:endParaRPr lang="en-US" sz="1300" dirty="0"/>
          </a:p>
        </p:txBody>
      </p:sp>
      <p:sp>
        <p:nvSpPr>
          <p:cNvPr id="6" name="Text 4"/>
          <p:cNvSpPr txBox="1"/>
          <p:nvPr/>
        </p:nvSpPr>
        <p:spPr>
          <a:xfrm>
            <a:off x="548640" y="4206240"/>
            <a:ext cx="8046720" cy="640080"/>
          </a:xfrm>
          <a:prstGeom prst="rect">
            <a:avLst/>
          </a:prstGeom>
          <a:noFill/>
          <a:ln/>
        </p:spPr>
        <p:txBody>
          <a:bodyPr wrap="square" lIns="0" tIns="0" rIns="0" bIns="0" rtlCol="0" anchor="t"/>
          <a:lstStyle/>
          <a:p>
            <a:pPr marL="0" indent="0">
              <a:buNone/>
            </a:pPr>
            <a:r>
              <a:rPr lang="en-US" sz="850" dirty="0">
                <a:solidFill>
                  <a:srgbClr val="6C759E"/>
                </a:solidFill>
                <a:latin typeface="Arial" pitchFamily="34" charset="0"/>
                <a:ea typeface="Arial" pitchFamily="34" charset="-122"/>
                <a:cs typeface="Arial" pitchFamily="34" charset="-120"/>
              </a:rPr>
              <a:t>Uyarı: Bu içerik, SCÜ Şarkışla UBYO Web Programlama I dersi kapsamında tamamen eğitim amaçlı çevrilmiş ve derlenmiştir. Orijinal dokümantasyon kaynakları (MDN Web Docs, Vue.js, Three.js vb.) kendi orijinal lisanslarına (CC-BY-SA, MIT) tabidir. Bu çalışmanın hiçbir ticari amacı yoktur.</a:t>
            </a:r>
            <a:endParaRPr lang="en-US" sz="850" dirty="0"/>
          </a:p>
        </p:txBody>
      </p:sp>
      <p:sp>
        <p:nvSpPr>
          <p:cNvPr id="7" name="kapak-margin"/>
          <p:cNvSpPr/>
          <p:nvPr/>
        </p:nvSpPr>
        <p:spPr>
          <a:xfrm>
            <a:off x="5486400" y="502920"/>
            <a:ext cx="3108960" cy="3383280"/>
          </a:xfrm>
          <a:prstGeom prst="rect">
            <a:avLst/>
          </a:prstGeom>
          <a:ln w="15875">
            <a:solidFill>
              <a:srgbClr val="A3E635"/>
            </a:solidFill>
            <a:prstDash val="dash"/>
          </a:ln>
        </p:spPr>
      </p:sp>
      <p:sp>
        <p:nvSpPr>
          <p:cNvPr id="8" name="Text 6"/>
          <p:cNvSpPr txBox="1"/>
          <p:nvPr/>
        </p:nvSpPr>
        <p:spPr>
          <a:xfrm>
            <a:off x="5541264" y="539496"/>
            <a:ext cx="1097280" cy="182880"/>
          </a:xfrm>
          <a:prstGeom prst="rect">
            <a:avLst/>
          </a:prstGeom>
          <a:noFill/>
          <a:ln/>
        </p:spPr>
        <p:txBody>
          <a:bodyPr wrap="square" lIns="0" tIns="0" rIns="0" bIns="0" rtlCol="0" anchor="t"/>
          <a:lstStyle/>
          <a:p>
            <a:pPr marL="0" indent="0">
              <a:buNone/>
            </a:pPr>
            <a:r>
              <a:rPr lang="en-US" sz="850" dirty="0">
                <a:solidFill>
                  <a:srgbClr val="A3E635"/>
                </a:solidFill>
                <a:latin typeface="Courier New" pitchFamily="34" charset="0"/>
                <a:ea typeface="Courier New" pitchFamily="34" charset="-122"/>
                <a:cs typeface="Courier New" pitchFamily="34" charset="-120"/>
              </a:rPr>
              <a:t>margin</a:t>
            </a:r>
            <a:endParaRPr lang="en-US" sz="850" dirty="0"/>
          </a:p>
        </p:txBody>
      </p:sp>
      <p:sp>
        <p:nvSpPr>
          <p:cNvPr id="9" name="kapak-border"/>
          <p:cNvSpPr/>
          <p:nvPr/>
        </p:nvSpPr>
        <p:spPr>
          <a:xfrm>
            <a:off x="5806440" y="868680"/>
            <a:ext cx="2468880" cy="2651760"/>
          </a:xfrm>
          <a:prstGeom prst="rect">
            <a:avLst/>
          </a:prstGeom>
          <a:ln w="15875">
            <a:solidFill>
              <a:srgbClr val="F472B6"/>
            </a:solidFill>
            <a:prstDash val="solid"/>
          </a:ln>
        </p:spPr>
      </p:sp>
      <p:sp>
        <p:nvSpPr>
          <p:cNvPr id="10" name="Text 8"/>
          <p:cNvSpPr txBox="1"/>
          <p:nvPr/>
        </p:nvSpPr>
        <p:spPr>
          <a:xfrm>
            <a:off x="5861304" y="905256"/>
            <a:ext cx="1097280" cy="182880"/>
          </a:xfrm>
          <a:prstGeom prst="rect">
            <a:avLst/>
          </a:prstGeom>
          <a:noFill/>
          <a:ln/>
        </p:spPr>
        <p:txBody>
          <a:bodyPr wrap="square" lIns="0" tIns="0" rIns="0" bIns="0" rtlCol="0" anchor="t"/>
          <a:lstStyle/>
          <a:p>
            <a:pPr marL="0" indent="0">
              <a:buNone/>
            </a:pPr>
            <a:r>
              <a:rPr lang="en-US" sz="850" dirty="0">
                <a:solidFill>
                  <a:srgbClr val="F472B6"/>
                </a:solidFill>
                <a:latin typeface="Courier New" pitchFamily="34" charset="0"/>
                <a:ea typeface="Courier New" pitchFamily="34" charset="-122"/>
                <a:cs typeface="Courier New" pitchFamily="34" charset="-120"/>
              </a:rPr>
              <a:t>border</a:t>
            </a:r>
            <a:endParaRPr lang="en-US" sz="850" dirty="0"/>
          </a:p>
        </p:txBody>
      </p:sp>
      <p:sp>
        <p:nvSpPr>
          <p:cNvPr id="11" name="kapak-padding"/>
          <p:cNvSpPr/>
          <p:nvPr/>
        </p:nvSpPr>
        <p:spPr>
          <a:xfrm>
            <a:off x="6126480" y="1234440"/>
            <a:ext cx="1828800" cy="1920240"/>
          </a:xfrm>
          <a:prstGeom prst="rect">
            <a:avLst/>
          </a:prstGeom>
          <a:ln w="15875">
            <a:solidFill>
              <a:srgbClr val="22D3EE"/>
            </a:solidFill>
            <a:prstDash val="solid"/>
          </a:ln>
        </p:spPr>
      </p:sp>
      <p:sp>
        <p:nvSpPr>
          <p:cNvPr id="12" name="Text 10"/>
          <p:cNvSpPr txBox="1"/>
          <p:nvPr/>
        </p:nvSpPr>
        <p:spPr>
          <a:xfrm>
            <a:off x="6181344" y="1271016"/>
            <a:ext cx="1097280" cy="182880"/>
          </a:xfrm>
          <a:prstGeom prst="rect">
            <a:avLst/>
          </a:prstGeom>
          <a:noFill/>
          <a:ln/>
        </p:spPr>
        <p:txBody>
          <a:bodyPr wrap="square" lIns="0" tIns="0" rIns="0" bIns="0" rtlCol="0" anchor="t"/>
          <a:lstStyle/>
          <a:p>
            <a:pPr marL="0" indent="0">
              <a:buNone/>
            </a:pPr>
            <a:r>
              <a:rPr lang="en-US" sz="850" dirty="0">
                <a:solidFill>
                  <a:srgbClr val="22D3EE"/>
                </a:solidFill>
                <a:latin typeface="Courier New" pitchFamily="34" charset="0"/>
                <a:ea typeface="Courier New" pitchFamily="34" charset="-122"/>
                <a:cs typeface="Courier New" pitchFamily="34" charset="-120"/>
              </a:rPr>
              <a:t>padding</a:t>
            </a:r>
            <a:endParaRPr lang="en-US" sz="850" dirty="0"/>
          </a:p>
        </p:txBody>
      </p:sp>
      <p:sp>
        <p:nvSpPr>
          <p:cNvPr id="13" name="kapak-content"/>
          <p:cNvSpPr/>
          <p:nvPr/>
        </p:nvSpPr>
        <p:spPr>
          <a:xfrm>
            <a:off x="6446520" y="1600200"/>
            <a:ext cx="1188720" cy="1188720"/>
          </a:xfrm>
          <a:prstGeom prst="rect">
            <a:avLst/>
          </a:prstGeom>
          <a:solidFill>
            <a:srgbClr val="8B7CFF">
              <a:alpha val="30000"/>
            </a:srgbClr>
          </a:solidFill>
          <a:ln w="15875">
            <a:solidFill>
              <a:srgbClr val="8B7CFF"/>
            </a:solidFill>
            <a:prstDash val="solid"/>
          </a:ln>
        </p:spPr>
      </p:sp>
      <p:sp>
        <p:nvSpPr>
          <p:cNvPr id="14" name="Text 12"/>
          <p:cNvSpPr txBox="1"/>
          <p:nvPr/>
        </p:nvSpPr>
        <p:spPr>
          <a:xfrm>
            <a:off x="6501384" y="1636776"/>
            <a:ext cx="1097280" cy="182880"/>
          </a:xfrm>
          <a:prstGeom prst="rect">
            <a:avLst/>
          </a:prstGeom>
          <a:noFill/>
          <a:ln/>
        </p:spPr>
        <p:txBody>
          <a:bodyPr wrap="square" lIns="0" tIns="0" rIns="0" bIns="0" rtlCol="0" anchor="t"/>
          <a:lstStyle/>
          <a:p>
            <a:pPr marL="0" indent="0">
              <a:buNone/>
            </a:pPr>
            <a:r>
              <a:rPr lang="en-US" sz="850" dirty="0">
                <a:solidFill>
                  <a:srgbClr val="8B7CFF"/>
                </a:solidFill>
                <a:latin typeface="Courier New" pitchFamily="34" charset="0"/>
                <a:ea typeface="Courier New" pitchFamily="34" charset="-122"/>
                <a:cs typeface="Courier New" pitchFamily="34" charset="-120"/>
              </a:rPr>
              <a:t>content</a:t>
            </a:r>
            <a:endParaRPr lang="en-US" sz="850" dirty="0"/>
          </a:p>
        </p:txBody>
      </p:sp>
      <p:sp>
        <p:nvSpPr>
          <p:cNvPr id="15" name="Text 13"/>
          <p:cNvSpPr txBox="1"/>
          <p:nvPr/>
        </p:nvSpPr>
        <p:spPr>
          <a:xfrm>
            <a:off x="6446520" y="1783080"/>
            <a:ext cx="1188720" cy="822960"/>
          </a:xfrm>
          <a:prstGeom prst="rect">
            <a:avLst/>
          </a:prstGeom>
          <a:noFill/>
          <a:ln/>
        </p:spPr>
        <p:txBody>
          <a:bodyPr wrap="square" lIns="0" tIns="0" rIns="0" bIns="0" rtlCol="0" anchor="ctr"/>
          <a:lstStyle/>
          <a:p>
            <a:pPr marL="0" indent="0" algn="ctr">
              <a:buNone/>
            </a:pPr>
            <a:r>
              <a:rPr lang="en-US" sz="2800" b="1" dirty="0">
                <a:solidFill>
                  <a:srgbClr val="EEF0F8"/>
                </a:solidFill>
                <a:latin typeface="Courier New" pitchFamily="34" charset="0"/>
                <a:ea typeface="Courier New" pitchFamily="34" charset="-122"/>
                <a:cs typeface="Courier New" pitchFamily="34" charset="-120"/>
              </a:rPr>
              <a:t>{ }</a:t>
            </a:r>
            <a:endParaRPr lang="en-US" sz="2800"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fallOver"/>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56032"/>
            <a:ext cx="4572000" cy="201168"/>
          </a:xfrm>
          <a:prstGeom prst="rect">
            <a:avLst/>
          </a:prstGeom>
          <a:noFill/>
          <a:ln/>
        </p:spPr>
        <p:txBody>
          <a:bodyPr wrap="square" lIns="0" tIns="0" rIns="0" bIns="0" rtlCol="0" anchor="t"/>
          <a:lstStyle/>
          <a:p>
            <a:pPr marL="0" indent="0">
              <a:buNone/>
            </a:pPr>
            <a:r>
              <a:rPr lang="en-US" sz="900" b="1" kern="0" spc="200" dirty="0">
                <a:solidFill>
                  <a:srgbClr val="8B7CFF"/>
                </a:solidFill>
                <a:latin typeface="Arial" pitchFamily="34" charset="0"/>
                <a:ea typeface="Arial" pitchFamily="34" charset="-122"/>
                <a:cs typeface="Arial" pitchFamily="34" charset="-120"/>
              </a:rPr>
              <a:t>GİRİŞ</a:t>
            </a:r>
            <a:endParaRPr lang="en-US" sz="900" dirty="0"/>
          </a:p>
        </p:txBody>
      </p:sp>
      <p:sp>
        <p:nvSpPr>
          <p:cNvPr id="3" name="mini-box-0"/>
          <p:cNvSpPr/>
          <p:nvPr/>
        </p:nvSpPr>
        <p:spPr>
          <a:xfrm>
            <a:off x="8229600" y="201168"/>
            <a:ext cx="384048" cy="384048"/>
          </a:xfrm>
          <a:prstGeom prst="rect">
            <a:avLst/>
          </a:prstGeom>
          <a:ln w="9525">
            <a:solidFill>
              <a:srgbClr val="8B7CFF"/>
            </a:solidFill>
            <a:prstDash val="solid"/>
          </a:ln>
        </p:spPr>
      </p:sp>
      <p:sp>
        <p:nvSpPr>
          <p:cNvPr id="4" name="mini-box-1"/>
          <p:cNvSpPr/>
          <p:nvPr/>
        </p:nvSpPr>
        <p:spPr>
          <a:xfrm>
            <a:off x="8293608" y="265176"/>
            <a:ext cx="256032" cy="256032"/>
          </a:xfrm>
          <a:prstGeom prst="rect">
            <a:avLst/>
          </a:prstGeom>
          <a:ln w="9525">
            <a:solidFill>
              <a:srgbClr val="EEF0F8"/>
            </a:solidFill>
            <a:prstDash val="solid"/>
          </a:ln>
        </p:spPr>
      </p:sp>
      <p:sp>
        <p:nvSpPr>
          <p:cNvPr id="5" name="mini-box-2"/>
          <p:cNvSpPr/>
          <p:nvPr/>
        </p:nvSpPr>
        <p:spPr>
          <a:xfrm>
            <a:off x="8348472" y="320040"/>
            <a:ext cx="146304" cy="146304"/>
          </a:xfrm>
          <a:prstGeom prst="rect">
            <a:avLst/>
          </a:prstGeom>
          <a:solidFill>
            <a:srgbClr val="8B7CFF"/>
          </a:solidFill>
          <a:ln w="9525">
            <a:solidFill>
              <a:srgbClr val="8B7CFF"/>
            </a:solidFill>
            <a:prstDash val="solid"/>
          </a:ln>
        </p:spPr>
      </p:sp>
      <p:sp>
        <p:nvSpPr>
          <p:cNvPr id="6" name="ilerleme-zemin"/>
          <p:cNvSpPr/>
          <p:nvPr/>
        </p:nvSpPr>
        <p:spPr>
          <a:xfrm>
            <a:off x="0" y="5070348"/>
            <a:ext cx="9144000" cy="73152"/>
          </a:xfrm>
          <a:prstGeom prst="rect">
            <a:avLst/>
          </a:prstGeom>
          <a:solidFill>
            <a:srgbClr val="1A2044"/>
          </a:solidFill>
          <a:ln/>
        </p:spPr>
      </p:sp>
      <p:sp>
        <p:nvSpPr>
          <p:cNvPr id="7" name="ilerleme"/>
          <p:cNvSpPr/>
          <p:nvPr/>
        </p:nvSpPr>
        <p:spPr>
          <a:xfrm>
            <a:off x="0" y="5070348"/>
            <a:ext cx="425302" cy="73152"/>
          </a:xfrm>
          <a:prstGeom prst="rect">
            <a:avLst/>
          </a:prstGeom>
          <a:solidFill>
            <a:srgbClr val="8B7CFF"/>
          </a:solidFill>
          <a:ln/>
        </p:spPr>
      </p:sp>
      <p:sp>
        <p:nvSpPr>
          <p:cNvPr id="8" name="Text 6"/>
          <p:cNvSpPr txBox="1"/>
          <p:nvPr/>
        </p:nvSpPr>
        <p:spPr>
          <a:xfrm>
            <a:off x="548640" y="4791456"/>
            <a:ext cx="3657600" cy="201168"/>
          </a:xfrm>
          <a:prstGeom prst="rect">
            <a:avLst/>
          </a:prstGeom>
          <a:noFill/>
          <a:ln/>
        </p:spPr>
        <p:txBody>
          <a:bodyPr wrap="square" lIns="0" tIns="0" rIns="0" bIns="0" rtlCol="0" anchor="t"/>
          <a:lstStyle/>
          <a:p>
            <a:pPr marL="0" indent="0">
              <a:buNone/>
            </a:pPr>
            <a:r>
              <a:rPr lang="en-US" sz="850" dirty="0">
                <a:solidFill>
                  <a:srgbClr val="6C759E"/>
                </a:solidFill>
                <a:latin typeface="Arial" pitchFamily="34" charset="0"/>
                <a:ea typeface="Arial" pitchFamily="34" charset="-122"/>
                <a:cs typeface="Arial" pitchFamily="34" charset="-120"/>
              </a:rPr>
              <a:t>KCŞ A.Ş.  ·  CSS ile stil ve düzen</a:t>
            </a:r>
            <a:endParaRPr lang="en-US" sz="850" dirty="0"/>
          </a:p>
        </p:txBody>
      </p:sp>
      <p:sp>
        <p:nvSpPr>
          <p:cNvPr id="9" name="Text 7"/>
          <p:cNvSpPr txBox="1"/>
          <p:nvPr/>
        </p:nvSpPr>
        <p:spPr>
          <a:xfrm>
            <a:off x="4206240" y="4791456"/>
            <a:ext cx="3840480" cy="201168"/>
          </a:xfrm>
          <a:prstGeom prst="rect">
            <a:avLst/>
          </a:prstGeom>
          <a:noFill/>
          <a:ln/>
        </p:spPr>
        <p:txBody>
          <a:bodyPr wrap="square" lIns="0" tIns="0" rIns="0" bIns="0" rtlCol="0" anchor="t"/>
          <a:lstStyle/>
          <a:p>
            <a:pPr marL="0" indent="0" algn="r">
              <a:buNone/>
            </a:pPr>
            <a:r>
              <a:rPr lang="en-US" sz="850" dirty="0">
                <a:solidFill>
                  <a:srgbClr val="6C759E"/>
                </a:solidFill>
                <a:latin typeface="Arial" pitchFamily="34" charset="0"/>
                <a:ea typeface="Arial" pitchFamily="34" charset="-122"/>
                <a:cs typeface="Arial" pitchFamily="34" charset="-120"/>
              </a:rPr>
              <a:t>MDN · Learn web development › Core</a:t>
            </a:r>
            <a:endParaRPr lang="en-US" sz="850" dirty="0"/>
          </a:p>
        </p:txBody>
      </p:sp>
      <p:sp>
        <p:nvSpPr>
          <p:cNvPr id="10" name="Text 8"/>
          <p:cNvSpPr txBox="1"/>
          <p:nvPr/>
        </p:nvSpPr>
        <p:spPr>
          <a:xfrm>
            <a:off x="8092440" y="4791456"/>
            <a:ext cx="685800" cy="201168"/>
          </a:xfrm>
          <a:prstGeom prst="rect">
            <a:avLst/>
          </a:prstGeom>
          <a:noFill/>
          <a:ln/>
        </p:spPr>
        <p:txBody>
          <a:bodyPr wrap="square" lIns="0" tIns="0" rIns="0" bIns="0" rtlCol="0" anchor="t"/>
          <a:lstStyle/>
          <a:p>
            <a:pPr marL="0" indent="0" algn="r">
              <a:buNone/>
            </a:pPr>
            <a:r>
              <a:rPr lang="en-US" sz="850" dirty="0">
                <a:solidFill>
                  <a:srgbClr val="9AA3C7"/>
                </a:solidFill>
                <a:latin typeface="Courier New" pitchFamily="34" charset="0"/>
                <a:ea typeface="Courier New" pitchFamily="34" charset="-122"/>
                <a:cs typeface="Courier New" pitchFamily="34" charset="-120"/>
              </a:rPr>
              <a:t>02 / 43</a:t>
            </a:r>
            <a:endParaRPr lang="en-US" sz="850" dirty="0"/>
          </a:p>
        </p:txBody>
      </p:sp>
      <p:sp>
        <p:nvSpPr>
          <p:cNvPr id="11" name="Text 9"/>
          <p:cNvSpPr txBox="1"/>
          <p:nvPr/>
        </p:nvSpPr>
        <p:spPr>
          <a:xfrm>
            <a:off x="548640" y="502920"/>
            <a:ext cx="5943600" cy="237744"/>
          </a:xfrm>
          <a:prstGeom prst="rect">
            <a:avLst/>
          </a:prstGeom>
          <a:noFill/>
          <a:ln/>
        </p:spPr>
        <p:txBody>
          <a:bodyPr wrap="square" lIns="0" tIns="0" rIns="0" bIns="0" rtlCol="0" anchor="t"/>
          <a:lstStyle/>
          <a:p>
            <a:pPr marL="0" indent="0">
              <a:buNone/>
            </a:pPr>
            <a:r>
              <a:rPr lang="en-US" sz="1100" b="1" dirty="0">
                <a:solidFill>
                  <a:srgbClr val="8B7CFF"/>
                </a:solidFill>
                <a:latin typeface="Courier New" pitchFamily="34" charset="0"/>
                <a:ea typeface="Courier New" pitchFamily="34" charset="-122"/>
                <a:cs typeface="Courier New" pitchFamily="34" charset="-120"/>
              </a:rPr>
              <a:t>@import url(bugun.css);</a:t>
            </a:r>
            <a:endParaRPr lang="en-US" sz="1100" dirty="0"/>
          </a:p>
        </p:txBody>
      </p:sp>
      <p:sp>
        <p:nvSpPr>
          <p:cNvPr id="12" name="Text 10"/>
          <p:cNvSpPr txBox="1"/>
          <p:nvPr/>
        </p:nvSpPr>
        <p:spPr>
          <a:xfrm>
            <a:off x="548640" y="749808"/>
            <a:ext cx="7589520" cy="502920"/>
          </a:xfrm>
          <a:prstGeom prst="rect">
            <a:avLst/>
          </a:prstGeom>
          <a:noFill/>
          <a:ln/>
        </p:spPr>
        <p:txBody>
          <a:bodyPr wrap="square" lIns="0" tIns="0" rIns="0" bIns="0" rtlCol="0" anchor="ctr"/>
          <a:lstStyle/>
          <a:p>
            <a:pPr marL="0" indent="0">
              <a:buNone/>
            </a:pPr>
            <a:r>
              <a:rPr lang="en-US" sz="2400" b="1" dirty="0">
                <a:solidFill>
                  <a:srgbClr val="EEF0F8"/>
                </a:solidFill>
                <a:latin typeface="Arial" pitchFamily="34" charset="0"/>
                <a:ea typeface="Arial" pitchFamily="34" charset="-122"/>
                <a:cs typeface="Arial" pitchFamily="34" charset="-120"/>
              </a:rPr>
              <a:t>Bugünün yolculuğu: 3 modül, 26 ders</a:t>
            </a:r>
            <a:endParaRPr lang="en-US" sz="2400" dirty="0"/>
          </a:p>
        </p:txBody>
      </p:sp>
      <p:sp>
        <p:nvSpPr>
          <p:cNvPr id="13" name="modul-01"/>
          <p:cNvSpPr/>
          <p:nvPr/>
        </p:nvSpPr>
        <p:spPr>
          <a:xfrm>
            <a:off x="548640" y="1417320"/>
            <a:ext cx="2560320" cy="2651760"/>
          </a:xfrm>
          <a:prstGeom prst="roundRect">
            <a:avLst>
              <a:gd name="adj" fmla="val 2857"/>
            </a:avLst>
          </a:prstGeom>
          <a:solidFill>
            <a:srgbClr val="1A2044"/>
          </a:solidFill>
          <a:ln w="9525">
            <a:solidFill>
              <a:srgbClr val="22D3EE"/>
            </a:solidFill>
            <a:prstDash val="solid"/>
          </a:ln>
        </p:spPr>
      </p:sp>
      <p:sp>
        <p:nvSpPr>
          <p:cNvPr id="14" name="Text 12"/>
          <p:cNvSpPr txBox="1"/>
          <p:nvPr/>
        </p:nvSpPr>
        <p:spPr>
          <a:xfrm>
            <a:off x="731520" y="1481328"/>
            <a:ext cx="1097280" cy="685800"/>
          </a:xfrm>
          <a:prstGeom prst="rect">
            <a:avLst/>
          </a:prstGeom>
          <a:noFill/>
          <a:ln/>
        </p:spPr>
        <p:txBody>
          <a:bodyPr wrap="square" lIns="0" tIns="0" rIns="0" bIns="0" rtlCol="0" anchor="t"/>
          <a:lstStyle/>
          <a:p>
            <a:pPr marL="0" indent="0">
              <a:buNone/>
            </a:pPr>
            <a:r>
              <a:rPr lang="en-US" sz="4000" b="1" dirty="0">
                <a:solidFill>
                  <a:srgbClr val="22D3EE"/>
                </a:solidFill>
                <a:latin typeface="Arial" pitchFamily="34" charset="0"/>
                <a:ea typeface="Arial" pitchFamily="34" charset="-122"/>
                <a:cs typeface="Arial" pitchFamily="34" charset="-120"/>
              </a:rPr>
              <a:t>01</a:t>
            </a:r>
            <a:endParaRPr lang="en-US" sz="4000" dirty="0"/>
          </a:p>
        </p:txBody>
      </p:sp>
      <p:sp>
        <p:nvSpPr>
          <p:cNvPr id="15" name="Text 13"/>
          <p:cNvSpPr txBox="1"/>
          <p:nvPr/>
        </p:nvSpPr>
        <p:spPr>
          <a:xfrm>
            <a:off x="1965960" y="1627632"/>
            <a:ext cx="1005840" cy="228600"/>
          </a:xfrm>
          <a:prstGeom prst="rect">
            <a:avLst/>
          </a:prstGeom>
          <a:noFill/>
          <a:ln/>
        </p:spPr>
        <p:txBody>
          <a:bodyPr wrap="square" lIns="0" tIns="0" rIns="0" bIns="0" rtlCol="0" anchor="t"/>
          <a:lstStyle/>
          <a:p>
            <a:pPr marL="0" indent="0" algn="r">
              <a:buNone/>
            </a:pPr>
            <a:r>
              <a:rPr lang="en-US" sz="1000" dirty="0">
                <a:solidFill>
                  <a:srgbClr val="9AA3C7"/>
                </a:solidFill>
                <a:latin typeface="Arial" pitchFamily="34" charset="0"/>
                <a:ea typeface="Arial" pitchFamily="34" charset="-122"/>
                <a:cs typeface="Arial" pitchFamily="34" charset="-120"/>
              </a:rPr>
              <a:t>15 ders</a:t>
            </a:r>
            <a:endParaRPr lang="en-US" sz="1000" dirty="0"/>
          </a:p>
        </p:txBody>
      </p:sp>
      <p:sp>
        <p:nvSpPr>
          <p:cNvPr id="16" name="Text 14"/>
          <p:cNvSpPr txBox="1"/>
          <p:nvPr/>
        </p:nvSpPr>
        <p:spPr>
          <a:xfrm>
            <a:off x="731520" y="2212848"/>
            <a:ext cx="2286000" cy="292608"/>
          </a:xfrm>
          <a:prstGeom prst="rect">
            <a:avLst/>
          </a:prstGeom>
          <a:noFill/>
          <a:ln/>
        </p:spPr>
        <p:txBody>
          <a:bodyPr wrap="square" lIns="0" tIns="0" rIns="0" bIns="0" rtlCol="0" anchor="t"/>
          <a:lstStyle/>
          <a:p>
            <a:pPr marL="0" indent="0">
              <a:buNone/>
            </a:pPr>
            <a:r>
              <a:rPr lang="en-US" sz="1600" b="1" dirty="0">
                <a:solidFill>
                  <a:srgbClr val="EEF0F8"/>
                </a:solidFill>
                <a:latin typeface="Arial" pitchFamily="34" charset="0"/>
                <a:ea typeface="Arial" pitchFamily="34" charset="-122"/>
                <a:cs typeface="Arial" pitchFamily="34" charset="-120"/>
              </a:rPr>
              <a:t>CSS temelleri</a:t>
            </a:r>
            <a:endParaRPr lang="en-US" sz="1600" dirty="0"/>
          </a:p>
        </p:txBody>
      </p:sp>
      <p:sp>
        <p:nvSpPr>
          <p:cNvPr id="17" name="Text 15"/>
          <p:cNvSpPr txBox="1"/>
          <p:nvPr/>
        </p:nvSpPr>
        <p:spPr>
          <a:xfrm>
            <a:off x="731520" y="2523744"/>
            <a:ext cx="2286000" cy="228600"/>
          </a:xfrm>
          <a:prstGeom prst="rect">
            <a:avLst/>
          </a:prstGeom>
          <a:noFill/>
          <a:ln/>
        </p:spPr>
        <p:txBody>
          <a:bodyPr wrap="square" lIns="0" tIns="0" rIns="0" bIns="0" rtlCol="0" anchor="t"/>
          <a:lstStyle/>
          <a:p>
            <a:pPr marL="0" indent="0">
              <a:buNone/>
            </a:pPr>
            <a:r>
              <a:rPr lang="en-US" sz="1000" dirty="0">
                <a:solidFill>
                  <a:srgbClr val="22D3EE"/>
                </a:solidFill>
                <a:latin typeface="Courier New" pitchFamily="34" charset="0"/>
                <a:ea typeface="Courier New" pitchFamily="34" charset="-122"/>
                <a:cs typeface="Courier New" pitchFamily="34" charset="-120"/>
              </a:rPr>
              <a:t>CSS styling basics</a:t>
            </a:r>
            <a:endParaRPr lang="en-US" sz="1000" dirty="0"/>
          </a:p>
        </p:txBody>
      </p:sp>
      <p:sp>
        <p:nvSpPr>
          <p:cNvPr id="18" name="Text 16"/>
          <p:cNvSpPr txBox="1"/>
          <p:nvPr/>
        </p:nvSpPr>
        <p:spPr>
          <a:xfrm>
            <a:off x="731520" y="2834640"/>
            <a:ext cx="2240280" cy="1143000"/>
          </a:xfrm>
          <a:prstGeom prst="rect">
            <a:avLst/>
          </a:prstGeom>
          <a:noFill/>
          <a:ln/>
        </p:spPr>
        <p:txBody>
          <a:bodyPr wrap="square" lIns="0" tIns="0" rIns="0" bIns="0" rtlCol="0" anchor="t"/>
          <a:lstStyle/>
          <a:p>
            <a:pPr marL="0" indent="0">
              <a:buNone/>
            </a:pPr>
            <a:r>
              <a:rPr lang="en-US" sz="1050" dirty="0">
                <a:solidFill>
                  <a:srgbClr val="9AA3C7"/>
                </a:solidFill>
                <a:latin typeface="Arial" pitchFamily="34" charset="0"/>
                <a:ea typeface="Arial" pitchFamily="34" charset="-122"/>
                <a:cs typeface="Arial" pitchFamily="34" charset="-120"/>
              </a:rPr>
              <a:t>sözdizimi, seçiciler, box model, cascade, birimler, boyut, arka plan, taşma, form/tablo, debug</a:t>
            </a:r>
            <a:endParaRPr lang="en-US" sz="1050" dirty="0"/>
          </a:p>
        </p:txBody>
      </p:sp>
      <p:sp>
        <p:nvSpPr>
          <p:cNvPr id="19" name="modul-02"/>
          <p:cNvSpPr/>
          <p:nvPr/>
        </p:nvSpPr>
        <p:spPr>
          <a:xfrm>
            <a:off x="3264408" y="1417320"/>
            <a:ext cx="2560320" cy="2651760"/>
          </a:xfrm>
          <a:prstGeom prst="roundRect">
            <a:avLst>
              <a:gd name="adj" fmla="val 2857"/>
            </a:avLst>
          </a:prstGeom>
          <a:solidFill>
            <a:srgbClr val="1A2044"/>
          </a:solidFill>
          <a:ln w="9525">
            <a:solidFill>
              <a:srgbClr val="F472B6"/>
            </a:solidFill>
            <a:prstDash val="solid"/>
          </a:ln>
        </p:spPr>
      </p:sp>
      <p:sp>
        <p:nvSpPr>
          <p:cNvPr id="20" name="Text 18"/>
          <p:cNvSpPr txBox="1"/>
          <p:nvPr/>
        </p:nvSpPr>
        <p:spPr>
          <a:xfrm>
            <a:off x="3447288" y="1481328"/>
            <a:ext cx="1097280" cy="685800"/>
          </a:xfrm>
          <a:prstGeom prst="rect">
            <a:avLst/>
          </a:prstGeom>
          <a:noFill/>
          <a:ln/>
        </p:spPr>
        <p:txBody>
          <a:bodyPr wrap="square" lIns="0" tIns="0" rIns="0" bIns="0" rtlCol="0" anchor="t"/>
          <a:lstStyle/>
          <a:p>
            <a:pPr marL="0" indent="0">
              <a:buNone/>
            </a:pPr>
            <a:r>
              <a:rPr lang="en-US" sz="4000" b="1" dirty="0">
                <a:solidFill>
                  <a:srgbClr val="F472B6"/>
                </a:solidFill>
                <a:latin typeface="Arial" pitchFamily="34" charset="0"/>
                <a:ea typeface="Arial" pitchFamily="34" charset="-122"/>
                <a:cs typeface="Arial" pitchFamily="34" charset="-120"/>
              </a:rPr>
              <a:t>02</a:t>
            </a:r>
            <a:endParaRPr lang="en-US" sz="4000" dirty="0"/>
          </a:p>
        </p:txBody>
      </p:sp>
      <p:sp>
        <p:nvSpPr>
          <p:cNvPr id="21" name="Text 19"/>
          <p:cNvSpPr txBox="1"/>
          <p:nvPr/>
        </p:nvSpPr>
        <p:spPr>
          <a:xfrm>
            <a:off x="4681728" y="1627632"/>
            <a:ext cx="1005840" cy="228600"/>
          </a:xfrm>
          <a:prstGeom prst="rect">
            <a:avLst/>
          </a:prstGeom>
          <a:noFill/>
          <a:ln/>
        </p:spPr>
        <p:txBody>
          <a:bodyPr wrap="square" lIns="0" tIns="0" rIns="0" bIns="0" rtlCol="0" anchor="t"/>
          <a:lstStyle/>
          <a:p>
            <a:pPr marL="0" indent="0" algn="r">
              <a:buNone/>
            </a:pPr>
            <a:r>
              <a:rPr lang="en-US" sz="1000" dirty="0">
                <a:solidFill>
                  <a:srgbClr val="9AA3C7"/>
                </a:solidFill>
                <a:latin typeface="Arial" pitchFamily="34" charset="0"/>
                <a:ea typeface="Arial" pitchFamily="34" charset="-122"/>
                <a:cs typeface="Arial" pitchFamily="34" charset="-120"/>
              </a:rPr>
              <a:t>4 ders</a:t>
            </a:r>
            <a:endParaRPr lang="en-US" sz="1000" dirty="0"/>
          </a:p>
        </p:txBody>
      </p:sp>
      <p:sp>
        <p:nvSpPr>
          <p:cNvPr id="22" name="Text 20"/>
          <p:cNvSpPr txBox="1"/>
          <p:nvPr/>
        </p:nvSpPr>
        <p:spPr>
          <a:xfrm>
            <a:off x="3447288" y="2212848"/>
            <a:ext cx="2286000" cy="292608"/>
          </a:xfrm>
          <a:prstGeom prst="rect">
            <a:avLst/>
          </a:prstGeom>
          <a:noFill/>
          <a:ln/>
        </p:spPr>
        <p:txBody>
          <a:bodyPr wrap="square" lIns="0" tIns="0" rIns="0" bIns="0" rtlCol="0" anchor="t"/>
          <a:lstStyle/>
          <a:p>
            <a:pPr marL="0" indent="0">
              <a:buNone/>
            </a:pPr>
            <a:r>
              <a:rPr lang="en-US" sz="1600" b="1" dirty="0">
                <a:solidFill>
                  <a:srgbClr val="EEF0F8"/>
                </a:solidFill>
                <a:latin typeface="Arial" pitchFamily="34" charset="0"/>
                <a:ea typeface="Arial" pitchFamily="34" charset="-122"/>
                <a:cs typeface="Arial" pitchFamily="34" charset="-120"/>
              </a:rPr>
              <a:t>Metin stili</a:t>
            </a:r>
            <a:endParaRPr lang="en-US" sz="1600" dirty="0"/>
          </a:p>
        </p:txBody>
      </p:sp>
      <p:sp>
        <p:nvSpPr>
          <p:cNvPr id="23" name="Text 21"/>
          <p:cNvSpPr txBox="1"/>
          <p:nvPr/>
        </p:nvSpPr>
        <p:spPr>
          <a:xfrm>
            <a:off x="3447288" y="2523744"/>
            <a:ext cx="2286000" cy="228600"/>
          </a:xfrm>
          <a:prstGeom prst="rect">
            <a:avLst/>
          </a:prstGeom>
          <a:noFill/>
          <a:ln/>
        </p:spPr>
        <p:txBody>
          <a:bodyPr wrap="square" lIns="0" tIns="0" rIns="0" bIns="0" rtlCol="0" anchor="t"/>
          <a:lstStyle/>
          <a:p>
            <a:pPr marL="0" indent="0">
              <a:buNone/>
            </a:pPr>
            <a:r>
              <a:rPr lang="en-US" sz="1000" dirty="0">
                <a:solidFill>
                  <a:srgbClr val="F472B6"/>
                </a:solidFill>
                <a:latin typeface="Courier New" pitchFamily="34" charset="0"/>
                <a:ea typeface="Courier New" pitchFamily="34" charset="-122"/>
                <a:cs typeface="Courier New" pitchFamily="34" charset="-120"/>
              </a:rPr>
              <a:t>CSS text styling</a:t>
            </a:r>
            <a:endParaRPr lang="en-US" sz="1000" dirty="0"/>
          </a:p>
        </p:txBody>
      </p:sp>
      <p:sp>
        <p:nvSpPr>
          <p:cNvPr id="24" name="Text 22"/>
          <p:cNvSpPr txBox="1"/>
          <p:nvPr/>
        </p:nvSpPr>
        <p:spPr>
          <a:xfrm>
            <a:off x="3447288" y="2834640"/>
            <a:ext cx="2240280" cy="1143000"/>
          </a:xfrm>
          <a:prstGeom prst="rect">
            <a:avLst/>
          </a:prstGeom>
          <a:noFill/>
          <a:ln/>
        </p:spPr>
        <p:txBody>
          <a:bodyPr wrap="square" lIns="0" tIns="0" rIns="0" bIns="0" rtlCol="0" anchor="t"/>
          <a:lstStyle/>
          <a:p>
            <a:pPr marL="0" indent="0">
              <a:buNone/>
            </a:pPr>
            <a:r>
              <a:rPr lang="en-US" sz="1050" dirty="0">
                <a:solidFill>
                  <a:srgbClr val="9AA3C7"/>
                </a:solidFill>
                <a:latin typeface="Arial" pitchFamily="34" charset="0"/>
                <a:ea typeface="Arial" pitchFamily="34" charset="-122"/>
                <a:cs typeface="Arial" pitchFamily="34" charset="-120"/>
              </a:rPr>
              <a:t>font ve metin temelleri, listeler, linkler, web fontları</a:t>
            </a:r>
            <a:endParaRPr lang="en-US" sz="1050" dirty="0"/>
          </a:p>
        </p:txBody>
      </p:sp>
      <p:sp>
        <p:nvSpPr>
          <p:cNvPr id="25" name="modul-03"/>
          <p:cNvSpPr/>
          <p:nvPr/>
        </p:nvSpPr>
        <p:spPr>
          <a:xfrm>
            <a:off x="5980176" y="1417320"/>
            <a:ext cx="2560320" cy="2651760"/>
          </a:xfrm>
          <a:prstGeom prst="roundRect">
            <a:avLst>
              <a:gd name="adj" fmla="val 2857"/>
            </a:avLst>
          </a:prstGeom>
          <a:solidFill>
            <a:srgbClr val="1A2044"/>
          </a:solidFill>
          <a:ln w="9525">
            <a:solidFill>
              <a:srgbClr val="A3E635"/>
            </a:solidFill>
            <a:prstDash val="solid"/>
          </a:ln>
        </p:spPr>
      </p:sp>
      <p:sp>
        <p:nvSpPr>
          <p:cNvPr id="26" name="Text 24"/>
          <p:cNvSpPr txBox="1"/>
          <p:nvPr/>
        </p:nvSpPr>
        <p:spPr>
          <a:xfrm>
            <a:off x="6163056" y="1481328"/>
            <a:ext cx="1097280" cy="685800"/>
          </a:xfrm>
          <a:prstGeom prst="rect">
            <a:avLst/>
          </a:prstGeom>
          <a:noFill/>
          <a:ln/>
        </p:spPr>
        <p:txBody>
          <a:bodyPr wrap="square" lIns="0" tIns="0" rIns="0" bIns="0" rtlCol="0" anchor="t"/>
          <a:lstStyle/>
          <a:p>
            <a:pPr marL="0" indent="0">
              <a:buNone/>
            </a:pPr>
            <a:r>
              <a:rPr lang="en-US" sz="4000" b="1" dirty="0">
                <a:solidFill>
                  <a:srgbClr val="A3E635"/>
                </a:solidFill>
                <a:latin typeface="Arial" pitchFamily="34" charset="0"/>
                <a:ea typeface="Arial" pitchFamily="34" charset="-122"/>
                <a:cs typeface="Arial" pitchFamily="34" charset="-120"/>
              </a:rPr>
              <a:t>03</a:t>
            </a:r>
            <a:endParaRPr lang="en-US" sz="4000" dirty="0"/>
          </a:p>
        </p:txBody>
      </p:sp>
      <p:sp>
        <p:nvSpPr>
          <p:cNvPr id="27" name="Text 25"/>
          <p:cNvSpPr txBox="1"/>
          <p:nvPr/>
        </p:nvSpPr>
        <p:spPr>
          <a:xfrm>
            <a:off x="7397496" y="1627632"/>
            <a:ext cx="1005840" cy="228600"/>
          </a:xfrm>
          <a:prstGeom prst="rect">
            <a:avLst/>
          </a:prstGeom>
          <a:noFill/>
          <a:ln/>
        </p:spPr>
        <p:txBody>
          <a:bodyPr wrap="square" lIns="0" tIns="0" rIns="0" bIns="0" rtlCol="0" anchor="t"/>
          <a:lstStyle/>
          <a:p>
            <a:pPr marL="0" indent="0" algn="r">
              <a:buNone/>
            </a:pPr>
            <a:r>
              <a:rPr lang="en-US" sz="1000" dirty="0">
                <a:solidFill>
                  <a:srgbClr val="9AA3C7"/>
                </a:solidFill>
                <a:latin typeface="Arial" pitchFamily="34" charset="0"/>
                <a:ea typeface="Arial" pitchFamily="34" charset="-122"/>
                <a:cs typeface="Arial" pitchFamily="34" charset="-120"/>
              </a:rPr>
              <a:t>7 ders</a:t>
            </a:r>
            <a:endParaRPr lang="en-US" sz="1000" dirty="0"/>
          </a:p>
        </p:txBody>
      </p:sp>
      <p:sp>
        <p:nvSpPr>
          <p:cNvPr id="28" name="Text 26"/>
          <p:cNvSpPr txBox="1"/>
          <p:nvPr/>
        </p:nvSpPr>
        <p:spPr>
          <a:xfrm>
            <a:off x="6163056" y="2212848"/>
            <a:ext cx="2286000" cy="292608"/>
          </a:xfrm>
          <a:prstGeom prst="rect">
            <a:avLst/>
          </a:prstGeom>
          <a:noFill/>
          <a:ln/>
        </p:spPr>
        <p:txBody>
          <a:bodyPr wrap="square" lIns="0" tIns="0" rIns="0" bIns="0" rtlCol="0" anchor="t"/>
          <a:lstStyle/>
          <a:p>
            <a:pPr marL="0" indent="0">
              <a:buNone/>
            </a:pPr>
            <a:r>
              <a:rPr lang="en-US" sz="1600" b="1" dirty="0">
                <a:solidFill>
                  <a:srgbClr val="EEF0F8"/>
                </a:solidFill>
                <a:latin typeface="Arial" pitchFamily="34" charset="0"/>
                <a:ea typeface="Arial" pitchFamily="34" charset="-122"/>
                <a:cs typeface="Arial" pitchFamily="34" charset="-120"/>
              </a:rPr>
              <a:t>CSS düzeni</a:t>
            </a:r>
            <a:endParaRPr lang="en-US" sz="1600" dirty="0"/>
          </a:p>
        </p:txBody>
      </p:sp>
      <p:sp>
        <p:nvSpPr>
          <p:cNvPr id="29" name="Text 27"/>
          <p:cNvSpPr txBox="1"/>
          <p:nvPr/>
        </p:nvSpPr>
        <p:spPr>
          <a:xfrm>
            <a:off x="6163056" y="2523744"/>
            <a:ext cx="2286000" cy="228600"/>
          </a:xfrm>
          <a:prstGeom prst="rect">
            <a:avLst/>
          </a:prstGeom>
          <a:noFill/>
          <a:ln/>
        </p:spPr>
        <p:txBody>
          <a:bodyPr wrap="square" lIns="0" tIns="0" rIns="0" bIns="0" rtlCol="0" anchor="t"/>
          <a:lstStyle/>
          <a:p>
            <a:pPr marL="0" indent="0">
              <a:buNone/>
            </a:pPr>
            <a:r>
              <a:rPr lang="en-US" sz="1000" dirty="0">
                <a:solidFill>
                  <a:srgbClr val="A3E635"/>
                </a:solidFill>
                <a:latin typeface="Courier New" pitchFamily="34" charset="0"/>
                <a:ea typeface="Courier New" pitchFamily="34" charset="-122"/>
                <a:cs typeface="Courier New" pitchFamily="34" charset="-120"/>
              </a:rPr>
              <a:t>CSS layout</a:t>
            </a:r>
            <a:endParaRPr lang="en-US" sz="1000" dirty="0"/>
          </a:p>
        </p:txBody>
      </p:sp>
      <p:sp>
        <p:nvSpPr>
          <p:cNvPr id="30" name="Text 28"/>
          <p:cNvSpPr txBox="1"/>
          <p:nvPr/>
        </p:nvSpPr>
        <p:spPr>
          <a:xfrm>
            <a:off x="6163056" y="2834640"/>
            <a:ext cx="2240280" cy="1143000"/>
          </a:xfrm>
          <a:prstGeom prst="rect">
            <a:avLst/>
          </a:prstGeom>
          <a:noFill/>
          <a:ln/>
        </p:spPr>
        <p:txBody>
          <a:bodyPr wrap="square" lIns="0" tIns="0" rIns="0" bIns="0" rtlCol="0" anchor="t"/>
          <a:lstStyle/>
          <a:p>
            <a:pPr marL="0" indent="0">
              <a:buNone/>
            </a:pPr>
            <a:r>
              <a:rPr lang="en-US" sz="1050" dirty="0">
                <a:solidFill>
                  <a:srgbClr val="9AA3C7"/>
                </a:solidFill>
                <a:latin typeface="Arial" pitchFamily="34" charset="0"/>
                <a:ea typeface="Arial" pitchFamily="34" charset="-122"/>
                <a:cs typeface="Arial" pitchFamily="34" charset="-120"/>
              </a:rPr>
              <a:t>normal akış, float, positioning, flexbox, grid, responsive, media queries</a:t>
            </a:r>
            <a:endParaRPr lang="en-US" sz="1050" dirty="0"/>
          </a:p>
        </p:txBody>
      </p:sp>
      <p:sp>
        <p:nvSpPr>
          <p:cNvPr id="31" name="benzetme"/>
          <p:cNvSpPr/>
          <p:nvPr/>
        </p:nvSpPr>
        <p:spPr>
          <a:xfrm>
            <a:off x="548640" y="4224528"/>
            <a:ext cx="8046720" cy="402336"/>
          </a:xfrm>
          <a:prstGeom prst="roundRect">
            <a:avLst>
              <a:gd name="adj" fmla="val 50000"/>
            </a:avLst>
          </a:prstGeom>
          <a:solidFill>
            <a:srgbClr val="232A55"/>
          </a:solidFill>
          <a:ln/>
        </p:spPr>
      </p:sp>
      <p:sp>
        <p:nvSpPr>
          <p:cNvPr id="32" name="benzetme-ikon"/>
          <p:cNvSpPr/>
          <p:nvPr/>
        </p:nvSpPr>
        <p:spPr>
          <a:xfrm>
            <a:off x="621792" y="4261104"/>
            <a:ext cx="329184" cy="329184"/>
          </a:xfrm>
          <a:prstGeom prst="ellipse">
            <a:avLst/>
          </a:prstGeom>
          <a:solidFill>
            <a:srgbClr val="FBBF24"/>
          </a:solidFill>
          <a:ln/>
        </p:spPr>
      </p:sp>
      <p:sp>
        <p:nvSpPr>
          <p:cNvPr id="33" name="Text 31"/>
          <p:cNvSpPr txBox="1"/>
          <p:nvPr/>
        </p:nvSpPr>
        <p:spPr>
          <a:xfrm>
            <a:off x="621792" y="4261104"/>
            <a:ext cx="329184" cy="329184"/>
          </a:xfrm>
          <a:prstGeom prst="rect">
            <a:avLst/>
          </a:prstGeom>
          <a:noFill/>
          <a:ln/>
        </p:spPr>
        <p:txBody>
          <a:bodyPr wrap="square" lIns="0" tIns="0" rIns="0" bIns="0" rtlCol="0" anchor="ctr"/>
          <a:lstStyle/>
          <a:p>
            <a:pPr marL="0" indent="0" algn="ctr">
              <a:buNone/>
            </a:pPr>
            <a:r>
              <a:rPr lang="en-US" sz="1600" b="1" dirty="0">
                <a:solidFill>
                  <a:srgbClr val="10142B"/>
                </a:solidFill>
                <a:latin typeface="Arial" pitchFamily="34" charset="0"/>
                <a:ea typeface="Arial" pitchFamily="34" charset="-122"/>
                <a:cs typeface="Arial" pitchFamily="34" charset="-120"/>
              </a:rPr>
              <a:t>≈</a:t>
            </a:r>
            <a:endParaRPr lang="en-US" sz="1600" dirty="0"/>
          </a:p>
        </p:txBody>
      </p:sp>
      <p:sp>
        <p:nvSpPr>
          <p:cNvPr id="34" name="Text 32"/>
          <p:cNvSpPr txBox="1"/>
          <p:nvPr/>
        </p:nvSpPr>
        <p:spPr>
          <a:xfrm>
            <a:off x="1042416" y="4224528"/>
            <a:ext cx="7452360" cy="402336"/>
          </a:xfrm>
          <a:prstGeom prst="rect">
            <a:avLst/>
          </a:prstGeom>
          <a:noFill/>
          <a:ln/>
        </p:spPr>
        <p:txBody>
          <a:bodyPr wrap="square" lIns="0" tIns="0" rIns="0" bIns="0" rtlCol="0" anchor="ctr"/>
          <a:lstStyle/>
          <a:p>
            <a:pPr marL="0" indent="0">
              <a:buNone/>
            </a:pPr>
            <a:r>
              <a:rPr lang="en-US" sz="1100" b="1" dirty="0">
                <a:solidFill>
                  <a:srgbClr val="FBBF24"/>
                </a:solidFill>
                <a:latin typeface="Arial" pitchFamily="34" charset="0"/>
                <a:ea typeface="Arial" pitchFamily="34" charset="-122"/>
                <a:cs typeface="Arial" pitchFamily="34" charset="-120"/>
              </a:rPr>
              <a:t>Gündelik hayatta: </a:t>
            </a:r>
            <a:r>
              <a:rPr lang="en-US" sz="1100" dirty="0">
                <a:solidFill>
                  <a:srgbClr val="EEF0F8"/>
                </a:solidFill>
                <a:latin typeface="Arial" pitchFamily="34" charset="0"/>
                <a:ea typeface="Arial" pitchFamily="34" charset="-122"/>
                <a:cs typeface="Arial" pitchFamily="34" charset="-120"/>
              </a:rPr>
              <a:t>HTML evin iskeletiyse CSS iç mimarıdır: önce boya ve mobilya (temeller), sonra yazılar ve tabelalar (metin), en son odaların yerleşimi (düzen).</a:t>
            </a:r>
            <a:endParaRPr lang="en-US" sz="1100" dirty="0"/>
          </a:p>
        </p:txBody>
      </p:sp>
    </p:spTree>
  </p:cSld>
  <p:clrMapOvr>
    <a:masterClrMapping/>
  </p:clrMapOvr>
  <p:transition spd="med">
    <p:pull/>
  </p:transition>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256032"/>
            <a:ext cx="4572000" cy="201168"/>
          </a:xfrm>
          <a:prstGeom prst="rect">
            <a:avLst/>
          </a:prstGeom>
          <a:noFill/>
          <a:ln/>
        </p:spPr>
        <p:txBody>
          <a:bodyPr wrap="square" lIns="0" tIns="0" rIns="0" bIns="0" rtlCol="0" anchor="t"/>
          <a:lstStyle/>
          <a:p>
            <a:pPr marL="0" indent="0">
              <a:buNone/>
            </a:pPr>
            <a:r>
              <a:rPr lang="en-US" sz="900" b="1" kern="0" spc="200" dirty="0">
                <a:solidFill>
                  <a:srgbClr val="8B7CFF"/>
                </a:solidFill>
                <a:latin typeface="Arial" pitchFamily="34" charset="0"/>
                <a:ea typeface="Arial" pitchFamily="34" charset="-122"/>
                <a:cs typeface="Arial" pitchFamily="34" charset="-120"/>
              </a:rPr>
              <a:t>GİRİŞ</a:t>
            </a:r>
            <a:endParaRPr lang="en-US" sz="900" dirty="0"/>
          </a:p>
        </p:txBody>
      </p:sp>
      <p:sp>
        <p:nvSpPr>
          <p:cNvPr id="3" name="mini-box-0"/>
          <p:cNvSpPr/>
          <p:nvPr/>
        </p:nvSpPr>
        <p:spPr>
          <a:xfrm>
            <a:off x="8229600" y="201168"/>
            <a:ext cx="384048" cy="384048"/>
          </a:xfrm>
          <a:prstGeom prst="rect">
            <a:avLst/>
          </a:prstGeom>
          <a:ln w="9525">
            <a:solidFill>
              <a:srgbClr val="8B7CFF"/>
            </a:solidFill>
            <a:prstDash val="solid"/>
          </a:ln>
        </p:spPr>
      </p:sp>
      <p:sp>
        <p:nvSpPr>
          <p:cNvPr id="4" name="mini-box-1"/>
          <p:cNvSpPr/>
          <p:nvPr/>
        </p:nvSpPr>
        <p:spPr>
          <a:xfrm>
            <a:off x="8293608" y="265176"/>
            <a:ext cx="256032" cy="256032"/>
          </a:xfrm>
          <a:prstGeom prst="rect">
            <a:avLst/>
          </a:prstGeom>
          <a:ln w="9525">
            <a:solidFill>
              <a:srgbClr val="EEF0F8"/>
            </a:solidFill>
            <a:prstDash val="solid"/>
          </a:ln>
        </p:spPr>
      </p:sp>
      <p:sp>
        <p:nvSpPr>
          <p:cNvPr id="5" name="mini-box-2"/>
          <p:cNvSpPr/>
          <p:nvPr/>
        </p:nvSpPr>
        <p:spPr>
          <a:xfrm>
            <a:off x="8348472" y="320040"/>
            <a:ext cx="146304" cy="146304"/>
          </a:xfrm>
          <a:prstGeom prst="rect">
            <a:avLst/>
          </a:prstGeom>
          <a:solidFill>
            <a:srgbClr val="8B7CFF"/>
          </a:solidFill>
          <a:ln w="9525">
            <a:solidFill>
              <a:srgbClr val="8B7CFF"/>
            </a:solidFill>
            <a:prstDash val="solid"/>
          </a:ln>
        </p:spPr>
      </p:sp>
      <p:sp>
        <p:nvSpPr>
          <p:cNvPr id="6" name="ilerleme-zemin"/>
          <p:cNvSpPr/>
          <p:nvPr/>
        </p:nvSpPr>
        <p:spPr>
          <a:xfrm>
            <a:off x="0" y="5070348"/>
            <a:ext cx="9144000" cy="73152"/>
          </a:xfrm>
          <a:prstGeom prst="rect">
            <a:avLst/>
          </a:prstGeom>
          <a:solidFill>
            <a:srgbClr val="1A2044"/>
          </a:solidFill>
          <a:ln/>
        </p:spPr>
      </p:sp>
      <p:sp>
        <p:nvSpPr>
          <p:cNvPr id="7" name="ilerleme"/>
          <p:cNvSpPr/>
          <p:nvPr/>
        </p:nvSpPr>
        <p:spPr>
          <a:xfrm>
            <a:off x="0" y="5070348"/>
            <a:ext cx="637953" cy="73152"/>
          </a:xfrm>
          <a:prstGeom prst="rect">
            <a:avLst/>
          </a:prstGeom>
          <a:solidFill>
            <a:srgbClr val="8B7CFF"/>
          </a:solidFill>
          <a:ln/>
        </p:spPr>
      </p:sp>
      <p:sp>
        <p:nvSpPr>
          <p:cNvPr id="8" name="Text 6"/>
          <p:cNvSpPr txBox="1"/>
          <p:nvPr/>
        </p:nvSpPr>
        <p:spPr>
          <a:xfrm>
            <a:off x="548640" y="4791456"/>
            <a:ext cx="3657600" cy="201168"/>
          </a:xfrm>
          <a:prstGeom prst="rect">
            <a:avLst/>
          </a:prstGeom>
          <a:noFill/>
          <a:ln/>
        </p:spPr>
        <p:txBody>
          <a:bodyPr wrap="square" lIns="0" tIns="0" rIns="0" bIns="0" rtlCol="0" anchor="t"/>
          <a:lstStyle/>
          <a:p>
            <a:pPr marL="0" indent="0">
              <a:buNone/>
            </a:pPr>
            <a:r>
              <a:rPr lang="en-US" sz="850" dirty="0">
                <a:solidFill>
                  <a:srgbClr val="6C759E"/>
                </a:solidFill>
                <a:latin typeface="Arial" pitchFamily="34" charset="0"/>
                <a:ea typeface="Arial" pitchFamily="34" charset="-122"/>
                <a:cs typeface="Arial" pitchFamily="34" charset="-120"/>
              </a:rPr>
              <a:t>KCŞ A.Ş.  ·  CSS ile stil ve düzen</a:t>
            </a:r>
            <a:endParaRPr lang="en-US" sz="850" dirty="0"/>
          </a:p>
        </p:txBody>
      </p:sp>
      <p:sp>
        <p:nvSpPr>
          <p:cNvPr id="9" name="Text 7"/>
          <p:cNvSpPr txBox="1"/>
          <p:nvPr/>
        </p:nvSpPr>
        <p:spPr>
          <a:xfrm>
            <a:off x="4206240" y="4791456"/>
            <a:ext cx="3840480" cy="201168"/>
          </a:xfrm>
          <a:prstGeom prst="rect">
            <a:avLst/>
          </a:prstGeom>
          <a:noFill/>
          <a:ln/>
        </p:spPr>
        <p:txBody>
          <a:bodyPr wrap="square" lIns="0" tIns="0" rIns="0" bIns="0" rtlCol="0" anchor="t"/>
          <a:lstStyle/>
          <a:p>
            <a:pPr marL="0" indent="0" algn="r">
              <a:buNone/>
            </a:pPr>
            <a:r>
              <a:rPr lang="en-US" sz="850" dirty="0">
                <a:solidFill>
                  <a:srgbClr val="6C759E"/>
                </a:solidFill>
                <a:latin typeface="Arial" pitchFamily="34" charset="0"/>
                <a:ea typeface="Arial" pitchFamily="34" charset="-122"/>
                <a:cs typeface="Arial" pitchFamily="34" charset="-120"/>
              </a:rPr>
              <a:t>MDN · W3C · MDN</a:t>
            </a:r>
            <a:endParaRPr lang="en-US" sz="850" dirty="0"/>
          </a:p>
        </p:txBody>
      </p:sp>
      <p:sp>
        <p:nvSpPr>
          <p:cNvPr id="10" name="Text 8"/>
          <p:cNvSpPr txBox="1"/>
          <p:nvPr/>
        </p:nvSpPr>
        <p:spPr>
          <a:xfrm>
            <a:off x="8092440" y="4791456"/>
            <a:ext cx="685800" cy="201168"/>
          </a:xfrm>
          <a:prstGeom prst="rect">
            <a:avLst/>
          </a:prstGeom>
          <a:noFill/>
          <a:ln/>
        </p:spPr>
        <p:txBody>
          <a:bodyPr wrap="square" lIns="0" tIns="0" rIns="0" bIns="0" rtlCol="0" anchor="t"/>
          <a:lstStyle/>
          <a:p>
            <a:pPr marL="0" indent="0" algn="r">
              <a:buNone/>
            </a:pPr>
            <a:r>
              <a:rPr lang="en-US" sz="850" dirty="0">
                <a:solidFill>
                  <a:srgbClr val="9AA3C7"/>
                </a:solidFill>
                <a:latin typeface="Courier New" pitchFamily="34" charset="0"/>
                <a:ea typeface="Courier New" pitchFamily="34" charset="-122"/>
                <a:cs typeface="Courier New" pitchFamily="34" charset="-120"/>
              </a:rPr>
              <a:t>03 / 43</a:t>
            </a:r>
            <a:endParaRPr lang="en-US" sz="850" dirty="0"/>
          </a:p>
        </p:txBody>
      </p:sp>
      <p:sp>
        <p:nvSpPr>
          <p:cNvPr id="11" name="Text 9"/>
          <p:cNvSpPr txBox="1"/>
          <p:nvPr/>
        </p:nvSpPr>
        <p:spPr>
          <a:xfrm>
            <a:off x="548640" y="502920"/>
            <a:ext cx="5943600" cy="237744"/>
          </a:xfrm>
          <a:prstGeom prst="rect">
            <a:avLst/>
          </a:prstGeom>
          <a:noFill/>
          <a:ln/>
        </p:spPr>
        <p:txBody>
          <a:bodyPr wrap="square" lIns="0" tIns="0" rIns="0" bIns="0" rtlCol="0" anchor="t"/>
          <a:lstStyle/>
          <a:p>
            <a:pPr marL="0" indent="0">
              <a:buNone/>
            </a:pPr>
            <a:r>
              <a:rPr lang="en-US" sz="1100" b="1" dirty="0">
                <a:solidFill>
                  <a:srgbClr val="8B7CFF"/>
                </a:solidFill>
                <a:latin typeface="Courier New" pitchFamily="34" charset="0"/>
                <a:ea typeface="Courier New" pitchFamily="34" charset="-122"/>
                <a:cs typeface="Courier New" pitchFamily="34" charset="-120"/>
              </a:rPr>
              <a:t>/* 1994 → bugün */</a:t>
            </a:r>
            <a:endParaRPr lang="en-US" sz="1100" dirty="0"/>
          </a:p>
        </p:txBody>
      </p:sp>
      <p:sp>
        <p:nvSpPr>
          <p:cNvPr id="12" name="Text 10"/>
          <p:cNvSpPr txBox="1"/>
          <p:nvPr/>
        </p:nvSpPr>
        <p:spPr>
          <a:xfrm>
            <a:off x="548640" y="749808"/>
            <a:ext cx="7589520" cy="502920"/>
          </a:xfrm>
          <a:prstGeom prst="rect">
            <a:avLst/>
          </a:prstGeom>
          <a:noFill/>
          <a:ln/>
        </p:spPr>
        <p:txBody>
          <a:bodyPr wrap="square" lIns="0" tIns="0" rIns="0" bIns="0" rtlCol="0" anchor="ctr"/>
          <a:lstStyle/>
          <a:p>
            <a:pPr marL="0" indent="0">
              <a:buNone/>
            </a:pPr>
            <a:r>
              <a:rPr lang="en-US" sz="2400" b="1" dirty="0">
                <a:solidFill>
                  <a:srgbClr val="EEF0F8"/>
                </a:solidFill>
                <a:latin typeface="Arial" pitchFamily="34" charset="0"/>
                <a:ea typeface="Arial" pitchFamily="34" charset="-122"/>
                <a:cs typeface="Arial" pitchFamily="34" charset="-120"/>
              </a:rPr>
              <a:t>CSS'in kısa tarihi</a:t>
            </a:r>
            <a:endParaRPr lang="en-US" sz="2400" dirty="0"/>
          </a:p>
        </p:txBody>
      </p:sp>
      <p:sp>
        <p:nvSpPr>
          <p:cNvPr id="13" name="zaman-cizgisi"/>
          <p:cNvSpPr/>
          <p:nvPr/>
        </p:nvSpPr>
        <p:spPr>
          <a:xfrm>
            <a:off x="731520" y="1828800"/>
            <a:ext cx="7680960" cy="0"/>
          </a:xfrm>
          <a:prstGeom prst="line">
            <a:avLst/>
          </a:prstGeom>
          <a:noFill/>
          <a:ln w="25400">
            <a:solidFill>
              <a:srgbClr val="2E3768"/>
            </a:solidFill>
            <a:prstDash val="solid"/>
          </a:ln>
        </p:spPr>
      </p:sp>
      <p:sp>
        <p:nvSpPr>
          <p:cNvPr id="14" name="tarih-nokta-0"/>
          <p:cNvSpPr/>
          <p:nvPr/>
        </p:nvSpPr>
        <p:spPr>
          <a:xfrm>
            <a:off x="1051560" y="1719072"/>
            <a:ext cx="219456" cy="219456"/>
          </a:xfrm>
          <a:prstGeom prst="ellipse">
            <a:avLst/>
          </a:prstGeom>
          <a:solidFill>
            <a:srgbClr val="22D3EE"/>
          </a:solidFill>
          <a:ln w="25400">
            <a:solidFill>
              <a:srgbClr val="10142B"/>
            </a:solidFill>
            <a:prstDash val="solid"/>
          </a:ln>
        </p:spPr>
      </p:sp>
      <p:sp>
        <p:nvSpPr>
          <p:cNvPr id="15" name="Text 13"/>
          <p:cNvSpPr txBox="1"/>
          <p:nvPr/>
        </p:nvSpPr>
        <p:spPr>
          <a:xfrm>
            <a:off x="548640" y="1325880"/>
            <a:ext cx="1234440" cy="320040"/>
          </a:xfrm>
          <a:prstGeom prst="rect">
            <a:avLst/>
          </a:prstGeom>
          <a:noFill/>
          <a:ln/>
        </p:spPr>
        <p:txBody>
          <a:bodyPr wrap="square" lIns="0" tIns="0" rIns="0" bIns="0" rtlCol="0" anchor="t"/>
          <a:lstStyle/>
          <a:p>
            <a:pPr marL="0" indent="0" algn="ctr">
              <a:buNone/>
            </a:pPr>
            <a:r>
              <a:rPr lang="en-US" sz="1500" b="1" dirty="0">
                <a:solidFill>
                  <a:srgbClr val="22D3EE"/>
                </a:solidFill>
                <a:latin typeface="Arial" pitchFamily="34" charset="0"/>
                <a:ea typeface="Arial" pitchFamily="34" charset="-122"/>
                <a:cs typeface="Arial" pitchFamily="34" charset="-120"/>
              </a:rPr>
              <a:t>1994</a:t>
            </a:r>
            <a:endParaRPr lang="en-US" sz="1500" dirty="0"/>
          </a:p>
        </p:txBody>
      </p:sp>
      <p:sp>
        <p:nvSpPr>
          <p:cNvPr id="16" name="tarih-karti-0"/>
          <p:cNvSpPr/>
          <p:nvPr/>
        </p:nvSpPr>
        <p:spPr>
          <a:xfrm>
            <a:off x="548640" y="2103120"/>
            <a:ext cx="1234440" cy="1965960"/>
          </a:xfrm>
          <a:prstGeom prst="roundRect">
            <a:avLst>
              <a:gd name="adj" fmla="val 5926"/>
            </a:avLst>
          </a:prstGeom>
          <a:solidFill>
            <a:srgbClr val="1A2044"/>
          </a:solidFill>
          <a:ln w="9525">
            <a:solidFill>
              <a:srgbClr val="2E3768"/>
            </a:solidFill>
            <a:prstDash val="solid"/>
          </a:ln>
        </p:spPr>
      </p:sp>
      <p:sp>
        <p:nvSpPr>
          <p:cNvPr id="17" name="Text 15"/>
          <p:cNvSpPr txBox="1"/>
          <p:nvPr/>
        </p:nvSpPr>
        <p:spPr>
          <a:xfrm>
            <a:off x="640080" y="2176272"/>
            <a:ext cx="1069848" cy="1828800"/>
          </a:xfrm>
          <a:prstGeom prst="rect">
            <a:avLst/>
          </a:prstGeom>
          <a:noFill/>
          <a:ln/>
        </p:spPr>
        <p:txBody>
          <a:bodyPr wrap="square" lIns="0" tIns="0" rIns="0" bIns="0" rtlCol="0" anchor="t"/>
          <a:lstStyle/>
          <a:p>
            <a:pPr marL="0" indent="0">
              <a:buNone/>
            </a:pPr>
            <a:r>
              <a:rPr lang="en-US" sz="1000" dirty="0">
                <a:solidFill>
                  <a:srgbClr val="EEF0F8"/>
                </a:solidFill>
                <a:latin typeface="Arial" pitchFamily="34" charset="0"/>
                <a:ea typeface="Arial" pitchFamily="34" charset="-122"/>
                <a:cs typeface="Arial" pitchFamily="34" charset="-120"/>
              </a:rPr>
              <a:t>Håkon Wium Lie, CERN'de CSS'i önerir: içerik HTML'de, görünüm ayrı bir dilde.</a:t>
            </a:r>
            <a:endParaRPr lang="en-US" sz="1000" dirty="0"/>
          </a:p>
        </p:txBody>
      </p:sp>
      <p:sp>
        <p:nvSpPr>
          <p:cNvPr id="18" name="tarih-nokta-1"/>
          <p:cNvSpPr/>
          <p:nvPr/>
        </p:nvSpPr>
        <p:spPr>
          <a:xfrm>
            <a:off x="2395728" y="1719072"/>
            <a:ext cx="219456" cy="219456"/>
          </a:xfrm>
          <a:prstGeom prst="ellipse">
            <a:avLst/>
          </a:prstGeom>
          <a:solidFill>
            <a:srgbClr val="F472B6"/>
          </a:solidFill>
          <a:ln w="25400">
            <a:solidFill>
              <a:srgbClr val="10142B"/>
            </a:solidFill>
            <a:prstDash val="solid"/>
          </a:ln>
        </p:spPr>
      </p:sp>
      <p:sp>
        <p:nvSpPr>
          <p:cNvPr id="19" name="Text 17"/>
          <p:cNvSpPr txBox="1"/>
          <p:nvPr/>
        </p:nvSpPr>
        <p:spPr>
          <a:xfrm>
            <a:off x="1892808" y="1325880"/>
            <a:ext cx="1234440" cy="320040"/>
          </a:xfrm>
          <a:prstGeom prst="rect">
            <a:avLst/>
          </a:prstGeom>
          <a:noFill/>
          <a:ln/>
        </p:spPr>
        <p:txBody>
          <a:bodyPr wrap="square" lIns="0" tIns="0" rIns="0" bIns="0" rtlCol="0" anchor="t"/>
          <a:lstStyle/>
          <a:p>
            <a:pPr marL="0" indent="0" algn="ctr">
              <a:buNone/>
            </a:pPr>
            <a:r>
              <a:rPr lang="en-US" sz="1500" b="1" dirty="0">
                <a:solidFill>
                  <a:srgbClr val="F472B6"/>
                </a:solidFill>
                <a:latin typeface="Arial" pitchFamily="34" charset="0"/>
                <a:ea typeface="Arial" pitchFamily="34" charset="-122"/>
                <a:cs typeface="Arial" pitchFamily="34" charset="-120"/>
              </a:rPr>
              <a:t>1996</a:t>
            </a:r>
            <a:endParaRPr lang="en-US" sz="1500" dirty="0"/>
          </a:p>
        </p:txBody>
      </p:sp>
      <p:sp>
        <p:nvSpPr>
          <p:cNvPr id="20" name="tarih-karti-1"/>
          <p:cNvSpPr/>
          <p:nvPr/>
        </p:nvSpPr>
        <p:spPr>
          <a:xfrm>
            <a:off x="1892808" y="2103120"/>
            <a:ext cx="1234440" cy="1965960"/>
          </a:xfrm>
          <a:prstGeom prst="roundRect">
            <a:avLst>
              <a:gd name="adj" fmla="val 5926"/>
            </a:avLst>
          </a:prstGeom>
          <a:solidFill>
            <a:srgbClr val="1A2044"/>
          </a:solidFill>
          <a:ln w="9525">
            <a:solidFill>
              <a:srgbClr val="2E3768"/>
            </a:solidFill>
            <a:prstDash val="solid"/>
          </a:ln>
        </p:spPr>
      </p:sp>
      <p:sp>
        <p:nvSpPr>
          <p:cNvPr id="21" name="Text 19"/>
          <p:cNvSpPr txBox="1"/>
          <p:nvPr/>
        </p:nvSpPr>
        <p:spPr>
          <a:xfrm>
            <a:off x="1984248" y="2176272"/>
            <a:ext cx="1069848" cy="1828800"/>
          </a:xfrm>
          <a:prstGeom prst="rect">
            <a:avLst/>
          </a:prstGeom>
          <a:noFill/>
          <a:ln/>
        </p:spPr>
        <p:txBody>
          <a:bodyPr wrap="square" lIns="0" tIns="0" rIns="0" bIns="0" rtlCol="0" anchor="t"/>
          <a:lstStyle/>
          <a:p>
            <a:pPr marL="0" indent="0">
              <a:buNone/>
            </a:pPr>
            <a:r>
              <a:rPr lang="en-US" sz="1000" dirty="0">
                <a:solidFill>
                  <a:srgbClr val="EEF0F8"/>
                </a:solidFill>
                <a:latin typeface="Arial" pitchFamily="34" charset="0"/>
                <a:ea typeface="Arial" pitchFamily="34" charset="-122"/>
                <a:cs typeface="Arial" pitchFamily="34" charset="-120"/>
              </a:rPr>
              <a:t>CSS1 W3C önerisi olur: font, renk, metin hizalama, margin, border, padding.</a:t>
            </a:r>
            <a:endParaRPr lang="en-US" sz="1000" dirty="0"/>
          </a:p>
        </p:txBody>
      </p:sp>
      <p:sp>
        <p:nvSpPr>
          <p:cNvPr id="22" name="tarih-nokta-2"/>
          <p:cNvSpPr/>
          <p:nvPr/>
        </p:nvSpPr>
        <p:spPr>
          <a:xfrm>
            <a:off x="3739896" y="1719072"/>
            <a:ext cx="219456" cy="219456"/>
          </a:xfrm>
          <a:prstGeom prst="ellipse">
            <a:avLst/>
          </a:prstGeom>
          <a:solidFill>
            <a:srgbClr val="A3E635"/>
          </a:solidFill>
          <a:ln w="25400">
            <a:solidFill>
              <a:srgbClr val="10142B"/>
            </a:solidFill>
            <a:prstDash val="solid"/>
          </a:ln>
        </p:spPr>
      </p:sp>
      <p:sp>
        <p:nvSpPr>
          <p:cNvPr id="23" name="Text 21"/>
          <p:cNvSpPr txBox="1"/>
          <p:nvPr/>
        </p:nvSpPr>
        <p:spPr>
          <a:xfrm>
            <a:off x="3236976" y="1325880"/>
            <a:ext cx="1234440" cy="320040"/>
          </a:xfrm>
          <a:prstGeom prst="rect">
            <a:avLst/>
          </a:prstGeom>
          <a:noFill/>
          <a:ln/>
        </p:spPr>
        <p:txBody>
          <a:bodyPr wrap="square" lIns="0" tIns="0" rIns="0" bIns="0" rtlCol="0" anchor="t"/>
          <a:lstStyle/>
          <a:p>
            <a:pPr marL="0" indent="0" algn="ctr">
              <a:buNone/>
            </a:pPr>
            <a:r>
              <a:rPr lang="en-US" sz="1500" b="1" dirty="0">
                <a:solidFill>
                  <a:srgbClr val="A3E635"/>
                </a:solidFill>
                <a:latin typeface="Arial" pitchFamily="34" charset="0"/>
                <a:ea typeface="Arial" pitchFamily="34" charset="-122"/>
                <a:cs typeface="Arial" pitchFamily="34" charset="-120"/>
              </a:rPr>
              <a:t>1998</a:t>
            </a:r>
            <a:endParaRPr lang="en-US" sz="1500" dirty="0"/>
          </a:p>
        </p:txBody>
      </p:sp>
      <p:sp>
        <p:nvSpPr>
          <p:cNvPr id="24" name="tarih-karti-2"/>
          <p:cNvSpPr/>
          <p:nvPr/>
        </p:nvSpPr>
        <p:spPr>
          <a:xfrm>
            <a:off x="3236976" y="2103120"/>
            <a:ext cx="1234440" cy="1965960"/>
          </a:xfrm>
          <a:prstGeom prst="roundRect">
            <a:avLst>
              <a:gd name="adj" fmla="val 5926"/>
            </a:avLst>
          </a:prstGeom>
          <a:solidFill>
            <a:srgbClr val="1A2044"/>
          </a:solidFill>
          <a:ln w="9525">
            <a:solidFill>
              <a:srgbClr val="2E3768"/>
            </a:solidFill>
            <a:prstDash val="solid"/>
          </a:ln>
        </p:spPr>
      </p:sp>
      <p:sp>
        <p:nvSpPr>
          <p:cNvPr id="25" name="Text 23"/>
          <p:cNvSpPr txBox="1"/>
          <p:nvPr/>
        </p:nvSpPr>
        <p:spPr>
          <a:xfrm>
            <a:off x="3328416" y="2176272"/>
            <a:ext cx="1069848" cy="1828800"/>
          </a:xfrm>
          <a:prstGeom prst="rect">
            <a:avLst/>
          </a:prstGeom>
          <a:noFill/>
          <a:ln/>
        </p:spPr>
        <p:txBody>
          <a:bodyPr wrap="square" lIns="0" tIns="0" rIns="0" bIns="0" rtlCol="0" anchor="t"/>
          <a:lstStyle/>
          <a:p>
            <a:pPr marL="0" indent="0">
              <a:buNone/>
            </a:pPr>
            <a:r>
              <a:rPr lang="en-US" sz="1000" dirty="0">
                <a:solidFill>
                  <a:srgbClr val="EEF0F8"/>
                </a:solidFill>
                <a:latin typeface="Arial" pitchFamily="34" charset="0"/>
                <a:ea typeface="Arial" pitchFamily="34" charset="-122"/>
                <a:cs typeface="Arial" pitchFamily="34" charset="-120"/>
              </a:rPr>
              <a:t>CSS2: konumlandırma (position), z-index, media türleri.</a:t>
            </a:r>
            <a:endParaRPr lang="en-US" sz="1000" dirty="0"/>
          </a:p>
        </p:txBody>
      </p:sp>
      <p:sp>
        <p:nvSpPr>
          <p:cNvPr id="26" name="tarih-nokta-3"/>
          <p:cNvSpPr/>
          <p:nvPr/>
        </p:nvSpPr>
        <p:spPr>
          <a:xfrm>
            <a:off x="5084064" y="1719072"/>
            <a:ext cx="219456" cy="219456"/>
          </a:xfrm>
          <a:prstGeom prst="ellipse">
            <a:avLst/>
          </a:prstGeom>
          <a:solidFill>
            <a:srgbClr val="FBBF24"/>
          </a:solidFill>
          <a:ln w="25400">
            <a:solidFill>
              <a:srgbClr val="10142B"/>
            </a:solidFill>
            <a:prstDash val="solid"/>
          </a:ln>
        </p:spPr>
      </p:sp>
      <p:sp>
        <p:nvSpPr>
          <p:cNvPr id="27" name="Text 25"/>
          <p:cNvSpPr txBox="1"/>
          <p:nvPr/>
        </p:nvSpPr>
        <p:spPr>
          <a:xfrm>
            <a:off x="4581144" y="1325880"/>
            <a:ext cx="1234440" cy="320040"/>
          </a:xfrm>
          <a:prstGeom prst="rect">
            <a:avLst/>
          </a:prstGeom>
          <a:noFill/>
          <a:ln/>
        </p:spPr>
        <p:txBody>
          <a:bodyPr wrap="square" lIns="0" tIns="0" rIns="0" bIns="0" rtlCol="0" anchor="t"/>
          <a:lstStyle/>
          <a:p>
            <a:pPr marL="0" indent="0" algn="ctr">
              <a:buNone/>
            </a:pPr>
            <a:r>
              <a:rPr lang="en-US" sz="1500" b="1" dirty="0">
                <a:solidFill>
                  <a:srgbClr val="FBBF24"/>
                </a:solidFill>
                <a:latin typeface="Arial" pitchFamily="34" charset="0"/>
                <a:ea typeface="Arial" pitchFamily="34" charset="-122"/>
                <a:cs typeface="Arial" pitchFamily="34" charset="-120"/>
              </a:rPr>
              <a:t>2011</a:t>
            </a:r>
            <a:endParaRPr lang="en-US" sz="1500" dirty="0"/>
          </a:p>
        </p:txBody>
      </p:sp>
      <p:sp>
        <p:nvSpPr>
          <p:cNvPr id="28" name="tarih-karti-3"/>
          <p:cNvSpPr/>
          <p:nvPr/>
        </p:nvSpPr>
        <p:spPr>
          <a:xfrm>
            <a:off x="4581144" y="2103120"/>
            <a:ext cx="1234440" cy="1965960"/>
          </a:xfrm>
          <a:prstGeom prst="roundRect">
            <a:avLst>
              <a:gd name="adj" fmla="val 5926"/>
            </a:avLst>
          </a:prstGeom>
          <a:solidFill>
            <a:srgbClr val="1A2044"/>
          </a:solidFill>
          <a:ln w="9525">
            <a:solidFill>
              <a:srgbClr val="2E3768"/>
            </a:solidFill>
            <a:prstDash val="solid"/>
          </a:ln>
        </p:spPr>
      </p:sp>
      <p:sp>
        <p:nvSpPr>
          <p:cNvPr id="29" name="Text 27"/>
          <p:cNvSpPr txBox="1"/>
          <p:nvPr/>
        </p:nvSpPr>
        <p:spPr>
          <a:xfrm>
            <a:off x="4672584" y="2176272"/>
            <a:ext cx="1069848" cy="1828800"/>
          </a:xfrm>
          <a:prstGeom prst="rect">
            <a:avLst/>
          </a:prstGeom>
          <a:noFill/>
          <a:ln/>
        </p:spPr>
        <p:txBody>
          <a:bodyPr wrap="square" lIns="0" tIns="0" rIns="0" bIns="0" rtlCol="0" anchor="t"/>
          <a:lstStyle/>
          <a:p>
            <a:pPr marL="0" indent="0">
              <a:buNone/>
            </a:pPr>
            <a:r>
              <a:rPr lang="en-US" sz="1000" dirty="0">
                <a:solidFill>
                  <a:srgbClr val="EEF0F8"/>
                </a:solidFill>
                <a:latin typeface="Arial" pitchFamily="34" charset="0"/>
                <a:ea typeface="Arial" pitchFamily="34" charset="-122"/>
                <a:cs typeface="Arial" pitchFamily="34" charset="-120"/>
              </a:rPr>
              <a:t>CSS 2.1 resmîleşir; CSS3 artık tek dosya değil, ayrı modüllerden oluşur.</a:t>
            </a:r>
            <a:endParaRPr lang="en-US" sz="1000" dirty="0"/>
          </a:p>
        </p:txBody>
      </p:sp>
      <p:sp>
        <p:nvSpPr>
          <p:cNvPr id="30" name="tarih-nokta-4"/>
          <p:cNvSpPr/>
          <p:nvPr/>
        </p:nvSpPr>
        <p:spPr>
          <a:xfrm>
            <a:off x="6428232" y="1719072"/>
            <a:ext cx="219456" cy="219456"/>
          </a:xfrm>
          <a:prstGeom prst="ellipse">
            <a:avLst/>
          </a:prstGeom>
          <a:solidFill>
            <a:srgbClr val="8B7CFF"/>
          </a:solidFill>
          <a:ln w="25400">
            <a:solidFill>
              <a:srgbClr val="10142B"/>
            </a:solidFill>
            <a:prstDash val="solid"/>
          </a:ln>
        </p:spPr>
      </p:sp>
      <p:sp>
        <p:nvSpPr>
          <p:cNvPr id="31" name="Text 29"/>
          <p:cNvSpPr txBox="1"/>
          <p:nvPr/>
        </p:nvSpPr>
        <p:spPr>
          <a:xfrm>
            <a:off x="5925312" y="1325880"/>
            <a:ext cx="1234440" cy="320040"/>
          </a:xfrm>
          <a:prstGeom prst="rect">
            <a:avLst/>
          </a:prstGeom>
          <a:noFill/>
          <a:ln/>
        </p:spPr>
        <p:txBody>
          <a:bodyPr wrap="square" lIns="0" tIns="0" rIns="0" bIns="0" rtlCol="0" anchor="t"/>
          <a:lstStyle/>
          <a:p>
            <a:pPr marL="0" indent="0" algn="ctr">
              <a:buNone/>
            </a:pPr>
            <a:r>
              <a:rPr lang="en-US" sz="1500" b="1" dirty="0">
                <a:solidFill>
                  <a:srgbClr val="8B7CFF"/>
                </a:solidFill>
                <a:latin typeface="Arial" pitchFamily="34" charset="0"/>
                <a:ea typeface="Arial" pitchFamily="34" charset="-122"/>
                <a:cs typeface="Arial" pitchFamily="34" charset="-120"/>
              </a:rPr>
              <a:t>2010'lar</a:t>
            </a:r>
            <a:endParaRPr lang="en-US" sz="1500" dirty="0"/>
          </a:p>
        </p:txBody>
      </p:sp>
      <p:sp>
        <p:nvSpPr>
          <p:cNvPr id="32" name="tarih-karti-4"/>
          <p:cNvSpPr/>
          <p:nvPr/>
        </p:nvSpPr>
        <p:spPr>
          <a:xfrm>
            <a:off x="5925312" y="2103120"/>
            <a:ext cx="1234440" cy="1965960"/>
          </a:xfrm>
          <a:prstGeom prst="roundRect">
            <a:avLst>
              <a:gd name="adj" fmla="val 5926"/>
            </a:avLst>
          </a:prstGeom>
          <a:solidFill>
            <a:srgbClr val="1A2044"/>
          </a:solidFill>
          <a:ln w="9525">
            <a:solidFill>
              <a:srgbClr val="2E3768"/>
            </a:solidFill>
            <a:prstDash val="solid"/>
          </a:ln>
        </p:spPr>
      </p:sp>
      <p:sp>
        <p:nvSpPr>
          <p:cNvPr id="33" name="Text 31"/>
          <p:cNvSpPr txBox="1"/>
          <p:nvPr/>
        </p:nvSpPr>
        <p:spPr>
          <a:xfrm>
            <a:off x="6016752" y="2176272"/>
            <a:ext cx="1069848" cy="1828800"/>
          </a:xfrm>
          <a:prstGeom prst="rect">
            <a:avLst/>
          </a:prstGeom>
          <a:noFill/>
          <a:ln/>
        </p:spPr>
        <p:txBody>
          <a:bodyPr wrap="square" lIns="0" tIns="0" rIns="0" bIns="0" rtlCol="0" anchor="t"/>
          <a:lstStyle/>
          <a:p>
            <a:pPr marL="0" indent="0">
              <a:buNone/>
            </a:pPr>
            <a:r>
              <a:rPr lang="en-US" sz="1000" dirty="0">
                <a:solidFill>
                  <a:srgbClr val="EEF0F8"/>
                </a:solidFill>
                <a:latin typeface="Arial" pitchFamily="34" charset="0"/>
                <a:ea typeface="Arial" pitchFamily="34" charset="-122"/>
                <a:cs typeface="Arial" pitchFamily="34" charset="-120"/>
              </a:rPr>
              <a:t>Flexbox ve media queries yaygınlaşır; 2017'de tarayıcılar Grid'i destekler.</a:t>
            </a:r>
            <a:endParaRPr lang="en-US" sz="1000" dirty="0"/>
          </a:p>
        </p:txBody>
      </p:sp>
      <p:sp>
        <p:nvSpPr>
          <p:cNvPr id="34" name="tarih-nokta-5"/>
          <p:cNvSpPr/>
          <p:nvPr/>
        </p:nvSpPr>
        <p:spPr>
          <a:xfrm>
            <a:off x="7772400" y="1719072"/>
            <a:ext cx="219456" cy="219456"/>
          </a:xfrm>
          <a:prstGeom prst="ellipse">
            <a:avLst/>
          </a:prstGeom>
          <a:solidFill>
            <a:srgbClr val="22D3EE"/>
          </a:solidFill>
          <a:ln w="25400">
            <a:solidFill>
              <a:srgbClr val="10142B"/>
            </a:solidFill>
            <a:prstDash val="solid"/>
          </a:ln>
        </p:spPr>
      </p:sp>
      <p:sp>
        <p:nvSpPr>
          <p:cNvPr id="35" name="Text 33"/>
          <p:cNvSpPr txBox="1"/>
          <p:nvPr/>
        </p:nvSpPr>
        <p:spPr>
          <a:xfrm>
            <a:off x="7269480" y="1325880"/>
            <a:ext cx="1234440" cy="320040"/>
          </a:xfrm>
          <a:prstGeom prst="rect">
            <a:avLst/>
          </a:prstGeom>
          <a:noFill/>
          <a:ln/>
        </p:spPr>
        <p:txBody>
          <a:bodyPr wrap="square" lIns="0" tIns="0" rIns="0" bIns="0" rtlCol="0" anchor="t"/>
          <a:lstStyle/>
          <a:p>
            <a:pPr marL="0" indent="0" algn="ctr">
              <a:buNone/>
            </a:pPr>
            <a:r>
              <a:rPr lang="en-US" sz="1500" b="1" dirty="0">
                <a:solidFill>
                  <a:srgbClr val="22D3EE"/>
                </a:solidFill>
                <a:latin typeface="Arial" pitchFamily="34" charset="0"/>
                <a:ea typeface="Arial" pitchFamily="34" charset="-122"/>
                <a:cs typeface="Arial" pitchFamily="34" charset="-120"/>
              </a:rPr>
              <a:t>2020'ler</a:t>
            </a:r>
            <a:endParaRPr lang="en-US" sz="1500" dirty="0"/>
          </a:p>
        </p:txBody>
      </p:sp>
      <p:sp>
        <p:nvSpPr>
          <p:cNvPr id="36" name="tarih-karti-5"/>
          <p:cNvSpPr/>
          <p:nvPr/>
        </p:nvSpPr>
        <p:spPr>
          <a:xfrm>
            <a:off x="7269480" y="2103120"/>
            <a:ext cx="1234440" cy="1965960"/>
          </a:xfrm>
          <a:prstGeom prst="roundRect">
            <a:avLst>
              <a:gd name="adj" fmla="val 5926"/>
            </a:avLst>
          </a:prstGeom>
          <a:solidFill>
            <a:srgbClr val="1A2044"/>
          </a:solidFill>
          <a:ln w="9525">
            <a:solidFill>
              <a:srgbClr val="2E3768"/>
            </a:solidFill>
            <a:prstDash val="solid"/>
          </a:ln>
        </p:spPr>
      </p:sp>
      <p:sp>
        <p:nvSpPr>
          <p:cNvPr id="37" name="Text 35"/>
          <p:cNvSpPr txBox="1"/>
          <p:nvPr/>
        </p:nvSpPr>
        <p:spPr>
          <a:xfrm>
            <a:off x="7360920" y="2176272"/>
            <a:ext cx="1069848" cy="1828800"/>
          </a:xfrm>
          <a:prstGeom prst="rect">
            <a:avLst/>
          </a:prstGeom>
          <a:noFill/>
          <a:ln/>
        </p:spPr>
        <p:txBody>
          <a:bodyPr wrap="square" lIns="0" tIns="0" rIns="0" bIns="0" rtlCol="0" anchor="t"/>
          <a:lstStyle/>
          <a:p>
            <a:pPr marL="0" indent="0">
              <a:buNone/>
            </a:pPr>
            <a:r>
              <a:rPr lang="en-US" sz="1000" dirty="0">
                <a:solidFill>
                  <a:srgbClr val="EEF0F8"/>
                </a:solidFill>
                <a:latin typeface="Arial" pitchFamily="34" charset="0"/>
                <a:ea typeface="Arial" pitchFamily="34" charset="-122"/>
                <a:cs typeface="Arial" pitchFamily="34" charset="-120"/>
              </a:rPr>
              <a:t>:has(), container queries, cascade layers ve iç içe (nested) CSS gelir.</a:t>
            </a:r>
            <a:endParaRPr lang="en-US" sz="1000" dirty="0"/>
          </a:p>
        </p:txBody>
      </p:sp>
      <p:sp>
        <p:nvSpPr>
          <p:cNvPr id="38" name="benzetme"/>
          <p:cNvSpPr/>
          <p:nvPr/>
        </p:nvSpPr>
        <p:spPr>
          <a:xfrm>
            <a:off x="548640" y="4224528"/>
            <a:ext cx="8046720" cy="402336"/>
          </a:xfrm>
          <a:prstGeom prst="roundRect">
            <a:avLst>
              <a:gd name="adj" fmla="val 50000"/>
            </a:avLst>
          </a:prstGeom>
          <a:solidFill>
            <a:srgbClr val="232A55"/>
          </a:solidFill>
          <a:ln/>
        </p:spPr>
      </p:sp>
      <p:sp>
        <p:nvSpPr>
          <p:cNvPr id="39" name="benzetme-ikon"/>
          <p:cNvSpPr/>
          <p:nvPr/>
        </p:nvSpPr>
        <p:spPr>
          <a:xfrm>
            <a:off x="621792" y="4261104"/>
            <a:ext cx="329184" cy="329184"/>
          </a:xfrm>
          <a:prstGeom prst="ellipse">
            <a:avLst/>
          </a:prstGeom>
          <a:solidFill>
            <a:srgbClr val="FBBF24"/>
          </a:solidFill>
          <a:ln/>
        </p:spPr>
      </p:sp>
      <p:sp>
        <p:nvSpPr>
          <p:cNvPr id="40" name="Text 38"/>
          <p:cNvSpPr txBox="1"/>
          <p:nvPr/>
        </p:nvSpPr>
        <p:spPr>
          <a:xfrm>
            <a:off x="621792" y="4261104"/>
            <a:ext cx="329184" cy="329184"/>
          </a:xfrm>
          <a:prstGeom prst="rect">
            <a:avLst/>
          </a:prstGeom>
          <a:noFill/>
          <a:ln/>
        </p:spPr>
        <p:txBody>
          <a:bodyPr wrap="square" lIns="0" tIns="0" rIns="0" bIns="0" rtlCol="0" anchor="ctr"/>
          <a:lstStyle/>
          <a:p>
            <a:pPr marL="0" indent="0" algn="ctr">
              <a:buNone/>
            </a:pPr>
            <a:r>
              <a:rPr lang="en-US" sz="1600" b="1" dirty="0">
                <a:solidFill>
                  <a:srgbClr val="10142B"/>
                </a:solidFill>
                <a:latin typeface="Arial" pitchFamily="34" charset="0"/>
                <a:ea typeface="Arial" pitchFamily="34" charset="-122"/>
                <a:cs typeface="Arial" pitchFamily="34" charset="-120"/>
              </a:rPr>
              <a:t>≈</a:t>
            </a:r>
            <a:endParaRPr lang="en-US" sz="1600" dirty="0"/>
          </a:p>
        </p:txBody>
      </p:sp>
      <p:sp>
        <p:nvSpPr>
          <p:cNvPr id="41" name="Text 39"/>
          <p:cNvSpPr txBox="1"/>
          <p:nvPr/>
        </p:nvSpPr>
        <p:spPr>
          <a:xfrm>
            <a:off x="1042416" y="4224528"/>
            <a:ext cx="7452360" cy="402336"/>
          </a:xfrm>
          <a:prstGeom prst="rect">
            <a:avLst/>
          </a:prstGeom>
          <a:noFill/>
          <a:ln/>
        </p:spPr>
        <p:txBody>
          <a:bodyPr wrap="square" lIns="0" tIns="0" rIns="0" bIns="0" rtlCol="0" anchor="ctr"/>
          <a:lstStyle/>
          <a:p>
            <a:pPr marL="0" indent="0">
              <a:buNone/>
            </a:pPr>
            <a:r>
              <a:rPr lang="en-US" sz="1100" b="1" dirty="0">
                <a:solidFill>
                  <a:srgbClr val="FBBF24"/>
                </a:solidFill>
                <a:latin typeface="Arial" pitchFamily="34" charset="0"/>
                <a:ea typeface="Arial" pitchFamily="34" charset="-122"/>
                <a:cs typeface="Arial" pitchFamily="34" charset="-120"/>
              </a:rPr>
              <a:t>Gündelik hayatta: </a:t>
            </a:r>
            <a:r>
              <a:rPr lang="en-US" sz="1100" dirty="0">
                <a:solidFill>
                  <a:srgbClr val="EEF0F8"/>
                </a:solidFill>
                <a:latin typeface="Arial" pitchFamily="34" charset="0"/>
                <a:ea typeface="Arial" pitchFamily="34" charset="-122"/>
                <a:cs typeface="Arial" pitchFamily="34" charset="-120"/>
              </a:rPr>
              <a:t>CSS tek seferde basılmış bir ansiklopedi değil, cilt cilt çıkan bir seri: her modül kendi hızında güncellenir.</a:t>
            </a:r>
            <a:endParaRPr lang="en-US" sz="1100" dirty="0"/>
          </a:p>
        </p:txBody>
      </p:sp>
    </p:spTree>
  </p:cSld>
  <p:clrMapOvr>
    <a:masterClrMapping/>
  </p:clrMapOvr>
  <p:transition spd="med">
    <p:pull/>
  </p:transition>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256032"/>
            <a:ext cx="4572000" cy="201168"/>
          </a:xfrm>
          <a:prstGeom prst="rect">
            <a:avLst/>
          </a:prstGeom>
          <a:noFill/>
          <a:ln/>
        </p:spPr>
        <p:txBody>
          <a:bodyPr wrap="square" lIns="0" tIns="0" rIns="0" bIns="0" rtlCol="0" anchor="t"/>
          <a:lstStyle/>
          <a:p>
            <a:pPr marL="0" indent="0">
              <a:buNone/>
            </a:pPr>
            <a:r>
              <a:rPr lang="en-US" sz="900" b="1" kern="0" spc="200" dirty="0">
                <a:solidFill>
                  <a:srgbClr val="22D3EE"/>
                </a:solidFill>
                <a:latin typeface="Arial" pitchFamily="34" charset="0"/>
                <a:ea typeface="Arial" pitchFamily="34" charset="-122"/>
                <a:cs typeface="Arial" pitchFamily="34" charset="-120"/>
              </a:rPr>
              <a:t>MODÜL 1 · CSS TEMELLERİ</a:t>
            </a:r>
            <a:endParaRPr lang="en-US" sz="900" dirty="0"/>
          </a:p>
        </p:txBody>
      </p:sp>
      <p:sp>
        <p:nvSpPr>
          <p:cNvPr id="3" name="mini-box-0"/>
          <p:cNvSpPr/>
          <p:nvPr/>
        </p:nvSpPr>
        <p:spPr>
          <a:xfrm>
            <a:off x="8229600" y="201168"/>
            <a:ext cx="384048" cy="384048"/>
          </a:xfrm>
          <a:prstGeom prst="rect">
            <a:avLst/>
          </a:prstGeom>
          <a:ln w="9525">
            <a:solidFill>
              <a:srgbClr val="22D3EE"/>
            </a:solidFill>
            <a:prstDash val="solid"/>
          </a:ln>
        </p:spPr>
      </p:sp>
      <p:sp>
        <p:nvSpPr>
          <p:cNvPr id="4" name="mini-box-1"/>
          <p:cNvSpPr/>
          <p:nvPr/>
        </p:nvSpPr>
        <p:spPr>
          <a:xfrm>
            <a:off x="8293608" y="265176"/>
            <a:ext cx="256032" cy="256032"/>
          </a:xfrm>
          <a:prstGeom prst="rect">
            <a:avLst/>
          </a:prstGeom>
          <a:ln w="9525">
            <a:solidFill>
              <a:srgbClr val="EEF0F8"/>
            </a:solidFill>
            <a:prstDash val="solid"/>
          </a:ln>
        </p:spPr>
      </p:sp>
      <p:sp>
        <p:nvSpPr>
          <p:cNvPr id="5" name="mini-box-2"/>
          <p:cNvSpPr/>
          <p:nvPr/>
        </p:nvSpPr>
        <p:spPr>
          <a:xfrm>
            <a:off x="8348472" y="320040"/>
            <a:ext cx="146304" cy="146304"/>
          </a:xfrm>
          <a:prstGeom prst="rect">
            <a:avLst/>
          </a:prstGeom>
          <a:solidFill>
            <a:srgbClr val="22D3EE"/>
          </a:solidFill>
          <a:ln w="9525">
            <a:solidFill>
              <a:srgbClr val="22D3EE"/>
            </a:solidFill>
            <a:prstDash val="solid"/>
          </a:ln>
        </p:spPr>
      </p:sp>
      <p:sp>
        <p:nvSpPr>
          <p:cNvPr id="6" name="ilerleme-zemin"/>
          <p:cNvSpPr/>
          <p:nvPr/>
        </p:nvSpPr>
        <p:spPr>
          <a:xfrm>
            <a:off x="0" y="5070348"/>
            <a:ext cx="9144000" cy="73152"/>
          </a:xfrm>
          <a:prstGeom prst="rect">
            <a:avLst/>
          </a:prstGeom>
          <a:solidFill>
            <a:srgbClr val="1A2044"/>
          </a:solidFill>
          <a:ln/>
        </p:spPr>
      </p:sp>
      <p:sp>
        <p:nvSpPr>
          <p:cNvPr id="7" name="ilerleme"/>
          <p:cNvSpPr/>
          <p:nvPr/>
        </p:nvSpPr>
        <p:spPr>
          <a:xfrm>
            <a:off x="0" y="5070348"/>
            <a:ext cx="850605" cy="73152"/>
          </a:xfrm>
          <a:prstGeom prst="rect">
            <a:avLst/>
          </a:prstGeom>
          <a:solidFill>
            <a:srgbClr val="22D3EE"/>
          </a:solidFill>
          <a:ln/>
        </p:spPr>
      </p:sp>
      <p:sp>
        <p:nvSpPr>
          <p:cNvPr id="8" name="Text 6"/>
          <p:cNvSpPr txBox="1"/>
          <p:nvPr/>
        </p:nvSpPr>
        <p:spPr>
          <a:xfrm>
            <a:off x="548640" y="4791456"/>
            <a:ext cx="3657600" cy="201168"/>
          </a:xfrm>
          <a:prstGeom prst="rect">
            <a:avLst/>
          </a:prstGeom>
          <a:noFill/>
          <a:ln/>
        </p:spPr>
        <p:txBody>
          <a:bodyPr wrap="square" lIns="0" tIns="0" rIns="0" bIns="0" rtlCol="0" anchor="t"/>
          <a:lstStyle/>
          <a:p>
            <a:pPr marL="0" indent="0">
              <a:buNone/>
            </a:pPr>
            <a:r>
              <a:rPr lang="en-US" sz="850" dirty="0">
                <a:solidFill>
                  <a:srgbClr val="6C759E"/>
                </a:solidFill>
                <a:latin typeface="Arial" pitchFamily="34" charset="0"/>
                <a:ea typeface="Arial" pitchFamily="34" charset="-122"/>
                <a:cs typeface="Arial" pitchFamily="34" charset="-120"/>
              </a:rPr>
              <a:t>KCŞ A.Ş.  ·  CSS ile stil ve düzen</a:t>
            </a:r>
            <a:endParaRPr lang="en-US" sz="850" dirty="0"/>
          </a:p>
        </p:txBody>
      </p:sp>
      <p:sp>
        <p:nvSpPr>
          <p:cNvPr id="9" name="Text 7"/>
          <p:cNvSpPr txBox="1"/>
          <p:nvPr/>
        </p:nvSpPr>
        <p:spPr>
          <a:xfrm>
            <a:off x="4206240" y="4791456"/>
            <a:ext cx="3840480" cy="201168"/>
          </a:xfrm>
          <a:prstGeom prst="rect">
            <a:avLst/>
          </a:prstGeom>
          <a:noFill/>
          <a:ln/>
        </p:spPr>
        <p:txBody>
          <a:bodyPr wrap="square" lIns="0" tIns="0" rIns="0" bIns="0" rtlCol="0" anchor="t"/>
          <a:lstStyle/>
          <a:p>
            <a:pPr marL="0" indent="0" algn="r">
              <a:buNone/>
            </a:pPr>
            <a:r>
              <a:rPr lang="en-US" sz="850" dirty="0">
                <a:solidFill>
                  <a:srgbClr val="6C759E"/>
                </a:solidFill>
                <a:latin typeface="Arial" pitchFamily="34" charset="0"/>
                <a:ea typeface="Arial" pitchFamily="34" charset="-122"/>
                <a:cs typeface="Arial" pitchFamily="34" charset="-120"/>
              </a:rPr>
              <a:t>MDN · CSS styling basics</a:t>
            </a:r>
            <a:endParaRPr lang="en-US" sz="850" dirty="0"/>
          </a:p>
        </p:txBody>
      </p:sp>
      <p:sp>
        <p:nvSpPr>
          <p:cNvPr id="10" name="Text 8"/>
          <p:cNvSpPr txBox="1"/>
          <p:nvPr/>
        </p:nvSpPr>
        <p:spPr>
          <a:xfrm>
            <a:off x="8092440" y="4791456"/>
            <a:ext cx="685800" cy="201168"/>
          </a:xfrm>
          <a:prstGeom prst="rect">
            <a:avLst/>
          </a:prstGeom>
          <a:noFill/>
          <a:ln/>
        </p:spPr>
        <p:txBody>
          <a:bodyPr wrap="square" lIns="0" tIns="0" rIns="0" bIns="0" rtlCol="0" anchor="t"/>
          <a:lstStyle/>
          <a:p>
            <a:pPr marL="0" indent="0" algn="r">
              <a:buNone/>
            </a:pPr>
            <a:r>
              <a:rPr lang="en-US" sz="850" dirty="0">
                <a:solidFill>
                  <a:srgbClr val="9AA3C7"/>
                </a:solidFill>
                <a:latin typeface="Courier New" pitchFamily="34" charset="0"/>
                <a:ea typeface="Courier New" pitchFamily="34" charset="-122"/>
                <a:cs typeface="Courier New" pitchFamily="34" charset="-120"/>
              </a:rPr>
              <a:t>04 / 43</a:t>
            </a:r>
            <a:endParaRPr lang="en-US" sz="850" dirty="0"/>
          </a:p>
        </p:txBody>
      </p:sp>
      <p:sp>
        <p:nvSpPr>
          <p:cNvPr id="11" name="Text 9"/>
          <p:cNvSpPr txBox="1"/>
          <p:nvPr/>
        </p:nvSpPr>
        <p:spPr>
          <a:xfrm>
            <a:off x="457200" y="822960"/>
            <a:ext cx="2926080" cy="1828800"/>
          </a:xfrm>
          <a:prstGeom prst="rect">
            <a:avLst/>
          </a:prstGeom>
          <a:noFill/>
          <a:ln/>
        </p:spPr>
        <p:txBody>
          <a:bodyPr wrap="square" lIns="0" tIns="0" rIns="0" bIns="0" rtlCol="0" anchor="ctr"/>
          <a:lstStyle/>
          <a:p>
            <a:pPr marL="0" indent="0">
              <a:buNone/>
            </a:pPr>
            <a:r>
              <a:rPr lang="en-US" sz="12000" b="1" dirty="0">
                <a:solidFill>
                  <a:srgbClr val="22D3EE"/>
                </a:solidFill>
                <a:latin typeface="Arial" pitchFamily="34" charset="0"/>
                <a:ea typeface="Arial" pitchFamily="34" charset="-122"/>
                <a:cs typeface="Arial" pitchFamily="34" charset="-120"/>
              </a:rPr>
              <a:t>01</a:t>
            </a:r>
            <a:endParaRPr lang="en-US" sz="12000" dirty="0"/>
          </a:p>
        </p:txBody>
      </p:sp>
      <p:sp>
        <p:nvSpPr>
          <p:cNvPr id="12" name="Text 10"/>
          <p:cNvSpPr txBox="1"/>
          <p:nvPr/>
        </p:nvSpPr>
        <p:spPr>
          <a:xfrm>
            <a:off x="3291840" y="1143000"/>
            <a:ext cx="5486400" cy="548640"/>
          </a:xfrm>
          <a:prstGeom prst="rect">
            <a:avLst/>
          </a:prstGeom>
          <a:noFill/>
          <a:ln/>
        </p:spPr>
        <p:txBody>
          <a:bodyPr wrap="square" lIns="0" tIns="0" rIns="0" bIns="0" rtlCol="0" anchor="t"/>
          <a:lstStyle/>
          <a:p>
            <a:pPr marL="0" indent="0">
              <a:buNone/>
            </a:pPr>
            <a:r>
              <a:rPr lang="en-US" sz="3000" b="1" dirty="0">
                <a:solidFill>
                  <a:srgbClr val="EEF0F8"/>
                </a:solidFill>
                <a:latin typeface="Arial" pitchFamily="34" charset="0"/>
                <a:ea typeface="Arial" pitchFamily="34" charset="-122"/>
                <a:cs typeface="Arial" pitchFamily="34" charset="-120"/>
              </a:rPr>
              <a:t>CSS temelleri</a:t>
            </a:r>
            <a:endParaRPr lang="en-US" sz="3000" dirty="0"/>
          </a:p>
        </p:txBody>
      </p:sp>
      <p:sp>
        <p:nvSpPr>
          <p:cNvPr id="13" name="Text 11"/>
          <p:cNvSpPr txBox="1"/>
          <p:nvPr/>
        </p:nvSpPr>
        <p:spPr>
          <a:xfrm>
            <a:off x="3291840" y="1691640"/>
            <a:ext cx="5486400" cy="274320"/>
          </a:xfrm>
          <a:prstGeom prst="rect">
            <a:avLst/>
          </a:prstGeom>
          <a:noFill/>
          <a:ln/>
        </p:spPr>
        <p:txBody>
          <a:bodyPr wrap="square" lIns="0" tIns="0" rIns="0" bIns="0" rtlCol="0" anchor="t"/>
          <a:lstStyle/>
          <a:p>
            <a:pPr marL="0" indent="0">
              <a:buNone/>
            </a:pPr>
            <a:r>
              <a:rPr lang="en-US" sz="1300" dirty="0">
                <a:solidFill>
                  <a:srgbClr val="22D3EE"/>
                </a:solidFill>
                <a:latin typeface="Courier New" pitchFamily="34" charset="0"/>
                <a:ea typeface="Courier New" pitchFamily="34" charset="-122"/>
                <a:cs typeface="Courier New" pitchFamily="34" charset="-120"/>
              </a:rPr>
              <a:t>CSS styling basics</a:t>
            </a:r>
            <a:endParaRPr lang="en-US" sz="1300" dirty="0"/>
          </a:p>
        </p:txBody>
      </p:sp>
      <p:sp>
        <p:nvSpPr>
          <p:cNvPr id="14" name="Text 12"/>
          <p:cNvSpPr txBox="1"/>
          <p:nvPr/>
        </p:nvSpPr>
        <p:spPr>
          <a:xfrm>
            <a:off x="3291840" y="2011680"/>
            <a:ext cx="5486400" cy="274320"/>
          </a:xfrm>
          <a:prstGeom prst="rect">
            <a:avLst/>
          </a:prstGeom>
          <a:noFill/>
          <a:ln/>
        </p:spPr>
        <p:txBody>
          <a:bodyPr wrap="square" lIns="0" tIns="0" rIns="0" bIns="0" rtlCol="0" anchor="t"/>
          <a:lstStyle/>
          <a:p>
            <a:pPr marL="0" indent="0">
              <a:buNone/>
            </a:pPr>
            <a:r>
              <a:rPr lang="en-US" sz="1100" dirty="0">
                <a:solidFill>
                  <a:srgbClr val="9AA3C7"/>
                </a:solidFill>
                <a:latin typeface="Arial" pitchFamily="34" charset="0"/>
                <a:ea typeface="Arial" pitchFamily="34" charset="-122"/>
                <a:cs typeface="Arial" pitchFamily="34" charset="-120"/>
              </a:rPr>
              <a:t>15 ders</a:t>
            </a:r>
            <a:endParaRPr lang="en-US" sz="1100" dirty="0"/>
          </a:p>
        </p:txBody>
      </p:sp>
      <p:sp>
        <p:nvSpPr>
          <p:cNvPr id="15" name="Text 13"/>
          <p:cNvSpPr txBox="1"/>
          <p:nvPr/>
        </p:nvSpPr>
        <p:spPr>
          <a:xfrm>
            <a:off x="548640" y="2743200"/>
            <a:ext cx="2560320" cy="256032"/>
          </a:xfrm>
          <a:prstGeom prst="roundRect">
            <a:avLst>
              <a:gd name="adj" fmla="val 42857"/>
            </a:avLst>
          </a:prstGeom>
          <a:solidFill>
            <a:srgbClr val="1A2044"/>
          </a:solidFill>
          <a:ln w="12700">
            <a:solidFill>
              <a:srgbClr val="22D3EE"/>
            </a:solidFill>
          </a:ln>
        </p:spPr>
        <p:txBody>
          <a:bodyPr wrap="square" lIns="0" tIns="0" rIns="0" bIns="0" rtlCol="0" anchor="ctr"/>
          <a:lstStyle/>
          <a:p>
            <a:pPr marL="0" indent="0" algn="ctr">
              <a:buNone/>
            </a:pPr>
            <a:r>
              <a:rPr lang="en-US" sz="950" b="1" dirty="0">
                <a:solidFill>
                  <a:srgbClr val="22D3EE"/>
                </a:solidFill>
                <a:latin typeface="Arial" pitchFamily="34" charset="0"/>
                <a:ea typeface="Arial" pitchFamily="34" charset="-122"/>
                <a:cs typeface="Arial" pitchFamily="34" charset="-120"/>
              </a:rPr>
              <a:t>What is CSS?</a:t>
            </a:r>
            <a:endParaRPr lang="en-US" sz="950" dirty="0"/>
          </a:p>
        </p:txBody>
      </p:sp>
      <p:sp>
        <p:nvSpPr>
          <p:cNvPr id="16" name="Text 14"/>
          <p:cNvSpPr txBox="1"/>
          <p:nvPr/>
        </p:nvSpPr>
        <p:spPr>
          <a:xfrm>
            <a:off x="3246120" y="2743200"/>
            <a:ext cx="2560320" cy="256032"/>
          </a:xfrm>
          <a:prstGeom prst="roundRect">
            <a:avLst>
              <a:gd name="adj" fmla="val 42857"/>
            </a:avLst>
          </a:prstGeom>
          <a:solidFill>
            <a:srgbClr val="1A2044"/>
          </a:solidFill>
          <a:ln w="12700">
            <a:solidFill>
              <a:srgbClr val="22D3EE"/>
            </a:solidFill>
          </a:ln>
        </p:spPr>
        <p:txBody>
          <a:bodyPr wrap="square" lIns="0" tIns="0" rIns="0" bIns="0" rtlCol="0" anchor="ctr"/>
          <a:lstStyle/>
          <a:p>
            <a:pPr marL="0" indent="0" algn="ctr">
              <a:buNone/>
            </a:pPr>
            <a:r>
              <a:rPr lang="en-US" sz="950" b="1" dirty="0">
                <a:solidFill>
                  <a:srgbClr val="22D3EE"/>
                </a:solidFill>
                <a:latin typeface="Arial" pitchFamily="34" charset="0"/>
                <a:ea typeface="Arial" pitchFamily="34" charset="-122"/>
                <a:cs typeface="Arial" pitchFamily="34" charset="-120"/>
              </a:rPr>
              <a:t>Getting started</a:t>
            </a:r>
            <a:endParaRPr lang="en-US" sz="950" dirty="0"/>
          </a:p>
        </p:txBody>
      </p:sp>
      <p:sp>
        <p:nvSpPr>
          <p:cNvPr id="17" name="Text 15"/>
          <p:cNvSpPr txBox="1"/>
          <p:nvPr/>
        </p:nvSpPr>
        <p:spPr>
          <a:xfrm>
            <a:off x="5943600" y="2743200"/>
            <a:ext cx="2560320" cy="256032"/>
          </a:xfrm>
          <a:prstGeom prst="roundRect">
            <a:avLst>
              <a:gd name="adj" fmla="val 42857"/>
            </a:avLst>
          </a:prstGeom>
          <a:solidFill>
            <a:srgbClr val="1A2044"/>
          </a:solidFill>
          <a:ln w="12700">
            <a:solidFill>
              <a:srgbClr val="22D3EE"/>
            </a:solidFill>
          </a:ln>
        </p:spPr>
        <p:txBody>
          <a:bodyPr wrap="square" lIns="0" tIns="0" rIns="0" bIns="0" rtlCol="0" anchor="ctr"/>
          <a:lstStyle/>
          <a:p>
            <a:pPr marL="0" indent="0" algn="ctr">
              <a:buNone/>
            </a:pPr>
            <a:r>
              <a:rPr lang="en-US" sz="950" b="1" dirty="0">
                <a:solidFill>
                  <a:srgbClr val="22D3EE"/>
                </a:solidFill>
                <a:latin typeface="Arial" pitchFamily="34" charset="0"/>
                <a:ea typeface="Arial" pitchFamily="34" charset="-122"/>
                <a:cs typeface="Arial" pitchFamily="34" charset="-120"/>
              </a:rPr>
              <a:t>Basic selectors</a:t>
            </a:r>
            <a:endParaRPr lang="en-US" sz="950" dirty="0"/>
          </a:p>
        </p:txBody>
      </p:sp>
      <p:sp>
        <p:nvSpPr>
          <p:cNvPr id="18" name="Text 16"/>
          <p:cNvSpPr txBox="1"/>
          <p:nvPr/>
        </p:nvSpPr>
        <p:spPr>
          <a:xfrm>
            <a:off x="548640" y="3090672"/>
            <a:ext cx="2560320" cy="256032"/>
          </a:xfrm>
          <a:prstGeom prst="roundRect">
            <a:avLst>
              <a:gd name="adj" fmla="val 42857"/>
            </a:avLst>
          </a:prstGeom>
          <a:solidFill>
            <a:srgbClr val="1A2044"/>
          </a:solidFill>
          <a:ln w="12700">
            <a:solidFill>
              <a:srgbClr val="22D3EE"/>
            </a:solidFill>
          </a:ln>
        </p:spPr>
        <p:txBody>
          <a:bodyPr wrap="square" lIns="0" tIns="0" rIns="0" bIns="0" rtlCol="0" anchor="ctr"/>
          <a:lstStyle/>
          <a:p>
            <a:pPr marL="0" indent="0" algn="ctr">
              <a:buNone/>
            </a:pPr>
            <a:r>
              <a:rPr lang="en-US" sz="950" b="1" dirty="0">
                <a:solidFill>
                  <a:srgbClr val="22D3EE"/>
                </a:solidFill>
                <a:latin typeface="Arial" pitchFamily="34" charset="0"/>
                <a:ea typeface="Arial" pitchFamily="34" charset="-122"/>
                <a:cs typeface="Arial" pitchFamily="34" charset="-120"/>
              </a:rPr>
              <a:t>Attribute selectors</a:t>
            </a:r>
            <a:endParaRPr lang="en-US" sz="950" dirty="0"/>
          </a:p>
        </p:txBody>
      </p:sp>
      <p:sp>
        <p:nvSpPr>
          <p:cNvPr id="19" name="Text 17"/>
          <p:cNvSpPr txBox="1"/>
          <p:nvPr/>
        </p:nvSpPr>
        <p:spPr>
          <a:xfrm>
            <a:off x="3246120" y="3090672"/>
            <a:ext cx="2560320" cy="256032"/>
          </a:xfrm>
          <a:prstGeom prst="roundRect">
            <a:avLst>
              <a:gd name="adj" fmla="val 42857"/>
            </a:avLst>
          </a:prstGeom>
          <a:solidFill>
            <a:srgbClr val="1A2044"/>
          </a:solidFill>
          <a:ln w="12700">
            <a:solidFill>
              <a:srgbClr val="22D3EE"/>
            </a:solidFill>
          </a:ln>
        </p:spPr>
        <p:txBody>
          <a:bodyPr wrap="square" lIns="0" tIns="0" rIns="0" bIns="0" rtlCol="0" anchor="ctr"/>
          <a:lstStyle/>
          <a:p>
            <a:pPr marL="0" indent="0" algn="ctr">
              <a:buNone/>
            </a:pPr>
            <a:r>
              <a:rPr lang="en-US" sz="950" b="1" dirty="0">
                <a:solidFill>
                  <a:srgbClr val="22D3EE"/>
                </a:solidFill>
                <a:latin typeface="Arial" pitchFamily="34" charset="0"/>
                <a:ea typeface="Arial" pitchFamily="34" charset="-122"/>
                <a:cs typeface="Arial" pitchFamily="34" charset="-120"/>
              </a:rPr>
              <a:t>Pseudo-classes &amp; elements</a:t>
            </a:r>
            <a:endParaRPr lang="en-US" sz="950" dirty="0"/>
          </a:p>
        </p:txBody>
      </p:sp>
      <p:sp>
        <p:nvSpPr>
          <p:cNvPr id="20" name="Text 18"/>
          <p:cNvSpPr txBox="1"/>
          <p:nvPr/>
        </p:nvSpPr>
        <p:spPr>
          <a:xfrm>
            <a:off x="5943600" y="3090672"/>
            <a:ext cx="2560320" cy="256032"/>
          </a:xfrm>
          <a:prstGeom prst="roundRect">
            <a:avLst>
              <a:gd name="adj" fmla="val 42857"/>
            </a:avLst>
          </a:prstGeom>
          <a:solidFill>
            <a:srgbClr val="1A2044"/>
          </a:solidFill>
          <a:ln w="12700">
            <a:solidFill>
              <a:srgbClr val="22D3EE"/>
            </a:solidFill>
          </a:ln>
        </p:spPr>
        <p:txBody>
          <a:bodyPr wrap="square" lIns="0" tIns="0" rIns="0" bIns="0" rtlCol="0" anchor="ctr"/>
          <a:lstStyle/>
          <a:p>
            <a:pPr marL="0" indent="0" algn="ctr">
              <a:buNone/>
            </a:pPr>
            <a:r>
              <a:rPr lang="en-US" sz="950" b="1" dirty="0">
                <a:solidFill>
                  <a:srgbClr val="22D3EE"/>
                </a:solidFill>
                <a:latin typeface="Arial" pitchFamily="34" charset="0"/>
                <a:ea typeface="Arial" pitchFamily="34" charset="-122"/>
                <a:cs typeface="Arial" pitchFamily="34" charset="-120"/>
              </a:rPr>
              <a:t>Combinators</a:t>
            </a:r>
            <a:endParaRPr lang="en-US" sz="950" dirty="0"/>
          </a:p>
        </p:txBody>
      </p:sp>
      <p:sp>
        <p:nvSpPr>
          <p:cNvPr id="21" name="Text 19"/>
          <p:cNvSpPr txBox="1"/>
          <p:nvPr/>
        </p:nvSpPr>
        <p:spPr>
          <a:xfrm>
            <a:off x="548640" y="3438144"/>
            <a:ext cx="2560320" cy="256032"/>
          </a:xfrm>
          <a:prstGeom prst="roundRect">
            <a:avLst>
              <a:gd name="adj" fmla="val 42857"/>
            </a:avLst>
          </a:prstGeom>
          <a:solidFill>
            <a:srgbClr val="1A2044"/>
          </a:solidFill>
          <a:ln w="12700">
            <a:solidFill>
              <a:srgbClr val="22D3EE"/>
            </a:solidFill>
          </a:ln>
        </p:spPr>
        <p:txBody>
          <a:bodyPr wrap="square" lIns="0" tIns="0" rIns="0" bIns="0" rtlCol="0" anchor="ctr"/>
          <a:lstStyle/>
          <a:p>
            <a:pPr marL="0" indent="0" algn="ctr">
              <a:buNone/>
            </a:pPr>
            <a:r>
              <a:rPr lang="en-US" sz="950" b="1" dirty="0">
                <a:solidFill>
                  <a:srgbClr val="22D3EE"/>
                </a:solidFill>
                <a:latin typeface="Arial" pitchFamily="34" charset="0"/>
                <a:ea typeface="Arial" pitchFamily="34" charset="-122"/>
                <a:cs typeface="Arial" pitchFamily="34" charset="-120"/>
              </a:rPr>
              <a:t>Box model</a:t>
            </a:r>
            <a:endParaRPr lang="en-US" sz="950" dirty="0"/>
          </a:p>
        </p:txBody>
      </p:sp>
      <p:sp>
        <p:nvSpPr>
          <p:cNvPr id="22" name="Text 20"/>
          <p:cNvSpPr txBox="1"/>
          <p:nvPr/>
        </p:nvSpPr>
        <p:spPr>
          <a:xfrm>
            <a:off x="3246120" y="3438144"/>
            <a:ext cx="2560320" cy="256032"/>
          </a:xfrm>
          <a:prstGeom prst="roundRect">
            <a:avLst>
              <a:gd name="adj" fmla="val 42857"/>
            </a:avLst>
          </a:prstGeom>
          <a:solidFill>
            <a:srgbClr val="1A2044"/>
          </a:solidFill>
          <a:ln w="12700">
            <a:solidFill>
              <a:srgbClr val="22D3EE"/>
            </a:solidFill>
          </a:ln>
        </p:spPr>
        <p:txBody>
          <a:bodyPr wrap="square" lIns="0" tIns="0" rIns="0" bIns="0" rtlCol="0" anchor="ctr"/>
          <a:lstStyle/>
          <a:p>
            <a:pPr marL="0" indent="0" algn="ctr">
              <a:buNone/>
            </a:pPr>
            <a:r>
              <a:rPr lang="en-US" sz="950" b="1" dirty="0">
                <a:solidFill>
                  <a:srgbClr val="22D3EE"/>
                </a:solidFill>
                <a:latin typeface="Arial" pitchFamily="34" charset="0"/>
                <a:ea typeface="Arial" pitchFamily="34" charset="-122"/>
                <a:cs typeface="Arial" pitchFamily="34" charset="-120"/>
              </a:rPr>
              <a:t>Handling conflicts</a:t>
            </a:r>
            <a:endParaRPr lang="en-US" sz="950" dirty="0"/>
          </a:p>
        </p:txBody>
      </p:sp>
      <p:sp>
        <p:nvSpPr>
          <p:cNvPr id="23" name="Text 21"/>
          <p:cNvSpPr txBox="1"/>
          <p:nvPr/>
        </p:nvSpPr>
        <p:spPr>
          <a:xfrm>
            <a:off x="5943600" y="3438144"/>
            <a:ext cx="2560320" cy="256032"/>
          </a:xfrm>
          <a:prstGeom prst="roundRect">
            <a:avLst>
              <a:gd name="adj" fmla="val 42857"/>
            </a:avLst>
          </a:prstGeom>
          <a:solidFill>
            <a:srgbClr val="1A2044"/>
          </a:solidFill>
          <a:ln w="12700">
            <a:solidFill>
              <a:srgbClr val="22D3EE"/>
            </a:solidFill>
          </a:ln>
        </p:spPr>
        <p:txBody>
          <a:bodyPr wrap="square" lIns="0" tIns="0" rIns="0" bIns="0" rtlCol="0" anchor="ctr"/>
          <a:lstStyle/>
          <a:p>
            <a:pPr marL="0" indent="0" algn="ctr">
              <a:buNone/>
            </a:pPr>
            <a:r>
              <a:rPr lang="en-US" sz="950" b="1" dirty="0">
                <a:solidFill>
                  <a:srgbClr val="22D3EE"/>
                </a:solidFill>
                <a:latin typeface="Arial" pitchFamily="34" charset="0"/>
                <a:ea typeface="Arial" pitchFamily="34" charset="-122"/>
                <a:cs typeface="Arial" pitchFamily="34" charset="-120"/>
              </a:rPr>
              <a:t>Values and units</a:t>
            </a:r>
            <a:endParaRPr lang="en-US" sz="950" dirty="0"/>
          </a:p>
        </p:txBody>
      </p:sp>
      <p:sp>
        <p:nvSpPr>
          <p:cNvPr id="24" name="Text 22"/>
          <p:cNvSpPr txBox="1"/>
          <p:nvPr/>
        </p:nvSpPr>
        <p:spPr>
          <a:xfrm>
            <a:off x="548640" y="3785616"/>
            <a:ext cx="2560320" cy="256032"/>
          </a:xfrm>
          <a:prstGeom prst="roundRect">
            <a:avLst>
              <a:gd name="adj" fmla="val 42857"/>
            </a:avLst>
          </a:prstGeom>
          <a:solidFill>
            <a:srgbClr val="1A2044"/>
          </a:solidFill>
          <a:ln w="12700">
            <a:solidFill>
              <a:srgbClr val="22D3EE"/>
            </a:solidFill>
          </a:ln>
        </p:spPr>
        <p:txBody>
          <a:bodyPr wrap="square" lIns="0" tIns="0" rIns="0" bIns="0" rtlCol="0" anchor="ctr"/>
          <a:lstStyle/>
          <a:p>
            <a:pPr marL="0" indent="0" algn="ctr">
              <a:buNone/>
            </a:pPr>
            <a:r>
              <a:rPr lang="en-US" sz="950" b="1" dirty="0">
                <a:solidFill>
                  <a:srgbClr val="22D3EE"/>
                </a:solidFill>
                <a:latin typeface="Arial" pitchFamily="34" charset="0"/>
                <a:ea typeface="Arial" pitchFamily="34" charset="-122"/>
                <a:cs typeface="Arial" pitchFamily="34" charset="-120"/>
              </a:rPr>
              <a:t>Sizing</a:t>
            </a:r>
            <a:endParaRPr lang="en-US" sz="950" dirty="0"/>
          </a:p>
        </p:txBody>
      </p:sp>
      <p:sp>
        <p:nvSpPr>
          <p:cNvPr id="25" name="Text 23"/>
          <p:cNvSpPr txBox="1"/>
          <p:nvPr/>
        </p:nvSpPr>
        <p:spPr>
          <a:xfrm>
            <a:off x="3246120" y="3785616"/>
            <a:ext cx="2560320" cy="256032"/>
          </a:xfrm>
          <a:prstGeom prst="roundRect">
            <a:avLst>
              <a:gd name="adj" fmla="val 42857"/>
            </a:avLst>
          </a:prstGeom>
          <a:solidFill>
            <a:srgbClr val="1A2044"/>
          </a:solidFill>
          <a:ln w="12700">
            <a:solidFill>
              <a:srgbClr val="22D3EE"/>
            </a:solidFill>
          </a:ln>
        </p:spPr>
        <p:txBody>
          <a:bodyPr wrap="square" lIns="0" tIns="0" rIns="0" bIns="0" rtlCol="0" anchor="ctr"/>
          <a:lstStyle/>
          <a:p>
            <a:pPr marL="0" indent="0" algn="ctr">
              <a:buNone/>
            </a:pPr>
            <a:r>
              <a:rPr lang="en-US" sz="950" b="1" dirty="0">
                <a:solidFill>
                  <a:srgbClr val="22D3EE"/>
                </a:solidFill>
                <a:latin typeface="Arial" pitchFamily="34" charset="0"/>
                <a:ea typeface="Arial" pitchFamily="34" charset="-122"/>
                <a:cs typeface="Arial" pitchFamily="34" charset="-120"/>
              </a:rPr>
              <a:t>Backgrounds and borders</a:t>
            </a:r>
            <a:endParaRPr lang="en-US" sz="950" dirty="0"/>
          </a:p>
        </p:txBody>
      </p:sp>
      <p:sp>
        <p:nvSpPr>
          <p:cNvPr id="26" name="Text 24"/>
          <p:cNvSpPr txBox="1"/>
          <p:nvPr/>
        </p:nvSpPr>
        <p:spPr>
          <a:xfrm>
            <a:off x="5943600" y="3785616"/>
            <a:ext cx="2560320" cy="256032"/>
          </a:xfrm>
          <a:prstGeom prst="roundRect">
            <a:avLst>
              <a:gd name="adj" fmla="val 42857"/>
            </a:avLst>
          </a:prstGeom>
          <a:solidFill>
            <a:srgbClr val="1A2044"/>
          </a:solidFill>
          <a:ln w="12700">
            <a:solidFill>
              <a:srgbClr val="22D3EE"/>
            </a:solidFill>
          </a:ln>
        </p:spPr>
        <p:txBody>
          <a:bodyPr wrap="square" lIns="0" tIns="0" rIns="0" bIns="0" rtlCol="0" anchor="ctr"/>
          <a:lstStyle/>
          <a:p>
            <a:pPr marL="0" indent="0" algn="ctr">
              <a:buNone/>
            </a:pPr>
            <a:r>
              <a:rPr lang="en-US" sz="950" b="1" dirty="0">
                <a:solidFill>
                  <a:srgbClr val="22D3EE"/>
                </a:solidFill>
                <a:latin typeface="Arial" pitchFamily="34" charset="0"/>
                <a:ea typeface="Arial" pitchFamily="34" charset="-122"/>
                <a:cs typeface="Arial" pitchFamily="34" charset="-120"/>
              </a:rPr>
              <a:t>Overflow</a:t>
            </a:r>
            <a:endParaRPr lang="en-US" sz="950" dirty="0"/>
          </a:p>
        </p:txBody>
      </p:sp>
      <p:sp>
        <p:nvSpPr>
          <p:cNvPr id="27" name="Text 25"/>
          <p:cNvSpPr txBox="1"/>
          <p:nvPr/>
        </p:nvSpPr>
        <p:spPr>
          <a:xfrm>
            <a:off x="548640" y="4133088"/>
            <a:ext cx="2560320" cy="256032"/>
          </a:xfrm>
          <a:prstGeom prst="roundRect">
            <a:avLst>
              <a:gd name="adj" fmla="val 42857"/>
            </a:avLst>
          </a:prstGeom>
          <a:solidFill>
            <a:srgbClr val="1A2044"/>
          </a:solidFill>
          <a:ln w="12700">
            <a:solidFill>
              <a:srgbClr val="22D3EE"/>
            </a:solidFill>
          </a:ln>
        </p:spPr>
        <p:txBody>
          <a:bodyPr wrap="square" lIns="0" tIns="0" rIns="0" bIns="0" rtlCol="0" anchor="ctr"/>
          <a:lstStyle/>
          <a:p>
            <a:pPr marL="0" indent="0" algn="ctr">
              <a:buNone/>
            </a:pPr>
            <a:r>
              <a:rPr lang="en-US" sz="950" b="1" dirty="0">
                <a:solidFill>
                  <a:srgbClr val="22D3EE"/>
                </a:solidFill>
                <a:latin typeface="Arial" pitchFamily="34" charset="0"/>
                <a:ea typeface="Arial" pitchFamily="34" charset="-122"/>
                <a:cs typeface="Arial" pitchFamily="34" charset="-120"/>
              </a:rPr>
              <a:t>Images, media, forms</a:t>
            </a:r>
            <a:endParaRPr lang="en-US" sz="950" dirty="0"/>
          </a:p>
        </p:txBody>
      </p:sp>
      <p:sp>
        <p:nvSpPr>
          <p:cNvPr id="28" name="Text 26"/>
          <p:cNvSpPr txBox="1"/>
          <p:nvPr/>
        </p:nvSpPr>
        <p:spPr>
          <a:xfrm>
            <a:off x="3246120" y="4133088"/>
            <a:ext cx="2560320" cy="256032"/>
          </a:xfrm>
          <a:prstGeom prst="roundRect">
            <a:avLst>
              <a:gd name="adj" fmla="val 42857"/>
            </a:avLst>
          </a:prstGeom>
          <a:solidFill>
            <a:srgbClr val="1A2044"/>
          </a:solidFill>
          <a:ln w="12700">
            <a:solidFill>
              <a:srgbClr val="22D3EE"/>
            </a:solidFill>
          </a:ln>
        </p:spPr>
        <p:txBody>
          <a:bodyPr wrap="square" lIns="0" tIns="0" rIns="0" bIns="0" rtlCol="0" anchor="ctr"/>
          <a:lstStyle/>
          <a:p>
            <a:pPr marL="0" indent="0" algn="ctr">
              <a:buNone/>
            </a:pPr>
            <a:r>
              <a:rPr lang="en-US" sz="950" b="1" dirty="0">
                <a:solidFill>
                  <a:srgbClr val="22D3EE"/>
                </a:solidFill>
                <a:latin typeface="Arial" pitchFamily="34" charset="0"/>
                <a:ea typeface="Arial" pitchFamily="34" charset="-122"/>
                <a:cs typeface="Arial" pitchFamily="34" charset="-120"/>
              </a:rPr>
              <a:t>Styling tables</a:t>
            </a:r>
            <a:endParaRPr lang="en-US" sz="950" dirty="0"/>
          </a:p>
        </p:txBody>
      </p:sp>
      <p:sp>
        <p:nvSpPr>
          <p:cNvPr id="29" name="Text 27"/>
          <p:cNvSpPr txBox="1"/>
          <p:nvPr/>
        </p:nvSpPr>
        <p:spPr>
          <a:xfrm>
            <a:off x="5943600" y="4133088"/>
            <a:ext cx="2560320" cy="256032"/>
          </a:xfrm>
          <a:prstGeom prst="roundRect">
            <a:avLst>
              <a:gd name="adj" fmla="val 42857"/>
            </a:avLst>
          </a:prstGeom>
          <a:solidFill>
            <a:srgbClr val="1A2044"/>
          </a:solidFill>
          <a:ln w="12700">
            <a:solidFill>
              <a:srgbClr val="22D3EE"/>
            </a:solidFill>
          </a:ln>
        </p:spPr>
        <p:txBody>
          <a:bodyPr wrap="square" lIns="0" tIns="0" rIns="0" bIns="0" rtlCol="0" anchor="ctr"/>
          <a:lstStyle/>
          <a:p>
            <a:pPr marL="0" indent="0" algn="ctr">
              <a:buNone/>
            </a:pPr>
            <a:r>
              <a:rPr lang="en-US" sz="950" b="1" dirty="0">
                <a:solidFill>
                  <a:srgbClr val="22D3EE"/>
                </a:solidFill>
                <a:latin typeface="Arial" pitchFamily="34" charset="0"/>
                <a:ea typeface="Arial" pitchFamily="34" charset="-122"/>
                <a:cs typeface="Arial" pitchFamily="34" charset="-120"/>
              </a:rPr>
              <a:t>Debugging CSS</a:t>
            </a:r>
            <a:endParaRPr lang="en-US" sz="950" dirty="0"/>
          </a:p>
        </p:txBody>
      </p:sp>
    </p:spTree>
  </p:cSld>
  <p:clrMapOvr>
    <a:masterClrMapping/>
  </p:clrMapOvr>
  <p:transition spd="med">
    <p:pull/>
  </p:transition>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256032"/>
            <a:ext cx="4572000" cy="201168"/>
          </a:xfrm>
          <a:prstGeom prst="rect">
            <a:avLst/>
          </a:prstGeom>
          <a:noFill/>
          <a:ln/>
        </p:spPr>
        <p:txBody>
          <a:bodyPr wrap="square" lIns="0" tIns="0" rIns="0" bIns="0" rtlCol="0" anchor="t"/>
          <a:lstStyle/>
          <a:p>
            <a:pPr marL="0" indent="0">
              <a:buNone/>
            </a:pPr>
            <a:r>
              <a:rPr lang="en-US" sz="900" b="1" kern="0" spc="200" dirty="0">
                <a:solidFill>
                  <a:srgbClr val="22D3EE"/>
                </a:solidFill>
                <a:latin typeface="Arial" pitchFamily="34" charset="0"/>
                <a:ea typeface="Arial" pitchFamily="34" charset="-122"/>
                <a:cs typeface="Arial" pitchFamily="34" charset="-120"/>
              </a:rPr>
              <a:t>MODÜL 1 · CSS TEMELLERİ</a:t>
            </a:r>
            <a:endParaRPr lang="en-US" sz="900" dirty="0"/>
          </a:p>
        </p:txBody>
      </p:sp>
      <p:sp>
        <p:nvSpPr>
          <p:cNvPr id="3" name="mini-box-0"/>
          <p:cNvSpPr/>
          <p:nvPr/>
        </p:nvSpPr>
        <p:spPr>
          <a:xfrm>
            <a:off x="8229600" y="201168"/>
            <a:ext cx="384048" cy="384048"/>
          </a:xfrm>
          <a:prstGeom prst="rect">
            <a:avLst/>
          </a:prstGeom>
          <a:ln w="9525">
            <a:solidFill>
              <a:srgbClr val="22D3EE"/>
            </a:solidFill>
            <a:prstDash val="solid"/>
          </a:ln>
        </p:spPr>
      </p:sp>
      <p:sp>
        <p:nvSpPr>
          <p:cNvPr id="4" name="mini-box-1"/>
          <p:cNvSpPr/>
          <p:nvPr/>
        </p:nvSpPr>
        <p:spPr>
          <a:xfrm>
            <a:off x="8293608" y="265176"/>
            <a:ext cx="256032" cy="256032"/>
          </a:xfrm>
          <a:prstGeom prst="rect">
            <a:avLst/>
          </a:prstGeom>
          <a:ln w="9525">
            <a:solidFill>
              <a:srgbClr val="EEF0F8"/>
            </a:solidFill>
            <a:prstDash val="solid"/>
          </a:ln>
        </p:spPr>
      </p:sp>
      <p:sp>
        <p:nvSpPr>
          <p:cNvPr id="5" name="mini-box-2"/>
          <p:cNvSpPr/>
          <p:nvPr/>
        </p:nvSpPr>
        <p:spPr>
          <a:xfrm>
            <a:off x="8348472" y="320040"/>
            <a:ext cx="146304" cy="146304"/>
          </a:xfrm>
          <a:prstGeom prst="rect">
            <a:avLst/>
          </a:prstGeom>
          <a:solidFill>
            <a:srgbClr val="22D3EE"/>
          </a:solidFill>
          <a:ln w="9525">
            <a:solidFill>
              <a:srgbClr val="22D3EE"/>
            </a:solidFill>
            <a:prstDash val="solid"/>
          </a:ln>
        </p:spPr>
      </p:sp>
      <p:sp>
        <p:nvSpPr>
          <p:cNvPr id="6" name="ilerleme-zemin"/>
          <p:cNvSpPr/>
          <p:nvPr/>
        </p:nvSpPr>
        <p:spPr>
          <a:xfrm>
            <a:off x="0" y="5070348"/>
            <a:ext cx="9144000" cy="73152"/>
          </a:xfrm>
          <a:prstGeom prst="rect">
            <a:avLst/>
          </a:prstGeom>
          <a:solidFill>
            <a:srgbClr val="1A2044"/>
          </a:solidFill>
          <a:ln/>
        </p:spPr>
      </p:sp>
      <p:sp>
        <p:nvSpPr>
          <p:cNvPr id="7" name="ilerleme"/>
          <p:cNvSpPr/>
          <p:nvPr/>
        </p:nvSpPr>
        <p:spPr>
          <a:xfrm>
            <a:off x="0" y="5070348"/>
            <a:ext cx="1063256" cy="73152"/>
          </a:xfrm>
          <a:prstGeom prst="rect">
            <a:avLst/>
          </a:prstGeom>
          <a:solidFill>
            <a:srgbClr val="22D3EE"/>
          </a:solidFill>
          <a:ln/>
        </p:spPr>
      </p:sp>
      <p:sp>
        <p:nvSpPr>
          <p:cNvPr id="8" name="Text 6"/>
          <p:cNvSpPr txBox="1"/>
          <p:nvPr/>
        </p:nvSpPr>
        <p:spPr>
          <a:xfrm>
            <a:off x="548640" y="4791456"/>
            <a:ext cx="3657600" cy="201168"/>
          </a:xfrm>
          <a:prstGeom prst="rect">
            <a:avLst/>
          </a:prstGeom>
          <a:noFill/>
          <a:ln/>
        </p:spPr>
        <p:txBody>
          <a:bodyPr wrap="square" lIns="0" tIns="0" rIns="0" bIns="0" rtlCol="0" anchor="t"/>
          <a:lstStyle/>
          <a:p>
            <a:pPr marL="0" indent="0">
              <a:buNone/>
            </a:pPr>
            <a:r>
              <a:rPr lang="en-US" sz="850" dirty="0">
                <a:solidFill>
                  <a:srgbClr val="6C759E"/>
                </a:solidFill>
                <a:latin typeface="Arial" pitchFamily="34" charset="0"/>
                <a:ea typeface="Arial" pitchFamily="34" charset="-122"/>
                <a:cs typeface="Arial" pitchFamily="34" charset="-120"/>
              </a:rPr>
              <a:t>KCŞ A.Ş.  ·  CSS ile stil ve düzen</a:t>
            </a:r>
            <a:endParaRPr lang="en-US" sz="850" dirty="0"/>
          </a:p>
        </p:txBody>
      </p:sp>
      <p:sp>
        <p:nvSpPr>
          <p:cNvPr id="9" name="Text 7"/>
          <p:cNvSpPr txBox="1"/>
          <p:nvPr/>
        </p:nvSpPr>
        <p:spPr>
          <a:xfrm>
            <a:off x="4206240" y="4791456"/>
            <a:ext cx="3840480" cy="201168"/>
          </a:xfrm>
          <a:prstGeom prst="rect">
            <a:avLst/>
          </a:prstGeom>
          <a:noFill/>
          <a:ln/>
        </p:spPr>
        <p:txBody>
          <a:bodyPr wrap="square" lIns="0" tIns="0" rIns="0" bIns="0" rtlCol="0" anchor="t"/>
          <a:lstStyle/>
          <a:p>
            <a:pPr marL="0" indent="0" algn="r">
              <a:buNone/>
            </a:pPr>
            <a:r>
              <a:rPr lang="en-US" sz="850" dirty="0">
                <a:solidFill>
                  <a:srgbClr val="6C759E"/>
                </a:solidFill>
                <a:latin typeface="Arial" pitchFamily="34" charset="0"/>
                <a:ea typeface="Arial" pitchFamily="34" charset="-122"/>
                <a:cs typeface="Arial" pitchFamily="34" charset="-120"/>
              </a:rPr>
              <a:t>MDN · What is CSS?</a:t>
            </a:r>
            <a:endParaRPr lang="en-US" sz="850" dirty="0"/>
          </a:p>
        </p:txBody>
      </p:sp>
      <p:sp>
        <p:nvSpPr>
          <p:cNvPr id="10" name="Text 8"/>
          <p:cNvSpPr txBox="1"/>
          <p:nvPr/>
        </p:nvSpPr>
        <p:spPr>
          <a:xfrm>
            <a:off x="8092440" y="4791456"/>
            <a:ext cx="685800" cy="201168"/>
          </a:xfrm>
          <a:prstGeom prst="rect">
            <a:avLst/>
          </a:prstGeom>
          <a:noFill/>
          <a:ln/>
        </p:spPr>
        <p:txBody>
          <a:bodyPr wrap="square" lIns="0" tIns="0" rIns="0" bIns="0" rtlCol="0" anchor="t"/>
          <a:lstStyle/>
          <a:p>
            <a:pPr marL="0" indent="0" algn="r">
              <a:buNone/>
            </a:pPr>
            <a:r>
              <a:rPr lang="en-US" sz="850" dirty="0">
                <a:solidFill>
                  <a:srgbClr val="9AA3C7"/>
                </a:solidFill>
                <a:latin typeface="Courier New" pitchFamily="34" charset="0"/>
                <a:ea typeface="Courier New" pitchFamily="34" charset="-122"/>
                <a:cs typeface="Courier New" pitchFamily="34" charset="-120"/>
              </a:rPr>
              <a:t>05 / 43</a:t>
            </a:r>
            <a:endParaRPr lang="en-US" sz="850" dirty="0"/>
          </a:p>
        </p:txBody>
      </p:sp>
      <p:sp>
        <p:nvSpPr>
          <p:cNvPr id="11" name="Text 9"/>
          <p:cNvSpPr txBox="1"/>
          <p:nvPr/>
        </p:nvSpPr>
        <p:spPr>
          <a:xfrm>
            <a:off x="548640" y="502920"/>
            <a:ext cx="5943600" cy="237744"/>
          </a:xfrm>
          <a:prstGeom prst="rect">
            <a:avLst/>
          </a:prstGeom>
          <a:noFill/>
          <a:ln/>
        </p:spPr>
        <p:txBody>
          <a:bodyPr wrap="square" lIns="0" tIns="0" rIns="0" bIns="0" rtlCol="0" anchor="t"/>
          <a:lstStyle/>
          <a:p>
            <a:pPr marL="0" indent="0">
              <a:buNone/>
            </a:pPr>
            <a:r>
              <a:rPr lang="en-US" sz="1100" b="1" dirty="0">
                <a:solidFill>
                  <a:srgbClr val="22D3EE"/>
                </a:solidFill>
                <a:latin typeface="Courier New" pitchFamily="34" charset="0"/>
                <a:ea typeface="Courier New" pitchFamily="34" charset="-122"/>
                <a:cs typeface="Courier New" pitchFamily="34" charset="-120"/>
              </a:rPr>
              <a:t>h1 { color: red; }</a:t>
            </a:r>
            <a:endParaRPr lang="en-US" sz="1100" dirty="0"/>
          </a:p>
        </p:txBody>
      </p:sp>
      <p:sp>
        <p:nvSpPr>
          <p:cNvPr id="12" name="Text 10"/>
          <p:cNvSpPr txBox="1"/>
          <p:nvPr/>
        </p:nvSpPr>
        <p:spPr>
          <a:xfrm>
            <a:off x="548640" y="749808"/>
            <a:ext cx="7589520" cy="502920"/>
          </a:xfrm>
          <a:prstGeom prst="rect">
            <a:avLst/>
          </a:prstGeom>
          <a:noFill/>
          <a:ln/>
        </p:spPr>
        <p:txBody>
          <a:bodyPr wrap="square" lIns="0" tIns="0" rIns="0" bIns="0" rtlCol="0" anchor="ctr"/>
          <a:lstStyle/>
          <a:p>
            <a:pPr marL="0" indent="0">
              <a:buNone/>
            </a:pPr>
            <a:r>
              <a:rPr lang="en-US" sz="2400" b="1" dirty="0">
                <a:solidFill>
                  <a:srgbClr val="EEF0F8"/>
                </a:solidFill>
                <a:latin typeface="Arial" pitchFamily="34" charset="0"/>
                <a:ea typeface="Arial" pitchFamily="34" charset="-122"/>
                <a:cs typeface="Arial" pitchFamily="34" charset="-120"/>
              </a:rPr>
              <a:t>CSS nedir? Bir kuralın anatomisi</a:t>
            </a:r>
            <a:endParaRPr lang="en-US" sz="2400" dirty="0"/>
          </a:p>
        </p:txBody>
      </p:sp>
      <p:sp>
        <p:nvSpPr>
          <p:cNvPr id="13" name="kod-paneli"/>
          <p:cNvSpPr/>
          <p:nvPr/>
        </p:nvSpPr>
        <p:spPr>
          <a:xfrm>
            <a:off x="548640" y="1371600"/>
            <a:ext cx="3840480" cy="1371600"/>
          </a:xfrm>
          <a:prstGeom prst="roundRect">
            <a:avLst>
              <a:gd name="adj" fmla="val 5333"/>
            </a:avLst>
          </a:prstGeom>
          <a:solidFill>
            <a:srgbClr val="0A0D1F"/>
          </a:solidFill>
          <a:ln w="9525">
            <a:solidFill>
              <a:srgbClr val="2E3768"/>
            </a:solidFill>
            <a:prstDash val="solid"/>
          </a:ln>
        </p:spPr>
      </p:sp>
      <p:sp>
        <p:nvSpPr>
          <p:cNvPr id="14" name="Text 12"/>
          <p:cNvSpPr txBox="1"/>
          <p:nvPr/>
        </p:nvSpPr>
        <p:spPr>
          <a:xfrm>
            <a:off x="2926080" y="1426464"/>
            <a:ext cx="1371600" cy="182880"/>
          </a:xfrm>
          <a:prstGeom prst="rect">
            <a:avLst/>
          </a:prstGeom>
          <a:noFill/>
          <a:ln/>
        </p:spPr>
        <p:txBody>
          <a:bodyPr wrap="square" lIns="0" tIns="0" rIns="0" bIns="0" rtlCol="0" anchor="t"/>
          <a:lstStyle/>
          <a:p>
            <a:pPr marL="0" indent="0" algn="r">
              <a:buNone/>
            </a:pPr>
            <a:r>
              <a:rPr lang="en-US" sz="800" dirty="0">
                <a:solidFill>
                  <a:srgbClr val="6C759E"/>
                </a:solidFill>
                <a:latin typeface="Courier New" pitchFamily="34" charset="0"/>
                <a:ea typeface="Courier New" pitchFamily="34" charset="-122"/>
                <a:cs typeface="Courier New" pitchFamily="34" charset="-120"/>
              </a:rPr>
              <a:t>styles.css</a:t>
            </a:r>
            <a:endParaRPr lang="en-US" sz="800" dirty="0"/>
          </a:p>
        </p:txBody>
      </p:sp>
      <p:sp>
        <p:nvSpPr>
          <p:cNvPr id="15" name="Text 13"/>
          <p:cNvSpPr txBox="1"/>
          <p:nvPr/>
        </p:nvSpPr>
        <p:spPr>
          <a:xfrm>
            <a:off x="694944" y="1609344"/>
            <a:ext cx="3566160" cy="1060704"/>
          </a:xfrm>
          <a:prstGeom prst="rect">
            <a:avLst/>
          </a:prstGeom>
          <a:noFill/>
          <a:ln/>
        </p:spPr>
        <p:txBody>
          <a:bodyPr wrap="square" lIns="0" tIns="0" rIns="0" bIns="0" rtlCol="0" anchor="ctr"/>
          <a:lstStyle/>
          <a:p>
            <a:pPr marL="0" indent="0">
              <a:buNone/>
            </a:pPr>
            <a:r>
              <a:rPr lang="en-US" sz="1400" dirty="0">
                <a:solidFill>
                  <a:srgbClr val="F472B6"/>
                </a:solidFill>
                <a:latin typeface="Courier New" pitchFamily="34" charset="0"/>
                <a:ea typeface="Courier New" pitchFamily="34" charset="-122"/>
                <a:cs typeface="Courier New" pitchFamily="34" charset="-120"/>
              </a:rPr>
              <a:t>h1 </a:t>
            </a:r>
            <a:r>
              <a:rPr lang="en-US" sz="1400" dirty="0">
                <a:solidFill>
                  <a:srgbClr val="6C759E"/>
                </a:solidFill>
                <a:latin typeface="Courier New" pitchFamily="34" charset="0"/>
                <a:ea typeface="Courier New" pitchFamily="34" charset="-122"/>
                <a:cs typeface="Courier New" pitchFamily="34" charset="-120"/>
              </a:rPr>
              <a:t>{</a:t>
            </a:r>
            <a:endParaRPr lang="en-US" sz="1400" dirty="0"/>
          </a:p>
          <a:p>
            <a:pPr marL="0" indent="0">
              <a:buNone/>
            </a:pPr>
            <a:r>
              <a:rPr lang="en-US" sz="1400" dirty="0">
                <a:solidFill>
                  <a:srgbClr val="EEF0F8"/>
                </a:solidFill>
                <a:latin typeface="Courier New" pitchFamily="34" charset="0"/>
                <a:ea typeface="Courier New" pitchFamily="34" charset="-122"/>
                <a:cs typeface="Courier New" pitchFamily="34" charset="-120"/>
              </a:rPr>
              <a:t>  </a:t>
            </a:r>
            <a:r>
              <a:rPr lang="en-US" sz="1400" dirty="0">
                <a:solidFill>
                  <a:srgbClr val="22D3EE"/>
                </a:solidFill>
                <a:latin typeface="Courier New" pitchFamily="34" charset="0"/>
                <a:ea typeface="Courier New" pitchFamily="34" charset="-122"/>
                <a:cs typeface="Courier New" pitchFamily="34" charset="-120"/>
              </a:rPr>
              <a:t>color</a:t>
            </a:r>
            <a:r>
              <a:rPr lang="en-US" sz="1400" dirty="0">
                <a:solidFill>
                  <a:srgbClr val="6C759E"/>
                </a:solidFill>
                <a:latin typeface="Courier New" pitchFamily="34" charset="0"/>
                <a:ea typeface="Courier New" pitchFamily="34" charset="-122"/>
                <a:cs typeface="Courier New" pitchFamily="34" charset="-120"/>
              </a:rPr>
              <a:t>: </a:t>
            </a:r>
            <a:r>
              <a:rPr lang="en-US" sz="1400" dirty="0">
                <a:solidFill>
                  <a:srgbClr val="FBBF24"/>
                </a:solidFill>
                <a:latin typeface="Courier New" pitchFamily="34" charset="0"/>
                <a:ea typeface="Courier New" pitchFamily="34" charset="-122"/>
                <a:cs typeface="Courier New" pitchFamily="34" charset="-120"/>
              </a:rPr>
              <a:t>red;</a:t>
            </a:r>
            <a:endParaRPr lang="en-US" sz="1400" dirty="0"/>
          </a:p>
          <a:p>
            <a:pPr marL="0" indent="0">
              <a:buNone/>
            </a:pPr>
            <a:r>
              <a:rPr lang="en-US" sz="1400" dirty="0">
                <a:solidFill>
                  <a:srgbClr val="EEF0F8"/>
                </a:solidFill>
                <a:latin typeface="Courier New" pitchFamily="34" charset="0"/>
                <a:ea typeface="Courier New" pitchFamily="34" charset="-122"/>
                <a:cs typeface="Courier New" pitchFamily="34" charset="-120"/>
              </a:rPr>
              <a:t>  </a:t>
            </a:r>
            <a:r>
              <a:rPr lang="en-US" sz="1400" dirty="0">
                <a:solidFill>
                  <a:srgbClr val="22D3EE"/>
                </a:solidFill>
                <a:latin typeface="Courier New" pitchFamily="34" charset="0"/>
                <a:ea typeface="Courier New" pitchFamily="34" charset="-122"/>
                <a:cs typeface="Courier New" pitchFamily="34" charset="-120"/>
              </a:rPr>
              <a:t>font-size</a:t>
            </a:r>
            <a:r>
              <a:rPr lang="en-US" sz="1400" dirty="0">
                <a:solidFill>
                  <a:srgbClr val="6C759E"/>
                </a:solidFill>
                <a:latin typeface="Courier New" pitchFamily="34" charset="0"/>
                <a:ea typeface="Courier New" pitchFamily="34" charset="-122"/>
                <a:cs typeface="Courier New" pitchFamily="34" charset="-120"/>
              </a:rPr>
              <a:t>: </a:t>
            </a:r>
            <a:r>
              <a:rPr lang="en-US" sz="1400" dirty="0">
                <a:solidFill>
                  <a:srgbClr val="FBBF24"/>
                </a:solidFill>
                <a:latin typeface="Courier New" pitchFamily="34" charset="0"/>
                <a:ea typeface="Courier New" pitchFamily="34" charset="-122"/>
                <a:cs typeface="Courier New" pitchFamily="34" charset="-120"/>
              </a:rPr>
              <a:t>2.5em;</a:t>
            </a:r>
            <a:endParaRPr lang="en-US" sz="1400" dirty="0"/>
          </a:p>
          <a:p>
            <a:pPr marL="0" indent="0">
              <a:buNone/>
            </a:pPr>
            <a:r>
              <a:rPr lang="en-US" sz="1400" dirty="0">
                <a:solidFill>
                  <a:srgbClr val="6C759E"/>
                </a:solidFill>
                <a:latin typeface="Courier New" pitchFamily="34" charset="0"/>
                <a:ea typeface="Courier New" pitchFamily="34" charset="-122"/>
                <a:cs typeface="Courier New" pitchFamily="34" charset="-120"/>
              </a:rPr>
              <a:t>}</a:t>
            </a:r>
            <a:endParaRPr lang="en-US" sz="1400" dirty="0"/>
          </a:p>
        </p:txBody>
      </p:sp>
      <p:sp>
        <p:nvSpPr>
          <p:cNvPr id="16" name="Text 14"/>
          <p:cNvSpPr txBox="1"/>
          <p:nvPr/>
        </p:nvSpPr>
        <p:spPr>
          <a:xfrm>
            <a:off x="548640" y="2880360"/>
            <a:ext cx="1874520" cy="256032"/>
          </a:xfrm>
          <a:prstGeom prst="roundRect">
            <a:avLst>
              <a:gd name="adj" fmla="val 42857"/>
            </a:avLst>
          </a:prstGeom>
          <a:solidFill>
            <a:srgbClr val="10142B"/>
          </a:solidFill>
          <a:ln w="12700">
            <a:solidFill>
              <a:srgbClr val="F472B6"/>
            </a:solidFill>
          </a:ln>
        </p:spPr>
        <p:txBody>
          <a:bodyPr wrap="square" lIns="0" tIns="0" rIns="0" bIns="0" rtlCol="0" anchor="ctr"/>
          <a:lstStyle/>
          <a:p>
            <a:pPr marL="0" indent="0" algn="ctr">
              <a:buNone/>
            </a:pPr>
            <a:r>
              <a:rPr lang="en-US" sz="950" b="1" dirty="0">
                <a:solidFill>
                  <a:srgbClr val="F472B6"/>
                </a:solidFill>
                <a:latin typeface="Arial" pitchFamily="34" charset="0"/>
                <a:ea typeface="Arial" pitchFamily="34" charset="-122"/>
                <a:cs typeface="Arial" pitchFamily="34" charset="-120"/>
              </a:rPr>
              <a:t>seçici:  h1</a:t>
            </a:r>
            <a:endParaRPr lang="en-US" sz="950" dirty="0"/>
          </a:p>
        </p:txBody>
      </p:sp>
      <p:sp>
        <p:nvSpPr>
          <p:cNvPr id="17" name="Text 15"/>
          <p:cNvSpPr txBox="1"/>
          <p:nvPr/>
        </p:nvSpPr>
        <p:spPr>
          <a:xfrm>
            <a:off x="2487168" y="2880360"/>
            <a:ext cx="1874520" cy="256032"/>
          </a:xfrm>
          <a:prstGeom prst="roundRect">
            <a:avLst>
              <a:gd name="adj" fmla="val 42857"/>
            </a:avLst>
          </a:prstGeom>
          <a:solidFill>
            <a:srgbClr val="10142B"/>
          </a:solidFill>
          <a:ln w="12700">
            <a:solidFill>
              <a:srgbClr val="22D3EE"/>
            </a:solidFill>
          </a:ln>
        </p:spPr>
        <p:txBody>
          <a:bodyPr wrap="square" lIns="0" tIns="0" rIns="0" bIns="0" rtlCol="0" anchor="ctr"/>
          <a:lstStyle/>
          <a:p>
            <a:pPr marL="0" indent="0" algn="ctr">
              <a:buNone/>
            </a:pPr>
            <a:r>
              <a:rPr lang="en-US" sz="950" b="1" dirty="0">
                <a:solidFill>
                  <a:srgbClr val="22D3EE"/>
                </a:solidFill>
                <a:latin typeface="Arial" pitchFamily="34" charset="0"/>
                <a:ea typeface="Arial" pitchFamily="34" charset="-122"/>
                <a:cs typeface="Arial" pitchFamily="34" charset="-120"/>
              </a:rPr>
              <a:t>özellik:  color</a:t>
            </a:r>
            <a:endParaRPr lang="en-US" sz="950" dirty="0"/>
          </a:p>
        </p:txBody>
      </p:sp>
      <p:sp>
        <p:nvSpPr>
          <p:cNvPr id="18" name="Text 16"/>
          <p:cNvSpPr txBox="1"/>
          <p:nvPr/>
        </p:nvSpPr>
        <p:spPr>
          <a:xfrm>
            <a:off x="548640" y="3227832"/>
            <a:ext cx="1874520" cy="256032"/>
          </a:xfrm>
          <a:prstGeom prst="roundRect">
            <a:avLst>
              <a:gd name="adj" fmla="val 42857"/>
            </a:avLst>
          </a:prstGeom>
          <a:solidFill>
            <a:srgbClr val="10142B"/>
          </a:solidFill>
          <a:ln w="12700">
            <a:solidFill>
              <a:srgbClr val="FBBF24"/>
            </a:solidFill>
          </a:ln>
        </p:spPr>
        <p:txBody>
          <a:bodyPr wrap="square" lIns="0" tIns="0" rIns="0" bIns="0" rtlCol="0" anchor="ctr"/>
          <a:lstStyle/>
          <a:p>
            <a:pPr marL="0" indent="0" algn="ctr">
              <a:buNone/>
            </a:pPr>
            <a:r>
              <a:rPr lang="en-US" sz="950" b="1" dirty="0">
                <a:solidFill>
                  <a:srgbClr val="FBBF24"/>
                </a:solidFill>
                <a:latin typeface="Arial" pitchFamily="34" charset="0"/>
                <a:ea typeface="Arial" pitchFamily="34" charset="-122"/>
                <a:cs typeface="Arial" pitchFamily="34" charset="-120"/>
              </a:rPr>
              <a:t>değer:  red</a:t>
            </a:r>
            <a:endParaRPr lang="en-US" sz="950" dirty="0"/>
          </a:p>
        </p:txBody>
      </p:sp>
      <p:sp>
        <p:nvSpPr>
          <p:cNvPr id="19" name="Text 17"/>
          <p:cNvSpPr txBox="1"/>
          <p:nvPr/>
        </p:nvSpPr>
        <p:spPr>
          <a:xfrm>
            <a:off x="2487168" y="3227832"/>
            <a:ext cx="1874520" cy="256032"/>
          </a:xfrm>
          <a:prstGeom prst="roundRect">
            <a:avLst>
              <a:gd name="adj" fmla="val 42857"/>
            </a:avLst>
          </a:prstGeom>
          <a:solidFill>
            <a:srgbClr val="10142B"/>
          </a:solidFill>
          <a:ln w="12700">
            <a:solidFill>
              <a:srgbClr val="9AA3C7"/>
            </a:solidFill>
          </a:ln>
        </p:spPr>
        <p:txBody>
          <a:bodyPr wrap="square" lIns="0" tIns="0" rIns="0" bIns="0" rtlCol="0" anchor="ctr"/>
          <a:lstStyle/>
          <a:p>
            <a:pPr marL="0" indent="0" algn="ctr">
              <a:buNone/>
            </a:pPr>
            <a:r>
              <a:rPr lang="en-US" sz="950" b="1" dirty="0">
                <a:solidFill>
                  <a:srgbClr val="9AA3C7"/>
                </a:solidFill>
                <a:latin typeface="Arial" pitchFamily="34" charset="0"/>
                <a:ea typeface="Arial" pitchFamily="34" charset="-122"/>
                <a:cs typeface="Arial" pitchFamily="34" charset="-120"/>
              </a:rPr>
              <a:t>bildirim bloğu:  { … }</a:t>
            </a:r>
            <a:endParaRPr lang="en-US" sz="950" dirty="0"/>
          </a:p>
        </p:txBody>
      </p:sp>
      <p:sp>
        <p:nvSpPr>
          <p:cNvPr id="20" name="Text 18"/>
          <p:cNvSpPr txBox="1"/>
          <p:nvPr/>
        </p:nvSpPr>
        <p:spPr>
          <a:xfrm>
            <a:off x="548640" y="3611880"/>
            <a:ext cx="3840480" cy="566928"/>
          </a:xfrm>
          <a:prstGeom prst="rect">
            <a:avLst/>
          </a:prstGeom>
          <a:noFill/>
          <a:ln/>
        </p:spPr>
        <p:txBody>
          <a:bodyPr wrap="square" lIns="0" tIns="0" rIns="0" bIns="0" rtlCol="0" anchor="t"/>
          <a:lstStyle/>
          <a:p>
            <a:pPr marL="0" indent="0">
              <a:buNone/>
            </a:pPr>
            <a:r>
              <a:rPr lang="en-US" sz="1000" dirty="0">
                <a:solidFill>
                  <a:srgbClr val="9AA3C7"/>
                </a:solidFill>
                <a:latin typeface="Arial" pitchFamily="34" charset="0"/>
                <a:ea typeface="Arial" pitchFamily="34" charset="-122"/>
                <a:cs typeface="Arial" pitchFamily="34" charset="-120"/>
              </a:rPr>
              <a:t>Kural tabanlı bir dil: hangi öğeyi (seçici), neyini (özellik), nasıl (değer) değiştireceğini söylersin. Her özellik sadece belirli değer türlerini kabul eder.</a:t>
            </a:r>
            <a:endParaRPr lang="en-US" sz="1000" dirty="0"/>
          </a:p>
        </p:txBody>
      </p:sp>
      <p:sp>
        <p:nvSpPr>
          <p:cNvPr id="21" name="kart"/>
          <p:cNvSpPr/>
          <p:nvPr/>
        </p:nvSpPr>
        <p:spPr>
          <a:xfrm>
            <a:off x="4617720" y="1371600"/>
            <a:ext cx="3977640" cy="1280160"/>
          </a:xfrm>
          <a:prstGeom prst="roundRect">
            <a:avLst>
              <a:gd name="adj" fmla="val 5714"/>
            </a:avLst>
          </a:prstGeom>
          <a:solidFill>
            <a:srgbClr val="1A2044"/>
          </a:solidFill>
          <a:ln w="9525">
            <a:solidFill>
              <a:srgbClr val="2E3768"/>
            </a:solidFill>
            <a:prstDash val="solid"/>
          </a:ln>
        </p:spPr>
      </p:sp>
      <p:sp>
        <p:nvSpPr>
          <p:cNvPr id="22" name="kart-nokta"/>
          <p:cNvSpPr/>
          <p:nvPr/>
        </p:nvSpPr>
        <p:spPr>
          <a:xfrm>
            <a:off x="4764024" y="1527048"/>
            <a:ext cx="91440" cy="91440"/>
          </a:xfrm>
          <a:prstGeom prst="ellipse">
            <a:avLst/>
          </a:prstGeom>
          <a:solidFill>
            <a:srgbClr val="22D3EE"/>
          </a:solidFill>
          <a:ln/>
        </p:spPr>
      </p:sp>
      <p:sp>
        <p:nvSpPr>
          <p:cNvPr id="23" name="Text 21"/>
          <p:cNvSpPr txBox="1"/>
          <p:nvPr/>
        </p:nvSpPr>
        <p:spPr>
          <a:xfrm>
            <a:off x="4928616" y="1444752"/>
            <a:ext cx="3566160" cy="274320"/>
          </a:xfrm>
          <a:prstGeom prst="rect">
            <a:avLst/>
          </a:prstGeom>
          <a:noFill/>
          <a:ln/>
        </p:spPr>
        <p:txBody>
          <a:bodyPr wrap="square" lIns="0" tIns="0" rIns="0" bIns="0" rtlCol="0" anchor="ctr"/>
          <a:lstStyle/>
          <a:p>
            <a:pPr marL="0" indent="0">
              <a:buNone/>
            </a:pPr>
            <a:r>
              <a:rPr lang="en-US" sz="1300" b="1" dirty="0">
                <a:solidFill>
                  <a:srgbClr val="EEF0F8"/>
                </a:solidFill>
                <a:latin typeface="Arial" pitchFamily="34" charset="0"/>
                <a:ea typeface="Arial" pitchFamily="34" charset="-122"/>
                <a:cs typeface="Arial" pitchFamily="34" charset="-120"/>
              </a:rPr>
              <a:t>Tarayıcının varsayılan stilleri</a:t>
            </a:r>
            <a:endParaRPr lang="en-US" sz="1300" dirty="0"/>
          </a:p>
        </p:txBody>
      </p:sp>
      <p:sp>
        <p:nvSpPr>
          <p:cNvPr id="24" name="Text 22"/>
          <p:cNvSpPr txBox="1"/>
          <p:nvPr/>
        </p:nvSpPr>
        <p:spPr>
          <a:xfrm>
            <a:off x="4800600" y="1719072"/>
            <a:ext cx="3657600" cy="896112"/>
          </a:xfrm>
          <a:prstGeom prst="rect">
            <a:avLst/>
          </a:prstGeom>
          <a:noFill/>
          <a:ln/>
        </p:spPr>
        <p:txBody>
          <a:bodyPr wrap="square" lIns="0" tIns="0" rIns="0" bIns="0" rtlCol="0" anchor="t"/>
          <a:lstStyle/>
          <a:p>
            <a:pPr marL="0" indent="0">
              <a:buNone/>
            </a:pPr>
            <a:r>
              <a:rPr lang="en-US" sz="1050" dirty="0">
                <a:solidFill>
                  <a:srgbClr val="EEF0F8"/>
                </a:solidFill>
                <a:latin typeface="Arial" pitchFamily="34" charset="0"/>
                <a:ea typeface="Arial" pitchFamily="34" charset="-122"/>
                <a:cs typeface="Arial" pitchFamily="34" charset="-120"/>
              </a:rPr>
              <a:t>Hiç CSS yazmasan da başlıklar büyük, linkler mavi ve altı çizili görünür. Bunlar HTML'den değil, tarayıcıya gömülü varsayılan stil sayfasından gelir.</a:t>
            </a:r>
            <a:endParaRPr lang="en-US" sz="1050" dirty="0"/>
          </a:p>
        </p:txBody>
      </p:sp>
      <p:sp>
        <p:nvSpPr>
          <p:cNvPr id="25" name="kart"/>
          <p:cNvSpPr/>
          <p:nvPr/>
        </p:nvSpPr>
        <p:spPr>
          <a:xfrm>
            <a:off x="4617720" y="2761488"/>
            <a:ext cx="3977640" cy="1371600"/>
          </a:xfrm>
          <a:prstGeom prst="roundRect">
            <a:avLst>
              <a:gd name="adj" fmla="val 5333"/>
            </a:avLst>
          </a:prstGeom>
          <a:solidFill>
            <a:srgbClr val="1A2044"/>
          </a:solidFill>
          <a:ln w="9525">
            <a:solidFill>
              <a:srgbClr val="2E3768"/>
            </a:solidFill>
            <a:prstDash val="solid"/>
          </a:ln>
        </p:spPr>
      </p:sp>
      <p:sp>
        <p:nvSpPr>
          <p:cNvPr id="26" name="kart-nokta"/>
          <p:cNvSpPr/>
          <p:nvPr/>
        </p:nvSpPr>
        <p:spPr>
          <a:xfrm>
            <a:off x="4764024" y="2916936"/>
            <a:ext cx="91440" cy="91440"/>
          </a:xfrm>
          <a:prstGeom prst="ellipse">
            <a:avLst/>
          </a:prstGeom>
          <a:solidFill>
            <a:srgbClr val="F472B6"/>
          </a:solidFill>
          <a:ln/>
        </p:spPr>
      </p:sp>
      <p:sp>
        <p:nvSpPr>
          <p:cNvPr id="27" name="Text 25"/>
          <p:cNvSpPr txBox="1"/>
          <p:nvPr/>
        </p:nvSpPr>
        <p:spPr>
          <a:xfrm>
            <a:off x="4928616" y="2834640"/>
            <a:ext cx="3566160" cy="274320"/>
          </a:xfrm>
          <a:prstGeom prst="rect">
            <a:avLst/>
          </a:prstGeom>
          <a:noFill/>
          <a:ln/>
        </p:spPr>
        <p:txBody>
          <a:bodyPr wrap="square" lIns="0" tIns="0" rIns="0" bIns="0" rtlCol="0" anchor="ctr"/>
          <a:lstStyle/>
          <a:p>
            <a:pPr marL="0" indent="0">
              <a:buNone/>
            </a:pPr>
            <a:r>
              <a:rPr lang="en-US" sz="1300" b="1" dirty="0">
                <a:solidFill>
                  <a:srgbClr val="EEF0F8"/>
                </a:solidFill>
                <a:latin typeface="Arial" pitchFamily="34" charset="0"/>
                <a:ea typeface="Arial" pitchFamily="34" charset="-122"/>
                <a:cs typeface="Arial" pitchFamily="34" charset="-120"/>
              </a:rPr>
              <a:t>Tarayıcı CSS'i nasıl uygular?</a:t>
            </a:r>
            <a:endParaRPr lang="en-US" sz="1300" dirty="0"/>
          </a:p>
        </p:txBody>
      </p:sp>
      <p:sp>
        <p:nvSpPr>
          <p:cNvPr id="28" name="Text 26"/>
          <p:cNvSpPr txBox="1"/>
          <p:nvPr/>
        </p:nvSpPr>
        <p:spPr>
          <a:xfrm>
            <a:off x="4800600" y="3127248"/>
            <a:ext cx="3657600" cy="960120"/>
          </a:xfrm>
          <a:prstGeom prst="rect">
            <a:avLst/>
          </a:prstGeom>
          <a:noFill/>
          <a:ln/>
        </p:spPr>
        <p:txBody>
          <a:bodyPr wrap="square" lIns="0" tIns="0" rIns="0" bIns="0" rtlCol="0" anchor="t"/>
          <a:lstStyle/>
          <a:p>
            <a:pPr marL="0" indent="0">
              <a:spcAft>
                <a:spcPts val="600"/>
              </a:spcAft>
              <a:buNone/>
            </a:pPr>
            <a:r>
              <a:rPr lang="en-US" sz="1050" b="1" dirty="0">
                <a:solidFill>
                  <a:srgbClr val="F472B6"/>
                </a:solidFill>
                <a:latin typeface="Arial" pitchFamily="34" charset="0"/>
                <a:ea typeface="Arial" pitchFamily="34" charset="-122"/>
                <a:cs typeface="Arial" pitchFamily="34" charset="-120"/>
              </a:rPr>
              <a:t>1. </a:t>
            </a:r>
            <a:r>
              <a:rPr lang="en-US" sz="1050" dirty="0">
                <a:solidFill>
                  <a:srgbClr val="EEF0F8"/>
                </a:solidFill>
                <a:latin typeface="Arial" pitchFamily="34" charset="0"/>
                <a:ea typeface="Arial" pitchFamily="34" charset="-122"/>
                <a:cs typeface="Arial" pitchFamily="34" charset="-120"/>
              </a:rPr>
              <a:t>HTML → DOM ağacı</a:t>
            </a:r>
            <a:endParaRPr lang="en-US" sz="1050" dirty="0"/>
          </a:p>
          <a:p>
            <a:pPr marL="0" indent="0">
              <a:spcAft>
                <a:spcPts val="600"/>
              </a:spcAft>
              <a:buNone/>
            </a:pPr>
            <a:r>
              <a:rPr lang="en-US" sz="1050" b="1" dirty="0">
                <a:solidFill>
                  <a:srgbClr val="F472B6"/>
                </a:solidFill>
                <a:latin typeface="Arial" pitchFamily="34" charset="0"/>
                <a:ea typeface="Arial" pitchFamily="34" charset="-122"/>
                <a:cs typeface="Arial" pitchFamily="34" charset="-120"/>
              </a:rPr>
              <a:t>2. </a:t>
            </a:r>
            <a:r>
              <a:rPr lang="en-US" sz="1050" dirty="0">
                <a:solidFill>
                  <a:srgbClr val="EEF0F8"/>
                </a:solidFill>
                <a:latin typeface="Arial" pitchFamily="34" charset="0"/>
                <a:ea typeface="Arial" pitchFamily="34" charset="-122"/>
                <a:cs typeface="Arial" pitchFamily="34" charset="-120"/>
              </a:rPr>
              <a:t>Kurallar seçicilerine göre öğelere dağıtılır → render ağacı</a:t>
            </a:r>
            <a:endParaRPr lang="en-US" sz="1050" dirty="0"/>
          </a:p>
          <a:p>
            <a:pPr marL="0" indent="0">
              <a:spcAft>
                <a:spcPts val="600"/>
              </a:spcAft>
              <a:buNone/>
            </a:pPr>
            <a:r>
              <a:rPr lang="en-US" sz="1050" b="1" dirty="0">
                <a:solidFill>
                  <a:srgbClr val="F472B6"/>
                </a:solidFill>
                <a:latin typeface="Arial" pitchFamily="34" charset="0"/>
                <a:ea typeface="Arial" pitchFamily="34" charset="-122"/>
                <a:cs typeface="Arial" pitchFamily="34" charset="-120"/>
              </a:rPr>
              <a:t>3. </a:t>
            </a:r>
            <a:r>
              <a:rPr lang="en-US" sz="1050" dirty="0">
                <a:solidFill>
                  <a:srgbClr val="EEF0F8"/>
                </a:solidFill>
                <a:latin typeface="Arial" pitchFamily="34" charset="0"/>
                <a:ea typeface="Arial" pitchFamily="34" charset="-122"/>
                <a:cs typeface="Arial" pitchFamily="34" charset="-120"/>
              </a:rPr>
              <a:t>Render ağacı ekrana boyanır (painting)</a:t>
            </a:r>
            <a:endParaRPr lang="en-US" sz="1050" dirty="0"/>
          </a:p>
        </p:txBody>
      </p:sp>
      <p:sp>
        <p:nvSpPr>
          <p:cNvPr id="29" name="benzetme"/>
          <p:cNvSpPr/>
          <p:nvPr/>
        </p:nvSpPr>
        <p:spPr>
          <a:xfrm>
            <a:off x="548640" y="4224528"/>
            <a:ext cx="8046720" cy="402336"/>
          </a:xfrm>
          <a:prstGeom prst="roundRect">
            <a:avLst>
              <a:gd name="adj" fmla="val 50000"/>
            </a:avLst>
          </a:prstGeom>
          <a:solidFill>
            <a:srgbClr val="232A55"/>
          </a:solidFill>
          <a:ln/>
        </p:spPr>
      </p:sp>
      <p:sp>
        <p:nvSpPr>
          <p:cNvPr id="30" name="benzetme-ikon"/>
          <p:cNvSpPr/>
          <p:nvPr/>
        </p:nvSpPr>
        <p:spPr>
          <a:xfrm>
            <a:off x="621792" y="4261104"/>
            <a:ext cx="329184" cy="329184"/>
          </a:xfrm>
          <a:prstGeom prst="ellipse">
            <a:avLst/>
          </a:prstGeom>
          <a:solidFill>
            <a:srgbClr val="FBBF24"/>
          </a:solidFill>
          <a:ln/>
        </p:spPr>
      </p:sp>
      <p:sp>
        <p:nvSpPr>
          <p:cNvPr id="31" name="Text 29"/>
          <p:cNvSpPr txBox="1"/>
          <p:nvPr/>
        </p:nvSpPr>
        <p:spPr>
          <a:xfrm>
            <a:off x="621792" y="4261104"/>
            <a:ext cx="329184" cy="329184"/>
          </a:xfrm>
          <a:prstGeom prst="rect">
            <a:avLst/>
          </a:prstGeom>
          <a:noFill/>
          <a:ln/>
        </p:spPr>
        <p:txBody>
          <a:bodyPr wrap="square" lIns="0" tIns="0" rIns="0" bIns="0" rtlCol="0" anchor="ctr"/>
          <a:lstStyle/>
          <a:p>
            <a:pPr marL="0" indent="0" algn="ctr">
              <a:buNone/>
            </a:pPr>
            <a:r>
              <a:rPr lang="en-US" sz="1600" b="1" dirty="0">
                <a:solidFill>
                  <a:srgbClr val="10142B"/>
                </a:solidFill>
                <a:latin typeface="Arial" pitchFamily="34" charset="0"/>
                <a:ea typeface="Arial" pitchFamily="34" charset="-122"/>
                <a:cs typeface="Arial" pitchFamily="34" charset="-120"/>
              </a:rPr>
              <a:t>≈</a:t>
            </a:r>
            <a:endParaRPr lang="en-US" sz="1600" dirty="0"/>
          </a:p>
        </p:txBody>
      </p:sp>
      <p:sp>
        <p:nvSpPr>
          <p:cNvPr id="32" name="Text 30"/>
          <p:cNvSpPr txBox="1"/>
          <p:nvPr/>
        </p:nvSpPr>
        <p:spPr>
          <a:xfrm>
            <a:off x="1042416" y="4224528"/>
            <a:ext cx="7452360" cy="402336"/>
          </a:xfrm>
          <a:prstGeom prst="rect">
            <a:avLst/>
          </a:prstGeom>
          <a:noFill/>
          <a:ln/>
        </p:spPr>
        <p:txBody>
          <a:bodyPr wrap="square" lIns="0" tIns="0" rIns="0" bIns="0" rtlCol="0" anchor="ctr"/>
          <a:lstStyle/>
          <a:p>
            <a:pPr marL="0" indent="0">
              <a:buNone/>
            </a:pPr>
            <a:r>
              <a:rPr lang="en-US" sz="1100" b="1" dirty="0">
                <a:solidFill>
                  <a:srgbClr val="FBBF24"/>
                </a:solidFill>
                <a:latin typeface="Arial" pitchFamily="34" charset="0"/>
                <a:ea typeface="Arial" pitchFamily="34" charset="-122"/>
                <a:cs typeface="Arial" pitchFamily="34" charset="-120"/>
              </a:rPr>
              <a:t>Gündelik hayatta: </a:t>
            </a:r>
            <a:r>
              <a:rPr lang="en-US" sz="1100" dirty="0">
                <a:solidFill>
                  <a:srgbClr val="EEF0F8"/>
                </a:solidFill>
                <a:latin typeface="Arial" pitchFamily="34" charset="0"/>
                <a:ea typeface="Arial" pitchFamily="34" charset="-122"/>
                <a:cs typeface="Arial" pitchFamily="34" charset="-120"/>
              </a:rPr>
              <a:t>HTML bir evin odalarıysa, CSS iç mimarın listesidir: “salonun (h1) duvarı (color) kırmızı (red) olsun”.</a:t>
            </a:r>
            <a:endParaRPr lang="en-US" sz="1100" dirty="0"/>
          </a:p>
        </p:txBody>
      </p:sp>
    </p:spTree>
  </p:cSld>
  <p:clrMapOvr>
    <a:masterClrMapping/>
  </p:clrMapOvr>
  <p:transition spd="med">
    <p:pull/>
  </p:transition>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256032"/>
            <a:ext cx="4572000" cy="201168"/>
          </a:xfrm>
          <a:prstGeom prst="rect">
            <a:avLst/>
          </a:prstGeom>
          <a:noFill/>
          <a:ln/>
        </p:spPr>
        <p:txBody>
          <a:bodyPr wrap="square" lIns="0" tIns="0" rIns="0" bIns="0" rtlCol="0" anchor="t"/>
          <a:lstStyle/>
          <a:p>
            <a:pPr marL="0" indent="0">
              <a:buNone/>
            </a:pPr>
            <a:r>
              <a:rPr lang="en-US" sz="900" b="1" kern="0" spc="200" dirty="0">
                <a:solidFill>
                  <a:srgbClr val="22D3EE"/>
                </a:solidFill>
                <a:latin typeface="Arial" pitchFamily="34" charset="0"/>
                <a:ea typeface="Arial" pitchFamily="34" charset="-122"/>
                <a:cs typeface="Arial" pitchFamily="34" charset="-120"/>
              </a:rPr>
              <a:t>MODÜL 1 · CSS TEMELLERİ</a:t>
            </a:r>
            <a:endParaRPr lang="en-US" sz="900" dirty="0"/>
          </a:p>
        </p:txBody>
      </p:sp>
      <p:sp>
        <p:nvSpPr>
          <p:cNvPr id="3" name="mini-box-0"/>
          <p:cNvSpPr/>
          <p:nvPr/>
        </p:nvSpPr>
        <p:spPr>
          <a:xfrm>
            <a:off x="8229600" y="201168"/>
            <a:ext cx="384048" cy="384048"/>
          </a:xfrm>
          <a:prstGeom prst="rect">
            <a:avLst/>
          </a:prstGeom>
          <a:ln w="9525">
            <a:solidFill>
              <a:srgbClr val="22D3EE"/>
            </a:solidFill>
            <a:prstDash val="solid"/>
          </a:ln>
        </p:spPr>
      </p:sp>
      <p:sp>
        <p:nvSpPr>
          <p:cNvPr id="4" name="mini-box-1"/>
          <p:cNvSpPr/>
          <p:nvPr/>
        </p:nvSpPr>
        <p:spPr>
          <a:xfrm>
            <a:off x="8293608" y="265176"/>
            <a:ext cx="256032" cy="256032"/>
          </a:xfrm>
          <a:prstGeom prst="rect">
            <a:avLst/>
          </a:prstGeom>
          <a:ln w="9525">
            <a:solidFill>
              <a:srgbClr val="EEF0F8"/>
            </a:solidFill>
            <a:prstDash val="solid"/>
          </a:ln>
        </p:spPr>
      </p:sp>
      <p:sp>
        <p:nvSpPr>
          <p:cNvPr id="5" name="mini-box-2"/>
          <p:cNvSpPr/>
          <p:nvPr/>
        </p:nvSpPr>
        <p:spPr>
          <a:xfrm>
            <a:off x="8348472" y="320040"/>
            <a:ext cx="146304" cy="146304"/>
          </a:xfrm>
          <a:prstGeom prst="rect">
            <a:avLst/>
          </a:prstGeom>
          <a:solidFill>
            <a:srgbClr val="22D3EE"/>
          </a:solidFill>
          <a:ln w="9525">
            <a:solidFill>
              <a:srgbClr val="22D3EE"/>
            </a:solidFill>
            <a:prstDash val="solid"/>
          </a:ln>
        </p:spPr>
      </p:sp>
      <p:sp>
        <p:nvSpPr>
          <p:cNvPr id="6" name="ilerleme-zemin"/>
          <p:cNvSpPr/>
          <p:nvPr/>
        </p:nvSpPr>
        <p:spPr>
          <a:xfrm>
            <a:off x="0" y="5070348"/>
            <a:ext cx="9144000" cy="73152"/>
          </a:xfrm>
          <a:prstGeom prst="rect">
            <a:avLst/>
          </a:prstGeom>
          <a:solidFill>
            <a:srgbClr val="1A2044"/>
          </a:solidFill>
          <a:ln/>
        </p:spPr>
      </p:sp>
      <p:sp>
        <p:nvSpPr>
          <p:cNvPr id="7" name="ilerleme"/>
          <p:cNvSpPr/>
          <p:nvPr/>
        </p:nvSpPr>
        <p:spPr>
          <a:xfrm>
            <a:off x="0" y="5070348"/>
            <a:ext cx="1275907" cy="73152"/>
          </a:xfrm>
          <a:prstGeom prst="rect">
            <a:avLst/>
          </a:prstGeom>
          <a:solidFill>
            <a:srgbClr val="22D3EE"/>
          </a:solidFill>
          <a:ln/>
        </p:spPr>
      </p:sp>
      <p:sp>
        <p:nvSpPr>
          <p:cNvPr id="8" name="Text 6"/>
          <p:cNvSpPr txBox="1"/>
          <p:nvPr/>
        </p:nvSpPr>
        <p:spPr>
          <a:xfrm>
            <a:off x="548640" y="4791456"/>
            <a:ext cx="3657600" cy="201168"/>
          </a:xfrm>
          <a:prstGeom prst="rect">
            <a:avLst/>
          </a:prstGeom>
          <a:noFill/>
          <a:ln/>
        </p:spPr>
        <p:txBody>
          <a:bodyPr wrap="square" lIns="0" tIns="0" rIns="0" bIns="0" rtlCol="0" anchor="t"/>
          <a:lstStyle/>
          <a:p>
            <a:pPr marL="0" indent="0">
              <a:buNone/>
            </a:pPr>
            <a:r>
              <a:rPr lang="en-US" sz="850" dirty="0">
                <a:solidFill>
                  <a:srgbClr val="6C759E"/>
                </a:solidFill>
                <a:latin typeface="Arial" pitchFamily="34" charset="0"/>
                <a:ea typeface="Arial" pitchFamily="34" charset="-122"/>
                <a:cs typeface="Arial" pitchFamily="34" charset="-120"/>
              </a:rPr>
              <a:t>KCŞ A.Ş.  ·  CSS ile stil ve düzen</a:t>
            </a:r>
            <a:endParaRPr lang="en-US" sz="850" dirty="0"/>
          </a:p>
        </p:txBody>
      </p:sp>
      <p:sp>
        <p:nvSpPr>
          <p:cNvPr id="9" name="Text 7"/>
          <p:cNvSpPr txBox="1"/>
          <p:nvPr/>
        </p:nvSpPr>
        <p:spPr>
          <a:xfrm>
            <a:off x="4206240" y="4791456"/>
            <a:ext cx="3840480" cy="201168"/>
          </a:xfrm>
          <a:prstGeom prst="rect">
            <a:avLst/>
          </a:prstGeom>
          <a:noFill/>
          <a:ln/>
        </p:spPr>
        <p:txBody>
          <a:bodyPr wrap="square" lIns="0" tIns="0" rIns="0" bIns="0" rtlCol="0" anchor="t"/>
          <a:lstStyle/>
          <a:p>
            <a:pPr marL="0" indent="0" algn="r">
              <a:buNone/>
            </a:pPr>
            <a:r>
              <a:rPr lang="en-US" sz="850" dirty="0">
                <a:solidFill>
                  <a:srgbClr val="6C759E"/>
                </a:solidFill>
                <a:latin typeface="Arial" pitchFamily="34" charset="0"/>
                <a:ea typeface="Arial" pitchFamily="34" charset="-122"/>
                <a:cs typeface="Arial" pitchFamily="34" charset="-120"/>
              </a:rPr>
              <a:t>MDN · CSS getting started</a:t>
            </a:r>
            <a:endParaRPr lang="en-US" sz="850" dirty="0"/>
          </a:p>
        </p:txBody>
      </p:sp>
      <p:sp>
        <p:nvSpPr>
          <p:cNvPr id="10" name="Text 8"/>
          <p:cNvSpPr txBox="1"/>
          <p:nvPr/>
        </p:nvSpPr>
        <p:spPr>
          <a:xfrm>
            <a:off x="8092440" y="4791456"/>
            <a:ext cx="685800" cy="201168"/>
          </a:xfrm>
          <a:prstGeom prst="rect">
            <a:avLst/>
          </a:prstGeom>
          <a:noFill/>
          <a:ln/>
        </p:spPr>
        <p:txBody>
          <a:bodyPr wrap="square" lIns="0" tIns="0" rIns="0" bIns="0" rtlCol="0" anchor="t"/>
          <a:lstStyle/>
          <a:p>
            <a:pPr marL="0" indent="0" algn="r">
              <a:buNone/>
            </a:pPr>
            <a:r>
              <a:rPr lang="en-US" sz="850" dirty="0">
                <a:solidFill>
                  <a:srgbClr val="9AA3C7"/>
                </a:solidFill>
                <a:latin typeface="Courier New" pitchFamily="34" charset="0"/>
                <a:ea typeface="Courier New" pitchFamily="34" charset="-122"/>
                <a:cs typeface="Courier New" pitchFamily="34" charset="-120"/>
              </a:rPr>
              <a:t>06 / 43</a:t>
            </a:r>
            <a:endParaRPr lang="en-US" sz="850" dirty="0"/>
          </a:p>
        </p:txBody>
      </p:sp>
      <p:sp>
        <p:nvSpPr>
          <p:cNvPr id="11" name="Text 9"/>
          <p:cNvSpPr txBox="1"/>
          <p:nvPr/>
        </p:nvSpPr>
        <p:spPr>
          <a:xfrm>
            <a:off x="548640" y="502920"/>
            <a:ext cx="5943600" cy="237744"/>
          </a:xfrm>
          <a:prstGeom prst="rect">
            <a:avLst/>
          </a:prstGeom>
          <a:noFill/>
          <a:ln/>
        </p:spPr>
        <p:txBody>
          <a:bodyPr wrap="square" lIns="0" tIns="0" rIns="0" bIns="0" rtlCol="0" anchor="t"/>
          <a:lstStyle/>
          <a:p>
            <a:pPr marL="0" indent="0">
              <a:buNone/>
            </a:pPr>
            <a:r>
              <a:rPr lang="en-US" sz="1100" b="1" dirty="0">
                <a:solidFill>
                  <a:srgbClr val="22D3EE"/>
                </a:solidFill>
                <a:latin typeface="Courier New" pitchFamily="34" charset="0"/>
                <a:ea typeface="Courier New" pitchFamily="34" charset="-122"/>
                <a:cs typeface="Courier New" pitchFamily="34" charset="-120"/>
              </a:rPr>
              <a:t>&lt;link rel="stylesheet"&gt;</a:t>
            </a:r>
            <a:endParaRPr lang="en-US" sz="1100" dirty="0"/>
          </a:p>
        </p:txBody>
      </p:sp>
      <p:sp>
        <p:nvSpPr>
          <p:cNvPr id="12" name="Text 10"/>
          <p:cNvSpPr txBox="1"/>
          <p:nvPr/>
        </p:nvSpPr>
        <p:spPr>
          <a:xfrm>
            <a:off x="548640" y="749808"/>
            <a:ext cx="7589520" cy="502920"/>
          </a:xfrm>
          <a:prstGeom prst="rect">
            <a:avLst/>
          </a:prstGeom>
          <a:noFill/>
          <a:ln/>
        </p:spPr>
        <p:txBody>
          <a:bodyPr wrap="square" lIns="0" tIns="0" rIns="0" bIns="0" rtlCol="0" anchor="ctr"/>
          <a:lstStyle/>
          <a:p>
            <a:pPr marL="0" indent="0">
              <a:buNone/>
            </a:pPr>
            <a:r>
              <a:rPr lang="en-US" sz="2400" b="1" dirty="0">
                <a:solidFill>
                  <a:srgbClr val="EEF0F8"/>
                </a:solidFill>
                <a:latin typeface="Arial" pitchFamily="34" charset="0"/>
                <a:ea typeface="Arial" pitchFamily="34" charset="-122"/>
                <a:cs typeface="Arial" pitchFamily="34" charset="-120"/>
              </a:rPr>
              <a:t>CSS'i sayfaya eklemenin 3 yolu</a:t>
            </a:r>
            <a:endParaRPr lang="en-US" sz="2400" dirty="0"/>
          </a:p>
        </p:txBody>
      </p:sp>
      <p:sp>
        <p:nvSpPr>
          <p:cNvPr id="13" name="kart"/>
          <p:cNvSpPr/>
          <p:nvPr/>
        </p:nvSpPr>
        <p:spPr>
          <a:xfrm>
            <a:off x="548640" y="1371600"/>
            <a:ext cx="2587752" cy="2743200"/>
          </a:xfrm>
          <a:prstGeom prst="roundRect">
            <a:avLst>
              <a:gd name="adj" fmla="val 2827"/>
            </a:avLst>
          </a:prstGeom>
          <a:solidFill>
            <a:srgbClr val="1A2044"/>
          </a:solidFill>
          <a:ln w="9525">
            <a:solidFill>
              <a:srgbClr val="2E3768"/>
            </a:solidFill>
            <a:prstDash val="solid"/>
          </a:ln>
        </p:spPr>
      </p:sp>
      <p:sp>
        <p:nvSpPr>
          <p:cNvPr id="14" name="kart-nokta"/>
          <p:cNvSpPr/>
          <p:nvPr/>
        </p:nvSpPr>
        <p:spPr>
          <a:xfrm>
            <a:off x="694944" y="1527048"/>
            <a:ext cx="91440" cy="91440"/>
          </a:xfrm>
          <a:prstGeom prst="ellipse">
            <a:avLst/>
          </a:prstGeom>
          <a:solidFill>
            <a:srgbClr val="A3E635"/>
          </a:solidFill>
          <a:ln/>
        </p:spPr>
      </p:sp>
      <p:sp>
        <p:nvSpPr>
          <p:cNvPr id="15" name="Text 13"/>
          <p:cNvSpPr txBox="1"/>
          <p:nvPr/>
        </p:nvSpPr>
        <p:spPr>
          <a:xfrm>
            <a:off x="859536" y="1444752"/>
            <a:ext cx="2176272" cy="274320"/>
          </a:xfrm>
          <a:prstGeom prst="rect">
            <a:avLst/>
          </a:prstGeom>
          <a:noFill/>
          <a:ln/>
        </p:spPr>
        <p:txBody>
          <a:bodyPr wrap="square" lIns="0" tIns="0" rIns="0" bIns="0" rtlCol="0" anchor="ctr"/>
          <a:lstStyle/>
          <a:p>
            <a:pPr marL="0" indent="0">
              <a:buNone/>
            </a:pPr>
            <a:r>
              <a:rPr lang="en-US" sz="1300" b="1" dirty="0">
                <a:solidFill>
                  <a:srgbClr val="EEF0F8"/>
                </a:solidFill>
                <a:latin typeface="Arial" pitchFamily="34" charset="0"/>
                <a:ea typeface="Arial" pitchFamily="34" charset="-122"/>
                <a:cs typeface="Arial" pitchFamily="34" charset="-120"/>
              </a:rPr>
              <a:t>Harici dosya</a:t>
            </a:r>
            <a:endParaRPr lang="en-US" sz="1300" dirty="0"/>
          </a:p>
        </p:txBody>
      </p:sp>
      <p:sp>
        <p:nvSpPr>
          <p:cNvPr id="16" name="Text 14"/>
          <p:cNvSpPr txBox="1"/>
          <p:nvPr/>
        </p:nvSpPr>
        <p:spPr>
          <a:xfrm>
            <a:off x="859536" y="1664208"/>
            <a:ext cx="2103120" cy="201168"/>
          </a:xfrm>
          <a:prstGeom prst="rect">
            <a:avLst/>
          </a:prstGeom>
          <a:noFill/>
          <a:ln/>
        </p:spPr>
        <p:txBody>
          <a:bodyPr wrap="square" lIns="0" tIns="0" rIns="0" bIns="0" rtlCol="0" anchor="t"/>
          <a:lstStyle/>
          <a:p>
            <a:pPr marL="0" indent="0">
              <a:buNone/>
            </a:pPr>
            <a:r>
              <a:rPr lang="en-US" sz="950" b="1" dirty="0">
                <a:solidFill>
                  <a:srgbClr val="A3E635"/>
                </a:solidFill>
                <a:latin typeface="Arial" pitchFamily="34" charset="0"/>
                <a:ea typeface="Arial" pitchFamily="34" charset="-122"/>
                <a:cs typeface="Arial" pitchFamily="34" charset="-120"/>
              </a:rPr>
              <a:t>En yaygın, en iyi</a:t>
            </a:r>
            <a:endParaRPr lang="en-US" sz="950" dirty="0"/>
          </a:p>
        </p:txBody>
      </p:sp>
      <p:sp>
        <p:nvSpPr>
          <p:cNvPr id="17" name="kod-paneli"/>
          <p:cNvSpPr/>
          <p:nvPr/>
        </p:nvSpPr>
        <p:spPr>
          <a:xfrm>
            <a:off x="676656" y="1938528"/>
            <a:ext cx="2331720" cy="777240"/>
          </a:xfrm>
          <a:prstGeom prst="roundRect">
            <a:avLst>
              <a:gd name="adj" fmla="val 9412"/>
            </a:avLst>
          </a:prstGeom>
          <a:solidFill>
            <a:srgbClr val="0A0D1F"/>
          </a:solidFill>
          <a:ln w="9525">
            <a:solidFill>
              <a:srgbClr val="2E3768"/>
            </a:solidFill>
            <a:prstDash val="solid"/>
          </a:ln>
        </p:spPr>
      </p:sp>
      <p:sp>
        <p:nvSpPr>
          <p:cNvPr id="18" name="Text 16"/>
          <p:cNvSpPr txBox="1"/>
          <p:nvPr/>
        </p:nvSpPr>
        <p:spPr>
          <a:xfrm>
            <a:off x="822960" y="2048256"/>
            <a:ext cx="2057400" cy="576072"/>
          </a:xfrm>
          <a:prstGeom prst="rect">
            <a:avLst/>
          </a:prstGeom>
          <a:noFill/>
          <a:ln/>
        </p:spPr>
        <p:txBody>
          <a:bodyPr wrap="square" lIns="0" tIns="0" rIns="0" bIns="0" rtlCol="0" anchor="ctr"/>
          <a:lstStyle/>
          <a:p>
            <a:pPr marL="0" indent="0">
              <a:buNone/>
            </a:pPr>
            <a:r>
              <a:rPr lang="en-US" sz="850" dirty="0">
                <a:solidFill>
                  <a:srgbClr val="F472B6"/>
                </a:solidFill>
                <a:latin typeface="Courier New" pitchFamily="34" charset="0"/>
                <a:ea typeface="Courier New" pitchFamily="34" charset="-122"/>
                <a:cs typeface="Courier New" pitchFamily="34" charset="-120"/>
              </a:rPr>
              <a:t>&lt;link rel=</a:t>
            </a:r>
            <a:r>
              <a:rPr lang="en-US" sz="850" dirty="0">
                <a:solidFill>
                  <a:srgbClr val="A3E635"/>
                </a:solidFill>
                <a:latin typeface="Courier New" pitchFamily="34" charset="0"/>
                <a:ea typeface="Courier New" pitchFamily="34" charset="-122"/>
                <a:cs typeface="Courier New" pitchFamily="34" charset="-120"/>
              </a:rPr>
              <a:t>"stylesheet"</a:t>
            </a:r>
            <a:endParaRPr lang="en-US" sz="850" dirty="0"/>
          </a:p>
          <a:p>
            <a:pPr marL="0" indent="0">
              <a:buNone/>
            </a:pPr>
            <a:r>
              <a:rPr lang="en-US" sz="850" dirty="0">
                <a:solidFill>
                  <a:srgbClr val="EEF0F8"/>
                </a:solidFill>
                <a:latin typeface="Courier New" pitchFamily="34" charset="0"/>
                <a:ea typeface="Courier New" pitchFamily="34" charset="-122"/>
                <a:cs typeface="Courier New" pitchFamily="34" charset="-120"/>
              </a:rPr>
              <a:t>      href="styles.css" /&gt;</a:t>
            </a:r>
            <a:endParaRPr lang="en-US" sz="850" dirty="0"/>
          </a:p>
        </p:txBody>
      </p:sp>
      <p:sp>
        <p:nvSpPr>
          <p:cNvPr id="19" name="Text 17"/>
          <p:cNvSpPr txBox="1"/>
          <p:nvPr/>
        </p:nvSpPr>
        <p:spPr>
          <a:xfrm>
            <a:off x="694944" y="2816352"/>
            <a:ext cx="2304288" cy="1234440"/>
          </a:xfrm>
          <a:prstGeom prst="rect">
            <a:avLst/>
          </a:prstGeom>
          <a:noFill/>
          <a:ln/>
        </p:spPr>
        <p:txBody>
          <a:bodyPr wrap="square" lIns="0" tIns="0" rIns="0" bIns="0" rtlCol="0" anchor="t"/>
          <a:lstStyle/>
          <a:p>
            <a:pPr marL="0" indent="0">
              <a:buNone/>
            </a:pPr>
            <a:r>
              <a:rPr lang="en-US" sz="1000" dirty="0">
                <a:solidFill>
                  <a:srgbClr val="9AA3C7"/>
                </a:solidFill>
                <a:latin typeface="Arial" pitchFamily="34" charset="0"/>
                <a:ea typeface="Arial" pitchFamily="34" charset="-122"/>
                <a:cs typeface="Arial" pitchFamily="34" charset="-120"/>
              </a:rPr>
              <a:t>Bir dosya yüzlerce sayfayı stiller. Yol mantığı resimlerle aynı: styles/style.css, ../styles/style.css.</a:t>
            </a:r>
            <a:endParaRPr lang="en-US" sz="1000" dirty="0"/>
          </a:p>
        </p:txBody>
      </p:sp>
      <p:sp>
        <p:nvSpPr>
          <p:cNvPr id="20" name="kart"/>
          <p:cNvSpPr/>
          <p:nvPr/>
        </p:nvSpPr>
        <p:spPr>
          <a:xfrm>
            <a:off x="3264408" y="1371600"/>
            <a:ext cx="2587752" cy="2743200"/>
          </a:xfrm>
          <a:prstGeom prst="roundRect">
            <a:avLst>
              <a:gd name="adj" fmla="val 2827"/>
            </a:avLst>
          </a:prstGeom>
          <a:solidFill>
            <a:srgbClr val="1A2044"/>
          </a:solidFill>
          <a:ln w="9525">
            <a:solidFill>
              <a:srgbClr val="2E3768"/>
            </a:solidFill>
            <a:prstDash val="solid"/>
          </a:ln>
        </p:spPr>
      </p:sp>
      <p:sp>
        <p:nvSpPr>
          <p:cNvPr id="21" name="kart-nokta"/>
          <p:cNvSpPr/>
          <p:nvPr/>
        </p:nvSpPr>
        <p:spPr>
          <a:xfrm>
            <a:off x="3410712" y="1527048"/>
            <a:ext cx="91440" cy="91440"/>
          </a:xfrm>
          <a:prstGeom prst="ellipse">
            <a:avLst/>
          </a:prstGeom>
          <a:solidFill>
            <a:srgbClr val="FBBF24"/>
          </a:solidFill>
          <a:ln/>
        </p:spPr>
      </p:sp>
      <p:sp>
        <p:nvSpPr>
          <p:cNvPr id="22" name="Text 20"/>
          <p:cNvSpPr txBox="1"/>
          <p:nvPr/>
        </p:nvSpPr>
        <p:spPr>
          <a:xfrm>
            <a:off x="3575304" y="1444752"/>
            <a:ext cx="2176272" cy="274320"/>
          </a:xfrm>
          <a:prstGeom prst="rect">
            <a:avLst/>
          </a:prstGeom>
          <a:noFill/>
          <a:ln/>
        </p:spPr>
        <p:txBody>
          <a:bodyPr wrap="square" lIns="0" tIns="0" rIns="0" bIns="0" rtlCol="0" anchor="ctr"/>
          <a:lstStyle/>
          <a:p>
            <a:pPr marL="0" indent="0">
              <a:buNone/>
            </a:pPr>
            <a:r>
              <a:rPr lang="en-US" sz="1300" b="1" dirty="0">
                <a:solidFill>
                  <a:srgbClr val="EEF0F8"/>
                </a:solidFill>
                <a:latin typeface="Arial" pitchFamily="34" charset="0"/>
                <a:ea typeface="Arial" pitchFamily="34" charset="-122"/>
                <a:cs typeface="Arial" pitchFamily="34" charset="-120"/>
              </a:rPr>
              <a:t>Dahili &lt;style&gt;</a:t>
            </a:r>
            <a:endParaRPr lang="en-US" sz="1300" dirty="0"/>
          </a:p>
        </p:txBody>
      </p:sp>
      <p:sp>
        <p:nvSpPr>
          <p:cNvPr id="23" name="Text 21"/>
          <p:cNvSpPr txBox="1"/>
          <p:nvPr/>
        </p:nvSpPr>
        <p:spPr>
          <a:xfrm>
            <a:off x="3575304" y="1664208"/>
            <a:ext cx="2103120" cy="201168"/>
          </a:xfrm>
          <a:prstGeom prst="rect">
            <a:avLst/>
          </a:prstGeom>
          <a:noFill/>
          <a:ln/>
        </p:spPr>
        <p:txBody>
          <a:bodyPr wrap="square" lIns="0" tIns="0" rIns="0" bIns="0" rtlCol="0" anchor="t"/>
          <a:lstStyle/>
          <a:p>
            <a:pPr marL="0" indent="0">
              <a:buNone/>
            </a:pPr>
            <a:r>
              <a:rPr lang="en-US" sz="950" b="1" dirty="0">
                <a:solidFill>
                  <a:srgbClr val="FBBF24"/>
                </a:solidFill>
                <a:latin typeface="Arial" pitchFamily="34" charset="0"/>
                <a:ea typeface="Arial" pitchFamily="34" charset="-122"/>
                <a:cs typeface="Arial" pitchFamily="34" charset="-120"/>
              </a:rPr>
              <a:t>Bazen gerekli</a:t>
            </a:r>
            <a:endParaRPr lang="en-US" sz="950" dirty="0"/>
          </a:p>
        </p:txBody>
      </p:sp>
      <p:sp>
        <p:nvSpPr>
          <p:cNvPr id="24" name="kod-paneli"/>
          <p:cNvSpPr/>
          <p:nvPr/>
        </p:nvSpPr>
        <p:spPr>
          <a:xfrm>
            <a:off x="3392424" y="1938528"/>
            <a:ext cx="2331720" cy="777240"/>
          </a:xfrm>
          <a:prstGeom prst="roundRect">
            <a:avLst>
              <a:gd name="adj" fmla="val 9412"/>
            </a:avLst>
          </a:prstGeom>
          <a:solidFill>
            <a:srgbClr val="0A0D1F"/>
          </a:solidFill>
          <a:ln w="9525">
            <a:solidFill>
              <a:srgbClr val="2E3768"/>
            </a:solidFill>
            <a:prstDash val="solid"/>
          </a:ln>
        </p:spPr>
      </p:sp>
      <p:sp>
        <p:nvSpPr>
          <p:cNvPr id="25" name="Text 23"/>
          <p:cNvSpPr txBox="1"/>
          <p:nvPr/>
        </p:nvSpPr>
        <p:spPr>
          <a:xfrm>
            <a:off x="3538728" y="2048256"/>
            <a:ext cx="2057400" cy="576072"/>
          </a:xfrm>
          <a:prstGeom prst="rect">
            <a:avLst/>
          </a:prstGeom>
          <a:noFill/>
          <a:ln/>
        </p:spPr>
        <p:txBody>
          <a:bodyPr wrap="square" lIns="0" tIns="0" rIns="0" bIns="0" rtlCol="0" anchor="ctr"/>
          <a:lstStyle/>
          <a:p>
            <a:pPr marL="0" indent="0">
              <a:buNone/>
            </a:pPr>
            <a:r>
              <a:rPr lang="en-US" sz="850" dirty="0">
                <a:solidFill>
                  <a:srgbClr val="F472B6"/>
                </a:solidFill>
                <a:latin typeface="Courier New" pitchFamily="34" charset="0"/>
                <a:ea typeface="Courier New" pitchFamily="34" charset="-122"/>
                <a:cs typeface="Courier New" pitchFamily="34" charset="-120"/>
              </a:rPr>
              <a:t>&lt;style&gt;</a:t>
            </a:r>
            <a:endParaRPr lang="en-US" sz="850" dirty="0"/>
          </a:p>
          <a:p>
            <a:pPr marL="0" indent="0">
              <a:buNone/>
            </a:pPr>
            <a:r>
              <a:rPr lang="en-US" sz="850" dirty="0">
                <a:solidFill>
                  <a:srgbClr val="F472B6"/>
                </a:solidFill>
                <a:latin typeface="Courier New" pitchFamily="34" charset="0"/>
                <a:ea typeface="Courier New" pitchFamily="34" charset="-122"/>
                <a:cs typeface="Courier New" pitchFamily="34" charset="-120"/>
              </a:rPr>
              <a:t>  p </a:t>
            </a:r>
            <a:r>
              <a:rPr lang="en-US" sz="850" dirty="0">
                <a:solidFill>
                  <a:srgbClr val="6C759E"/>
                </a:solidFill>
                <a:latin typeface="Courier New" pitchFamily="34" charset="0"/>
                <a:ea typeface="Courier New" pitchFamily="34" charset="-122"/>
                <a:cs typeface="Courier New" pitchFamily="34" charset="-120"/>
              </a:rPr>
              <a:t>{ </a:t>
            </a:r>
            <a:r>
              <a:rPr lang="en-US" sz="850" dirty="0">
                <a:solidFill>
                  <a:srgbClr val="22D3EE"/>
                </a:solidFill>
                <a:latin typeface="Courier New" pitchFamily="34" charset="0"/>
                <a:ea typeface="Courier New" pitchFamily="34" charset="-122"/>
                <a:cs typeface="Courier New" pitchFamily="34" charset="-120"/>
              </a:rPr>
              <a:t>color</a:t>
            </a:r>
            <a:r>
              <a:rPr lang="en-US" sz="850" dirty="0">
                <a:solidFill>
                  <a:srgbClr val="6C759E"/>
                </a:solidFill>
                <a:latin typeface="Courier New" pitchFamily="34" charset="0"/>
                <a:ea typeface="Courier New" pitchFamily="34" charset="-122"/>
                <a:cs typeface="Courier New" pitchFamily="34" charset="-120"/>
              </a:rPr>
              <a:t>: </a:t>
            </a:r>
            <a:r>
              <a:rPr lang="en-US" sz="850" dirty="0">
                <a:solidFill>
                  <a:srgbClr val="FBBF24"/>
                </a:solidFill>
                <a:latin typeface="Courier New" pitchFamily="34" charset="0"/>
                <a:ea typeface="Courier New" pitchFamily="34" charset="-122"/>
                <a:cs typeface="Courier New" pitchFamily="34" charset="-120"/>
              </a:rPr>
              <a:t>purple</a:t>
            </a:r>
            <a:r>
              <a:rPr lang="en-US" sz="850" dirty="0">
                <a:solidFill>
                  <a:srgbClr val="6C759E"/>
                </a:solidFill>
                <a:latin typeface="Courier New" pitchFamily="34" charset="0"/>
                <a:ea typeface="Courier New" pitchFamily="34" charset="-122"/>
                <a:cs typeface="Courier New" pitchFamily="34" charset="-120"/>
              </a:rPr>
              <a:t>; }</a:t>
            </a:r>
            <a:endParaRPr lang="en-US" sz="850" dirty="0"/>
          </a:p>
          <a:p>
            <a:pPr marL="0" indent="0">
              <a:buNone/>
            </a:pPr>
            <a:r>
              <a:rPr lang="en-US" sz="850" dirty="0">
                <a:solidFill>
                  <a:srgbClr val="F472B6"/>
                </a:solidFill>
                <a:latin typeface="Courier New" pitchFamily="34" charset="0"/>
                <a:ea typeface="Courier New" pitchFamily="34" charset="-122"/>
                <a:cs typeface="Courier New" pitchFamily="34" charset="-120"/>
              </a:rPr>
              <a:t>&lt;/style&gt;</a:t>
            </a:r>
            <a:endParaRPr lang="en-US" sz="850" dirty="0"/>
          </a:p>
        </p:txBody>
      </p:sp>
      <p:sp>
        <p:nvSpPr>
          <p:cNvPr id="26" name="Text 24"/>
          <p:cNvSpPr txBox="1"/>
          <p:nvPr/>
        </p:nvSpPr>
        <p:spPr>
          <a:xfrm>
            <a:off x="3410712" y="2816352"/>
            <a:ext cx="2304288" cy="1234440"/>
          </a:xfrm>
          <a:prstGeom prst="rect">
            <a:avLst/>
          </a:prstGeom>
          <a:noFill/>
          <a:ln/>
        </p:spPr>
        <p:txBody>
          <a:bodyPr wrap="square" lIns="0" tIns="0" rIns="0" bIns="0" rtlCol="0" anchor="t"/>
          <a:lstStyle/>
          <a:p>
            <a:pPr marL="0" indent="0">
              <a:buNone/>
            </a:pPr>
            <a:r>
              <a:rPr lang="en-US" sz="1000" dirty="0">
                <a:solidFill>
                  <a:srgbClr val="9AA3C7"/>
                </a:solidFill>
                <a:latin typeface="Arial" pitchFamily="34" charset="0"/>
                <a:ea typeface="Arial" pitchFamily="34" charset="-122"/>
                <a:cs typeface="Arial" pitchFamily="34" charset="-120"/>
              </a:rPr>
              <a:t>Head içine yazılır. Çok sayfalı sitede her sayfaya tekrar yazmak gerekir; dosyaya erişemediğin CMS'lerde işe yarar.</a:t>
            </a:r>
            <a:endParaRPr lang="en-US" sz="1000" dirty="0"/>
          </a:p>
        </p:txBody>
      </p:sp>
      <p:sp>
        <p:nvSpPr>
          <p:cNvPr id="27" name="kart"/>
          <p:cNvSpPr/>
          <p:nvPr/>
        </p:nvSpPr>
        <p:spPr>
          <a:xfrm>
            <a:off x="5980176" y="1371600"/>
            <a:ext cx="2587752" cy="2743200"/>
          </a:xfrm>
          <a:prstGeom prst="roundRect">
            <a:avLst>
              <a:gd name="adj" fmla="val 2827"/>
            </a:avLst>
          </a:prstGeom>
          <a:solidFill>
            <a:srgbClr val="1A2044"/>
          </a:solidFill>
          <a:ln w="9525">
            <a:solidFill>
              <a:srgbClr val="2E3768"/>
            </a:solidFill>
            <a:prstDash val="solid"/>
          </a:ln>
        </p:spPr>
      </p:sp>
      <p:sp>
        <p:nvSpPr>
          <p:cNvPr id="28" name="kart-nokta"/>
          <p:cNvSpPr/>
          <p:nvPr/>
        </p:nvSpPr>
        <p:spPr>
          <a:xfrm>
            <a:off x="6126480" y="1527048"/>
            <a:ext cx="91440" cy="91440"/>
          </a:xfrm>
          <a:prstGeom prst="ellipse">
            <a:avLst/>
          </a:prstGeom>
          <a:solidFill>
            <a:srgbClr val="FB7185"/>
          </a:solidFill>
          <a:ln/>
        </p:spPr>
      </p:sp>
      <p:sp>
        <p:nvSpPr>
          <p:cNvPr id="29" name="Text 27"/>
          <p:cNvSpPr txBox="1"/>
          <p:nvPr/>
        </p:nvSpPr>
        <p:spPr>
          <a:xfrm>
            <a:off x="6291072" y="1444752"/>
            <a:ext cx="2176272" cy="274320"/>
          </a:xfrm>
          <a:prstGeom prst="rect">
            <a:avLst/>
          </a:prstGeom>
          <a:noFill/>
          <a:ln/>
        </p:spPr>
        <p:txBody>
          <a:bodyPr wrap="square" lIns="0" tIns="0" rIns="0" bIns="0" rtlCol="0" anchor="ctr"/>
          <a:lstStyle/>
          <a:p>
            <a:pPr marL="0" indent="0">
              <a:buNone/>
            </a:pPr>
            <a:r>
              <a:rPr lang="en-US" sz="1300" b="1" dirty="0">
                <a:solidFill>
                  <a:srgbClr val="EEF0F8"/>
                </a:solidFill>
                <a:latin typeface="Arial" pitchFamily="34" charset="0"/>
                <a:ea typeface="Arial" pitchFamily="34" charset="-122"/>
                <a:cs typeface="Arial" pitchFamily="34" charset="-120"/>
              </a:rPr>
              <a:t>Satır içi style</a:t>
            </a:r>
            <a:endParaRPr lang="en-US" sz="1300" dirty="0"/>
          </a:p>
        </p:txBody>
      </p:sp>
      <p:sp>
        <p:nvSpPr>
          <p:cNvPr id="30" name="Text 28"/>
          <p:cNvSpPr txBox="1"/>
          <p:nvPr/>
        </p:nvSpPr>
        <p:spPr>
          <a:xfrm>
            <a:off x="6291072" y="1664208"/>
            <a:ext cx="2103120" cy="201168"/>
          </a:xfrm>
          <a:prstGeom prst="rect">
            <a:avLst/>
          </a:prstGeom>
          <a:noFill/>
          <a:ln/>
        </p:spPr>
        <p:txBody>
          <a:bodyPr wrap="square" lIns="0" tIns="0" rIns="0" bIns="0" rtlCol="0" anchor="t"/>
          <a:lstStyle/>
          <a:p>
            <a:pPr marL="0" indent="0">
              <a:buNone/>
            </a:pPr>
            <a:r>
              <a:rPr lang="en-US" sz="950" b="1" dirty="0">
                <a:solidFill>
                  <a:srgbClr val="FB7185"/>
                </a:solidFill>
                <a:latin typeface="Arial" pitchFamily="34" charset="0"/>
                <a:ea typeface="Arial" pitchFamily="34" charset="-122"/>
                <a:cs typeface="Arial" pitchFamily="34" charset="-120"/>
              </a:rPr>
              <a:t>Kaçınılmalı</a:t>
            </a:r>
            <a:endParaRPr lang="en-US" sz="950" dirty="0"/>
          </a:p>
        </p:txBody>
      </p:sp>
      <p:sp>
        <p:nvSpPr>
          <p:cNvPr id="31" name="kod-paneli"/>
          <p:cNvSpPr/>
          <p:nvPr/>
        </p:nvSpPr>
        <p:spPr>
          <a:xfrm>
            <a:off x="6108192" y="1938528"/>
            <a:ext cx="2331720" cy="777240"/>
          </a:xfrm>
          <a:prstGeom prst="roundRect">
            <a:avLst>
              <a:gd name="adj" fmla="val 9412"/>
            </a:avLst>
          </a:prstGeom>
          <a:solidFill>
            <a:srgbClr val="0A0D1F"/>
          </a:solidFill>
          <a:ln w="9525">
            <a:solidFill>
              <a:srgbClr val="2E3768"/>
            </a:solidFill>
            <a:prstDash val="solid"/>
          </a:ln>
        </p:spPr>
      </p:sp>
      <p:sp>
        <p:nvSpPr>
          <p:cNvPr id="32" name="Text 30"/>
          <p:cNvSpPr txBox="1"/>
          <p:nvPr/>
        </p:nvSpPr>
        <p:spPr>
          <a:xfrm>
            <a:off x="6254496" y="2048256"/>
            <a:ext cx="2057400" cy="576072"/>
          </a:xfrm>
          <a:prstGeom prst="rect">
            <a:avLst/>
          </a:prstGeom>
          <a:noFill/>
          <a:ln/>
        </p:spPr>
        <p:txBody>
          <a:bodyPr wrap="square" lIns="0" tIns="0" rIns="0" bIns="0" rtlCol="0" anchor="ctr"/>
          <a:lstStyle/>
          <a:p>
            <a:pPr marL="0" indent="0">
              <a:buNone/>
            </a:pPr>
            <a:r>
              <a:rPr lang="en-US" sz="850" dirty="0">
                <a:solidFill>
                  <a:srgbClr val="F472B6"/>
                </a:solidFill>
                <a:latin typeface="Courier New" pitchFamily="34" charset="0"/>
                <a:ea typeface="Courier New" pitchFamily="34" charset="-122"/>
                <a:cs typeface="Courier New" pitchFamily="34" charset="-120"/>
              </a:rPr>
              <a:t>&lt;span style="color: purple;</a:t>
            </a:r>
            <a:endParaRPr lang="en-US" sz="850" dirty="0"/>
          </a:p>
          <a:p>
            <a:pPr marL="0" indent="0">
              <a:buNone/>
            </a:pPr>
            <a:r>
              <a:rPr lang="en-US" sz="850" dirty="0">
                <a:solidFill>
                  <a:srgbClr val="EEF0F8"/>
                </a:solidFill>
                <a:latin typeface="Courier New" pitchFamily="34" charset="0"/>
                <a:ea typeface="Courier New" pitchFamily="34" charset="-122"/>
                <a:cs typeface="Courier New" pitchFamily="34" charset="-120"/>
              </a:rPr>
              <a:t>  </a:t>
            </a:r>
            <a:r>
              <a:rPr lang="en-US" sz="850" dirty="0">
                <a:solidFill>
                  <a:srgbClr val="22D3EE"/>
                </a:solidFill>
                <a:latin typeface="Courier New" pitchFamily="34" charset="0"/>
                <a:ea typeface="Courier New" pitchFamily="34" charset="-122"/>
                <a:cs typeface="Courier New" pitchFamily="34" charset="-120"/>
              </a:rPr>
              <a:t>font-weight</a:t>
            </a:r>
            <a:r>
              <a:rPr lang="en-US" sz="850" dirty="0">
                <a:solidFill>
                  <a:srgbClr val="6C759E"/>
                </a:solidFill>
                <a:latin typeface="Courier New" pitchFamily="34" charset="0"/>
                <a:ea typeface="Courier New" pitchFamily="34" charset="-122"/>
                <a:cs typeface="Courier New" pitchFamily="34" charset="-120"/>
              </a:rPr>
              <a:t>: </a:t>
            </a:r>
            <a:r>
              <a:rPr lang="en-US" sz="850" dirty="0">
                <a:solidFill>
                  <a:srgbClr val="FBBF24"/>
                </a:solidFill>
                <a:latin typeface="Courier New" pitchFamily="34" charset="0"/>
                <a:ea typeface="Courier New" pitchFamily="34" charset="-122"/>
                <a:cs typeface="Courier New" pitchFamily="34" charset="-120"/>
              </a:rPr>
              <a:t>bold"&gt;…&lt;/span&gt;</a:t>
            </a:r>
            <a:endParaRPr lang="en-US" sz="850" dirty="0"/>
          </a:p>
        </p:txBody>
      </p:sp>
      <p:sp>
        <p:nvSpPr>
          <p:cNvPr id="33" name="Text 31"/>
          <p:cNvSpPr txBox="1"/>
          <p:nvPr/>
        </p:nvSpPr>
        <p:spPr>
          <a:xfrm>
            <a:off x="6126480" y="2816352"/>
            <a:ext cx="2304288" cy="1234440"/>
          </a:xfrm>
          <a:prstGeom prst="rect">
            <a:avLst/>
          </a:prstGeom>
          <a:noFill/>
          <a:ln/>
        </p:spPr>
        <p:txBody>
          <a:bodyPr wrap="square" lIns="0" tIns="0" rIns="0" bIns="0" rtlCol="0" anchor="t"/>
          <a:lstStyle/>
          <a:p>
            <a:pPr marL="0" indent="0">
              <a:buNone/>
            </a:pPr>
            <a:r>
              <a:rPr lang="en-US" sz="1000" dirty="0">
                <a:solidFill>
                  <a:srgbClr val="9AA3C7"/>
                </a:solidFill>
                <a:latin typeface="Arial" pitchFamily="34" charset="0"/>
                <a:ea typeface="Arial" pitchFamily="34" charset="-122"/>
                <a:cs typeface="Arial" pitchFamily="34" charset="-120"/>
              </a:rPr>
              <a:t>Tek öğeyi etkiler. Bakımı en zor yöntem: görünüm ile içerik iç içe girer. E-posta şablonları gibi zorunlu durumlar dışında kullanma.</a:t>
            </a:r>
            <a:endParaRPr lang="en-US" sz="1000" dirty="0"/>
          </a:p>
        </p:txBody>
      </p:sp>
      <p:sp>
        <p:nvSpPr>
          <p:cNvPr id="34" name="benzetme"/>
          <p:cNvSpPr/>
          <p:nvPr/>
        </p:nvSpPr>
        <p:spPr>
          <a:xfrm>
            <a:off x="548640" y="4224528"/>
            <a:ext cx="8046720" cy="402336"/>
          </a:xfrm>
          <a:prstGeom prst="roundRect">
            <a:avLst>
              <a:gd name="adj" fmla="val 50000"/>
            </a:avLst>
          </a:prstGeom>
          <a:solidFill>
            <a:srgbClr val="232A55"/>
          </a:solidFill>
          <a:ln/>
        </p:spPr>
      </p:sp>
      <p:sp>
        <p:nvSpPr>
          <p:cNvPr id="35" name="benzetme-ikon"/>
          <p:cNvSpPr/>
          <p:nvPr/>
        </p:nvSpPr>
        <p:spPr>
          <a:xfrm>
            <a:off x="621792" y="4261104"/>
            <a:ext cx="329184" cy="329184"/>
          </a:xfrm>
          <a:prstGeom prst="ellipse">
            <a:avLst/>
          </a:prstGeom>
          <a:solidFill>
            <a:srgbClr val="FBBF24"/>
          </a:solidFill>
          <a:ln/>
        </p:spPr>
      </p:sp>
      <p:sp>
        <p:nvSpPr>
          <p:cNvPr id="36" name="Text 34"/>
          <p:cNvSpPr txBox="1"/>
          <p:nvPr/>
        </p:nvSpPr>
        <p:spPr>
          <a:xfrm>
            <a:off x="621792" y="4261104"/>
            <a:ext cx="329184" cy="329184"/>
          </a:xfrm>
          <a:prstGeom prst="rect">
            <a:avLst/>
          </a:prstGeom>
          <a:noFill/>
          <a:ln/>
        </p:spPr>
        <p:txBody>
          <a:bodyPr wrap="square" lIns="0" tIns="0" rIns="0" bIns="0" rtlCol="0" anchor="ctr"/>
          <a:lstStyle/>
          <a:p>
            <a:pPr marL="0" indent="0" algn="ctr">
              <a:buNone/>
            </a:pPr>
            <a:r>
              <a:rPr lang="en-US" sz="1600" b="1" dirty="0">
                <a:solidFill>
                  <a:srgbClr val="10142B"/>
                </a:solidFill>
                <a:latin typeface="Arial" pitchFamily="34" charset="0"/>
                <a:ea typeface="Arial" pitchFamily="34" charset="-122"/>
                <a:cs typeface="Arial" pitchFamily="34" charset="-120"/>
              </a:rPr>
              <a:t>≈</a:t>
            </a:r>
            <a:endParaRPr lang="en-US" sz="1600" dirty="0"/>
          </a:p>
        </p:txBody>
      </p:sp>
      <p:sp>
        <p:nvSpPr>
          <p:cNvPr id="37" name="Text 35"/>
          <p:cNvSpPr txBox="1"/>
          <p:nvPr/>
        </p:nvSpPr>
        <p:spPr>
          <a:xfrm>
            <a:off x="1042416" y="4224528"/>
            <a:ext cx="7452360" cy="402336"/>
          </a:xfrm>
          <a:prstGeom prst="rect">
            <a:avLst/>
          </a:prstGeom>
          <a:noFill/>
          <a:ln/>
        </p:spPr>
        <p:txBody>
          <a:bodyPr wrap="square" lIns="0" tIns="0" rIns="0" bIns="0" rtlCol="0" anchor="ctr"/>
          <a:lstStyle/>
          <a:p>
            <a:pPr marL="0" indent="0">
              <a:buNone/>
            </a:pPr>
            <a:r>
              <a:rPr lang="en-US" sz="1100" b="1" dirty="0">
                <a:solidFill>
                  <a:srgbClr val="FBBF24"/>
                </a:solidFill>
                <a:latin typeface="Arial" pitchFamily="34" charset="0"/>
                <a:ea typeface="Arial" pitchFamily="34" charset="-122"/>
                <a:cs typeface="Arial" pitchFamily="34" charset="-120"/>
              </a:rPr>
              <a:t>Gündelik hayatta: </a:t>
            </a:r>
            <a:r>
              <a:rPr lang="en-US" sz="1100" dirty="0">
                <a:solidFill>
                  <a:srgbClr val="EEF0F8"/>
                </a:solidFill>
                <a:latin typeface="Arial" pitchFamily="34" charset="0"/>
                <a:ea typeface="Arial" pitchFamily="34" charset="-122"/>
                <a:cs typeface="Arial" pitchFamily="34" charset="-120"/>
              </a:rPr>
              <a:t>harici dosya ortak bir gardırop, &lt;style&gt; odadaki dolap, satır içi stil ise kıyafeti doğrudan üstüne dikmek gibidir.</a:t>
            </a:r>
            <a:endParaRPr lang="en-US" sz="1100" dirty="0"/>
          </a:p>
        </p:txBody>
      </p:sp>
    </p:spTree>
  </p:cSld>
  <p:clrMapOvr>
    <a:masterClrMapping/>
  </p:clrMapOvr>
  <p:transition spd="med">
    <p:pull/>
  </p:transition>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256032"/>
            <a:ext cx="4572000" cy="201168"/>
          </a:xfrm>
          <a:prstGeom prst="rect">
            <a:avLst/>
          </a:prstGeom>
          <a:noFill/>
          <a:ln/>
        </p:spPr>
        <p:txBody>
          <a:bodyPr wrap="square" lIns="0" tIns="0" rIns="0" bIns="0" rtlCol="0" anchor="t"/>
          <a:lstStyle/>
          <a:p>
            <a:pPr marL="0" indent="0">
              <a:buNone/>
            </a:pPr>
            <a:r>
              <a:rPr lang="en-US" sz="900" b="1" kern="0" spc="200" dirty="0">
                <a:solidFill>
                  <a:srgbClr val="22D3EE"/>
                </a:solidFill>
                <a:latin typeface="Arial" pitchFamily="34" charset="0"/>
                <a:ea typeface="Arial" pitchFamily="34" charset="-122"/>
                <a:cs typeface="Arial" pitchFamily="34" charset="-120"/>
              </a:rPr>
              <a:t>MODÜL 1 · CSS TEMELLERİ</a:t>
            </a:r>
            <a:endParaRPr lang="en-US" sz="900" dirty="0"/>
          </a:p>
        </p:txBody>
      </p:sp>
      <p:sp>
        <p:nvSpPr>
          <p:cNvPr id="3" name="mini-box-0"/>
          <p:cNvSpPr/>
          <p:nvPr/>
        </p:nvSpPr>
        <p:spPr>
          <a:xfrm>
            <a:off x="8229600" y="201168"/>
            <a:ext cx="384048" cy="384048"/>
          </a:xfrm>
          <a:prstGeom prst="rect">
            <a:avLst/>
          </a:prstGeom>
          <a:ln w="9525">
            <a:solidFill>
              <a:srgbClr val="22D3EE"/>
            </a:solidFill>
            <a:prstDash val="solid"/>
          </a:ln>
        </p:spPr>
      </p:sp>
      <p:sp>
        <p:nvSpPr>
          <p:cNvPr id="4" name="mini-box-1"/>
          <p:cNvSpPr/>
          <p:nvPr/>
        </p:nvSpPr>
        <p:spPr>
          <a:xfrm>
            <a:off x="8293608" y="265176"/>
            <a:ext cx="256032" cy="256032"/>
          </a:xfrm>
          <a:prstGeom prst="rect">
            <a:avLst/>
          </a:prstGeom>
          <a:ln w="9525">
            <a:solidFill>
              <a:srgbClr val="EEF0F8"/>
            </a:solidFill>
            <a:prstDash val="solid"/>
          </a:ln>
        </p:spPr>
      </p:sp>
      <p:sp>
        <p:nvSpPr>
          <p:cNvPr id="5" name="mini-box-2"/>
          <p:cNvSpPr/>
          <p:nvPr/>
        </p:nvSpPr>
        <p:spPr>
          <a:xfrm>
            <a:off x="8348472" y="320040"/>
            <a:ext cx="146304" cy="146304"/>
          </a:xfrm>
          <a:prstGeom prst="rect">
            <a:avLst/>
          </a:prstGeom>
          <a:solidFill>
            <a:srgbClr val="22D3EE"/>
          </a:solidFill>
          <a:ln w="9525">
            <a:solidFill>
              <a:srgbClr val="22D3EE"/>
            </a:solidFill>
            <a:prstDash val="solid"/>
          </a:ln>
        </p:spPr>
      </p:sp>
      <p:sp>
        <p:nvSpPr>
          <p:cNvPr id="6" name="ilerleme-zemin"/>
          <p:cNvSpPr/>
          <p:nvPr/>
        </p:nvSpPr>
        <p:spPr>
          <a:xfrm>
            <a:off x="0" y="5070348"/>
            <a:ext cx="9144000" cy="73152"/>
          </a:xfrm>
          <a:prstGeom prst="rect">
            <a:avLst/>
          </a:prstGeom>
          <a:solidFill>
            <a:srgbClr val="1A2044"/>
          </a:solidFill>
          <a:ln/>
        </p:spPr>
      </p:sp>
      <p:sp>
        <p:nvSpPr>
          <p:cNvPr id="7" name="ilerleme"/>
          <p:cNvSpPr/>
          <p:nvPr/>
        </p:nvSpPr>
        <p:spPr>
          <a:xfrm>
            <a:off x="0" y="5070348"/>
            <a:ext cx="1488558" cy="73152"/>
          </a:xfrm>
          <a:prstGeom prst="rect">
            <a:avLst/>
          </a:prstGeom>
          <a:solidFill>
            <a:srgbClr val="22D3EE"/>
          </a:solidFill>
          <a:ln/>
        </p:spPr>
      </p:sp>
      <p:sp>
        <p:nvSpPr>
          <p:cNvPr id="8" name="Text 6"/>
          <p:cNvSpPr txBox="1"/>
          <p:nvPr/>
        </p:nvSpPr>
        <p:spPr>
          <a:xfrm>
            <a:off x="548640" y="4791456"/>
            <a:ext cx="3657600" cy="201168"/>
          </a:xfrm>
          <a:prstGeom prst="rect">
            <a:avLst/>
          </a:prstGeom>
          <a:noFill/>
          <a:ln/>
        </p:spPr>
        <p:txBody>
          <a:bodyPr wrap="square" lIns="0" tIns="0" rIns="0" bIns="0" rtlCol="0" anchor="t"/>
          <a:lstStyle/>
          <a:p>
            <a:pPr marL="0" indent="0">
              <a:buNone/>
            </a:pPr>
            <a:r>
              <a:rPr lang="en-US" sz="850" dirty="0">
                <a:solidFill>
                  <a:srgbClr val="6C759E"/>
                </a:solidFill>
                <a:latin typeface="Arial" pitchFamily="34" charset="0"/>
                <a:ea typeface="Arial" pitchFamily="34" charset="-122"/>
                <a:cs typeface="Arial" pitchFamily="34" charset="-120"/>
              </a:rPr>
              <a:t>KCŞ A.Ş.  ·  CSS ile stil ve düzen</a:t>
            </a:r>
            <a:endParaRPr lang="en-US" sz="850" dirty="0"/>
          </a:p>
        </p:txBody>
      </p:sp>
      <p:sp>
        <p:nvSpPr>
          <p:cNvPr id="9" name="Text 7"/>
          <p:cNvSpPr txBox="1"/>
          <p:nvPr/>
        </p:nvSpPr>
        <p:spPr>
          <a:xfrm>
            <a:off x="4206240" y="4791456"/>
            <a:ext cx="3840480" cy="201168"/>
          </a:xfrm>
          <a:prstGeom prst="rect">
            <a:avLst/>
          </a:prstGeom>
          <a:noFill/>
          <a:ln/>
        </p:spPr>
        <p:txBody>
          <a:bodyPr wrap="square" lIns="0" tIns="0" rIns="0" bIns="0" rtlCol="0" anchor="t"/>
          <a:lstStyle/>
          <a:p>
            <a:pPr marL="0" indent="0" algn="r">
              <a:buNone/>
            </a:pPr>
            <a:r>
              <a:rPr lang="en-US" sz="850" dirty="0">
                <a:solidFill>
                  <a:srgbClr val="6C759E"/>
                </a:solidFill>
                <a:latin typeface="Arial" pitchFamily="34" charset="0"/>
                <a:ea typeface="Arial" pitchFamily="34" charset="-122"/>
                <a:cs typeface="Arial" pitchFamily="34" charset="-120"/>
              </a:rPr>
              <a:t>MDN · CSS getting started</a:t>
            </a:r>
            <a:endParaRPr lang="en-US" sz="850" dirty="0"/>
          </a:p>
        </p:txBody>
      </p:sp>
      <p:sp>
        <p:nvSpPr>
          <p:cNvPr id="10" name="Text 8"/>
          <p:cNvSpPr txBox="1"/>
          <p:nvPr/>
        </p:nvSpPr>
        <p:spPr>
          <a:xfrm>
            <a:off x="8092440" y="4791456"/>
            <a:ext cx="685800" cy="201168"/>
          </a:xfrm>
          <a:prstGeom prst="rect">
            <a:avLst/>
          </a:prstGeom>
          <a:noFill/>
          <a:ln/>
        </p:spPr>
        <p:txBody>
          <a:bodyPr wrap="square" lIns="0" tIns="0" rIns="0" bIns="0" rtlCol="0" anchor="t"/>
          <a:lstStyle/>
          <a:p>
            <a:pPr marL="0" indent="0" algn="r">
              <a:buNone/>
            </a:pPr>
            <a:r>
              <a:rPr lang="en-US" sz="850" dirty="0">
                <a:solidFill>
                  <a:srgbClr val="9AA3C7"/>
                </a:solidFill>
                <a:latin typeface="Courier New" pitchFamily="34" charset="0"/>
                <a:ea typeface="Courier New" pitchFamily="34" charset="-122"/>
                <a:cs typeface="Courier New" pitchFamily="34" charset="-120"/>
              </a:rPr>
              <a:t>07 / 43</a:t>
            </a:r>
            <a:endParaRPr lang="en-US" sz="850" dirty="0"/>
          </a:p>
        </p:txBody>
      </p:sp>
      <p:sp>
        <p:nvSpPr>
          <p:cNvPr id="11" name="Text 9"/>
          <p:cNvSpPr txBox="1"/>
          <p:nvPr/>
        </p:nvSpPr>
        <p:spPr>
          <a:xfrm>
            <a:off x="548640" y="502920"/>
            <a:ext cx="5943600" cy="237744"/>
          </a:xfrm>
          <a:prstGeom prst="rect">
            <a:avLst/>
          </a:prstGeom>
          <a:noFill/>
          <a:ln/>
        </p:spPr>
        <p:txBody>
          <a:bodyPr wrap="square" lIns="0" tIns="0" rIns="0" bIns="0" rtlCol="0" anchor="t"/>
          <a:lstStyle/>
          <a:p>
            <a:pPr marL="0" indent="0">
              <a:buNone/>
            </a:pPr>
            <a:r>
              <a:rPr lang="en-US" sz="1100" b="1" dirty="0">
                <a:solidFill>
                  <a:srgbClr val="22D3EE"/>
                </a:solidFill>
                <a:latin typeface="Courier New" pitchFamily="34" charset="0"/>
                <a:ea typeface="Courier New" pitchFamily="34" charset="-122"/>
                <a:cs typeface="Courier New" pitchFamily="34" charset="-120"/>
              </a:rPr>
              <a:t>calc()  @media  /* */</a:t>
            </a:r>
            <a:endParaRPr lang="en-US" sz="1100" dirty="0"/>
          </a:p>
        </p:txBody>
      </p:sp>
      <p:sp>
        <p:nvSpPr>
          <p:cNvPr id="12" name="Text 10"/>
          <p:cNvSpPr txBox="1"/>
          <p:nvPr/>
        </p:nvSpPr>
        <p:spPr>
          <a:xfrm>
            <a:off x="548640" y="749808"/>
            <a:ext cx="7589520" cy="502920"/>
          </a:xfrm>
          <a:prstGeom prst="rect">
            <a:avLst/>
          </a:prstGeom>
          <a:noFill/>
          <a:ln/>
        </p:spPr>
        <p:txBody>
          <a:bodyPr wrap="square" lIns="0" tIns="0" rIns="0" bIns="0" rtlCol="0" anchor="ctr"/>
          <a:lstStyle/>
          <a:p>
            <a:pPr marL="0" indent="0">
              <a:buNone/>
            </a:pPr>
            <a:r>
              <a:rPr lang="en-US" sz="2400" b="1" dirty="0">
                <a:solidFill>
                  <a:srgbClr val="EEF0F8"/>
                </a:solidFill>
                <a:latin typeface="Arial" pitchFamily="34" charset="0"/>
                <a:ea typeface="Arial" pitchFamily="34" charset="-122"/>
                <a:cs typeface="Arial" pitchFamily="34" charset="-120"/>
              </a:rPr>
              <a:t>Söz diziminin diğer parçaları</a:t>
            </a:r>
            <a:endParaRPr lang="en-US" sz="2400" dirty="0"/>
          </a:p>
        </p:txBody>
      </p:sp>
      <p:sp>
        <p:nvSpPr>
          <p:cNvPr id="13" name="kod-paneli"/>
          <p:cNvSpPr/>
          <p:nvPr/>
        </p:nvSpPr>
        <p:spPr>
          <a:xfrm>
            <a:off x="548640" y="1371600"/>
            <a:ext cx="3931920" cy="2697480"/>
          </a:xfrm>
          <a:prstGeom prst="roundRect">
            <a:avLst>
              <a:gd name="adj" fmla="val 2712"/>
            </a:avLst>
          </a:prstGeom>
          <a:solidFill>
            <a:srgbClr val="0A0D1F"/>
          </a:solidFill>
          <a:ln w="9525">
            <a:solidFill>
              <a:srgbClr val="2E3768"/>
            </a:solidFill>
            <a:prstDash val="solid"/>
          </a:ln>
        </p:spPr>
      </p:sp>
      <p:sp>
        <p:nvSpPr>
          <p:cNvPr id="14" name="Text 12"/>
          <p:cNvSpPr txBox="1"/>
          <p:nvPr/>
        </p:nvSpPr>
        <p:spPr>
          <a:xfrm>
            <a:off x="3017520" y="1426464"/>
            <a:ext cx="1371600" cy="182880"/>
          </a:xfrm>
          <a:prstGeom prst="rect">
            <a:avLst/>
          </a:prstGeom>
          <a:noFill/>
          <a:ln/>
        </p:spPr>
        <p:txBody>
          <a:bodyPr wrap="square" lIns="0" tIns="0" rIns="0" bIns="0" rtlCol="0" anchor="t"/>
          <a:lstStyle/>
          <a:p>
            <a:pPr marL="0" indent="0" algn="r">
              <a:buNone/>
            </a:pPr>
            <a:r>
              <a:rPr lang="en-US" sz="800" dirty="0">
                <a:solidFill>
                  <a:srgbClr val="6C759E"/>
                </a:solidFill>
                <a:latin typeface="Courier New" pitchFamily="34" charset="0"/>
                <a:ea typeface="Courier New" pitchFamily="34" charset="-122"/>
                <a:cs typeface="Courier New" pitchFamily="34" charset="-120"/>
              </a:rPr>
              <a:t>styles.css</a:t>
            </a:r>
            <a:endParaRPr lang="en-US" sz="800" dirty="0"/>
          </a:p>
        </p:txBody>
      </p:sp>
      <p:sp>
        <p:nvSpPr>
          <p:cNvPr id="15" name="Text 13"/>
          <p:cNvSpPr txBox="1"/>
          <p:nvPr/>
        </p:nvSpPr>
        <p:spPr>
          <a:xfrm>
            <a:off x="694944" y="1609344"/>
            <a:ext cx="3657600" cy="2386584"/>
          </a:xfrm>
          <a:prstGeom prst="rect">
            <a:avLst/>
          </a:prstGeom>
          <a:noFill/>
          <a:ln/>
        </p:spPr>
        <p:txBody>
          <a:bodyPr wrap="square" lIns="0" tIns="0" rIns="0" bIns="0" rtlCol="0" anchor="t"/>
          <a:lstStyle/>
          <a:p>
            <a:pPr marL="0" indent="0">
              <a:buNone/>
            </a:pPr>
            <a:r>
              <a:rPr lang="en-US" sz="950" dirty="0">
                <a:solidFill>
                  <a:srgbClr val="6C759E"/>
                </a:solidFill>
                <a:latin typeface="Courier New" pitchFamily="34" charset="0"/>
                <a:ea typeface="Courier New" pitchFamily="34" charset="-122"/>
                <a:cs typeface="Courier New" pitchFamily="34" charset="-120"/>
              </a:rPr>
              <a:t>/* fonksiyonlar */</a:t>
            </a:r>
            <a:endParaRPr lang="en-US" sz="950" dirty="0"/>
          </a:p>
          <a:p>
            <a:pPr marL="0" indent="0">
              <a:buNone/>
            </a:pPr>
            <a:r>
              <a:rPr lang="en-US" sz="950" dirty="0">
                <a:solidFill>
                  <a:srgbClr val="F472B6"/>
                </a:solidFill>
                <a:latin typeface="Courier New" pitchFamily="34" charset="0"/>
                <a:ea typeface="Courier New" pitchFamily="34" charset="-122"/>
                <a:cs typeface="Courier New" pitchFamily="34" charset="-120"/>
              </a:rPr>
              <a:t>.box </a:t>
            </a:r>
            <a:r>
              <a:rPr lang="en-US" sz="950" dirty="0">
                <a:solidFill>
                  <a:srgbClr val="6C759E"/>
                </a:solidFill>
                <a:latin typeface="Courier New" pitchFamily="34" charset="0"/>
                <a:ea typeface="Courier New" pitchFamily="34" charset="-122"/>
                <a:cs typeface="Courier New" pitchFamily="34" charset="-120"/>
              </a:rPr>
              <a:t>{</a:t>
            </a:r>
            <a:endParaRPr lang="en-US" sz="950" dirty="0"/>
          </a:p>
          <a:p>
            <a:pPr marL="0" indent="0">
              <a:buNone/>
            </a:pPr>
            <a:r>
              <a:rPr lang="en-US" sz="950" dirty="0">
                <a:solidFill>
                  <a:srgbClr val="EEF0F8"/>
                </a:solidFill>
                <a:latin typeface="Courier New" pitchFamily="34" charset="0"/>
                <a:ea typeface="Courier New" pitchFamily="34" charset="-122"/>
                <a:cs typeface="Courier New" pitchFamily="34" charset="-120"/>
              </a:rPr>
              <a:t>  </a:t>
            </a:r>
            <a:r>
              <a:rPr lang="en-US" sz="950" dirty="0">
                <a:solidFill>
                  <a:srgbClr val="22D3EE"/>
                </a:solidFill>
                <a:latin typeface="Courier New" pitchFamily="34" charset="0"/>
                <a:ea typeface="Courier New" pitchFamily="34" charset="-122"/>
                <a:cs typeface="Courier New" pitchFamily="34" charset="-120"/>
              </a:rPr>
              <a:t>width</a:t>
            </a:r>
            <a:r>
              <a:rPr lang="en-US" sz="950" dirty="0">
                <a:solidFill>
                  <a:srgbClr val="6C759E"/>
                </a:solidFill>
                <a:latin typeface="Courier New" pitchFamily="34" charset="0"/>
                <a:ea typeface="Courier New" pitchFamily="34" charset="-122"/>
                <a:cs typeface="Courier New" pitchFamily="34" charset="-120"/>
              </a:rPr>
              <a:t>: </a:t>
            </a:r>
            <a:r>
              <a:rPr lang="en-US" sz="950" dirty="0">
                <a:solidFill>
                  <a:srgbClr val="FBBF24"/>
                </a:solidFill>
                <a:latin typeface="Courier New" pitchFamily="34" charset="0"/>
                <a:ea typeface="Courier New" pitchFamily="34" charset="-122"/>
                <a:cs typeface="Courier New" pitchFamily="34" charset="-120"/>
              </a:rPr>
              <a:t>calc(90% - 30px);</a:t>
            </a:r>
            <a:endParaRPr lang="en-US" sz="950" dirty="0"/>
          </a:p>
          <a:p>
            <a:pPr marL="0" indent="0">
              <a:buNone/>
            </a:pPr>
            <a:r>
              <a:rPr lang="en-US" sz="950" dirty="0">
                <a:solidFill>
                  <a:srgbClr val="EEF0F8"/>
                </a:solidFill>
                <a:latin typeface="Courier New" pitchFamily="34" charset="0"/>
                <a:ea typeface="Courier New" pitchFamily="34" charset="-122"/>
                <a:cs typeface="Courier New" pitchFamily="34" charset="-120"/>
              </a:rPr>
              <a:t>  </a:t>
            </a:r>
            <a:r>
              <a:rPr lang="en-US" sz="950" dirty="0">
                <a:solidFill>
                  <a:srgbClr val="22D3EE"/>
                </a:solidFill>
                <a:latin typeface="Courier New" pitchFamily="34" charset="0"/>
                <a:ea typeface="Courier New" pitchFamily="34" charset="-122"/>
                <a:cs typeface="Courier New" pitchFamily="34" charset="-120"/>
              </a:rPr>
              <a:t>transform</a:t>
            </a:r>
            <a:r>
              <a:rPr lang="en-US" sz="950" dirty="0">
                <a:solidFill>
                  <a:srgbClr val="6C759E"/>
                </a:solidFill>
                <a:latin typeface="Courier New" pitchFamily="34" charset="0"/>
                <a:ea typeface="Courier New" pitchFamily="34" charset="-122"/>
                <a:cs typeface="Courier New" pitchFamily="34" charset="-120"/>
              </a:rPr>
              <a:t>: </a:t>
            </a:r>
            <a:r>
              <a:rPr lang="en-US" sz="950" dirty="0">
                <a:solidFill>
                  <a:srgbClr val="FBBF24"/>
                </a:solidFill>
                <a:latin typeface="Courier New" pitchFamily="34" charset="0"/>
                <a:ea typeface="Courier New" pitchFamily="34" charset="-122"/>
                <a:cs typeface="Courier New" pitchFamily="34" charset="-120"/>
              </a:rPr>
              <a:t>rotate(0.8turn);</a:t>
            </a:r>
            <a:endParaRPr lang="en-US" sz="950" dirty="0"/>
          </a:p>
          <a:p>
            <a:pPr marL="0" indent="0">
              <a:buNone/>
            </a:pPr>
            <a:r>
              <a:rPr lang="en-US" sz="950" dirty="0">
                <a:solidFill>
                  <a:srgbClr val="6C759E"/>
                </a:solidFill>
                <a:latin typeface="Courier New" pitchFamily="34" charset="0"/>
                <a:ea typeface="Courier New" pitchFamily="34" charset="-122"/>
                <a:cs typeface="Courier New" pitchFamily="34" charset="-120"/>
              </a:rPr>
              <a:t>}</a:t>
            </a:r>
            <a:endParaRPr lang="en-US" sz="950" dirty="0"/>
          </a:p>
          <a:p>
            <a:pPr marL="0" indent="0">
              <a:buNone/>
            </a:pPr>
            <a:r>
              <a:rPr lang="en-US" sz="950" dirty="0">
                <a:solidFill>
                  <a:srgbClr val="6C759E"/>
                </a:solidFill>
                <a:latin typeface="Courier New" pitchFamily="34" charset="0"/>
                <a:ea typeface="Courier New" pitchFamily="34" charset="-122"/>
                <a:cs typeface="Courier New" pitchFamily="34" charset="-120"/>
              </a:rPr>
              <a:t>/* @kural: koşullu CSS */</a:t>
            </a:r>
            <a:endParaRPr lang="en-US" sz="950" dirty="0"/>
          </a:p>
          <a:p>
            <a:pPr marL="0" indent="0">
              <a:buNone/>
            </a:pPr>
            <a:r>
              <a:rPr lang="en-US" sz="950" dirty="0">
                <a:solidFill>
                  <a:srgbClr val="8B7CFF"/>
                </a:solidFill>
                <a:latin typeface="Courier New" pitchFamily="34" charset="0"/>
                <a:ea typeface="Courier New" pitchFamily="34" charset="-122"/>
                <a:cs typeface="Courier New" pitchFamily="34" charset="-120"/>
              </a:rPr>
              <a:t>@media (width &gt;= 30em) </a:t>
            </a:r>
            <a:r>
              <a:rPr lang="en-US" sz="950" dirty="0">
                <a:solidFill>
                  <a:srgbClr val="6C759E"/>
                </a:solidFill>
                <a:latin typeface="Courier New" pitchFamily="34" charset="0"/>
                <a:ea typeface="Courier New" pitchFamily="34" charset="-122"/>
                <a:cs typeface="Courier New" pitchFamily="34" charset="-120"/>
              </a:rPr>
              <a:t>{</a:t>
            </a:r>
            <a:endParaRPr lang="en-US" sz="950" dirty="0"/>
          </a:p>
          <a:p>
            <a:pPr marL="0" indent="0">
              <a:buNone/>
            </a:pPr>
            <a:r>
              <a:rPr lang="en-US" sz="950" dirty="0">
                <a:solidFill>
                  <a:srgbClr val="F472B6"/>
                </a:solidFill>
                <a:latin typeface="Courier New" pitchFamily="34" charset="0"/>
                <a:ea typeface="Courier New" pitchFamily="34" charset="-122"/>
                <a:cs typeface="Courier New" pitchFamily="34" charset="-120"/>
              </a:rPr>
              <a:t>  body </a:t>
            </a:r>
            <a:r>
              <a:rPr lang="en-US" sz="950" dirty="0">
                <a:solidFill>
                  <a:srgbClr val="6C759E"/>
                </a:solidFill>
                <a:latin typeface="Courier New" pitchFamily="34" charset="0"/>
                <a:ea typeface="Courier New" pitchFamily="34" charset="-122"/>
                <a:cs typeface="Courier New" pitchFamily="34" charset="-120"/>
              </a:rPr>
              <a:t>{ </a:t>
            </a:r>
            <a:r>
              <a:rPr lang="en-US" sz="950" dirty="0">
                <a:solidFill>
                  <a:srgbClr val="22D3EE"/>
                </a:solidFill>
                <a:latin typeface="Courier New" pitchFamily="34" charset="0"/>
                <a:ea typeface="Courier New" pitchFamily="34" charset="-122"/>
                <a:cs typeface="Courier New" pitchFamily="34" charset="-120"/>
              </a:rPr>
              <a:t>background-color</a:t>
            </a:r>
            <a:r>
              <a:rPr lang="en-US" sz="950" dirty="0">
                <a:solidFill>
                  <a:srgbClr val="6C759E"/>
                </a:solidFill>
                <a:latin typeface="Courier New" pitchFamily="34" charset="0"/>
                <a:ea typeface="Courier New" pitchFamily="34" charset="-122"/>
                <a:cs typeface="Courier New" pitchFamily="34" charset="-120"/>
              </a:rPr>
              <a:t>: </a:t>
            </a:r>
            <a:r>
              <a:rPr lang="en-US" sz="950" dirty="0">
                <a:solidFill>
                  <a:srgbClr val="FBBF24"/>
                </a:solidFill>
                <a:latin typeface="Courier New" pitchFamily="34" charset="0"/>
                <a:ea typeface="Courier New" pitchFamily="34" charset="-122"/>
                <a:cs typeface="Courier New" pitchFamily="34" charset="-120"/>
              </a:rPr>
              <a:t>blue</a:t>
            </a:r>
            <a:r>
              <a:rPr lang="en-US" sz="950" dirty="0">
                <a:solidFill>
                  <a:srgbClr val="6C759E"/>
                </a:solidFill>
                <a:latin typeface="Courier New" pitchFamily="34" charset="0"/>
                <a:ea typeface="Courier New" pitchFamily="34" charset="-122"/>
                <a:cs typeface="Courier New" pitchFamily="34" charset="-120"/>
              </a:rPr>
              <a:t>; }</a:t>
            </a:r>
            <a:endParaRPr lang="en-US" sz="950" dirty="0"/>
          </a:p>
          <a:p>
            <a:pPr marL="0" indent="0">
              <a:buNone/>
            </a:pPr>
            <a:r>
              <a:rPr lang="en-US" sz="950" dirty="0">
                <a:solidFill>
                  <a:srgbClr val="6C759E"/>
                </a:solidFill>
                <a:latin typeface="Courier New" pitchFamily="34" charset="0"/>
                <a:ea typeface="Courier New" pitchFamily="34" charset="-122"/>
                <a:cs typeface="Courier New" pitchFamily="34" charset="-120"/>
              </a:rPr>
              <a:t>}</a:t>
            </a:r>
            <a:endParaRPr lang="en-US" sz="950" dirty="0"/>
          </a:p>
          <a:p>
            <a:pPr marL="0" indent="0">
              <a:buNone/>
            </a:pPr>
            <a:r>
              <a:rPr lang="en-US" sz="950" dirty="0">
                <a:solidFill>
                  <a:srgbClr val="6C759E"/>
                </a:solidFill>
                <a:latin typeface="Courier New" pitchFamily="34" charset="0"/>
                <a:ea typeface="Courier New" pitchFamily="34" charset="-122"/>
                <a:cs typeface="Courier New" pitchFamily="34" charset="-120"/>
              </a:rPr>
              <a:t>/* kısayol: üst sağ alt sol */</a:t>
            </a:r>
            <a:endParaRPr lang="en-US" sz="950" dirty="0"/>
          </a:p>
          <a:p>
            <a:pPr marL="0" indent="0">
              <a:buNone/>
            </a:pPr>
            <a:r>
              <a:rPr lang="en-US" sz="950" dirty="0">
                <a:solidFill>
                  <a:srgbClr val="F472B6"/>
                </a:solidFill>
                <a:latin typeface="Courier New" pitchFamily="34" charset="0"/>
                <a:ea typeface="Courier New" pitchFamily="34" charset="-122"/>
                <a:cs typeface="Courier New" pitchFamily="34" charset="-120"/>
              </a:rPr>
              <a:t>p </a:t>
            </a:r>
            <a:r>
              <a:rPr lang="en-US" sz="950" dirty="0">
                <a:solidFill>
                  <a:srgbClr val="6C759E"/>
                </a:solidFill>
                <a:latin typeface="Courier New" pitchFamily="34" charset="0"/>
                <a:ea typeface="Courier New" pitchFamily="34" charset="-122"/>
                <a:cs typeface="Courier New" pitchFamily="34" charset="-120"/>
              </a:rPr>
              <a:t>{ </a:t>
            </a:r>
            <a:r>
              <a:rPr lang="en-US" sz="950" dirty="0">
                <a:solidFill>
                  <a:srgbClr val="22D3EE"/>
                </a:solidFill>
                <a:latin typeface="Courier New" pitchFamily="34" charset="0"/>
                <a:ea typeface="Courier New" pitchFamily="34" charset="-122"/>
                <a:cs typeface="Courier New" pitchFamily="34" charset="-120"/>
              </a:rPr>
              <a:t>padding</a:t>
            </a:r>
            <a:r>
              <a:rPr lang="en-US" sz="950" dirty="0">
                <a:solidFill>
                  <a:srgbClr val="6C759E"/>
                </a:solidFill>
                <a:latin typeface="Courier New" pitchFamily="34" charset="0"/>
                <a:ea typeface="Courier New" pitchFamily="34" charset="-122"/>
                <a:cs typeface="Courier New" pitchFamily="34" charset="-120"/>
              </a:rPr>
              <a:t>: </a:t>
            </a:r>
            <a:r>
              <a:rPr lang="en-US" sz="950" dirty="0">
                <a:solidFill>
                  <a:srgbClr val="FBBF24"/>
                </a:solidFill>
                <a:latin typeface="Courier New" pitchFamily="34" charset="0"/>
                <a:ea typeface="Courier New" pitchFamily="34" charset="-122"/>
                <a:cs typeface="Courier New" pitchFamily="34" charset="-120"/>
              </a:rPr>
              <a:t>10px 15px 15px 5px</a:t>
            </a:r>
            <a:r>
              <a:rPr lang="en-US" sz="950" dirty="0">
                <a:solidFill>
                  <a:srgbClr val="6C759E"/>
                </a:solidFill>
                <a:latin typeface="Courier New" pitchFamily="34" charset="0"/>
                <a:ea typeface="Courier New" pitchFamily="34" charset="-122"/>
                <a:cs typeface="Courier New" pitchFamily="34" charset="-120"/>
              </a:rPr>
              <a:t>; }</a:t>
            </a:r>
            <a:endParaRPr lang="en-US" sz="950" dirty="0"/>
          </a:p>
        </p:txBody>
      </p:sp>
      <p:sp>
        <p:nvSpPr>
          <p:cNvPr id="16" name="Text 14"/>
          <p:cNvSpPr txBox="1"/>
          <p:nvPr/>
        </p:nvSpPr>
        <p:spPr>
          <a:xfrm>
            <a:off x="4709160" y="1371600"/>
            <a:ext cx="3886200" cy="2743200"/>
          </a:xfrm>
          <a:prstGeom prst="rect">
            <a:avLst/>
          </a:prstGeom>
          <a:noFill/>
          <a:ln/>
        </p:spPr>
        <p:txBody>
          <a:bodyPr wrap="square" lIns="0" tIns="0" rIns="0" bIns="0" rtlCol="0" anchor="t"/>
          <a:lstStyle/>
          <a:p>
            <a:pPr marL="0" indent="0">
              <a:spcAft>
                <a:spcPts val="600"/>
              </a:spcAft>
              <a:buNone/>
            </a:pPr>
            <a:r>
              <a:rPr lang="en-US" sz="1050" b="1" dirty="0">
                <a:solidFill>
                  <a:srgbClr val="22D3EE"/>
                </a:solidFill>
                <a:latin typeface="Arial" pitchFamily="34" charset="0"/>
                <a:ea typeface="Arial" pitchFamily="34" charset="-122"/>
                <a:cs typeface="Arial" pitchFamily="34" charset="-120"/>
              </a:rPr>
              <a:t>Fonksiyonlar: </a:t>
            </a:r>
            <a:r>
              <a:rPr lang="en-US" sz="1050" dirty="0">
                <a:solidFill>
                  <a:srgbClr val="EEF0F8"/>
                </a:solidFill>
                <a:latin typeface="Arial" pitchFamily="34" charset="0"/>
                <a:ea typeface="Arial" pitchFamily="34" charset="-122"/>
                <a:cs typeface="Arial" pitchFamily="34" charset="-120"/>
              </a:rPr>
              <a:t>calc() CSS içinde hesap yapar; rotate() gibi dönüşüm fonksiyonları transform'a verilir.</a:t>
            </a:r>
            <a:endParaRPr lang="en-US" sz="1050" dirty="0"/>
          </a:p>
          <a:p>
            <a:pPr marL="0" indent="0">
              <a:spcAft>
                <a:spcPts val="600"/>
              </a:spcAft>
              <a:buNone/>
            </a:pPr>
            <a:r>
              <a:rPr lang="en-US" sz="1050" b="1" dirty="0">
                <a:solidFill>
                  <a:srgbClr val="22D3EE"/>
                </a:solidFill>
                <a:latin typeface="Arial" pitchFamily="34" charset="0"/>
                <a:ea typeface="Arial" pitchFamily="34" charset="-122"/>
                <a:cs typeface="Arial" pitchFamily="34" charset="-120"/>
              </a:rPr>
              <a:t>@kurallar: </a:t>
            </a:r>
            <a:r>
              <a:rPr lang="en-US" sz="1050" dirty="0">
                <a:solidFill>
                  <a:srgbClr val="EEF0F8"/>
                </a:solidFill>
                <a:latin typeface="Arial" pitchFamily="34" charset="0"/>
                <a:ea typeface="Arial" pitchFamily="34" charset="-122"/>
                <a:cs typeface="Arial" pitchFamily="34" charset="-120"/>
              </a:rPr>
              <a:t>CSS'e talimat verir. En yaygını @media: koşul sağlanınca içindeki kurallar uygulanır.</a:t>
            </a:r>
            <a:endParaRPr lang="en-US" sz="1050" dirty="0"/>
          </a:p>
          <a:p>
            <a:pPr marL="0" indent="0">
              <a:spcAft>
                <a:spcPts val="600"/>
              </a:spcAft>
              <a:buNone/>
            </a:pPr>
            <a:r>
              <a:rPr lang="en-US" sz="1050" b="1" dirty="0">
                <a:solidFill>
                  <a:srgbClr val="22D3EE"/>
                </a:solidFill>
                <a:latin typeface="Arial" pitchFamily="34" charset="0"/>
                <a:ea typeface="Arial" pitchFamily="34" charset="-122"/>
                <a:cs typeface="Arial" pitchFamily="34" charset="-120"/>
              </a:rPr>
              <a:t>Kısayollar: </a:t>
            </a:r>
            <a:r>
              <a:rPr lang="en-US" sz="1050" dirty="0">
                <a:solidFill>
                  <a:srgbClr val="EEF0F8"/>
                </a:solidFill>
                <a:latin typeface="Arial" pitchFamily="34" charset="0"/>
                <a:ea typeface="Arial" pitchFamily="34" charset="-122"/>
                <a:cs typeface="Arial" pitchFamily="34" charset="-120"/>
              </a:rPr>
              <a:t>padding, margin, border, font, background tek satırda birden çok değeri ayarlar. Dört değer saat yönünde: üst, sağ, alt, sol.</a:t>
            </a:r>
            <a:endParaRPr lang="en-US" sz="1050" dirty="0"/>
          </a:p>
          <a:p>
            <a:pPr marL="0" indent="0">
              <a:spcAft>
                <a:spcPts val="600"/>
              </a:spcAft>
              <a:buNone/>
            </a:pPr>
            <a:r>
              <a:rPr lang="en-US" sz="1050" b="1" dirty="0">
                <a:solidFill>
                  <a:srgbClr val="22D3EE"/>
                </a:solidFill>
                <a:latin typeface="Arial" pitchFamily="34" charset="0"/>
                <a:ea typeface="Arial" pitchFamily="34" charset="-122"/>
                <a:cs typeface="Arial" pitchFamily="34" charset="-120"/>
              </a:rPr>
              <a:t>Yorumlar: </a:t>
            </a:r>
            <a:r>
              <a:rPr lang="en-US" sz="1050" dirty="0">
                <a:solidFill>
                  <a:srgbClr val="EEF0F8"/>
                </a:solidFill>
                <a:latin typeface="Arial" pitchFamily="34" charset="0"/>
                <a:ea typeface="Arial" pitchFamily="34" charset="-122"/>
                <a:cs typeface="Arial" pitchFamily="34" charset="-120"/>
              </a:rPr>
              <a:t>/* … */ ile yazılır; bölüm başlığı koymak ya da bir kuralı geçici kapatmak için kullanılır.</a:t>
            </a:r>
            <a:endParaRPr lang="en-US" sz="1050" dirty="0"/>
          </a:p>
          <a:p>
            <a:pPr marL="0" indent="0">
              <a:spcAft>
                <a:spcPts val="600"/>
              </a:spcAft>
              <a:buNone/>
            </a:pPr>
            <a:r>
              <a:rPr lang="en-US" sz="1050" b="1" dirty="0">
                <a:solidFill>
                  <a:srgbClr val="22D3EE"/>
                </a:solidFill>
                <a:latin typeface="Arial" pitchFamily="34" charset="0"/>
                <a:ea typeface="Arial" pitchFamily="34" charset="-122"/>
                <a:cs typeface="Arial" pitchFamily="34" charset="-120"/>
              </a:rPr>
              <a:t>Boşluk: </a:t>
            </a:r>
            <a:r>
              <a:rPr lang="en-US" sz="1050" dirty="0">
                <a:solidFill>
                  <a:srgbClr val="EEF0F8"/>
                </a:solidFill>
                <a:latin typeface="Arial" pitchFamily="34" charset="0"/>
                <a:ea typeface="Arial" pitchFamily="34" charset="-122"/>
                <a:cs typeface="Arial" pitchFamily="34" charset="-120"/>
              </a:rPr>
              <a:t>Fazla boşluk yok sayılır, ama değerler arasında bir boşluk şart: 0auto geçersiz, 0 auto geçerli.</a:t>
            </a:r>
            <a:endParaRPr lang="en-US" sz="1050" dirty="0"/>
          </a:p>
        </p:txBody>
      </p:sp>
      <p:sp>
        <p:nvSpPr>
          <p:cNvPr id="17" name="benzetme"/>
          <p:cNvSpPr/>
          <p:nvPr/>
        </p:nvSpPr>
        <p:spPr>
          <a:xfrm>
            <a:off x="548640" y="4224528"/>
            <a:ext cx="8046720" cy="402336"/>
          </a:xfrm>
          <a:prstGeom prst="roundRect">
            <a:avLst>
              <a:gd name="adj" fmla="val 50000"/>
            </a:avLst>
          </a:prstGeom>
          <a:solidFill>
            <a:srgbClr val="232A55"/>
          </a:solidFill>
          <a:ln/>
        </p:spPr>
      </p:sp>
      <p:sp>
        <p:nvSpPr>
          <p:cNvPr id="18" name="benzetme-ikon"/>
          <p:cNvSpPr/>
          <p:nvPr/>
        </p:nvSpPr>
        <p:spPr>
          <a:xfrm>
            <a:off x="621792" y="4261104"/>
            <a:ext cx="329184" cy="329184"/>
          </a:xfrm>
          <a:prstGeom prst="ellipse">
            <a:avLst/>
          </a:prstGeom>
          <a:solidFill>
            <a:srgbClr val="FBBF24"/>
          </a:solidFill>
          <a:ln/>
        </p:spPr>
      </p:sp>
      <p:sp>
        <p:nvSpPr>
          <p:cNvPr id="19" name="Text 17"/>
          <p:cNvSpPr txBox="1"/>
          <p:nvPr/>
        </p:nvSpPr>
        <p:spPr>
          <a:xfrm>
            <a:off x="621792" y="4261104"/>
            <a:ext cx="329184" cy="329184"/>
          </a:xfrm>
          <a:prstGeom prst="rect">
            <a:avLst/>
          </a:prstGeom>
          <a:noFill/>
          <a:ln/>
        </p:spPr>
        <p:txBody>
          <a:bodyPr wrap="square" lIns="0" tIns="0" rIns="0" bIns="0" rtlCol="0" anchor="ctr"/>
          <a:lstStyle/>
          <a:p>
            <a:pPr marL="0" indent="0" algn="ctr">
              <a:buNone/>
            </a:pPr>
            <a:r>
              <a:rPr lang="en-US" sz="1600" b="1" dirty="0">
                <a:solidFill>
                  <a:srgbClr val="10142B"/>
                </a:solidFill>
                <a:latin typeface="Arial" pitchFamily="34" charset="0"/>
                <a:ea typeface="Arial" pitchFamily="34" charset="-122"/>
                <a:cs typeface="Arial" pitchFamily="34" charset="-120"/>
              </a:rPr>
              <a:t>≈</a:t>
            </a:r>
            <a:endParaRPr lang="en-US" sz="1600" dirty="0"/>
          </a:p>
        </p:txBody>
      </p:sp>
      <p:sp>
        <p:nvSpPr>
          <p:cNvPr id="20" name="Text 18"/>
          <p:cNvSpPr txBox="1"/>
          <p:nvPr/>
        </p:nvSpPr>
        <p:spPr>
          <a:xfrm>
            <a:off x="1042416" y="4224528"/>
            <a:ext cx="7452360" cy="402336"/>
          </a:xfrm>
          <a:prstGeom prst="rect">
            <a:avLst/>
          </a:prstGeom>
          <a:noFill/>
          <a:ln/>
        </p:spPr>
        <p:txBody>
          <a:bodyPr wrap="square" lIns="0" tIns="0" rIns="0" bIns="0" rtlCol="0" anchor="ctr"/>
          <a:lstStyle/>
          <a:p>
            <a:pPr marL="0" indent="0">
              <a:buNone/>
            </a:pPr>
            <a:r>
              <a:rPr lang="en-US" sz="1100" b="1" dirty="0">
                <a:solidFill>
                  <a:srgbClr val="FBBF24"/>
                </a:solidFill>
                <a:latin typeface="Arial" pitchFamily="34" charset="0"/>
                <a:ea typeface="Arial" pitchFamily="34" charset="-122"/>
                <a:cs typeface="Arial" pitchFamily="34" charset="-120"/>
              </a:rPr>
              <a:t>Gündelik hayatta: </a:t>
            </a:r>
            <a:r>
              <a:rPr lang="en-US" sz="1100" dirty="0">
                <a:solidFill>
                  <a:srgbClr val="EEF0F8"/>
                </a:solidFill>
                <a:latin typeface="Arial" pitchFamily="34" charset="0"/>
                <a:ea typeface="Arial" pitchFamily="34" charset="-122"/>
                <a:cs typeface="Arial" pitchFamily="34" charset="-120"/>
              </a:rPr>
              <a:t>kısayol özellikler kısaltmalı adres yazmak gibi: “Atatürk Cd. No:5 D:3” tek satırda dört bilgiyi taşır.</a:t>
            </a:r>
            <a:endParaRPr lang="en-US" sz="1100" dirty="0"/>
          </a:p>
        </p:txBody>
      </p:sp>
    </p:spTree>
  </p:cSld>
  <p:clrMapOvr>
    <a:masterClrMapping/>
  </p:clrMapOvr>
  <p:transition spd="med">
    <p:pull/>
  </p:transition>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256032"/>
            <a:ext cx="4572000" cy="201168"/>
          </a:xfrm>
          <a:prstGeom prst="rect">
            <a:avLst/>
          </a:prstGeom>
          <a:noFill/>
          <a:ln/>
        </p:spPr>
        <p:txBody>
          <a:bodyPr wrap="square" lIns="0" tIns="0" rIns="0" bIns="0" rtlCol="0" anchor="t"/>
          <a:lstStyle/>
          <a:p>
            <a:pPr marL="0" indent="0">
              <a:buNone/>
            </a:pPr>
            <a:r>
              <a:rPr lang="en-US" sz="900" b="1" kern="0" spc="200" dirty="0">
                <a:solidFill>
                  <a:srgbClr val="22D3EE"/>
                </a:solidFill>
                <a:latin typeface="Arial" pitchFamily="34" charset="0"/>
                <a:ea typeface="Arial" pitchFamily="34" charset="-122"/>
                <a:cs typeface="Arial" pitchFamily="34" charset="-120"/>
              </a:rPr>
              <a:t>MODÜL 1 · CSS TEMELLERİ</a:t>
            </a:r>
            <a:endParaRPr lang="en-US" sz="900" dirty="0"/>
          </a:p>
        </p:txBody>
      </p:sp>
      <p:sp>
        <p:nvSpPr>
          <p:cNvPr id="3" name="mini-box-0"/>
          <p:cNvSpPr/>
          <p:nvPr/>
        </p:nvSpPr>
        <p:spPr>
          <a:xfrm>
            <a:off x="8229600" y="201168"/>
            <a:ext cx="384048" cy="384048"/>
          </a:xfrm>
          <a:prstGeom prst="rect">
            <a:avLst/>
          </a:prstGeom>
          <a:ln w="9525">
            <a:solidFill>
              <a:srgbClr val="22D3EE"/>
            </a:solidFill>
            <a:prstDash val="solid"/>
          </a:ln>
        </p:spPr>
      </p:sp>
      <p:sp>
        <p:nvSpPr>
          <p:cNvPr id="4" name="mini-box-1"/>
          <p:cNvSpPr/>
          <p:nvPr/>
        </p:nvSpPr>
        <p:spPr>
          <a:xfrm>
            <a:off x="8293608" y="265176"/>
            <a:ext cx="256032" cy="256032"/>
          </a:xfrm>
          <a:prstGeom prst="rect">
            <a:avLst/>
          </a:prstGeom>
          <a:ln w="9525">
            <a:solidFill>
              <a:srgbClr val="EEF0F8"/>
            </a:solidFill>
            <a:prstDash val="solid"/>
          </a:ln>
        </p:spPr>
      </p:sp>
      <p:sp>
        <p:nvSpPr>
          <p:cNvPr id="5" name="mini-box-2"/>
          <p:cNvSpPr/>
          <p:nvPr/>
        </p:nvSpPr>
        <p:spPr>
          <a:xfrm>
            <a:off x="8348472" y="320040"/>
            <a:ext cx="146304" cy="146304"/>
          </a:xfrm>
          <a:prstGeom prst="rect">
            <a:avLst/>
          </a:prstGeom>
          <a:solidFill>
            <a:srgbClr val="22D3EE"/>
          </a:solidFill>
          <a:ln w="9525">
            <a:solidFill>
              <a:srgbClr val="22D3EE"/>
            </a:solidFill>
            <a:prstDash val="solid"/>
          </a:ln>
        </p:spPr>
      </p:sp>
      <p:sp>
        <p:nvSpPr>
          <p:cNvPr id="6" name="ilerleme-zemin"/>
          <p:cNvSpPr/>
          <p:nvPr/>
        </p:nvSpPr>
        <p:spPr>
          <a:xfrm>
            <a:off x="0" y="5070348"/>
            <a:ext cx="9144000" cy="73152"/>
          </a:xfrm>
          <a:prstGeom prst="rect">
            <a:avLst/>
          </a:prstGeom>
          <a:solidFill>
            <a:srgbClr val="1A2044"/>
          </a:solidFill>
          <a:ln/>
        </p:spPr>
      </p:sp>
      <p:sp>
        <p:nvSpPr>
          <p:cNvPr id="7" name="ilerleme"/>
          <p:cNvSpPr/>
          <p:nvPr/>
        </p:nvSpPr>
        <p:spPr>
          <a:xfrm>
            <a:off x="0" y="5070348"/>
            <a:ext cx="1701209" cy="73152"/>
          </a:xfrm>
          <a:prstGeom prst="rect">
            <a:avLst/>
          </a:prstGeom>
          <a:solidFill>
            <a:srgbClr val="22D3EE"/>
          </a:solidFill>
          <a:ln/>
        </p:spPr>
      </p:sp>
      <p:sp>
        <p:nvSpPr>
          <p:cNvPr id="8" name="Text 6"/>
          <p:cNvSpPr txBox="1"/>
          <p:nvPr/>
        </p:nvSpPr>
        <p:spPr>
          <a:xfrm>
            <a:off x="548640" y="4791456"/>
            <a:ext cx="3657600" cy="201168"/>
          </a:xfrm>
          <a:prstGeom prst="rect">
            <a:avLst/>
          </a:prstGeom>
          <a:noFill/>
          <a:ln/>
        </p:spPr>
        <p:txBody>
          <a:bodyPr wrap="square" lIns="0" tIns="0" rIns="0" bIns="0" rtlCol="0" anchor="t"/>
          <a:lstStyle/>
          <a:p>
            <a:pPr marL="0" indent="0">
              <a:buNone/>
            </a:pPr>
            <a:r>
              <a:rPr lang="en-US" sz="850" dirty="0">
                <a:solidFill>
                  <a:srgbClr val="6C759E"/>
                </a:solidFill>
                <a:latin typeface="Arial" pitchFamily="34" charset="0"/>
                <a:ea typeface="Arial" pitchFamily="34" charset="-122"/>
                <a:cs typeface="Arial" pitchFamily="34" charset="-120"/>
              </a:rPr>
              <a:t>KCŞ A.Ş.  ·  CSS ile stil ve düzen</a:t>
            </a:r>
            <a:endParaRPr lang="en-US" sz="850" dirty="0"/>
          </a:p>
        </p:txBody>
      </p:sp>
      <p:sp>
        <p:nvSpPr>
          <p:cNvPr id="9" name="Text 7"/>
          <p:cNvSpPr txBox="1"/>
          <p:nvPr/>
        </p:nvSpPr>
        <p:spPr>
          <a:xfrm>
            <a:off x="4206240" y="4791456"/>
            <a:ext cx="3840480" cy="201168"/>
          </a:xfrm>
          <a:prstGeom prst="rect">
            <a:avLst/>
          </a:prstGeom>
          <a:noFill/>
          <a:ln/>
        </p:spPr>
        <p:txBody>
          <a:bodyPr wrap="square" lIns="0" tIns="0" rIns="0" bIns="0" rtlCol="0" anchor="t"/>
          <a:lstStyle/>
          <a:p>
            <a:pPr marL="0" indent="0" algn="r">
              <a:buNone/>
            </a:pPr>
            <a:r>
              <a:rPr lang="en-US" sz="850" dirty="0">
                <a:solidFill>
                  <a:srgbClr val="6C759E"/>
                </a:solidFill>
                <a:latin typeface="Arial" pitchFamily="34" charset="0"/>
                <a:ea typeface="Arial" pitchFamily="34" charset="-122"/>
                <a:cs typeface="Arial" pitchFamily="34" charset="-120"/>
              </a:rPr>
              <a:t>MDN · Basic selectors</a:t>
            </a:r>
            <a:endParaRPr lang="en-US" sz="850" dirty="0"/>
          </a:p>
        </p:txBody>
      </p:sp>
      <p:sp>
        <p:nvSpPr>
          <p:cNvPr id="10" name="Text 8"/>
          <p:cNvSpPr txBox="1"/>
          <p:nvPr/>
        </p:nvSpPr>
        <p:spPr>
          <a:xfrm>
            <a:off x="8092440" y="4791456"/>
            <a:ext cx="685800" cy="201168"/>
          </a:xfrm>
          <a:prstGeom prst="rect">
            <a:avLst/>
          </a:prstGeom>
          <a:noFill/>
          <a:ln/>
        </p:spPr>
        <p:txBody>
          <a:bodyPr wrap="square" lIns="0" tIns="0" rIns="0" bIns="0" rtlCol="0" anchor="t"/>
          <a:lstStyle/>
          <a:p>
            <a:pPr marL="0" indent="0" algn="r">
              <a:buNone/>
            </a:pPr>
            <a:r>
              <a:rPr lang="en-US" sz="850" dirty="0">
                <a:solidFill>
                  <a:srgbClr val="9AA3C7"/>
                </a:solidFill>
                <a:latin typeface="Courier New" pitchFamily="34" charset="0"/>
                <a:ea typeface="Courier New" pitchFamily="34" charset="-122"/>
                <a:cs typeface="Courier New" pitchFamily="34" charset="-120"/>
              </a:rPr>
              <a:t>08 / 43</a:t>
            </a:r>
            <a:endParaRPr lang="en-US" sz="850" dirty="0"/>
          </a:p>
        </p:txBody>
      </p:sp>
      <p:sp>
        <p:nvSpPr>
          <p:cNvPr id="11" name="Text 9"/>
          <p:cNvSpPr txBox="1"/>
          <p:nvPr/>
        </p:nvSpPr>
        <p:spPr>
          <a:xfrm>
            <a:off x="548640" y="502920"/>
            <a:ext cx="5943600" cy="237744"/>
          </a:xfrm>
          <a:prstGeom prst="rect">
            <a:avLst/>
          </a:prstGeom>
          <a:noFill/>
          <a:ln/>
        </p:spPr>
        <p:txBody>
          <a:bodyPr wrap="square" lIns="0" tIns="0" rIns="0" bIns="0" rtlCol="0" anchor="t"/>
          <a:lstStyle/>
          <a:p>
            <a:pPr marL="0" indent="0">
              <a:buNone/>
            </a:pPr>
            <a:r>
              <a:rPr lang="en-US" sz="1100" b="1" dirty="0">
                <a:solidFill>
                  <a:srgbClr val="22D3EE"/>
                </a:solidFill>
                <a:latin typeface="Courier New" pitchFamily="34" charset="0"/>
                <a:ea typeface="Courier New" pitchFamily="34" charset="-122"/>
                <a:cs typeface="Courier New" pitchFamily="34" charset="-120"/>
              </a:rPr>
              <a:t>p  .highlight  #one  *</a:t>
            </a:r>
            <a:endParaRPr lang="en-US" sz="1100" dirty="0"/>
          </a:p>
        </p:txBody>
      </p:sp>
      <p:sp>
        <p:nvSpPr>
          <p:cNvPr id="12" name="Text 10"/>
          <p:cNvSpPr txBox="1"/>
          <p:nvPr/>
        </p:nvSpPr>
        <p:spPr>
          <a:xfrm>
            <a:off x="548640" y="749808"/>
            <a:ext cx="7589520" cy="502920"/>
          </a:xfrm>
          <a:prstGeom prst="rect">
            <a:avLst/>
          </a:prstGeom>
          <a:noFill/>
          <a:ln/>
        </p:spPr>
        <p:txBody>
          <a:bodyPr wrap="square" lIns="0" tIns="0" rIns="0" bIns="0" rtlCol="0" anchor="ctr"/>
          <a:lstStyle/>
          <a:p>
            <a:pPr marL="0" indent="0">
              <a:buNone/>
            </a:pPr>
            <a:r>
              <a:rPr lang="en-US" sz="2400" b="1" dirty="0">
                <a:solidFill>
                  <a:srgbClr val="EEF0F8"/>
                </a:solidFill>
                <a:latin typeface="Arial" pitchFamily="34" charset="0"/>
                <a:ea typeface="Arial" pitchFamily="34" charset="-122"/>
                <a:cs typeface="Arial" pitchFamily="34" charset="-120"/>
              </a:rPr>
              <a:t>Temel seçiciler</a:t>
            </a:r>
            <a:endParaRPr lang="en-US" sz="2400" dirty="0"/>
          </a:p>
        </p:txBody>
      </p:sp>
      <p:sp>
        <p:nvSpPr>
          <p:cNvPr id="13" name="secici-satir-0"/>
          <p:cNvSpPr/>
          <p:nvPr/>
        </p:nvSpPr>
        <p:spPr>
          <a:xfrm>
            <a:off x="548640" y="1371600"/>
            <a:ext cx="8046720" cy="393192"/>
          </a:xfrm>
          <a:prstGeom prst="roundRect">
            <a:avLst>
              <a:gd name="adj" fmla="val 13953"/>
            </a:avLst>
          </a:prstGeom>
          <a:solidFill>
            <a:srgbClr val="1A2044"/>
          </a:solidFill>
          <a:ln/>
        </p:spPr>
      </p:sp>
      <p:sp>
        <p:nvSpPr>
          <p:cNvPr id="14" name="secici-serit-0"/>
          <p:cNvSpPr/>
          <p:nvPr/>
        </p:nvSpPr>
        <p:spPr>
          <a:xfrm>
            <a:off x="548640" y="1371600"/>
            <a:ext cx="64008" cy="393192"/>
          </a:xfrm>
          <a:prstGeom prst="rect">
            <a:avLst/>
          </a:prstGeom>
          <a:solidFill>
            <a:srgbClr val="22D3EE"/>
          </a:solidFill>
          <a:ln/>
        </p:spPr>
      </p:sp>
      <p:sp>
        <p:nvSpPr>
          <p:cNvPr id="15" name="Text 13"/>
          <p:cNvSpPr txBox="1"/>
          <p:nvPr/>
        </p:nvSpPr>
        <p:spPr>
          <a:xfrm>
            <a:off x="749808" y="1371600"/>
            <a:ext cx="1600200" cy="393192"/>
          </a:xfrm>
          <a:prstGeom prst="rect">
            <a:avLst/>
          </a:prstGeom>
          <a:noFill/>
          <a:ln/>
        </p:spPr>
        <p:txBody>
          <a:bodyPr wrap="square" lIns="0" tIns="0" rIns="0" bIns="0" rtlCol="0" anchor="ctr"/>
          <a:lstStyle/>
          <a:p>
            <a:pPr marL="0" indent="0">
              <a:buNone/>
            </a:pPr>
            <a:r>
              <a:rPr lang="en-US" sz="1150" b="1" dirty="0">
                <a:solidFill>
                  <a:srgbClr val="EEF0F8"/>
                </a:solidFill>
                <a:latin typeface="Arial" pitchFamily="34" charset="0"/>
                <a:ea typeface="Arial" pitchFamily="34" charset="-122"/>
                <a:cs typeface="Arial" pitchFamily="34" charset="-120"/>
              </a:rPr>
              <a:t>Tür seçici</a:t>
            </a:r>
            <a:endParaRPr lang="en-US" sz="1150" dirty="0"/>
          </a:p>
        </p:txBody>
      </p:sp>
      <p:sp>
        <p:nvSpPr>
          <p:cNvPr id="16" name="Text 14"/>
          <p:cNvSpPr txBox="1"/>
          <p:nvPr/>
        </p:nvSpPr>
        <p:spPr>
          <a:xfrm>
            <a:off x="2377440" y="1371600"/>
            <a:ext cx="2377440" cy="393192"/>
          </a:xfrm>
          <a:prstGeom prst="rect">
            <a:avLst/>
          </a:prstGeom>
          <a:noFill/>
          <a:ln/>
        </p:spPr>
        <p:txBody>
          <a:bodyPr wrap="square" lIns="0" tIns="0" rIns="0" bIns="0" rtlCol="0" anchor="ctr"/>
          <a:lstStyle/>
          <a:p>
            <a:pPr marL="0" indent="0">
              <a:buNone/>
            </a:pPr>
            <a:r>
              <a:rPr lang="en-US" sz="1100" dirty="0">
                <a:solidFill>
                  <a:srgbClr val="22D3EE"/>
                </a:solidFill>
                <a:latin typeface="Courier New" pitchFamily="34" charset="0"/>
                <a:ea typeface="Courier New" pitchFamily="34" charset="-122"/>
                <a:cs typeface="Courier New" pitchFamily="34" charset="-120"/>
              </a:rPr>
              <a:t>h1 { … }</a:t>
            </a:r>
            <a:endParaRPr lang="en-US" sz="1100" dirty="0"/>
          </a:p>
        </p:txBody>
      </p:sp>
      <p:sp>
        <p:nvSpPr>
          <p:cNvPr id="17" name="Text 15"/>
          <p:cNvSpPr txBox="1"/>
          <p:nvPr/>
        </p:nvSpPr>
        <p:spPr>
          <a:xfrm>
            <a:off x="4754880" y="1371600"/>
            <a:ext cx="3749040" cy="393192"/>
          </a:xfrm>
          <a:prstGeom prst="rect">
            <a:avLst/>
          </a:prstGeom>
          <a:noFill/>
          <a:ln/>
        </p:spPr>
        <p:txBody>
          <a:bodyPr wrap="square" lIns="0" tIns="0" rIns="0" bIns="0" rtlCol="0" anchor="ctr"/>
          <a:lstStyle/>
          <a:p>
            <a:pPr marL="0" indent="0">
              <a:buNone/>
            </a:pPr>
            <a:r>
              <a:rPr lang="en-US" sz="1050" dirty="0">
                <a:solidFill>
                  <a:srgbClr val="9AA3C7"/>
                </a:solidFill>
                <a:latin typeface="Arial" pitchFamily="34" charset="0"/>
                <a:ea typeface="Arial" pitchFamily="34" charset="-122"/>
                <a:cs typeface="Arial" pitchFamily="34" charset="-120"/>
              </a:rPr>
              <a:t>o türdeki tüm öğeleri seçer</a:t>
            </a:r>
            <a:endParaRPr lang="en-US" sz="1050" dirty="0"/>
          </a:p>
        </p:txBody>
      </p:sp>
      <p:sp>
        <p:nvSpPr>
          <p:cNvPr id="18" name="secici-satir-1"/>
          <p:cNvSpPr/>
          <p:nvPr/>
        </p:nvSpPr>
        <p:spPr>
          <a:xfrm>
            <a:off x="548640" y="1828800"/>
            <a:ext cx="8046720" cy="393192"/>
          </a:xfrm>
          <a:prstGeom prst="roundRect">
            <a:avLst>
              <a:gd name="adj" fmla="val 13953"/>
            </a:avLst>
          </a:prstGeom>
          <a:solidFill>
            <a:srgbClr val="1A2044"/>
          </a:solidFill>
          <a:ln/>
        </p:spPr>
      </p:sp>
      <p:sp>
        <p:nvSpPr>
          <p:cNvPr id="19" name="secici-serit-1"/>
          <p:cNvSpPr/>
          <p:nvPr/>
        </p:nvSpPr>
        <p:spPr>
          <a:xfrm>
            <a:off x="548640" y="1828800"/>
            <a:ext cx="64008" cy="393192"/>
          </a:xfrm>
          <a:prstGeom prst="rect">
            <a:avLst/>
          </a:prstGeom>
          <a:solidFill>
            <a:srgbClr val="F472B6"/>
          </a:solidFill>
          <a:ln/>
        </p:spPr>
      </p:sp>
      <p:sp>
        <p:nvSpPr>
          <p:cNvPr id="20" name="Text 18"/>
          <p:cNvSpPr txBox="1"/>
          <p:nvPr/>
        </p:nvSpPr>
        <p:spPr>
          <a:xfrm>
            <a:off x="749808" y="1828800"/>
            <a:ext cx="1600200" cy="393192"/>
          </a:xfrm>
          <a:prstGeom prst="rect">
            <a:avLst/>
          </a:prstGeom>
          <a:noFill/>
          <a:ln/>
        </p:spPr>
        <p:txBody>
          <a:bodyPr wrap="square" lIns="0" tIns="0" rIns="0" bIns="0" rtlCol="0" anchor="ctr"/>
          <a:lstStyle/>
          <a:p>
            <a:pPr marL="0" indent="0">
              <a:buNone/>
            </a:pPr>
            <a:r>
              <a:rPr lang="en-US" sz="1150" b="1" dirty="0">
                <a:solidFill>
                  <a:srgbClr val="EEF0F8"/>
                </a:solidFill>
                <a:latin typeface="Arial" pitchFamily="34" charset="0"/>
                <a:ea typeface="Arial" pitchFamily="34" charset="-122"/>
                <a:cs typeface="Arial" pitchFamily="34" charset="-120"/>
              </a:rPr>
              <a:t>Sınıf seçici</a:t>
            </a:r>
            <a:endParaRPr lang="en-US" sz="1150" dirty="0"/>
          </a:p>
        </p:txBody>
      </p:sp>
      <p:sp>
        <p:nvSpPr>
          <p:cNvPr id="21" name="Text 19"/>
          <p:cNvSpPr txBox="1"/>
          <p:nvPr/>
        </p:nvSpPr>
        <p:spPr>
          <a:xfrm>
            <a:off x="2377440" y="1828800"/>
            <a:ext cx="2377440" cy="393192"/>
          </a:xfrm>
          <a:prstGeom prst="rect">
            <a:avLst/>
          </a:prstGeom>
          <a:noFill/>
          <a:ln/>
        </p:spPr>
        <p:txBody>
          <a:bodyPr wrap="square" lIns="0" tIns="0" rIns="0" bIns="0" rtlCol="0" anchor="ctr"/>
          <a:lstStyle/>
          <a:p>
            <a:pPr marL="0" indent="0">
              <a:buNone/>
            </a:pPr>
            <a:r>
              <a:rPr lang="en-US" sz="1100" dirty="0">
                <a:solidFill>
                  <a:srgbClr val="F472B6"/>
                </a:solidFill>
                <a:latin typeface="Courier New" pitchFamily="34" charset="0"/>
                <a:ea typeface="Courier New" pitchFamily="34" charset="-122"/>
                <a:cs typeface="Courier New" pitchFamily="34" charset="-120"/>
              </a:rPr>
              <a:t>.highlight { … }</a:t>
            </a:r>
            <a:endParaRPr lang="en-US" sz="1100" dirty="0"/>
          </a:p>
        </p:txBody>
      </p:sp>
      <p:sp>
        <p:nvSpPr>
          <p:cNvPr id="22" name="Text 20"/>
          <p:cNvSpPr txBox="1"/>
          <p:nvPr/>
        </p:nvSpPr>
        <p:spPr>
          <a:xfrm>
            <a:off x="4754880" y="1828800"/>
            <a:ext cx="3749040" cy="393192"/>
          </a:xfrm>
          <a:prstGeom prst="rect">
            <a:avLst/>
          </a:prstGeom>
          <a:noFill/>
          <a:ln/>
        </p:spPr>
        <p:txBody>
          <a:bodyPr wrap="square" lIns="0" tIns="0" rIns="0" bIns="0" rtlCol="0" anchor="ctr"/>
          <a:lstStyle/>
          <a:p>
            <a:pPr marL="0" indent="0">
              <a:buNone/>
            </a:pPr>
            <a:r>
              <a:rPr lang="en-US" sz="1050" dirty="0">
                <a:solidFill>
                  <a:srgbClr val="9AA3C7"/>
                </a:solidFill>
                <a:latin typeface="Arial" pitchFamily="34" charset="0"/>
                <a:ea typeface="Arial" pitchFamily="34" charset="-122"/>
                <a:cs typeface="Arial" pitchFamily="34" charset="-120"/>
              </a:rPr>
              <a:t>class'ı taşıyan her öğe; bir öğede birden çok sınıf olabilir</a:t>
            </a:r>
            <a:endParaRPr lang="en-US" sz="1050" dirty="0"/>
          </a:p>
        </p:txBody>
      </p:sp>
      <p:sp>
        <p:nvSpPr>
          <p:cNvPr id="23" name="secici-satir-2"/>
          <p:cNvSpPr/>
          <p:nvPr/>
        </p:nvSpPr>
        <p:spPr>
          <a:xfrm>
            <a:off x="548640" y="2286000"/>
            <a:ext cx="8046720" cy="393192"/>
          </a:xfrm>
          <a:prstGeom prst="roundRect">
            <a:avLst>
              <a:gd name="adj" fmla="val 13953"/>
            </a:avLst>
          </a:prstGeom>
          <a:solidFill>
            <a:srgbClr val="1A2044"/>
          </a:solidFill>
          <a:ln/>
        </p:spPr>
      </p:sp>
      <p:sp>
        <p:nvSpPr>
          <p:cNvPr id="24" name="secici-serit-2"/>
          <p:cNvSpPr/>
          <p:nvPr/>
        </p:nvSpPr>
        <p:spPr>
          <a:xfrm>
            <a:off x="548640" y="2286000"/>
            <a:ext cx="64008" cy="393192"/>
          </a:xfrm>
          <a:prstGeom prst="rect">
            <a:avLst/>
          </a:prstGeom>
          <a:solidFill>
            <a:srgbClr val="F472B6"/>
          </a:solidFill>
          <a:ln/>
        </p:spPr>
      </p:sp>
      <p:sp>
        <p:nvSpPr>
          <p:cNvPr id="25" name="Text 23"/>
          <p:cNvSpPr txBox="1"/>
          <p:nvPr/>
        </p:nvSpPr>
        <p:spPr>
          <a:xfrm>
            <a:off x="749808" y="2286000"/>
            <a:ext cx="1600200" cy="393192"/>
          </a:xfrm>
          <a:prstGeom prst="rect">
            <a:avLst/>
          </a:prstGeom>
          <a:noFill/>
          <a:ln/>
        </p:spPr>
        <p:txBody>
          <a:bodyPr wrap="square" lIns="0" tIns="0" rIns="0" bIns="0" rtlCol="0" anchor="ctr"/>
          <a:lstStyle/>
          <a:p>
            <a:pPr marL="0" indent="0">
              <a:buNone/>
            </a:pPr>
            <a:r>
              <a:rPr lang="en-US" sz="1150" b="1" dirty="0">
                <a:solidFill>
                  <a:srgbClr val="EEF0F8"/>
                </a:solidFill>
                <a:latin typeface="Arial" pitchFamily="34" charset="0"/>
                <a:ea typeface="Arial" pitchFamily="34" charset="-122"/>
                <a:cs typeface="Arial" pitchFamily="34" charset="-120"/>
              </a:rPr>
              <a:t>Zincir sınıf</a:t>
            </a:r>
            <a:endParaRPr lang="en-US" sz="1150" dirty="0"/>
          </a:p>
        </p:txBody>
      </p:sp>
      <p:sp>
        <p:nvSpPr>
          <p:cNvPr id="26" name="Text 24"/>
          <p:cNvSpPr txBox="1"/>
          <p:nvPr/>
        </p:nvSpPr>
        <p:spPr>
          <a:xfrm>
            <a:off x="2377440" y="2286000"/>
            <a:ext cx="2377440" cy="393192"/>
          </a:xfrm>
          <a:prstGeom prst="rect">
            <a:avLst/>
          </a:prstGeom>
          <a:noFill/>
          <a:ln/>
        </p:spPr>
        <p:txBody>
          <a:bodyPr wrap="square" lIns="0" tIns="0" rIns="0" bIns="0" rtlCol="0" anchor="ctr"/>
          <a:lstStyle/>
          <a:p>
            <a:pPr marL="0" indent="0">
              <a:buNone/>
            </a:pPr>
            <a:r>
              <a:rPr lang="en-US" sz="1100" dirty="0">
                <a:solidFill>
                  <a:srgbClr val="F472B6"/>
                </a:solidFill>
                <a:latin typeface="Courier New" pitchFamily="34" charset="0"/>
                <a:ea typeface="Courier New" pitchFamily="34" charset="-122"/>
                <a:cs typeface="Courier New" pitchFamily="34" charset="-120"/>
              </a:rPr>
              <a:t>.notebox.danger { … }</a:t>
            </a:r>
            <a:endParaRPr lang="en-US" sz="1100" dirty="0"/>
          </a:p>
        </p:txBody>
      </p:sp>
      <p:sp>
        <p:nvSpPr>
          <p:cNvPr id="27" name="Text 25"/>
          <p:cNvSpPr txBox="1"/>
          <p:nvPr/>
        </p:nvSpPr>
        <p:spPr>
          <a:xfrm>
            <a:off x="4754880" y="2286000"/>
            <a:ext cx="3749040" cy="393192"/>
          </a:xfrm>
          <a:prstGeom prst="rect">
            <a:avLst/>
          </a:prstGeom>
          <a:noFill/>
          <a:ln/>
        </p:spPr>
        <p:txBody>
          <a:bodyPr wrap="square" lIns="0" tIns="0" rIns="0" bIns="0" rtlCol="0" anchor="ctr"/>
          <a:lstStyle/>
          <a:p>
            <a:pPr marL="0" indent="0">
              <a:buNone/>
            </a:pPr>
            <a:r>
              <a:rPr lang="en-US" sz="1050" dirty="0">
                <a:solidFill>
                  <a:srgbClr val="9AA3C7"/>
                </a:solidFill>
                <a:latin typeface="Arial" pitchFamily="34" charset="0"/>
                <a:ea typeface="Arial" pitchFamily="34" charset="-122"/>
                <a:cs typeface="Arial" pitchFamily="34" charset="-120"/>
              </a:rPr>
              <a:t>iki sınıfa birden sahip olanlar (boşluksuz yazılır)</a:t>
            </a:r>
            <a:endParaRPr lang="en-US" sz="1050" dirty="0"/>
          </a:p>
        </p:txBody>
      </p:sp>
      <p:sp>
        <p:nvSpPr>
          <p:cNvPr id="28" name="secici-satir-3"/>
          <p:cNvSpPr/>
          <p:nvPr/>
        </p:nvSpPr>
        <p:spPr>
          <a:xfrm>
            <a:off x="548640" y="2743200"/>
            <a:ext cx="8046720" cy="393192"/>
          </a:xfrm>
          <a:prstGeom prst="roundRect">
            <a:avLst>
              <a:gd name="adj" fmla="val 13953"/>
            </a:avLst>
          </a:prstGeom>
          <a:solidFill>
            <a:srgbClr val="1A2044"/>
          </a:solidFill>
          <a:ln/>
        </p:spPr>
      </p:sp>
      <p:sp>
        <p:nvSpPr>
          <p:cNvPr id="29" name="secici-serit-3"/>
          <p:cNvSpPr/>
          <p:nvPr/>
        </p:nvSpPr>
        <p:spPr>
          <a:xfrm>
            <a:off x="548640" y="2743200"/>
            <a:ext cx="64008" cy="393192"/>
          </a:xfrm>
          <a:prstGeom prst="rect">
            <a:avLst/>
          </a:prstGeom>
          <a:solidFill>
            <a:srgbClr val="FBBF24"/>
          </a:solidFill>
          <a:ln/>
        </p:spPr>
      </p:sp>
      <p:sp>
        <p:nvSpPr>
          <p:cNvPr id="30" name="Text 28"/>
          <p:cNvSpPr txBox="1"/>
          <p:nvPr/>
        </p:nvSpPr>
        <p:spPr>
          <a:xfrm>
            <a:off x="749808" y="2743200"/>
            <a:ext cx="1600200" cy="393192"/>
          </a:xfrm>
          <a:prstGeom prst="rect">
            <a:avLst/>
          </a:prstGeom>
          <a:noFill/>
          <a:ln/>
        </p:spPr>
        <p:txBody>
          <a:bodyPr wrap="square" lIns="0" tIns="0" rIns="0" bIns="0" rtlCol="0" anchor="ctr"/>
          <a:lstStyle/>
          <a:p>
            <a:pPr marL="0" indent="0">
              <a:buNone/>
            </a:pPr>
            <a:r>
              <a:rPr lang="en-US" sz="1150" b="1" dirty="0">
                <a:solidFill>
                  <a:srgbClr val="EEF0F8"/>
                </a:solidFill>
                <a:latin typeface="Arial" pitchFamily="34" charset="0"/>
                <a:ea typeface="Arial" pitchFamily="34" charset="-122"/>
                <a:cs typeface="Arial" pitchFamily="34" charset="-120"/>
              </a:rPr>
              <a:t>ID seçici</a:t>
            </a:r>
            <a:endParaRPr lang="en-US" sz="1150" dirty="0"/>
          </a:p>
        </p:txBody>
      </p:sp>
      <p:sp>
        <p:nvSpPr>
          <p:cNvPr id="31" name="Text 29"/>
          <p:cNvSpPr txBox="1"/>
          <p:nvPr/>
        </p:nvSpPr>
        <p:spPr>
          <a:xfrm>
            <a:off x="2377440" y="2743200"/>
            <a:ext cx="2377440" cy="393192"/>
          </a:xfrm>
          <a:prstGeom prst="rect">
            <a:avLst/>
          </a:prstGeom>
          <a:noFill/>
          <a:ln/>
        </p:spPr>
        <p:txBody>
          <a:bodyPr wrap="square" lIns="0" tIns="0" rIns="0" bIns="0" rtlCol="0" anchor="ctr"/>
          <a:lstStyle/>
          <a:p>
            <a:pPr marL="0" indent="0">
              <a:buNone/>
            </a:pPr>
            <a:r>
              <a:rPr lang="en-US" sz="1100" dirty="0">
                <a:solidFill>
                  <a:srgbClr val="FBBF24"/>
                </a:solidFill>
                <a:latin typeface="Courier New" pitchFamily="34" charset="0"/>
                <a:ea typeface="Courier New" pitchFamily="34" charset="-122"/>
                <a:cs typeface="Courier New" pitchFamily="34" charset="-120"/>
              </a:rPr>
              <a:t>#one { … }</a:t>
            </a:r>
            <a:endParaRPr lang="en-US" sz="1100" dirty="0"/>
          </a:p>
        </p:txBody>
      </p:sp>
      <p:sp>
        <p:nvSpPr>
          <p:cNvPr id="32" name="Text 30"/>
          <p:cNvSpPr txBox="1"/>
          <p:nvPr/>
        </p:nvSpPr>
        <p:spPr>
          <a:xfrm>
            <a:off x="4754880" y="2743200"/>
            <a:ext cx="3749040" cy="393192"/>
          </a:xfrm>
          <a:prstGeom prst="rect">
            <a:avLst/>
          </a:prstGeom>
          <a:noFill/>
          <a:ln/>
        </p:spPr>
        <p:txBody>
          <a:bodyPr wrap="square" lIns="0" tIns="0" rIns="0" bIns="0" rtlCol="0" anchor="ctr"/>
          <a:lstStyle/>
          <a:p>
            <a:pPr marL="0" indent="0">
              <a:buNone/>
            </a:pPr>
            <a:r>
              <a:rPr lang="en-US" sz="1050" dirty="0">
                <a:solidFill>
                  <a:srgbClr val="9AA3C7"/>
                </a:solidFill>
                <a:latin typeface="Arial" pitchFamily="34" charset="0"/>
                <a:ea typeface="Arial" pitchFamily="34" charset="-122"/>
                <a:cs typeface="Arial" pitchFamily="34" charset="-120"/>
              </a:rPr>
              <a:t>tek bir öğe; bir id sayfada bir kez kullanılır</a:t>
            </a:r>
            <a:endParaRPr lang="en-US" sz="1050" dirty="0"/>
          </a:p>
        </p:txBody>
      </p:sp>
      <p:sp>
        <p:nvSpPr>
          <p:cNvPr id="33" name="secici-satir-4"/>
          <p:cNvSpPr/>
          <p:nvPr/>
        </p:nvSpPr>
        <p:spPr>
          <a:xfrm>
            <a:off x="548640" y="3200400"/>
            <a:ext cx="8046720" cy="393192"/>
          </a:xfrm>
          <a:prstGeom prst="roundRect">
            <a:avLst>
              <a:gd name="adj" fmla="val 13953"/>
            </a:avLst>
          </a:prstGeom>
          <a:solidFill>
            <a:srgbClr val="1A2044"/>
          </a:solidFill>
          <a:ln/>
        </p:spPr>
      </p:sp>
      <p:sp>
        <p:nvSpPr>
          <p:cNvPr id="34" name="secici-serit-4"/>
          <p:cNvSpPr/>
          <p:nvPr/>
        </p:nvSpPr>
        <p:spPr>
          <a:xfrm>
            <a:off x="548640" y="3200400"/>
            <a:ext cx="64008" cy="393192"/>
          </a:xfrm>
          <a:prstGeom prst="rect">
            <a:avLst/>
          </a:prstGeom>
          <a:solidFill>
            <a:srgbClr val="A3E635"/>
          </a:solidFill>
          <a:ln/>
        </p:spPr>
      </p:sp>
      <p:sp>
        <p:nvSpPr>
          <p:cNvPr id="35" name="Text 33"/>
          <p:cNvSpPr txBox="1"/>
          <p:nvPr/>
        </p:nvSpPr>
        <p:spPr>
          <a:xfrm>
            <a:off x="749808" y="3200400"/>
            <a:ext cx="1600200" cy="393192"/>
          </a:xfrm>
          <a:prstGeom prst="rect">
            <a:avLst/>
          </a:prstGeom>
          <a:noFill/>
          <a:ln/>
        </p:spPr>
        <p:txBody>
          <a:bodyPr wrap="square" lIns="0" tIns="0" rIns="0" bIns="0" rtlCol="0" anchor="ctr"/>
          <a:lstStyle/>
          <a:p>
            <a:pPr marL="0" indent="0">
              <a:buNone/>
            </a:pPr>
            <a:r>
              <a:rPr lang="en-US" sz="1150" b="1" dirty="0">
                <a:solidFill>
                  <a:srgbClr val="EEF0F8"/>
                </a:solidFill>
                <a:latin typeface="Arial" pitchFamily="34" charset="0"/>
                <a:ea typeface="Arial" pitchFamily="34" charset="-122"/>
                <a:cs typeface="Arial" pitchFamily="34" charset="-120"/>
              </a:rPr>
              <a:t>Seçici listesi</a:t>
            </a:r>
            <a:endParaRPr lang="en-US" sz="1150" dirty="0"/>
          </a:p>
        </p:txBody>
      </p:sp>
      <p:sp>
        <p:nvSpPr>
          <p:cNvPr id="36" name="Text 34"/>
          <p:cNvSpPr txBox="1"/>
          <p:nvPr/>
        </p:nvSpPr>
        <p:spPr>
          <a:xfrm>
            <a:off x="2377440" y="3200400"/>
            <a:ext cx="2377440" cy="393192"/>
          </a:xfrm>
          <a:prstGeom prst="rect">
            <a:avLst/>
          </a:prstGeom>
          <a:noFill/>
          <a:ln/>
        </p:spPr>
        <p:txBody>
          <a:bodyPr wrap="square" lIns="0" tIns="0" rIns="0" bIns="0" rtlCol="0" anchor="ctr"/>
          <a:lstStyle/>
          <a:p>
            <a:pPr marL="0" indent="0">
              <a:buNone/>
            </a:pPr>
            <a:r>
              <a:rPr lang="en-US" sz="1100" dirty="0">
                <a:solidFill>
                  <a:srgbClr val="A3E635"/>
                </a:solidFill>
                <a:latin typeface="Courier New" pitchFamily="34" charset="0"/>
                <a:ea typeface="Courier New" pitchFamily="34" charset="-122"/>
                <a:cs typeface="Courier New" pitchFamily="34" charset="-120"/>
              </a:rPr>
              <a:t>h1, .special { … }</a:t>
            </a:r>
            <a:endParaRPr lang="en-US" sz="1100" dirty="0"/>
          </a:p>
        </p:txBody>
      </p:sp>
      <p:sp>
        <p:nvSpPr>
          <p:cNvPr id="37" name="Text 35"/>
          <p:cNvSpPr txBox="1"/>
          <p:nvPr/>
        </p:nvSpPr>
        <p:spPr>
          <a:xfrm>
            <a:off x="4754880" y="3200400"/>
            <a:ext cx="3749040" cy="393192"/>
          </a:xfrm>
          <a:prstGeom prst="rect">
            <a:avLst/>
          </a:prstGeom>
          <a:noFill/>
          <a:ln/>
        </p:spPr>
        <p:txBody>
          <a:bodyPr wrap="square" lIns="0" tIns="0" rIns="0" bIns="0" rtlCol="0" anchor="ctr"/>
          <a:lstStyle/>
          <a:p>
            <a:pPr marL="0" indent="0">
              <a:buNone/>
            </a:pPr>
            <a:r>
              <a:rPr lang="en-US" sz="1050" dirty="0">
                <a:solidFill>
                  <a:srgbClr val="9AA3C7"/>
                </a:solidFill>
                <a:latin typeface="Arial" pitchFamily="34" charset="0"/>
                <a:ea typeface="Arial" pitchFamily="34" charset="-122"/>
                <a:cs typeface="Arial" pitchFamily="34" charset="-120"/>
              </a:rPr>
              <a:t>aynı stili birden çok seçiciye virgülle ver</a:t>
            </a:r>
            <a:endParaRPr lang="en-US" sz="1050" dirty="0"/>
          </a:p>
        </p:txBody>
      </p:sp>
      <p:sp>
        <p:nvSpPr>
          <p:cNvPr id="38" name="secici-satir-5"/>
          <p:cNvSpPr/>
          <p:nvPr/>
        </p:nvSpPr>
        <p:spPr>
          <a:xfrm>
            <a:off x="548640" y="3657600"/>
            <a:ext cx="8046720" cy="393192"/>
          </a:xfrm>
          <a:prstGeom prst="roundRect">
            <a:avLst>
              <a:gd name="adj" fmla="val 13953"/>
            </a:avLst>
          </a:prstGeom>
          <a:solidFill>
            <a:srgbClr val="1A2044"/>
          </a:solidFill>
          <a:ln/>
        </p:spPr>
      </p:sp>
      <p:sp>
        <p:nvSpPr>
          <p:cNvPr id="39" name="secici-serit-5"/>
          <p:cNvSpPr/>
          <p:nvPr/>
        </p:nvSpPr>
        <p:spPr>
          <a:xfrm>
            <a:off x="548640" y="3657600"/>
            <a:ext cx="64008" cy="393192"/>
          </a:xfrm>
          <a:prstGeom prst="rect">
            <a:avLst/>
          </a:prstGeom>
          <a:solidFill>
            <a:srgbClr val="8B7CFF"/>
          </a:solidFill>
          <a:ln/>
        </p:spPr>
      </p:sp>
      <p:sp>
        <p:nvSpPr>
          <p:cNvPr id="40" name="Text 38"/>
          <p:cNvSpPr txBox="1"/>
          <p:nvPr/>
        </p:nvSpPr>
        <p:spPr>
          <a:xfrm>
            <a:off x="749808" y="3657600"/>
            <a:ext cx="1600200" cy="393192"/>
          </a:xfrm>
          <a:prstGeom prst="rect">
            <a:avLst/>
          </a:prstGeom>
          <a:noFill/>
          <a:ln/>
        </p:spPr>
        <p:txBody>
          <a:bodyPr wrap="square" lIns="0" tIns="0" rIns="0" bIns="0" rtlCol="0" anchor="ctr"/>
          <a:lstStyle/>
          <a:p>
            <a:pPr marL="0" indent="0">
              <a:buNone/>
            </a:pPr>
            <a:r>
              <a:rPr lang="en-US" sz="1150" b="1" dirty="0">
                <a:solidFill>
                  <a:srgbClr val="EEF0F8"/>
                </a:solidFill>
                <a:latin typeface="Arial" pitchFamily="34" charset="0"/>
                <a:ea typeface="Arial" pitchFamily="34" charset="-122"/>
                <a:cs typeface="Arial" pitchFamily="34" charset="-120"/>
              </a:rPr>
              <a:t>Evrensel seçici</a:t>
            </a:r>
            <a:endParaRPr lang="en-US" sz="1150" dirty="0"/>
          </a:p>
        </p:txBody>
      </p:sp>
      <p:sp>
        <p:nvSpPr>
          <p:cNvPr id="41" name="Text 39"/>
          <p:cNvSpPr txBox="1"/>
          <p:nvPr/>
        </p:nvSpPr>
        <p:spPr>
          <a:xfrm>
            <a:off x="2377440" y="3657600"/>
            <a:ext cx="2377440" cy="393192"/>
          </a:xfrm>
          <a:prstGeom prst="rect">
            <a:avLst/>
          </a:prstGeom>
          <a:noFill/>
          <a:ln/>
        </p:spPr>
        <p:txBody>
          <a:bodyPr wrap="square" lIns="0" tIns="0" rIns="0" bIns="0" rtlCol="0" anchor="ctr"/>
          <a:lstStyle/>
          <a:p>
            <a:pPr marL="0" indent="0">
              <a:buNone/>
            </a:pPr>
            <a:r>
              <a:rPr lang="en-US" sz="1100" dirty="0">
                <a:solidFill>
                  <a:srgbClr val="8B7CFF"/>
                </a:solidFill>
                <a:latin typeface="Courier New" pitchFamily="34" charset="0"/>
                <a:ea typeface="Courier New" pitchFamily="34" charset="-122"/>
                <a:cs typeface="Courier New" pitchFamily="34" charset="-120"/>
              </a:rPr>
              <a:t>* { margin: 0; }</a:t>
            </a:r>
            <a:endParaRPr lang="en-US" sz="1100" dirty="0"/>
          </a:p>
        </p:txBody>
      </p:sp>
      <p:sp>
        <p:nvSpPr>
          <p:cNvPr id="42" name="Text 40"/>
          <p:cNvSpPr txBox="1"/>
          <p:nvPr/>
        </p:nvSpPr>
        <p:spPr>
          <a:xfrm>
            <a:off x="4754880" y="3657600"/>
            <a:ext cx="3749040" cy="393192"/>
          </a:xfrm>
          <a:prstGeom prst="rect">
            <a:avLst/>
          </a:prstGeom>
          <a:noFill/>
          <a:ln/>
        </p:spPr>
        <p:txBody>
          <a:bodyPr wrap="square" lIns="0" tIns="0" rIns="0" bIns="0" rtlCol="0" anchor="ctr"/>
          <a:lstStyle/>
          <a:p>
            <a:pPr marL="0" indent="0">
              <a:buNone/>
            </a:pPr>
            <a:r>
              <a:rPr lang="en-US" sz="1050" dirty="0">
                <a:solidFill>
                  <a:srgbClr val="9AA3C7"/>
                </a:solidFill>
                <a:latin typeface="Arial" pitchFamily="34" charset="0"/>
                <a:ea typeface="Arial" pitchFamily="34" charset="-122"/>
                <a:cs typeface="Arial" pitchFamily="34" charset="-120"/>
              </a:rPr>
              <a:t>her öğe; sıfırlama (reset) dosyalarında görülür</a:t>
            </a:r>
            <a:endParaRPr lang="en-US" sz="1050" dirty="0"/>
          </a:p>
        </p:txBody>
      </p:sp>
      <p:sp>
        <p:nvSpPr>
          <p:cNvPr id="43" name="benzetme"/>
          <p:cNvSpPr/>
          <p:nvPr/>
        </p:nvSpPr>
        <p:spPr>
          <a:xfrm>
            <a:off x="548640" y="4224528"/>
            <a:ext cx="8046720" cy="402336"/>
          </a:xfrm>
          <a:prstGeom prst="roundRect">
            <a:avLst>
              <a:gd name="adj" fmla="val 50000"/>
            </a:avLst>
          </a:prstGeom>
          <a:solidFill>
            <a:srgbClr val="232A55"/>
          </a:solidFill>
          <a:ln/>
        </p:spPr>
      </p:sp>
      <p:sp>
        <p:nvSpPr>
          <p:cNvPr id="44" name="benzetme-ikon"/>
          <p:cNvSpPr/>
          <p:nvPr/>
        </p:nvSpPr>
        <p:spPr>
          <a:xfrm>
            <a:off x="621792" y="4261104"/>
            <a:ext cx="329184" cy="329184"/>
          </a:xfrm>
          <a:prstGeom prst="ellipse">
            <a:avLst/>
          </a:prstGeom>
          <a:solidFill>
            <a:srgbClr val="FBBF24"/>
          </a:solidFill>
          <a:ln/>
        </p:spPr>
      </p:sp>
      <p:sp>
        <p:nvSpPr>
          <p:cNvPr id="45" name="Text 43"/>
          <p:cNvSpPr txBox="1"/>
          <p:nvPr/>
        </p:nvSpPr>
        <p:spPr>
          <a:xfrm>
            <a:off x="621792" y="4261104"/>
            <a:ext cx="329184" cy="329184"/>
          </a:xfrm>
          <a:prstGeom prst="rect">
            <a:avLst/>
          </a:prstGeom>
          <a:noFill/>
          <a:ln/>
        </p:spPr>
        <p:txBody>
          <a:bodyPr wrap="square" lIns="0" tIns="0" rIns="0" bIns="0" rtlCol="0" anchor="ctr"/>
          <a:lstStyle/>
          <a:p>
            <a:pPr marL="0" indent="0" algn="ctr">
              <a:buNone/>
            </a:pPr>
            <a:r>
              <a:rPr lang="en-US" sz="1600" b="1" dirty="0">
                <a:solidFill>
                  <a:srgbClr val="10142B"/>
                </a:solidFill>
                <a:latin typeface="Arial" pitchFamily="34" charset="0"/>
                <a:ea typeface="Arial" pitchFamily="34" charset="-122"/>
                <a:cs typeface="Arial" pitchFamily="34" charset="-120"/>
              </a:rPr>
              <a:t>≈</a:t>
            </a:r>
            <a:endParaRPr lang="en-US" sz="1600" dirty="0"/>
          </a:p>
        </p:txBody>
      </p:sp>
      <p:sp>
        <p:nvSpPr>
          <p:cNvPr id="46" name="Text 44"/>
          <p:cNvSpPr txBox="1"/>
          <p:nvPr/>
        </p:nvSpPr>
        <p:spPr>
          <a:xfrm>
            <a:off x="1042416" y="4224528"/>
            <a:ext cx="7452360" cy="402336"/>
          </a:xfrm>
          <a:prstGeom prst="rect">
            <a:avLst/>
          </a:prstGeom>
          <a:noFill/>
          <a:ln/>
        </p:spPr>
        <p:txBody>
          <a:bodyPr wrap="square" lIns="0" tIns="0" rIns="0" bIns="0" rtlCol="0" anchor="ctr"/>
          <a:lstStyle/>
          <a:p>
            <a:pPr marL="0" indent="0">
              <a:buNone/>
            </a:pPr>
            <a:r>
              <a:rPr lang="en-US" sz="1100" b="1" dirty="0">
                <a:solidFill>
                  <a:srgbClr val="FBBF24"/>
                </a:solidFill>
                <a:latin typeface="Arial" pitchFamily="34" charset="0"/>
                <a:ea typeface="Arial" pitchFamily="34" charset="-122"/>
                <a:cs typeface="Arial" pitchFamily="34" charset="-120"/>
              </a:rPr>
              <a:t>Gündelik hayatta: </a:t>
            </a:r>
            <a:r>
              <a:rPr lang="en-US" sz="1100" dirty="0">
                <a:solidFill>
                  <a:srgbClr val="EEF0F8"/>
                </a:solidFill>
                <a:latin typeface="Arial" pitchFamily="34" charset="0"/>
                <a:ea typeface="Arial" pitchFamily="34" charset="-122"/>
                <a:cs typeface="Arial" pitchFamily="34" charset="-120"/>
              </a:rPr>
              <a:t>okulda anons yapmak gibi: “tüm öğrenciler” (tür), “futbol takımı” (sınıf), “Ahmet Yılmaz” (id). Listede tek seçici hatalıysa bütün kural yok sayılır!</a:t>
            </a:r>
            <a:endParaRPr lang="en-US" sz="1100" dirty="0"/>
          </a:p>
        </p:txBody>
      </p:sp>
    </p:spTree>
  </p:cSld>
  <p:clrMapOvr>
    <a:masterClrMapping/>
  </p:clrMapOvr>
  <p:transition spd="med">
    <p:pull/>
  </p:transition>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256032"/>
            <a:ext cx="4572000" cy="201168"/>
          </a:xfrm>
          <a:prstGeom prst="rect">
            <a:avLst/>
          </a:prstGeom>
          <a:noFill/>
          <a:ln/>
        </p:spPr>
        <p:txBody>
          <a:bodyPr wrap="square" lIns="0" tIns="0" rIns="0" bIns="0" rtlCol="0" anchor="t"/>
          <a:lstStyle/>
          <a:p>
            <a:pPr marL="0" indent="0">
              <a:buNone/>
            </a:pPr>
            <a:r>
              <a:rPr lang="en-US" sz="900" b="1" kern="0" spc="200" dirty="0">
                <a:solidFill>
                  <a:srgbClr val="22D3EE"/>
                </a:solidFill>
                <a:latin typeface="Arial" pitchFamily="34" charset="0"/>
                <a:ea typeface="Arial" pitchFamily="34" charset="-122"/>
                <a:cs typeface="Arial" pitchFamily="34" charset="-120"/>
              </a:rPr>
              <a:t>MODÜL 1 · CSS TEMELLERİ</a:t>
            </a:r>
            <a:endParaRPr lang="en-US" sz="900" dirty="0"/>
          </a:p>
        </p:txBody>
      </p:sp>
      <p:sp>
        <p:nvSpPr>
          <p:cNvPr id="3" name="mini-box-0"/>
          <p:cNvSpPr/>
          <p:nvPr/>
        </p:nvSpPr>
        <p:spPr>
          <a:xfrm>
            <a:off x="8229600" y="201168"/>
            <a:ext cx="384048" cy="384048"/>
          </a:xfrm>
          <a:prstGeom prst="rect">
            <a:avLst/>
          </a:prstGeom>
          <a:ln w="9525">
            <a:solidFill>
              <a:srgbClr val="22D3EE"/>
            </a:solidFill>
            <a:prstDash val="solid"/>
          </a:ln>
        </p:spPr>
      </p:sp>
      <p:sp>
        <p:nvSpPr>
          <p:cNvPr id="4" name="mini-box-1"/>
          <p:cNvSpPr/>
          <p:nvPr/>
        </p:nvSpPr>
        <p:spPr>
          <a:xfrm>
            <a:off x="8293608" y="265176"/>
            <a:ext cx="256032" cy="256032"/>
          </a:xfrm>
          <a:prstGeom prst="rect">
            <a:avLst/>
          </a:prstGeom>
          <a:ln w="9525">
            <a:solidFill>
              <a:srgbClr val="EEF0F8"/>
            </a:solidFill>
            <a:prstDash val="solid"/>
          </a:ln>
        </p:spPr>
      </p:sp>
      <p:sp>
        <p:nvSpPr>
          <p:cNvPr id="5" name="mini-box-2"/>
          <p:cNvSpPr/>
          <p:nvPr/>
        </p:nvSpPr>
        <p:spPr>
          <a:xfrm>
            <a:off x="8348472" y="320040"/>
            <a:ext cx="146304" cy="146304"/>
          </a:xfrm>
          <a:prstGeom prst="rect">
            <a:avLst/>
          </a:prstGeom>
          <a:solidFill>
            <a:srgbClr val="22D3EE"/>
          </a:solidFill>
          <a:ln w="9525">
            <a:solidFill>
              <a:srgbClr val="22D3EE"/>
            </a:solidFill>
            <a:prstDash val="solid"/>
          </a:ln>
        </p:spPr>
      </p:sp>
      <p:sp>
        <p:nvSpPr>
          <p:cNvPr id="6" name="ilerleme-zemin"/>
          <p:cNvSpPr/>
          <p:nvPr/>
        </p:nvSpPr>
        <p:spPr>
          <a:xfrm>
            <a:off x="0" y="5070348"/>
            <a:ext cx="9144000" cy="73152"/>
          </a:xfrm>
          <a:prstGeom prst="rect">
            <a:avLst/>
          </a:prstGeom>
          <a:solidFill>
            <a:srgbClr val="1A2044"/>
          </a:solidFill>
          <a:ln/>
        </p:spPr>
      </p:sp>
      <p:sp>
        <p:nvSpPr>
          <p:cNvPr id="7" name="ilerleme"/>
          <p:cNvSpPr/>
          <p:nvPr/>
        </p:nvSpPr>
        <p:spPr>
          <a:xfrm>
            <a:off x="0" y="5070348"/>
            <a:ext cx="1913860" cy="73152"/>
          </a:xfrm>
          <a:prstGeom prst="rect">
            <a:avLst/>
          </a:prstGeom>
          <a:solidFill>
            <a:srgbClr val="22D3EE"/>
          </a:solidFill>
          <a:ln/>
        </p:spPr>
      </p:sp>
      <p:sp>
        <p:nvSpPr>
          <p:cNvPr id="8" name="Text 6"/>
          <p:cNvSpPr txBox="1"/>
          <p:nvPr/>
        </p:nvSpPr>
        <p:spPr>
          <a:xfrm>
            <a:off x="548640" y="4791456"/>
            <a:ext cx="3657600" cy="201168"/>
          </a:xfrm>
          <a:prstGeom prst="rect">
            <a:avLst/>
          </a:prstGeom>
          <a:noFill/>
          <a:ln/>
        </p:spPr>
        <p:txBody>
          <a:bodyPr wrap="square" lIns="0" tIns="0" rIns="0" bIns="0" rtlCol="0" anchor="t"/>
          <a:lstStyle/>
          <a:p>
            <a:pPr marL="0" indent="0">
              <a:buNone/>
            </a:pPr>
            <a:r>
              <a:rPr lang="en-US" sz="850" dirty="0">
                <a:solidFill>
                  <a:srgbClr val="6C759E"/>
                </a:solidFill>
                <a:latin typeface="Arial" pitchFamily="34" charset="0"/>
                <a:ea typeface="Arial" pitchFamily="34" charset="-122"/>
                <a:cs typeface="Arial" pitchFamily="34" charset="-120"/>
              </a:rPr>
              <a:t>KCŞ A.Ş.  ·  CSS ile stil ve düzen</a:t>
            </a:r>
            <a:endParaRPr lang="en-US" sz="850" dirty="0"/>
          </a:p>
        </p:txBody>
      </p:sp>
      <p:sp>
        <p:nvSpPr>
          <p:cNvPr id="9" name="Text 7"/>
          <p:cNvSpPr txBox="1"/>
          <p:nvPr/>
        </p:nvSpPr>
        <p:spPr>
          <a:xfrm>
            <a:off x="4206240" y="4791456"/>
            <a:ext cx="3840480" cy="201168"/>
          </a:xfrm>
          <a:prstGeom prst="rect">
            <a:avLst/>
          </a:prstGeom>
          <a:noFill/>
          <a:ln/>
        </p:spPr>
        <p:txBody>
          <a:bodyPr wrap="square" lIns="0" tIns="0" rIns="0" bIns="0" rtlCol="0" anchor="t"/>
          <a:lstStyle/>
          <a:p>
            <a:pPr marL="0" indent="0" algn="r">
              <a:buNone/>
            </a:pPr>
            <a:r>
              <a:rPr lang="en-US" sz="850" dirty="0">
                <a:solidFill>
                  <a:srgbClr val="6C759E"/>
                </a:solidFill>
                <a:latin typeface="Arial" pitchFamily="34" charset="0"/>
                <a:ea typeface="Arial" pitchFamily="34" charset="-122"/>
                <a:cs typeface="Arial" pitchFamily="34" charset="-120"/>
              </a:rPr>
              <a:t>MDN · Attribute selectors</a:t>
            </a:r>
            <a:endParaRPr lang="en-US" sz="850" dirty="0"/>
          </a:p>
        </p:txBody>
      </p:sp>
      <p:sp>
        <p:nvSpPr>
          <p:cNvPr id="10" name="Text 8"/>
          <p:cNvSpPr txBox="1"/>
          <p:nvPr/>
        </p:nvSpPr>
        <p:spPr>
          <a:xfrm>
            <a:off x="8092440" y="4791456"/>
            <a:ext cx="685800" cy="201168"/>
          </a:xfrm>
          <a:prstGeom prst="rect">
            <a:avLst/>
          </a:prstGeom>
          <a:noFill/>
          <a:ln/>
        </p:spPr>
        <p:txBody>
          <a:bodyPr wrap="square" lIns="0" tIns="0" rIns="0" bIns="0" rtlCol="0" anchor="t"/>
          <a:lstStyle/>
          <a:p>
            <a:pPr marL="0" indent="0" algn="r">
              <a:buNone/>
            </a:pPr>
            <a:r>
              <a:rPr lang="en-US" sz="850" dirty="0">
                <a:solidFill>
                  <a:srgbClr val="9AA3C7"/>
                </a:solidFill>
                <a:latin typeface="Courier New" pitchFamily="34" charset="0"/>
                <a:ea typeface="Courier New" pitchFamily="34" charset="-122"/>
                <a:cs typeface="Courier New" pitchFamily="34" charset="-120"/>
              </a:rPr>
              <a:t>09 / 43</a:t>
            </a:r>
            <a:endParaRPr lang="en-US" sz="850" dirty="0"/>
          </a:p>
        </p:txBody>
      </p:sp>
      <p:sp>
        <p:nvSpPr>
          <p:cNvPr id="11" name="Text 9"/>
          <p:cNvSpPr txBox="1"/>
          <p:nvPr/>
        </p:nvSpPr>
        <p:spPr>
          <a:xfrm>
            <a:off x="548640" y="502920"/>
            <a:ext cx="5943600" cy="237744"/>
          </a:xfrm>
          <a:prstGeom prst="rect">
            <a:avLst/>
          </a:prstGeom>
          <a:noFill/>
          <a:ln/>
        </p:spPr>
        <p:txBody>
          <a:bodyPr wrap="square" lIns="0" tIns="0" rIns="0" bIns="0" rtlCol="0" anchor="t"/>
          <a:lstStyle/>
          <a:p>
            <a:pPr marL="0" indent="0">
              <a:buNone/>
            </a:pPr>
            <a:r>
              <a:rPr lang="en-US" sz="1100" b="1" dirty="0">
                <a:solidFill>
                  <a:srgbClr val="22D3EE"/>
                </a:solidFill>
                <a:latin typeface="Courier New" pitchFamily="34" charset="0"/>
                <a:ea typeface="Courier New" pitchFamily="34" charset="-122"/>
                <a:cs typeface="Courier New" pitchFamily="34" charset="-120"/>
              </a:rPr>
              <a:t>a[href^="http"]</a:t>
            </a:r>
            <a:endParaRPr lang="en-US" sz="1100" dirty="0"/>
          </a:p>
        </p:txBody>
      </p:sp>
      <p:sp>
        <p:nvSpPr>
          <p:cNvPr id="12" name="Text 10"/>
          <p:cNvSpPr txBox="1"/>
          <p:nvPr/>
        </p:nvSpPr>
        <p:spPr>
          <a:xfrm>
            <a:off x="548640" y="749808"/>
            <a:ext cx="7589520" cy="502920"/>
          </a:xfrm>
          <a:prstGeom prst="rect">
            <a:avLst/>
          </a:prstGeom>
          <a:noFill/>
          <a:ln/>
        </p:spPr>
        <p:txBody>
          <a:bodyPr wrap="square" lIns="0" tIns="0" rIns="0" bIns="0" rtlCol="0" anchor="ctr"/>
          <a:lstStyle/>
          <a:p>
            <a:pPr marL="0" indent="0">
              <a:buNone/>
            </a:pPr>
            <a:r>
              <a:rPr lang="en-US" sz="2400" b="1" dirty="0">
                <a:solidFill>
                  <a:srgbClr val="EEF0F8"/>
                </a:solidFill>
                <a:latin typeface="Arial" pitchFamily="34" charset="0"/>
                <a:ea typeface="Arial" pitchFamily="34" charset="-122"/>
                <a:cs typeface="Arial" pitchFamily="34" charset="-120"/>
              </a:rPr>
              <a:t>Öznitelik seçicileri</a:t>
            </a:r>
            <a:endParaRPr lang="en-US" sz="2400" dirty="0"/>
          </a:p>
        </p:txBody>
      </p:sp>
      <p:graphicFrame>
        <p:nvGraphicFramePr>
          <p:cNvPr id="13" name="tablo"/>
          <p:cNvGraphicFramePr>
            <a:graphicFrameLocks noGrp="1"/>
          </p:cNvGraphicFramePr>
          <p:nvPr>
            <p:extLst>
              <p:ext uri="{D42A27DB-BD31-4B8C-83A1-F6EECF244321}">
                <p14:modId xmlns:p14="http://schemas.microsoft.com/office/powerpoint/2010/main" val="1579011935"/>
              </p:ext>
            </p:extLst>
          </p:nvPr>
        </p:nvGraphicFramePr>
        <p:xfrm>
          <a:off x="548640" y="1371600"/>
          <a:ext cx="5120640" cy="2633472"/>
        </p:xfrm>
        <a:graphic>
          <a:graphicData uri="http://schemas.openxmlformats.org/drawingml/2006/table">
            <a:tbl>
              <a:tblPr/>
              <a:tblGrid>
                <a:gridCol w="1234440">
                  <a:extLst>
                    <a:ext uri="{9D8B030D-6E8A-4147-A177-3AD203B41FA5}">
                      <a16:colId xmlns:a16="http://schemas.microsoft.com/office/drawing/2014/main" val="20000"/>
                    </a:ext>
                  </a:extLst>
                </a:gridCol>
                <a:gridCol w="169164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tblGrid>
              <a:tr h="329184">
                <a:tc>
                  <a:txBody>
                    <a:bodyPr/>
                    <a:lstStyle/>
                    <a:p>
                      <a:pPr marL="0" indent="0">
                        <a:buNone/>
                      </a:pPr>
                      <a:r>
                        <a:rPr lang="en-US" sz="950" b="1" dirty="0">
                          <a:solidFill>
                            <a:srgbClr val="10142B"/>
                          </a:solidFill>
                          <a:latin typeface="Arial" pitchFamily="34" charset="0"/>
                          <a:ea typeface="Arial" pitchFamily="34" charset="-122"/>
                          <a:cs typeface="Arial" pitchFamily="34" charset="-120"/>
                        </a:rPr>
                        <a:t>Seçici</a:t>
                      </a:r>
                      <a:endParaRPr lang="en-US" sz="950" dirty="0">
                        <a:latin typeface="Arial" charset="0"/>
                        <a:ea typeface="Arial" charset="0"/>
                        <a:cs typeface="Arial" charset="0"/>
                      </a:endParaRPr>
                    </a:p>
                  </a:txBody>
                  <a:tcPr marL="64008" marR="64008" marT="0" marB="0" anchor="ctr">
                    <a:lnL w="9525" cap="flat" cmpd="sng" algn="ctr">
                      <a:solidFill>
                        <a:srgbClr val="2E3768"/>
                      </a:solidFill>
                      <a:prstDash val="solid"/>
                      <a:round/>
                      <a:headEnd type="none" w="med" len="med"/>
                      <a:tailEnd type="none" w="med" len="med"/>
                    </a:lnL>
                    <a:lnR w="9525" cap="flat" cmpd="sng" algn="ctr">
                      <a:solidFill>
                        <a:srgbClr val="2E3768"/>
                      </a:solidFill>
                      <a:prstDash val="solid"/>
                      <a:round/>
                      <a:headEnd type="none" w="med" len="med"/>
                      <a:tailEnd type="none" w="med" len="med"/>
                    </a:lnR>
                    <a:lnT w="9525" cap="flat" cmpd="sng" algn="ctr">
                      <a:solidFill>
                        <a:srgbClr val="2E3768"/>
                      </a:solidFill>
                      <a:prstDash val="solid"/>
                      <a:round/>
                      <a:headEnd type="none" w="med" len="med"/>
                      <a:tailEnd type="none" w="med" len="med"/>
                    </a:lnT>
                    <a:lnB w="9525" cap="flat" cmpd="sng" algn="ctr">
                      <a:solidFill>
                        <a:srgbClr val="2E3768"/>
                      </a:solidFill>
                      <a:prstDash val="solid"/>
                      <a:round/>
                      <a:headEnd type="none" w="med" len="med"/>
                      <a:tailEnd type="none" w="med" len="med"/>
                    </a:lnB>
                    <a:solidFill>
                      <a:srgbClr val="22D3EE"/>
                    </a:solidFill>
                  </a:tcPr>
                </a:tc>
                <a:tc>
                  <a:txBody>
                    <a:bodyPr/>
                    <a:lstStyle/>
                    <a:p>
                      <a:pPr marL="0" indent="0">
                        <a:buNone/>
                      </a:pPr>
                      <a:r>
                        <a:rPr lang="en-US" sz="950" b="1" dirty="0">
                          <a:solidFill>
                            <a:srgbClr val="10142B"/>
                          </a:solidFill>
                          <a:latin typeface="Arial" pitchFamily="34" charset="0"/>
                          <a:ea typeface="Arial" pitchFamily="34" charset="-122"/>
                          <a:cs typeface="Arial" pitchFamily="34" charset="-120"/>
                        </a:rPr>
                        <a:t>Örnek</a:t>
                      </a:r>
                      <a:endParaRPr lang="en-US" sz="950" dirty="0">
                        <a:latin typeface="Arial" charset="0"/>
                        <a:ea typeface="Arial" charset="0"/>
                        <a:cs typeface="Arial" charset="0"/>
                      </a:endParaRPr>
                    </a:p>
                  </a:txBody>
                  <a:tcPr marL="64008" marR="64008" marT="0" marB="0" anchor="ctr">
                    <a:lnL w="9525" cap="flat" cmpd="sng" algn="ctr">
                      <a:solidFill>
                        <a:srgbClr val="2E3768"/>
                      </a:solidFill>
                      <a:prstDash val="solid"/>
                      <a:round/>
                      <a:headEnd type="none" w="med" len="med"/>
                      <a:tailEnd type="none" w="med" len="med"/>
                    </a:lnL>
                    <a:lnR w="9525" cap="flat" cmpd="sng" algn="ctr">
                      <a:solidFill>
                        <a:srgbClr val="2E3768"/>
                      </a:solidFill>
                      <a:prstDash val="solid"/>
                      <a:round/>
                      <a:headEnd type="none" w="med" len="med"/>
                      <a:tailEnd type="none" w="med" len="med"/>
                    </a:lnR>
                    <a:lnT w="9525" cap="flat" cmpd="sng" algn="ctr">
                      <a:solidFill>
                        <a:srgbClr val="2E3768"/>
                      </a:solidFill>
                      <a:prstDash val="solid"/>
                      <a:round/>
                      <a:headEnd type="none" w="med" len="med"/>
                      <a:tailEnd type="none" w="med" len="med"/>
                    </a:lnT>
                    <a:lnB w="9525" cap="flat" cmpd="sng" algn="ctr">
                      <a:solidFill>
                        <a:srgbClr val="2E3768"/>
                      </a:solidFill>
                      <a:prstDash val="solid"/>
                      <a:round/>
                      <a:headEnd type="none" w="med" len="med"/>
                      <a:tailEnd type="none" w="med" len="med"/>
                    </a:lnB>
                    <a:solidFill>
                      <a:srgbClr val="22D3EE"/>
                    </a:solidFill>
                  </a:tcPr>
                </a:tc>
                <a:tc>
                  <a:txBody>
                    <a:bodyPr/>
                    <a:lstStyle/>
                    <a:p>
                      <a:pPr marL="0" indent="0">
                        <a:buNone/>
                      </a:pPr>
                      <a:r>
                        <a:rPr lang="en-US" sz="950" b="1" dirty="0">
                          <a:solidFill>
                            <a:srgbClr val="10142B"/>
                          </a:solidFill>
                          <a:latin typeface="Arial" pitchFamily="34" charset="0"/>
                          <a:ea typeface="Arial" pitchFamily="34" charset="-122"/>
                          <a:cs typeface="Arial" pitchFamily="34" charset="-120"/>
                        </a:rPr>
                        <a:t>Eşleşir</a:t>
                      </a:r>
                      <a:endParaRPr lang="en-US" sz="950" dirty="0">
                        <a:latin typeface="Arial" charset="0"/>
                        <a:ea typeface="Arial" charset="0"/>
                        <a:cs typeface="Arial" charset="0"/>
                      </a:endParaRPr>
                    </a:p>
                  </a:txBody>
                  <a:tcPr marL="64008" marR="64008" marT="0" marB="0" anchor="ctr">
                    <a:lnL w="9525" cap="flat" cmpd="sng" algn="ctr">
                      <a:solidFill>
                        <a:srgbClr val="2E3768"/>
                      </a:solidFill>
                      <a:prstDash val="solid"/>
                      <a:round/>
                      <a:headEnd type="none" w="med" len="med"/>
                      <a:tailEnd type="none" w="med" len="med"/>
                    </a:lnL>
                    <a:lnR w="9525" cap="flat" cmpd="sng" algn="ctr">
                      <a:solidFill>
                        <a:srgbClr val="2E3768"/>
                      </a:solidFill>
                      <a:prstDash val="solid"/>
                      <a:round/>
                      <a:headEnd type="none" w="med" len="med"/>
                      <a:tailEnd type="none" w="med" len="med"/>
                    </a:lnR>
                    <a:lnT w="9525" cap="flat" cmpd="sng" algn="ctr">
                      <a:solidFill>
                        <a:srgbClr val="2E3768"/>
                      </a:solidFill>
                      <a:prstDash val="solid"/>
                      <a:round/>
                      <a:headEnd type="none" w="med" len="med"/>
                      <a:tailEnd type="none" w="med" len="med"/>
                    </a:lnT>
                    <a:lnB w="9525" cap="flat" cmpd="sng" algn="ctr">
                      <a:solidFill>
                        <a:srgbClr val="2E3768"/>
                      </a:solidFill>
                      <a:prstDash val="solid"/>
                      <a:round/>
                      <a:headEnd type="none" w="med" len="med"/>
                      <a:tailEnd type="none" w="med" len="med"/>
                    </a:lnB>
                    <a:solidFill>
                      <a:srgbClr val="22D3EE"/>
                    </a:solidFill>
                  </a:tcPr>
                </a:tc>
                <a:extLst>
                  <a:ext uri="{0D108BD9-81ED-4DB2-BD59-A6C34878D82A}">
                    <a16:rowId xmlns:a16="http://schemas.microsoft.com/office/drawing/2014/main" val="10000"/>
                  </a:ext>
                </a:extLst>
              </a:tr>
              <a:tr h="329184">
                <a:tc>
                  <a:txBody>
                    <a:bodyPr/>
                    <a:lstStyle/>
                    <a:p>
                      <a:pPr marL="0" indent="0">
                        <a:buNone/>
                      </a:pPr>
                      <a:r>
                        <a:rPr lang="en-US" sz="950" dirty="0">
                          <a:solidFill>
                            <a:srgbClr val="EEF0F8"/>
                          </a:solidFill>
                          <a:latin typeface="Courier New" pitchFamily="34" charset="0"/>
                          <a:ea typeface="Courier New" pitchFamily="34" charset="-122"/>
                          <a:cs typeface="Courier New" pitchFamily="34" charset="-120"/>
                        </a:rPr>
                        <a:t>[attr]</a:t>
                      </a:r>
                      <a:endParaRPr lang="en-US" sz="950" dirty="0">
                        <a:latin typeface="Courier New" charset="0"/>
                        <a:ea typeface="Courier New" charset="0"/>
                        <a:cs typeface="Courier New" charset="0"/>
                      </a:endParaRPr>
                    </a:p>
                  </a:txBody>
                  <a:tcPr marL="64008" marR="64008" marT="0" marB="0" anchor="ctr">
                    <a:lnL w="9525" cap="flat" cmpd="sng" algn="ctr">
                      <a:solidFill>
                        <a:srgbClr val="2E3768"/>
                      </a:solidFill>
                      <a:prstDash val="solid"/>
                      <a:round/>
                      <a:headEnd type="none" w="med" len="med"/>
                      <a:tailEnd type="none" w="med" len="med"/>
                    </a:lnL>
                    <a:lnR w="9525" cap="flat" cmpd="sng" algn="ctr">
                      <a:solidFill>
                        <a:srgbClr val="2E3768"/>
                      </a:solidFill>
                      <a:prstDash val="solid"/>
                      <a:round/>
                      <a:headEnd type="none" w="med" len="med"/>
                      <a:tailEnd type="none" w="med" len="med"/>
                    </a:lnR>
                    <a:lnT w="9525" cap="flat" cmpd="sng" algn="ctr">
                      <a:solidFill>
                        <a:srgbClr val="2E3768"/>
                      </a:solidFill>
                      <a:prstDash val="solid"/>
                      <a:round/>
                      <a:headEnd type="none" w="med" len="med"/>
                      <a:tailEnd type="none" w="med" len="med"/>
                    </a:lnT>
                    <a:lnB w="9525" cap="flat" cmpd="sng" algn="ctr">
                      <a:solidFill>
                        <a:srgbClr val="2E3768"/>
                      </a:solidFill>
                      <a:prstDash val="solid"/>
                      <a:round/>
                      <a:headEnd type="none" w="med" len="med"/>
                      <a:tailEnd type="none" w="med" len="med"/>
                    </a:lnB>
                    <a:solidFill>
                      <a:srgbClr val="1A2044"/>
                    </a:solidFill>
                  </a:tcPr>
                </a:tc>
                <a:tc>
                  <a:txBody>
                    <a:bodyPr/>
                    <a:lstStyle/>
                    <a:p>
                      <a:pPr marL="0" indent="0">
                        <a:buNone/>
                      </a:pPr>
                      <a:r>
                        <a:rPr lang="en-US" sz="950" dirty="0">
                          <a:solidFill>
                            <a:srgbClr val="EEF0F8"/>
                          </a:solidFill>
                          <a:latin typeface="Courier New" pitchFamily="34" charset="0"/>
                          <a:ea typeface="Courier New" pitchFamily="34" charset="-122"/>
                          <a:cs typeface="Courier New" pitchFamily="34" charset="-120"/>
                        </a:rPr>
                        <a:t>a[title]</a:t>
                      </a:r>
                      <a:endParaRPr lang="en-US" sz="950" dirty="0">
                        <a:latin typeface="Courier New" charset="0"/>
                        <a:ea typeface="Courier New" charset="0"/>
                        <a:cs typeface="Courier New" charset="0"/>
                      </a:endParaRPr>
                    </a:p>
                  </a:txBody>
                  <a:tcPr marL="64008" marR="64008" marT="0" marB="0" anchor="ctr">
                    <a:lnL w="9525" cap="flat" cmpd="sng" algn="ctr">
                      <a:solidFill>
                        <a:srgbClr val="2E3768"/>
                      </a:solidFill>
                      <a:prstDash val="solid"/>
                      <a:round/>
                      <a:headEnd type="none" w="med" len="med"/>
                      <a:tailEnd type="none" w="med" len="med"/>
                    </a:lnL>
                    <a:lnR w="9525" cap="flat" cmpd="sng" algn="ctr">
                      <a:solidFill>
                        <a:srgbClr val="2E3768"/>
                      </a:solidFill>
                      <a:prstDash val="solid"/>
                      <a:round/>
                      <a:headEnd type="none" w="med" len="med"/>
                      <a:tailEnd type="none" w="med" len="med"/>
                    </a:lnR>
                    <a:lnT w="9525" cap="flat" cmpd="sng" algn="ctr">
                      <a:solidFill>
                        <a:srgbClr val="2E3768"/>
                      </a:solidFill>
                      <a:prstDash val="solid"/>
                      <a:round/>
                      <a:headEnd type="none" w="med" len="med"/>
                      <a:tailEnd type="none" w="med" len="med"/>
                    </a:lnT>
                    <a:lnB w="9525" cap="flat" cmpd="sng" algn="ctr">
                      <a:solidFill>
                        <a:srgbClr val="2E3768"/>
                      </a:solidFill>
                      <a:prstDash val="solid"/>
                      <a:round/>
                      <a:headEnd type="none" w="med" len="med"/>
                      <a:tailEnd type="none" w="med" len="med"/>
                    </a:lnB>
                    <a:solidFill>
                      <a:srgbClr val="1A2044"/>
                    </a:solidFill>
                  </a:tcPr>
                </a:tc>
                <a:tc>
                  <a:txBody>
                    <a:bodyPr/>
                    <a:lstStyle/>
                    <a:p>
                      <a:pPr marL="0" indent="0">
                        <a:buNone/>
                      </a:pPr>
                      <a:r>
                        <a:rPr lang="en-US" sz="950" dirty="0">
                          <a:solidFill>
                            <a:srgbClr val="EEF0F8"/>
                          </a:solidFill>
                          <a:latin typeface="Arial" pitchFamily="34" charset="0"/>
                          <a:ea typeface="Arial" pitchFamily="34" charset="-122"/>
                          <a:cs typeface="Arial" pitchFamily="34" charset="-120"/>
                        </a:rPr>
                        <a:t>öznitelik varsa</a:t>
                      </a:r>
                      <a:endParaRPr lang="en-US" sz="950" dirty="0">
                        <a:latin typeface="Arial" charset="0"/>
                        <a:ea typeface="Arial" charset="0"/>
                        <a:cs typeface="Arial" charset="0"/>
                      </a:endParaRPr>
                    </a:p>
                  </a:txBody>
                  <a:tcPr marL="64008" marR="64008" marT="0" marB="0" anchor="ctr">
                    <a:lnL w="9525" cap="flat" cmpd="sng" algn="ctr">
                      <a:solidFill>
                        <a:srgbClr val="2E3768"/>
                      </a:solidFill>
                      <a:prstDash val="solid"/>
                      <a:round/>
                      <a:headEnd type="none" w="med" len="med"/>
                      <a:tailEnd type="none" w="med" len="med"/>
                    </a:lnL>
                    <a:lnR w="9525" cap="flat" cmpd="sng" algn="ctr">
                      <a:solidFill>
                        <a:srgbClr val="2E3768"/>
                      </a:solidFill>
                      <a:prstDash val="solid"/>
                      <a:round/>
                      <a:headEnd type="none" w="med" len="med"/>
                      <a:tailEnd type="none" w="med" len="med"/>
                    </a:lnR>
                    <a:lnT w="9525" cap="flat" cmpd="sng" algn="ctr">
                      <a:solidFill>
                        <a:srgbClr val="2E3768"/>
                      </a:solidFill>
                      <a:prstDash val="solid"/>
                      <a:round/>
                      <a:headEnd type="none" w="med" len="med"/>
                      <a:tailEnd type="none" w="med" len="med"/>
                    </a:lnT>
                    <a:lnB w="9525" cap="flat" cmpd="sng" algn="ctr">
                      <a:solidFill>
                        <a:srgbClr val="2E3768"/>
                      </a:solidFill>
                      <a:prstDash val="solid"/>
                      <a:round/>
                      <a:headEnd type="none" w="med" len="med"/>
                      <a:tailEnd type="none" w="med" len="med"/>
                    </a:lnB>
                    <a:solidFill>
                      <a:srgbClr val="1A2044"/>
                    </a:solidFill>
                  </a:tcPr>
                </a:tc>
                <a:extLst>
                  <a:ext uri="{0D108BD9-81ED-4DB2-BD59-A6C34878D82A}">
                    <a16:rowId xmlns:a16="http://schemas.microsoft.com/office/drawing/2014/main" val="10001"/>
                  </a:ext>
                </a:extLst>
              </a:tr>
              <a:tr h="329184">
                <a:tc>
                  <a:txBody>
                    <a:bodyPr/>
                    <a:lstStyle/>
                    <a:p>
                      <a:pPr marL="0" indent="0">
                        <a:buNone/>
                      </a:pPr>
                      <a:r>
                        <a:rPr lang="en-US" sz="950" dirty="0">
                          <a:solidFill>
                            <a:srgbClr val="EEF0F8"/>
                          </a:solidFill>
                          <a:latin typeface="Courier New" pitchFamily="34" charset="0"/>
                          <a:ea typeface="Courier New" pitchFamily="34" charset="-122"/>
                          <a:cs typeface="Courier New" pitchFamily="34" charset="-120"/>
                        </a:rPr>
                        <a:t>[attr=value]</a:t>
                      </a:r>
                      <a:endParaRPr lang="en-US" sz="950" dirty="0">
                        <a:latin typeface="Courier New" charset="0"/>
                        <a:ea typeface="Courier New" charset="0"/>
                        <a:cs typeface="Courier New" charset="0"/>
                      </a:endParaRPr>
                    </a:p>
                  </a:txBody>
                  <a:tcPr marL="64008" marR="64008" marT="0" marB="0" anchor="ctr">
                    <a:lnL w="9525" cap="flat" cmpd="sng" algn="ctr">
                      <a:solidFill>
                        <a:srgbClr val="2E3768"/>
                      </a:solidFill>
                      <a:prstDash val="solid"/>
                      <a:round/>
                      <a:headEnd type="none" w="med" len="med"/>
                      <a:tailEnd type="none" w="med" len="med"/>
                    </a:lnL>
                    <a:lnR w="9525" cap="flat" cmpd="sng" algn="ctr">
                      <a:solidFill>
                        <a:srgbClr val="2E3768"/>
                      </a:solidFill>
                      <a:prstDash val="solid"/>
                      <a:round/>
                      <a:headEnd type="none" w="med" len="med"/>
                      <a:tailEnd type="none" w="med" len="med"/>
                    </a:lnR>
                    <a:lnT w="9525" cap="flat" cmpd="sng" algn="ctr">
                      <a:solidFill>
                        <a:srgbClr val="2E3768"/>
                      </a:solidFill>
                      <a:prstDash val="solid"/>
                      <a:round/>
                      <a:headEnd type="none" w="med" len="med"/>
                      <a:tailEnd type="none" w="med" len="med"/>
                    </a:lnT>
                    <a:lnB w="9525" cap="flat" cmpd="sng" algn="ctr">
                      <a:solidFill>
                        <a:srgbClr val="2E3768"/>
                      </a:solidFill>
                      <a:prstDash val="solid"/>
                      <a:round/>
                      <a:headEnd type="none" w="med" len="med"/>
                      <a:tailEnd type="none" w="med" len="med"/>
                    </a:lnB>
                    <a:solidFill>
                      <a:srgbClr val="1A2044"/>
                    </a:solidFill>
                  </a:tcPr>
                </a:tc>
                <a:tc>
                  <a:txBody>
                    <a:bodyPr/>
                    <a:lstStyle/>
                    <a:p>
                      <a:pPr marL="0" indent="0">
                        <a:buNone/>
                      </a:pPr>
                      <a:r>
                        <a:rPr lang="en-US" sz="950" dirty="0">
                          <a:solidFill>
                            <a:srgbClr val="EEF0F8"/>
                          </a:solidFill>
                          <a:latin typeface="Courier New" pitchFamily="34" charset="0"/>
                          <a:ea typeface="Courier New" pitchFamily="34" charset="-122"/>
                          <a:cs typeface="Courier New" pitchFamily="34" charset="-120"/>
                        </a:rPr>
                        <a:t>a[href="https://…"]</a:t>
                      </a:r>
                      <a:endParaRPr lang="en-US" sz="950" dirty="0">
                        <a:latin typeface="Courier New" charset="0"/>
                        <a:ea typeface="Courier New" charset="0"/>
                        <a:cs typeface="Courier New" charset="0"/>
                      </a:endParaRPr>
                    </a:p>
                  </a:txBody>
                  <a:tcPr marL="64008" marR="64008" marT="0" marB="0" anchor="ctr">
                    <a:lnL w="9525" cap="flat" cmpd="sng" algn="ctr">
                      <a:solidFill>
                        <a:srgbClr val="2E3768"/>
                      </a:solidFill>
                      <a:prstDash val="solid"/>
                      <a:round/>
                      <a:headEnd type="none" w="med" len="med"/>
                      <a:tailEnd type="none" w="med" len="med"/>
                    </a:lnL>
                    <a:lnR w="9525" cap="flat" cmpd="sng" algn="ctr">
                      <a:solidFill>
                        <a:srgbClr val="2E3768"/>
                      </a:solidFill>
                      <a:prstDash val="solid"/>
                      <a:round/>
                      <a:headEnd type="none" w="med" len="med"/>
                      <a:tailEnd type="none" w="med" len="med"/>
                    </a:lnR>
                    <a:lnT w="9525" cap="flat" cmpd="sng" algn="ctr">
                      <a:solidFill>
                        <a:srgbClr val="2E3768"/>
                      </a:solidFill>
                      <a:prstDash val="solid"/>
                      <a:round/>
                      <a:headEnd type="none" w="med" len="med"/>
                      <a:tailEnd type="none" w="med" len="med"/>
                    </a:lnT>
                    <a:lnB w="9525" cap="flat" cmpd="sng" algn="ctr">
                      <a:solidFill>
                        <a:srgbClr val="2E3768"/>
                      </a:solidFill>
                      <a:prstDash val="solid"/>
                      <a:round/>
                      <a:headEnd type="none" w="med" len="med"/>
                      <a:tailEnd type="none" w="med" len="med"/>
                    </a:lnB>
                    <a:solidFill>
                      <a:srgbClr val="1A2044"/>
                    </a:solidFill>
                  </a:tcPr>
                </a:tc>
                <a:tc>
                  <a:txBody>
                    <a:bodyPr/>
                    <a:lstStyle/>
                    <a:p>
                      <a:pPr marL="0" indent="0">
                        <a:buNone/>
                      </a:pPr>
                      <a:r>
                        <a:rPr lang="en-US" sz="950" dirty="0">
                          <a:solidFill>
                            <a:srgbClr val="EEF0F8"/>
                          </a:solidFill>
                          <a:latin typeface="Arial" pitchFamily="34" charset="0"/>
                          <a:ea typeface="Arial" pitchFamily="34" charset="-122"/>
                          <a:cs typeface="Arial" pitchFamily="34" charset="-120"/>
                        </a:rPr>
                        <a:t>değer tam olarak eşitse</a:t>
                      </a:r>
                      <a:endParaRPr lang="en-US" sz="950" dirty="0">
                        <a:latin typeface="Arial" charset="0"/>
                        <a:ea typeface="Arial" charset="0"/>
                        <a:cs typeface="Arial" charset="0"/>
                      </a:endParaRPr>
                    </a:p>
                  </a:txBody>
                  <a:tcPr marL="64008" marR="64008" marT="0" marB="0" anchor="ctr">
                    <a:lnL w="9525" cap="flat" cmpd="sng" algn="ctr">
                      <a:solidFill>
                        <a:srgbClr val="2E3768"/>
                      </a:solidFill>
                      <a:prstDash val="solid"/>
                      <a:round/>
                      <a:headEnd type="none" w="med" len="med"/>
                      <a:tailEnd type="none" w="med" len="med"/>
                    </a:lnL>
                    <a:lnR w="9525" cap="flat" cmpd="sng" algn="ctr">
                      <a:solidFill>
                        <a:srgbClr val="2E3768"/>
                      </a:solidFill>
                      <a:prstDash val="solid"/>
                      <a:round/>
                      <a:headEnd type="none" w="med" len="med"/>
                      <a:tailEnd type="none" w="med" len="med"/>
                    </a:lnR>
                    <a:lnT w="9525" cap="flat" cmpd="sng" algn="ctr">
                      <a:solidFill>
                        <a:srgbClr val="2E3768"/>
                      </a:solidFill>
                      <a:prstDash val="solid"/>
                      <a:round/>
                      <a:headEnd type="none" w="med" len="med"/>
                      <a:tailEnd type="none" w="med" len="med"/>
                    </a:lnT>
                    <a:lnB w="9525" cap="flat" cmpd="sng" algn="ctr">
                      <a:solidFill>
                        <a:srgbClr val="2E3768"/>
                      </a:solidFill>
                      <a:prstDash val="solid"/>
                      <a:round/>
                      <a:headEnd type="none" w="med" len="med"/>
                      <a:tailEnd type="none" w="med" len="med"/>
                    </a:lnB>
                    <a:solidFill>
                      <a:srgbClr val="1A2044"/>
                    </a:solidFill>
                  </a:tcPr>
                </a:tc>
                <a:extLst>
                  <a:ext uri="{0D108BD9-81ED-4DB2-BD59-A6C34878D82A}">
                    <a16:rowId xmlns:a16="http://schemas.microsoft.com/office/drawing/2014/main" val="10002"/>
                  </a:ext>
                </a:extLst>
              </a:tr>
              <a:tr h="329184">
                <a:tc>
                  <a:txBody>
                    <a:bodyPr/>
                    <a:lstStyle/>
                    <a:p>
                      <a:pPr marL="0" indent="0">
                        <a:buNone/>
                      </a:pPr>
                      <a:r>
                        <a:rPr lang="en-US" sz="950" dirty="0">
                          <a:solidFill>
                            <a:srgbClr val="EEF0F8"/>
                          </a:solidFill>
                          <a:latin typeface="Courier New" pitchFamily="34" charset="0"/>
                          <a:ea typeface="Courier New" pitchFamily="34" charset="-122"/>
                          <a:cs typeface="Courier New" pitchFamily="34" charset="-120"/>
                        </a:rPr>
                        <a:t>[attr~=value]</a:t>
                      </a:r>
                      <a:endParaRPr lang="en-US" sz="950" dirty="0">
                        <a:latin typeface="Courier New" charset="0"/>
                        <a:ea typeface="Courier New" charset="0"/>
                        <a:cs typeface="Courier New" charset="0"/>
                      </a:endParaRPr>
                    </a:p>
                  </a:txBody>
                  <a:tcPr marL="64008" marR="64008" marT="0" marB="0" anchor="ctr">
                    <a:lnL w="9525" cap="flat" cmpd="sng" algn="ctr">
                      <a:solidFill>
                        <a:srgbClr val="2E3768"/>
                      </a:solidFill>
                      <a:prstDash val="solid"/>
                      <a:round/>
                      <a:headEnd type="none" w="med" len="med"/>
                      <a:tailEnd type="none" w="med" len="med"/>
                    </a:lnL>
                    <a:lnR w="9525" cap="flat" cmpd="sng" algn="ctr">
                      <a:solidFill>
                        <a:srgbClr val="2E3768"/>
                      </a:solidFill>
                      <a:prstDash val="solid"/>
                      <a:round/>
                      <a:headEnd type="none" w="med" len="med"/>
                      <a:tailEnd type="none" w="med" len="med"/>
                    </a:lnR>
                    <a:lnT w="9525" cap="flat" cmpd="sng" algn="ctr">
                      <a:solidFill>
                        <a:srgbClr val="2E3768"/>
                      </a:solidFill>
                      <a:prstDash val="solid"/>
                      <a:round/>
                      <a:headEnd type="none" w="med" len="med"/>
                      <a:tailEnd type="none" w="med" len="med"/>
                    </a:lnT>
                    <a:lnB w="9525" cap="flat" cmpd="sng" algn="ctr">
                      <a:solidFill>
                        <a:srgbClr val="2E3768"/>
                      </a:solidFill>
                      <a:prstDash val="solid"/>
                      <a:round/>
                      <a:headEnd type="none" w="med" len="med"/>
                      <a:tailEnd type="none" w="med" len="med"/>
                    </a:lnB>
                    <a:solidFill>
                      <a:srgbClr val="1A2044"/>
                    </a:solidFill>
                  </a:tcPr>
                </a:tc>
                <a:tc>
                  <a:txBody>
                    <a:bodyPr/>
                    <a:lstStyle/>
                    <a:p>
                      <a:pPr marL="0" indent="0">
                        <a:buNone/>
                      </a:pPr>
                      <a:r>
                        <a:rPr lang="en-US" sz="950" dirty="0">
                          <a:solidFill>
                            <a:srgbClr val="EEF0F8"/>
                          </a:solidFill>
                          <a:latin typeface="Courier New" pitchFamily="34" charset="0"/>
                          <a:ea typeface="Courier New" pitchFamily="34" charset="-122"/>
                          <a:cs typeface="Courier New" pitchFamily="34" charset="-120"/>
                        </a:rPr>
                        <a:t>p[class~="special"]</a:t>
                      </a:r>
                      <a:endParaRPr lang="en-US" sz="950" dirty="0">
                        <a:latin typeface="Courier New" charset="0"/>
                        <a:ea typeface="Courier New" charset="0"/>
                        <a:cs typeface="Courier New" charset="0"/>
                      </a:endParaRPr>
                    </a:p>
                  </a:txBody>
                  <a:tcPr marL="64008" marR="64008" marT="0" marB="0" anchor="ctr">
                    <a:lnL w="9525" cap="flat" cmpd="sng" algn="ctr">
                      <a:solidFill>
                        <a:srgbClr val="2E3768"/>
                      </a:solidFill>
                      <a:prstDash val="solid"/>
                      <a:round/>
                      <a:headEnd type="none" w="med" len="med"/>
                      <a:tailEnd type="none" w="med" len="med"/>
                    </a:lnL>
                    <a:lnR w="9525" cap="flat" cmpd="sng" algn="ctr">
                      <a:solidFill>
                        <a:srgbClr val="2E3768"/>
                      </a:solidFill>
                      <a:prstDash val="solid"/>
                      <a:round/>
                      <a:headEnd type="none" w="med" len="med"/>
                      <a:tailEnd type="none" w="med" len="med"/>
                    </a:lnR>
                    <a:lnT w="9525" cap="flat" cmpd="sng" algn="ctr">
                      <a:solidFill>
                        <a:srgbClr val="2E3768"/>
                      </a:solidFill>
                      <a:prstDash val="solid"/>
                      <a:round/>
                      <a:headEnd type="none" w="med" len="med"/>
                      <a:tailEnd type="none" w="med" len="med"/>
                    </a:lnT>
                    <a:lnB w="9525" cap="flat" cmpd="sng" algn="ctr">
                      <a:solidFill>
                        <a:srgbClr val="2E3768"/>
                      </a:solidFill>
                      <a:prstDash val="solid"/>
                      <a:round/>
                      <a:headEnd type="none" w="med" len="med"/>
                      <a:tailEnd type="none" w="med" len="med"/>
                    </a:lnB>
                    <a:solidFill>
                      <a:srgbClr val="1A2044"/>
                    </a:solidFill>
                  </a:tcPr>
                </a:tc>
                <a:tc>
                  <a:txBody>
                    <a:bodyPr/>
                    <a:lstStyle/>
                    <a:p>
                      <a:pPr marL="0" indent="0">
                        <a:buNone/>
                      </a:pPr>
                      <a:r>
                        <a:rPr lang="en-US" sz="950" dirty="0">
                          <a:solidFill>
                            <a:srgbClr val="EEF0F8"/>
                          </a:solidFill>
                          <a:latin typeface="Arial" pitchFamily="34" charset="0"/>
                          <a:ea typeface="Arial" pitchFamily="34" charset="-122"/>
                          <a:cs typeface="Arial" pitchFamily="34" charset="-120"/>
                        </a:rPr>
                        <a:t>boşlukla ayrılmış listede kelime olarak varsa</a:t>
                      </a:r>
                      <a:endParaRPr lang="en-US" sz="950" dirty="0">
                        <a:latin typeface="Arial" charset="0"/>
                        <a:ea typeface="Arial" charset="0"/>
                        <a:cs typeface="Arial" charset="0"/>
                      </a:endParaRPr>
                    </a:p>
                  </a:txBody>
                  <a:tcPr marL="64008" marR="64008" marT="0" marB="0" anchor="ctr">
                    <a:lnL w="9525" cap="flat" cmpd="sng" algn="ctr">
                      <a:solidFill>
                        <a:srgbClr val="2E3768"/>
                      </a:solidFill>
                      <a:prstDash val="solid"/>
                      <a:round/>
                      <a:headEnd type="none" w="med" len="med"/>
                      <a:tailEnd type="none" w="med" len="med"/>
                    </a:lnL>
                    <a:lnR w="9525" cap="flat" cmpd="sng" algn="ctr">
                      <a:solidFill>
                        <a:srgbClr val="2E3768"/>
                      </a:solidFill>
                      <a:prstDash val="solid"/>
                      <a:round/>
                      <a:headEnd type="none" w="med" len="med"/>
                      <a:tailEnd type="none" w="med" len="med"/>
                    </a:lnR>
                    <a:lnT w="9525" cap="flat" cmpd="sng" algn="ctr">
                      <a:solidFill>
                        <a:srgbClr val="2E3768"/>
                      </a:solidFill>
                      <a:prstDash val="solid"/>
                      <a:round/>
                      <a:headEnd type="none" w="med" len="med"/>
                      <a:tailEnd type="none" w="med" len="med"/>
                    </a:lnT>
                    <a:lnB w="9525" cap="flat" cmpd="sng" algn="ctr">
                      <a:solidFill>
                        <a:srgbClr val="2E3768"/>
                      </a:solidFill>
                      <a:prstDash val="solid"/>
                      <a:round/>
                      <a:headEnd type="none" w="med" len="med"/>
                      <a:tailEnd type="none" w="med" len="med"/>
                    </a:lnB>
                    <a:solidFill>
                      <a:srgbClr val="1A2044"/>
                    </a:solidFill>
                  </a:tcPr>
                </a:tc>
                <a:extLst>
                  <a:ext uri="{0D108BD9-81ED-4DB2-BD59-A6C34878D82A}">
                    <a16:rowId xmlns:a16="http://schemas.microsoft.com/office/drawing/2014/main" val="10003"/>
                  </a:ext>
                </a:extLst>
              </a:tr>
              <a:tr h="329184">
                <a:tc>
                  <a:txBody>
                    <a:bodyPr/>
                    <a:lstStyle/>
                    <a:p>
                      <a:pPr marL="0" indent="0">
                        <a:buNone/>
                      </a:pPr>
                      <a:r>
                        <a:rPr lang="en-US" sz="950" dirty="0">
                          <a:solidFill>
                            <a:srgbClr val="EEF0F8"/>
                          </a:solidFill>
                          <a:latin typeface="Courier New" pitchFamily="34" charset="0"/>
                          <a:ea typeface="Courier New" pitchFamily="34" charset="-122"/>
                          <a:cs typeface="Courier New" pitchFamily="34" charset="-120"/>
                        </a:rPr>
                        <a:t>[attr|=value]</a:t>
                      </a:r>
                      <a:endParaRPr lang="en-US" sz="950" dirty="0">
                        <a:latin typeface="Courier New" charset="0"/>
                        <a:ea typeface="Courier New" charset="0"/>
                        <a:cs typeface="Courier New" charset="0"/>
                      </a:endParaRPr>
                    </a:p>
                  </a:txBody>
                  <a:tcPr marL="64008" marR="64008" marT="0" marB="0" anchor="ctr">
                    <a:lnL w="9525" cap="flat" cmpd="sng" algn="ctr">
                      <a:solidFill>
                        <a:srgbClr val="2E3768"/>
                      </a:solidFill>
                      <a:prstDash val="solid"/>
                      <a:round/>
                      <a:headEnd type="none" w="med" len="med"/>
                      <a:tailEnd type="none" w="med" len="med"/>
                    </a:lnL>
                    <a:lnR w="9525" cap="flat" cmpd="sng" algn="ctr">
                      <a:solidFill>
                        <a:srgbClr val="2E3768"/>
                      </a:solidFill>
                      <a:prstDash val="solid"/>
                      <a:round/>
                      <a:headEnd type="none" w="med" len="med"/>
                      <a:tailEnd type="none" w="med" len="med"/>
                    </a:lnR>
                    <a:lnT w="9525" cap="flat" cmpd="sng" algn="ctr">
                      <a:solidFill>
                        <a:srgbClr val="2E3768"/>
                      </a:solidFill>
                      <a:prstDash val="solid"/>
                      <a:round/>
                      <a:headEnd type="none" w="med" len="med"/>
                      <a:tailEnd type="none" w="med" len="med"/>
                    </a:lnT>
                    <a:lnB w="9525" cap="flat" cmpd="sng" algn="ctr">
                      <a:solidFill>
                        <a:srgbClr val="2E3768"/>
                      </a:solidFill>
                      <a:prstDash val="solid"/>
                      <a:round/>
                      <a:headEnd type="none" w="med" len="med"/>
                      <a:tailEnd type="none" w="med" len="med"/>
                    </a:lnB>
                    <a:solidFill>
                      <a:srgbClr val="1A2044"/>
                    </a:solidFill>
                  </a:tcPr>
                </a:tc>
                <a:tc>
                  <a:txBody>
                    <a:bodyPr/>
                    <a:lstStyle/>
                    <a:p>
                      <a:pPr marL="0" indent="0">
                        <a:buNone/>
                      </a:pPr>
                      <a:r>
                        <a:rPr lang="en-US" sz="950" dirty="0">
                          <a:solidFill>
                            <a:srgbClr val="EEF0F8"/>
                          </a:solidFill>
                          <a:latin typeface="Courier New" pitchFamily="34" charset="0"/>
                          <a:ea typeface="Courier New" pitchFamily="34" charset="-122"/>
                          <a:cs typeface="Courier New" pitchFamily="34" charset="-120"/>
                        </a:rPr>
                        <a:t>div[lang|="zh"]</a:t>
                      </a:r>
                      <a:endParaRPr lang="en-US" sz="950" dirty="0">
                        <a:latin typeface="Courier New" charset="0"/>
                        <a:ea typeface="Courier New" charset="0"/>
                        <a:cs typeface="Courier New" charset="0"/>
                      </a:endParaRPr>
                    </a:p>
                  </a:txBody>
                  <a:tcPr marL="64008" marR="64008" marT="0" marB="0" anchor="ctr">
                    <a:lnL w="9525" cap="flat" cmpd="sng" algn="ctr">
                      <a:solidFill>
                        <a:srgbClr val="2E3768"/>
                      </a:solidFill>
                      <a:prstDash val="solid"/>
                      <a:round/>
                      <a:headEnd type="none" w="med" len="med"/>
                      <a:tailEnd type="none" w="med" len="med"/>
                    </a:lnL>
                    <a:lnR w="9525" cap="flat" cmpd="sng" algn="ctr">
                      <a:solidFill>
                        <a:srgbClr val="2E3768"/>
                      </a:solidFill>
                      <a:prstDash val="solid"/>
                      <a:round/>
                      <a:headEnd type="none" w="med" len="med"/>
                      <a:tailEnd type="none" w="med" len="med"/>
                    </a:lnR>
                    <a:lnT w="9525" cap="flat" cmpd="sng" algn="ctr">
                      <a:solidFill>
                        <a:srgbClr val="2E3768"/>
                      </a:solidFill>
                      <a:prstDash val="solid"/>
                      <a:round/>
                      <a:headEnd type="none" w="med" len="med"/>
                      <a:tailEnd type="none" w="med" len="med"/>
                    </a:lnT>
                    <a:lnB w="9525" cap="flat" cmpd="sng" algn="ctr">
                      <a:solidFill>
                        <a:srgbClr val="2E3768"/>
                      </a:solidFill>
                      <a:prstDash val="solid"/>
                      <a:round/>
                      <a:headEnd type="none" w="med" len="med"/>
                      <a:tailEnd type="none" w="med" len="med"/>
                    </a:lnB>
                    <a:solidFill>
                      <a:srgbClr val="1A2044"/>
                    </a:solidFill>
                  </a:tcPr>
                </a:tc>
                <a:tc>
                  <a:txBody>
                    <a:bodyPr/>
                    <a:lstStyle/>
                    <a:p>
                      <a:pPr marL="0" indent="0">
                        <a:buNone/>
                      </a:pPr>
                      <a:r>
                        <a:rPr lang="en-US" sz="950" dirty="0">
                          <a:solidFill>
                            <a:srgbClr val="EEF0F8"/>
                          </a:solidFill>
                          <a:latin typeface="Arial" pitchFamily="34" charset="0"/>
                          <a:ea typeface="Arial" pitchFamily="34" charset="-122"/>
                          <a:cs typeface="Arial" pitchFamily="34" charset="-120"/>
                        </a:rPr>
                        <a:t>tam eşitse ya da değer- ile başlıyorsa</a:t>
                      </a:r>
                      <a:endParaRPr lang="en-US" sz="950" dirty="0">
                        <a:latin typeface="Arial" charset="0"/>
                        <a:ea typeface="Arial" charset="0"/>
                        <a:cs typeface="Arial" charset="0"/>
                      </a:endParaRPr>
                    </a:p>
                  </a:txBody>
                  <a:tcPr marL="64008" marR="64008" marT="0" marB="0" anchor="ctr">
                    <a:lnL w="9525" cap="flat" cmpd="sng" algn="ctr">
                      <a:solidFill>
                        <a:srgbClr val="2E3768"/>
                      </a:solidFill>
                      <a:prstDash val="solid"/>
                      <a:round/>
                      <a:headEnd type="none" w="med" len="med"/>
                      <a:tailEnd type="none" w="med" len="med"/>
                    </a:lnL>
                    <a:lnR w="9525" cap="flat" cmpd="sng" algn="ctr">
                      <a:solidFill>
                        <a:srgbClr val="2E3768"/>
                      </a:solidFill>
                      <a:prstDash val="solid"/>
                      <a:round/>
                      <a:headEnd type="none" w="med" len="med"/>
                      <a:tailEnd type="none" w="med" len="med"/>
                    </a:lnR>
                    <a:lnT w="9525" cap="flat" cmpd="sng" algn="ctr">
                      <a:solidFill>
                        <a:srgbClr val="2E3768"/>
                      </a:solidFill>
                      <a:prstDash val="solid"/>
                      <a:round/>
                      <a:headEnd type="none" w="med" len="med"/>
                      <a:tailEnd type="none" w="med" len="med"/>
                    </a:lnT>
                    <a:lnB w="9525" cap="flat" cmpd="sng" algn="ctr">
                      <a:solidFill>
                        <a:srgbClr val="2E3768"/>
                      </a:solidFill>
                      <a:prstDash val="solid"/>
                      <a:round/>
                      <a:headEnd type="none" w="med" len="med"/>
                      <a:tailEnd type="none" w="med" len="med"/>
                    </a:lnB>
                    <a:solidFill>
                      <a:srgbClr val="1A2044"/>
                    </a:solidFill>
                  </a:tcPr>
                </a:tc>
                <a:extLst>
                  <a:ext uri="{0D108BD9-81ED-4DB2-BD59-A6C34878D82A}">
                    <a16:rowId xmlns:a16="http://schemas.microsoft.com/office/drawing/2014/main" val="10004"/>
                  </a:ext>
                </a:extLst>
              </a:tr>
              <a:tr h="329184">
                <a:tc>
                  <a:txBody>
                    <a:bodyPr/>
                    <a:lstStyle/>
                    <a:p>
                      <a:pPr marL="0" indent="0">
                        <a:buNone/>
                      </a:pPr>
                      <a:r>
                        <a:rPr lang="en-US" sz="950" dirty="0">
                          <a:solidFill>
                            <a:srgbClr val="EEF0F8"/>
                          </a:solidFill>
                          <a:latin typeface="Courier New" pitchFamily="34" charset="0"/>
                          <a:ea typeface="Courier New" pitchFamily="34" charset="-122"/>
                          <a:cs typeface="Courier New" pitchFamily="34" charset="-120"/>
                        </a:rPr>
                        <a:t>[attr^=value]</a:t>
                      </a:r>
                      <a:endParaRPr lang="en-US" sz="950" dirty="0">
                        <a:latin typeface="Courier New" charset="0"/>
                        <a:ea typeface="Courier New" charset="0"/>
                        <a:cs typeface="Courier New" charset="0"/>
                      </a:endParaRPr>
                    </a:p>
                  </a:txBody>
                  <a:tcPr marL="64008" marR="64008" marT="0" marB="0" anchor="ctr">
                    <a:lnL w="9525" cap="flat" cmpd="sng" algn="ctr">
                      <a:solidFill>
                        <a:srgbClr val="2E3768"/>
                      </a:solidFill>
                      <a:prstDash val="solid"/>
                      <a:round/>
                      <a:headEnd type="none" w="med" len="med"/>
                      <a:tailEnd type="none" w="med" len="med"/>
                    </a:lnL>
                    <a:lnR w="9525" cap="flat" cmpd="sng" algn="ctr">
                      <a:solidFill>
                        <a:srgbClr val="2E3768"/>
                      </a:solidFill>
                      <a:prstDash val="solid"/>
                      <a:round/>
                      <a:headEnd type="none" w="med" len="med"/>
                      <a:tailEnd type="none" w="med" len="med"/>
                    </a:lnR>
                    <a:lnT w="9525" cap="flat" cmpd="sng" algn="ctr">
                      <a:solidFill>
                        <a:srgbClr val="2E3768"/>
                      </a:solidFill>
                      <a:prstDash val="solid"/>
                      <a:round/>
                      <a:headEnd type="none" w="med" len="med"/>
                      <a:tailEnd type="none" w="med" len="med"/>
                    </a:lnT>
                    <a:lnB w="9525" cap="flat" cmpd="sng" algn="ctr">
                      <a:solidFill>
                        <a:srgbClr val="2E3768"/>
                      </a:solidFill>
                      <a:prstDash val="solid"/>
                      <a:round/>
                      <a:headEnd type="none" w="med" len="med"/>
                      <a:tailEnd type="none" w="med" len="med"/>
                    </a:lnB>
                    <a:solidFill>
                      <a:srgbClr val="1A2044"/>
                    </a:solidFill>
                  </a:tcPr>
                </a:tc>
                <a:tc>
                  <a:txBody>
                    <a:bodyPr/>
                    <a:lstStyle/>
                    <a:p>
                      <a:pPr marL="0" indent="0">
                        <a:buNone/>
                      </a:pPr>
                      <a:r>
                        <a:rPr lang="en-US" sz="950" dirty="0">
                          <a:solidFill>
                            <a:srgbClr val="EEF0F8"/>
                          </a:solidFill>
                          <a:latin typeface="Courier New" pitchFamily="34" charset="0"/>
                          <a:ea typeface="Courier New" pitchFamily="34" charset="-122"/>
                          <a:cs typeface="Courier New" pitchFamily="34" charset="-120"/>
                        </a:rPr>
                        <a:t>li[class^="box-"]</a:t>
                      </a:r>
                      <a:endParaRPr lang="en-US" sz="950" dirty="0">
                        <a:latin typeface="Courier New" charset="0"/>
                        <a:ea typeface="Courier New" charset="0"/>
                        <a:cs typeface="Courier New" charset="0"/>
                      </a:endParaRPr>
                    </a:p>
                  </a:txBody>
                  <a:tcPr marL="64008" marR="64008" marT="0" marB="0" anchor="ctr">
                    <a:lnL w="9525" cap="flat" cmpd="sng" algn="ctr">
                      <a:solidFill>
                        <a:srgbClr val="2E3768"/>
                      </a:solidFill>
                      <a:prstDash val="solid"/>
                      <a:round/>
                      <a:headEnd type="none" w="med" len="med"/>
                      <a:tailEnd type="none" w="med" len="med"/>
                    </a:lnL>
                    <a:lnR w="9525" cap="flat" cmpd="sng" algn="ctr">
                      <a:solidFill>
                        <a:srgbClr val="2E3768"/>
                      </a:solidFill>
                      <a:prstDash val="solid"/>
                      <a:round/>
                      <a:headEnd type="none" w="med" len="med"/>
                      <a:tailEnd type="none" w="med" len="med"/>
                    </a:lnR>
                    <a:lnT w="9525" cap="flat" cmpd="sng" algn="ctr">
                      <a:solidFill>
                        <a:srgbClr val="2E3768"/>
                      </a:solidFill>
                      <a:prstDash val="solid"/>
                      <a:round/>
                      <a:headEnd type="none" w="med" len="med"/>
                      <a:tailEnd type="none" w="med" len="med"/>
                    </a:lnT>
                    <a:lnB w="9525" cap="flat" cmpd="sng" algn="ctr">
                      <a:solidFill>
                        <a:srgbClr val="2E3768"/>
                      </a:solidFill>
                      <a:prstDash val="solid"/>
                      <a:round/>
                      <a:headEnd type="none" w="med" len="med"/>
                      <a:tailEnd type="none" w="med" len="med"/>
                    </a:lnB>
                    <a:solidFill>
                      <a:srgbClr val="1A2044"/>
                    </a:solidFill>
                  </a:tcPr>
                </a:tc>
                <a:tc>
                  <a:txBody>
                    <a:bodyPr/>
                    <a:lstStyle/>
                    <a:p>
                      <a:pPr marL="0" indent="0">
                        <a:buNone/>
                      </a:pPr>
                      <a:r>
                        <a:rPr lang="en-US" sz="950" dirty="0">
                          <a:solidFill>
                            <a:srgbClr val="EEF0F8"/>
                          </a:solidFill>
                          <a:latin typeface="Arial" pitchFamily="34" charset="0"/>
                          <a:ea typeface="Arial" pitchFamily="34" charset="-122"/>
                          <a:cs typeface="Arial" pitchFamily="34" charset="-120"/>
                        </a:rPr>
                        <a:t>değer bununla başlıyorsa</a:t>
                      </a:r>
                      <a:endParaRPr lang="en-US" sz="950" dirty="0">
                        <a:latin typeface="Arial" charset="0"/>
                        <a:ea typeface="Arial" charset="0"/>
                        <a:cs typeface="Arial" charset="0"/>
                      </a:endParaRPr>
                    </a:p>
                  </a:txBody>
                  <a:tcPr marL="64008" marR="64008" marT="0" marB="0" anchor="ctr">
                    <a:lnL w="9525" cap="flat" cmpd="sng" algn="ctr">
                      <a:solidFill>
                        <a:srgbClr val="2E3768"/>
                      </a:solidFill>
                      <a:prstDash val="solid"/>
                      <a:round/>
                      <a:headEnd type="none" w="med" len="med"/>
                      <a:tailEnd type="none" w="med" len="med"/>
                    </a:lnL>
                    <a:lnR w="9525" cap="flat" cmpd="sng" algn="ctr">
                      <a:solidFill>
                        <a:srgbClr val="2E3768"/>
                      </a:solidFill>
                      <a:prstDash val="solid"/>
                      <a:round/>
                      <a:headEnd type="none" w="med" len="med"/>
                      <a:tailEnd type="none" w="med" len="med"/>
                    </a:lnR>
                    <a:lnT w="9525" cap="flat" cmpd="sng" algn="ctr">
                      <a:solidFill>
                        <a:srgbClr val="2E3768"/>
                      </a:solidFill>
                      <a:prstDash val="solid"/>
                      <a:round/>
                      <a:headEnd type="none" w="med" len="med"/>
                      <a:tailEnd type="none" w="med" len="med"/>
                    </a:lnT>
                    <a:lnB w="9525" cap="flat" cmpd="sng" algn="ctr">
                      <a:solidFill>
                        <a:srgbClr val="2E3768"/>
                      </a:solidFill>
                      <a:prstDash val="solid"/>
                      <a:round/>
                      <a:headEnd type="none" w="med" len="med"/>
                      <a:tailEnd type="none" w="med" len="med"/>
                    </a:lnB>
                    <a:solidFill>
                      <a:srgbClr val="1A2044"/>
                    </a:solidFill>
                  </a:tcPr>
                </a:tc>
                <a:extLst>
                  <a:ext uri="{0D108BD9-81ED-4DB2-BD59-A6C34878D82A}">
                    <a16:rowId xmlns:a16="http://schemas.microsoft.com/office/drawing/2014/main" val="10005"/>
                  </a:ext>
                </a:extLst>
              </a:tr>
              <a:tr h="329184">
                <a:tc>
                  <a:txBody>
                    <a:bodyPr/>
                    <a:lstStyle/>
                    <a:p>
                      <a:pPr marL="0" indent="0">
                        <a:buNone/>
                      </a:pPr>
                      <a:r>
                        <a:rPr lang="en-US" sz="950" dirty="0">
                          <a:solidFill>
                            <a:srgbClr val="EEF0F8"/>
                          </a:solidFill>
                          <a:latin typeface="Courier New" pitchFamily="34" charset="0"/>
                          <a:ea typeface="Courier New" pitchFamily="34" charset="-122"/>
                          <a:cs typeface="Courier New" pitchFamily="34" charset="-120"/>
                        </a:rPr>
                        <a:t>[attr$=value]</a:t>
                      </a:r>
                      <a:endParaRPr lang="en-US" sz="950" dirty="0">
                        <a:latin typeface="Courier New" charset="0"/>
                        <a:ea typeface="Courier New" charset="0"/>
                        <a:cs typeface="Courier New" charset="0"/>
                      </a:endParaRPr>
                    </a:p>
                  </a:txBody>
                  <a:tcPr marL="64008" marR="64008" marT="0" marB="0" anchor="ctr">
                    <a:lnL w="9525" cap="flat" cmpd="sng" algn="ctr">
                      <a:solidFill>
                        <a:srgbClr val="2E3768"/>
                      </a:solidFill>
                      <a:prstDash val="solid"/>
                      <a:round/>
                      <a:headEnd type="none" w="med" len="med"/>
                      <a:tailEnd type="none" w="med" len="med"/>
                    </a:lnL>
                    <a:lnR w="9525" cap="flat" cmpd="sng" algn="ctr">
                      <a:solidFill>
                        <a:srgbClr val="2E3768"/>
                      </a:solidFill>
                      <a:prstDash val="solid"/>
                      <a:round/>
                      <a:headEnd type="none" w="med" len="med"/>
                      <a:tailEnd type="none" w="med" len="med"/>
                    </a:lnR>
                    <a:lnT w="9525" cap="flat" cmpd="sng" algn="ctr">
                      <a:solidFill>
                        <a:srgbClr val="2E3768"/>
                      </a:solidFill>
                      <a:prstDash val="solid"/>
                      <a:round/>
                      <a:headEnd type="none" w="med" len="med"/>
                      <a:tailEnd type="none" w="med" len="med"/>
                    </a:lnT>
                    <a:lnB w="9525" cap="flat" cmpd="sng" algn="ctr">
                      <a:solidFill>
                        <a:srgbClr val="2E3768"/>
                      </a:solidFill>
                      <a:prstDash val="solid"/>
                      <a:round/>
                      <a:headEnd type="none" w="med" len="med"/>
                      <a:tailEnd type="none" w="med" len="med"/>
                    </a:lnB>
                    <a:solidFill>
                      <a:srgbClr val="1A2044"/>
                    </a:solidFill>
                  </a:tcPr>
                </a:tc>
                <a:tc>
                  <a:txBody>
                    <a:bodyPr/>
                    <a:lstStyle/>
                    <a:p>
                      <a:pPr marL="0" indent="0">
                        <a:buNone/>
                      </a:pPr>
                      <a:r>
                        <a:rPr lang="en-US" sz="950" dirty="0">
                          <a:solidFill>
                            <a:srgbClr val="EEF0F8"/>
                          </a:solidFill>
                          <a:latin typeface="Courier New" pitchFamily="34" charset="0"/>
                          <a:ea typeface="Courier New" pitchFamily="34" charset="-122"/>
                          <a:cs typeface="Courier New" pitchFamily="34" charset="-120"/>
                        </a:rPr>
                        <a:t>li[class$="-box"]</a:t>
                      </a:r>
                      <a:endParaRPr lang="en-US" sz="950" dirty="0">
                        <a:latin typeface="Courier New" charset="0"/>
                        <a:ea typeface="Courier New" charset="0"/>
                        <a:cs typeface="Courier New" charset="0"/>
                      </a:endParaRPr>
                    </a:p>
                  </a:txBody>
                  <a:tcPr marL="64008" marR="64008" marT="0" marB="0" anchor="ctr">
                    <a:lnL w="9525" cap="flat" cmpd="sng" algn="ctr">
                      <a:solidFill>
                        <a:srgbClr val="2E3768"/>
                      </a:solidFill>
                      <a:prstDash val="solid"/>
                      <a:round/>
                      <a:headEnd type="none" w="med" len="med"/>
                      <a:tailEnd type="none" w="med" len="med"/>
                    </a:lnL>
                    <a:lnR w="9525" cap="flat" cmpd="sng" algn="ctr">
                      <a:solidFill>
                        <a:srgbClr val="2E3768"/>
                      </a:solidFill>
                      <a:prstDash val="solid"/>
                      <a:round/>
                      <a:headEnd type="none" w="med" len="med"/>
                      <a:tailEnd type="none" w="med" len="med"/>
                    </a:lnR>
                    <a:lnT w="9525" cap="flat" cmpd="sng" algn="ctr">
                      <a:solidFill>
                        <a:srgbClr val="2E3768"/>
                      </a:solidFill>
                      <a:prstDash val="solid"/>
                      <a:round/>
                      <a:headEnd type="none" w="med" len="med"/>
                      <a:tailEnd type="none" w="med" len="med"/>
                    </a:lnT>
                    <a:lnB w="9525" cap="flat" cmpd="sng" algn="ctr">
                      <a:solidFill>
                        <a:srgbClr val="2E3768"/>
                      </a:solidFill>
                      <a:prstDash val="solid"/>
                      <a:round/>
                      <a:headEnd type="none" w="med" len="med"/>
                      <a:tailEnd type="none" w="med" len="med"/>
                    </a:lnB>
                    <a:solidFill>
                      <a:srgbClr val="1A2044"/>
                    </a:solidFill>
                  </a:tcPr>
                </a:tc>
                <a:tc>
                  <a:txBody>
                    <a:bodyPr/>
                    <a:lstStyle/>
                    <a:p>
                      <a:pPr marL="0" indent="0">
                        <a:buNone/>
                      </a:pPr>
                      <a:r>
                        <a:rPr lang="en-US" sz="950" dirty="0">
                          <a:solidFill>
                            <a:srgbClr val="EEF0F8"/>
                          </a:solidFill>
                          <a:latin typeface="Arial" pitchFamily="34" charset="0"/>
                          <a:ea typeface="Arial" pitchFamily="34" charset="-122"/>
                          <a:cs typeface="Arial" pitchFamily="34" charset="-120"/>
                        </a:rPr>
                        <a:t>değer bununla bitiyorsa</a:t>
                      </a:r>
                      <a:endParaRPr lang="en-US" sz="950" dirty="0">
                        <a:latin typeface="Arial" charset="0"/>
                        <a:ea typeface="Arial" charset="0"/>
                        <a:cs typeface="Arial" charset="0"/>
                      </a:endParaRPr>
                    </a:p>
                  </a:txBody>
                  <a:tcPr marL="64008" marR="64008" marT="0" marB="0" anchor="ctr">
                    <a:lnL w="9525" cap="flat" cmpd="sng" algn="ctr">
                      <a:solidFill>
                        <a:srgbClr val="2E3768"/>
                      </a:solidFill>
                      <a:prstDash val="solid"/>
                      <a:round/>
                      <a:headEnd type="none" w="med" len="med"/>
                      <a:tailEnd type="none" w="med" len="med"/>
                    </a:lnL>
                    <a:lnR w="9525" cap="flat" cmpd="sng" algn="ctr">
                      <a:solidFill>
                        <a:srgbClr val="2E3768"/>
                      </a:solidFill>
                      <a:prstDash val="solid"/>
                      <a:round/>
                      <a:headEnd type="none" w="med" len="med"/>
                      <a:tailEnd type="none" w="med" len="med"/>
                    </a:lnR>
                    <a:lnT w="9525" cap="flat" cmpd="sng" algn="ctr">
                      <a:solidFill>
                        <a:srgbClr val="2E3768"/>
                      </a:solidFill>
                      <a:prstDash val="solid"/>
                      <a:round/>
                      <a:headEnd type="none" w="med" len="med"/>
                      <a:tailEnd type="none" w="med" len="med"/>
                    </a:lnT>
                    <a:lnB w="9525" cap="flat" cmpd="sng" algn="ctr">
                      <a:solidFill>
                        <a:srgbClr val="2E3768"/>
                      </a:solidFill>
                      <a:prstDash val="solid"/>
                      <a:round/>
                      <a:headEnd type="none" w="med" len="med"/>
                      <a:tailEnd type="none" w="med" len="med"/>
                    </a:lnB>
                    <a:solidFill>
                      <a:srgbClr val="1A2044"/>
                    </a:solidFill>
                  </a:tcPr>
                </a:tc>
                <a:extLst>
                  <a:ext uri="{0D108BD9-81ED-4DB2-BD59-A6C34878D82A}">
                    <a16:rowId xmlns:a16="http://schemas.microsoft.com/office/drawing/2014/main" val="10006"/>
                  </a:ext>
                </a:extLst>
              </a:tr>
              <a:tr h="329184">
                <a:tc>
                  <a:txBody>
                    <a:bodyPr/>
                    <a:lstStyle/>
                    <a:p>
                      <a:pPr marL="0" indent="0">
                        <a:buNone/>
                      </a:pPr>
                      <a:r>
                        <a:rPr lang="en-US" sz="950" dirty="0">
                          <a:solidFill>
                            <a:srgbClr val="EEF0F8"/>
                          </a:solidFill>
                          <a:latin typeface="Courier New" pitchFamily="34" charset="0"/>
                          <a:ea typeface="Courier New" pitchFamily="34" charset="-122"/>
                          <a:cs typeface="Courier New" pitchFamily="34" charset="-120"/>
                        </a:rPr>
                        <a:t>[attr*=value]</a:t>
                      </a:r>
                      <a:endParaRPr lang="en-US" sz="950" dirty="0">
                        <a:latin typeface="Courier New" charset="0"/>
                        <a:ea typeface="Courier New" charset="0"/>
                        <a:cs typeface="Courier New" charset="0"/>
                      </a:endParaRPr>
                    </a:p>
                  </a:txBody>
                  <a:tcPr marL="64008" marR="64008" marT="0" marB="0" anchor="ctr">
                    <a:lnL w="9525" cap="flat" cmpd="sng" algn="ctr">
                      <a:solidFill>
                        <a:srgbClr val="2E3768"/>
                      </a:solidFill>
                      <a:prstDash val="solid"/>
                      <a:round/>
                      <a:headEnd type="none" w="med" len="med"/>
                      <a:tailEnd type="none" w="med" len="med"/>
                    </a:lnL>
                    <a:lnR w="9525" cap="flat" cmpd="sng" algn="ctr">
                      <a:solidFill>
                        <a:srgbClr val="2E3768"/>
                      </a:solidFill>
                      <a:prstDash val="solid"/>
                      <a:round/>
                      <a:headEnd type="none" w="med" len="med"/>
                      <a:tailEnd type="none" w="med" len="med"/>
                    </a:lnR>
                    <a:lnT w="9525" cap="flat" cmpd="sng" algn="ctr">
                      <a:solidFill>
                        <a:srgbClr val="2E3768"/>
                      </a:solidFill>
                      <a:prstDash val="solid"/>
                      <a:round/>
                      <a:headEnd type="none" w="med" len="med"/>
                      <a:tailEnd type="none" w="med" len="med"/>
                    </a:lnT>
                    <a:lnB w="9525" cap="flat" cmpd="sng" algn="ctr">
                      <a:solidFill>
                        <a:srgbClr val="2E3768"/>
                      </a:solidFill>
                      <a:prstDash val="solid"/>
                      <a:round/>
                      <a:headEnd type="none" w="med" len="med"/>
                      <a:tailEnd type="none" w="med" len="med"/>
                    </a:lnB>
                    <a:solidFill>
                      <a:srgbClr val="1A2044"/>
                    </a:solidFill>
                  </a:tcPr>
                </a:tc>
                <a:tc>
                  <a:txBody>
                    <a:bodyPr/>
                    <a:lstStyle/>
                    <a:p>
                      <a:pPr marL="0" indent="0">
                        <a:buNone/>
                      </a:pPr>
                      <a:r>
                        <a:rPr lang="en-US" sz="950" dirty="0">
                          <a:solidFill>
                            <a:srgbClr val="EEF0F8"/>
                          </a:solidFill>
                          <a:latin typeface="Courier New" pitchFamily="34" charset="0"/>
                          <a:ea typeface="Courier New" pitchFamily="34" charset="-122"/>
                          <a:cs typeface="Courier New" pitchFamily="34" charset="-120"/>
                        </a:rPr>
                        <a:t>li[class*="box"]</a:t>
                      </a:r>
                      <a:endParaRPr lang="en-US" sz="950" dirty="0">
                        <a:latin typeface="Courier New" charset="0"/>
                        <a:ea typeface="Courier New" charset="0"/>
                        <a:cs typeface="Courier New" charset="0"/>
                      </a:endParaRPr>
                    </a:p>
                  </a:txBody>
                  <a:tcPr marL="64008" marR="64008" marT="0" marB="0" anchor="ctr">
                    <a:lnL w="9525" cap="flat" cmpd="sng" algn="ctr">
                      <a:solidFill>
                        <a:srgbClr val="2E3768"/>
                      </a:solidFill>
                      <a:prstDash val="solid"/>
                      <a:round/>
                      <a:headEnd type="none" w="med" len="med"/>
                      <a:tailEnd type="none" w="med" len="med"/>
                    </a:lnL>
                    <a:lnR w="9525" cap="flat" cmpd="sng" algn="ctr">
                      <a:solidFill>
                        <a:srgbClr val="2E3768"/>
                      </a:solidFill>
                      <a:prstDash val="solid"/>
                      <a:round/>
                      <a:headEnd type="none" w="med" len="med"/>
                      <a:tailEnd type="none" w="med" len="med"/>
                    </a:lnR>
                    <a:lnT w="9525" cap="flat" cmpd="sng" algn="ctr">
                      <a:solidFill>
                        <a:srgbClr val="2E3768"/>
                      </a:solidFill>
                      <a:prstDash val="solid"/>
                      <a:round/>
                      <a:headEnd type="none" w="med" len="med"/>
                      <a:tailEnd type="none" w="med" len="med"/>
                    </a:lnT>
                    <a:lnB w="9525" cap="flat" cmpd="sng" algn="ctr">
                      <a:solidFill>
                        <a:srgbClr val="2E3768"/>
                      </a:solidFill>
                      <a:prstDash val="solid"/>
                      <a:round/>
                      <a:headEnd type="none" w="med" len="med"/>
                      <a:tailEnd type="none" w="med" len="med"/>
                    </a:lnB>
                    <a:solidFill>
                      <a:srgbClr val="1A2044"/>
                    </a:solidFill>
                  </a:tcPr>
                </a:tc>
                <a:tc>
                  <a:txBody>
                    <a:bodyPr/>
                    <a:lstStyle/>
                    <a:p>
                      <a:pPr marL="0" indent="0">
                        <a:buNone/>
                      </a:pPr>
                      <a:r>
                        <a:rPr lang="en-US" sz="950" dirty="0">
                          <a:solidFill>
                            <a:srgbClr val="EEF0F8"/>
                          </a:solidFill>
                          <a:latin typeface="Arial" pitchFamily="34" charset="0"/>
                          <a:ea typeface="Arial" pitchFamily="34" charset="-122"/>
                          <a:cs typeface="Arial" pitchFamily="34" charset="-120"/>
                        </a:rPr>
                        <a:t>değerin herhangi bir yerinde geçiyorsa</a:t>
                      </a:r>
                      <a:endParaRPr lang="en-US" sz="950" dirty="0">
                        <a:latin typeface="Arial" charset="0"/>
                        <a:ea typeface="Arial" charset="0"/>
                        <a:cs typeface="Arial" charset="0"/>
                      </a:endParaRPr>
                    </a:p>
                  </a:txBody>
                  <a:tcPr marL="64008" marR="64008" marT="0" marB="0" anchor="ctr">
                    <a:lnL w="9525" cap="flat" cmpd="sng" algn="ctr">
                      <a:solidFill>
                        <a:srgbClr val="2E3768"/>
                      </a:solidFill>
                      <a:prstDash val="solid"/>
                      <a:round/>
                      <a:headEnd type="none" w="med" len="med"/>
                      <a:tailEnd type="none" w="med" len="med"/>
                    </a:lnL>
                    <a:lnR w="9525" cap="flat" cmpd="sng" algn="ctr">
                      <a:solidFill>
                        <a:srgbClr val="2E3768"/>
                      </a:solidFill>
                      <a:prstDash val="solid"/>
                      <a:round/>
                      <a:headEnd type="none" w="med" len="med"/>
                      <a:tailEnd type="none" w="med" len="med"/>
                    </a:lnR>
                    <a:lnT w="9525" cap="flat" cmpd="sng" algn="ctr">
                      <a:solidFill>
                        <a:srgbClr val="2E3768"/>
                      </a:solidFill>
                      <a:prstDash val="solid"/>
                      <a:round/>
                      <a:headEnd type="none" w="med" len="med"/>
                      <a:tailEnd type="none" w="med" len="med"/>
                    </a:lnT>
                    <a:lnB w="9525" cap="flat" cmpd="sng" algn="ctr">
                      <a:solidFill>
                        <a:srgbClr val="2E3768"/>
                      </a:solidFill>
                      <a:prstDash val="solid"/>
                      <a:round/>
                      <a:headEnd type="none" w="med" len="med"/>
                      <a:tailEnd type="none" w="med" len="med"/>
                    </a:lnB>
                    <a:solidFill>
                      <a:srgbClr val="1A2044"/>
                    </a:solidFill>
                  </a:tcPr>
                </a:tc>
                <a:extLst>
                  <a:ext uri="{0D108BD9-81ED-4DB2-BD59-A6C34878D82A}">
                    <a16:rowId xmlns:a16="http://schemas.microsoft.com/office/drawing/2014/main" val="10007"/>
                  </a:ext>
                </a:extLst>
              </a:tr>
            </a:tbl>
          </a:graphicData>
        </a:graphic>
      </p:graphicFrame>
      <p:sp>
        <p:nvSpPr>
          <p:cNvPr id="14" name="kart"/>
          <p:cNvSpPr/>
          <p:nvPr/>
        </p:nvSpPr>
        <p:spPr>
          <a:xfrm>
            <a:off x="5897880" y="1371600"/>
            <a:ext cx="2697480" cy="2724912"/>
          </a:xfrm>
          <a:prstGeom prst="roundRect">
            <a:avLst>
              <a:gd name="adj" fmla="val 2712"/>
            </a:avLst>
          </a:prstGeom>
          <a:solidFill>
            <a:srgbClr val="1A2044"/>
          </a:solidFill>
          <a:ln w="9525">
            <a:solidFill>
              <a:srgbClr val="2E3768"/>
            </a:solidFill>
            <a:prstDash val="solid"/>
          </a:ln>
        </p:spPr>
      </p:sp>
      <p:sp>
        <p:nvSpPr>
          <p:cNvPr id="15" name="kart-nokta"/>
          <p:cNvSpPr/>
          <p:nvPr/>
        </p:nvSpPr>
        <p:spPr>
          <a:xfrm>
            <a:off x="6044184" y="1527048"/>
            <a:ext cx="91440" cy="91440"/>
          </a:xfrm>
          <a:prstGeom prst="ellipse">
            <a:avLst/>
          </a:prstGeom>
          <a:solidFill>
            <a:srgbClr val="F472B6"/>
          </a:solidFill>
          <a:ln/>
        </p:spPr>
      </p:sp>
      <p:sp>
        <p:nvSpPr>
          <p:cNvPr id="16" name="Text 13"/>
          <p:cNvSpPr txBox="1"/>
          <p:nvPr/>
        </p:nvSpPr>
        <p:spPr>
          <a:xfrm>
            <a:off x="6208776" y="1444752"/>
            <a:ext cx="2286000" cy="274320"/>
          </a:xfrm>
          <a:prstGeom prst="rect">
            <a:avLst/>
          </a:prstGeom>
          <a:noFill/>
          <a:ln/>
        </p:spPr>
        <p:txBody>
          <a:bodyPr wrap="square" lIns="0" tIns="0" rIns="0" bIns="0" rtlCol="0" anchor="ctr"/>
          <a:lstStyle/>
          <a:p>
            <a:pPr marL="0" indent="0">
              <a:buNone/>
            </a:pPr>
            <a:r>
              <a:rPr lang="en-US" sz="1300" b="1" dirty="0">
                <a:solidFill>
                  <a:srgbClr val="EEF0F8"/>
                </a:solidFill>
                <a:latin typeface="Arial" pitchFamily="34" charset="0"/>
                <a:ea typeface="Arial" pitchFamily="34" charset="-122"/>
                <a:cs typeface="Arial" pitchFamily="34" charset="-120"/>
              </a:rPr>
              <a:t>Örnek: hangisi seçilir?</a:t>
            </a:r>
            <a:endParaRPr lang="en-US" sz="1300" dirty="0"/>
          </a:p>
        </p:txBody>
      </p:sp>
      <p:sp>
        <p:nvSpPr>
          <p:cNvPr id="17" name="kod-paneli"/>
          <p:cNvSpPr/>
          <p:nvPr/>
        </p:nvSpPr>
        <p:spPr>
          <a:xfrm>
            <a:off x="6035040" y="1737360"/>
            <a:ext cx="2423160" cy="960120"/>
          </a:xfrm>
          <a:prstGeom prst="roundRect">
            <a:avLst>
              <a:gd name="adj" fmla="val 7619"/>
            </a:avLst>
          </a:prstGeom>
          <a:solidFill>
            <a:srgbClr val="0A0D1F"/>
          </a:solidFill>
          <a:ln w="9525">
            <a:solidFill>
              <a:srgbClr val="2E3768"/>
            </a:solidFill>
            <a:prstDash val="solid"/>
          </a:ln>
        </p:spPr>
      </p:sp>
      <p:sp>
        <p:nvSpPr>
          <p:cNvPr id="18" name="Text 15"/>
          <p:cNvSpPr txBox="1"/>
          <p:nvPr/>
        </p:nvSpPr>
        <p:spPr>
          <a:xfrm>
            <a:off x="6181344" y="1847088"/>
            <a:ext cx="2148840" cy="758952"/>
          </a:xfrm>
          <a:prstGeom prst="rect">
            <a:avLst/>
          </a:prstGeom>
          <a:noFill/>
          <a:ln/>
        </p:spPr>
        <p:txBody>
          <a:bodyPr wrap="square" lIns="0" tIns="0" rIns="0" bIns="0" rtlCol="0" anchor="ctr"/>
          <a:lstStyle/>
          <a:p>
            <a:pPr marL="0" indent="0">
              <a:buNone/>
            </a:pPr>
            <a:r>
              <a:rPr lang="en-US" sz="900" dirty="0">
                <a:solidFill>
                  <a:srgbClr val="F472B6"/>
                </a:solidFill>
                <a:latin typeface="Courier New" pitchFamily="34" charset="0"/>
                <a:ea typeface="Courier New" pitchFamily="34" charset="-122"/>
                <a:cs typeface="Courier New" pitchFamily="34" charset="-120"/>
              </a:rPr>
              <a:t>&lt;li class=</a:t>
            </a:r>
            <a:r>
              <a:rPr lang="en-US" sz="900" dirty="0">
                <a:solidFill>
                  <a:srgbClr val="A3E635"/>
                </a:solidFill>
                <a:latin typeface="Courier New" pitchFamily="34" charset="0"/>
                <a:ea typeface="Courier New" pitchFamily="34" charset="-122"/>
                <a:cs typeface="Courier New" pitchFamily="34" charset="-120"/>
              </a:rPr>
              <a:t>"a"</a:t>
            </a:r>
            <a:r>
              <a:rPr lang="en-US" sz="900" dirty="0">
                <a:solidFill>
                  <a:srgbClr val="F472B6"/>
                </a:solidFill>
                <a:latin typeface="Courier New" pitchFamily="34" charset="0"/>
                <a:ea typeface="Courier New" pitchFamily="34" charset="-122"/>
                <a:cs typeface="Courier New" pitchFamily="34" charset="-120"/>
              </a:rPr>
              <a:t>&gt;</a:t>
            </a:r>
            <a:endParaRPr lang="en-US" sz="900" dirty="0"/>
          </a:p>
          <a:p>
            <a:pPr marL="0" indent="0">
              <a:buNone/>
            </a:pPr>
            <a:r>
              <a:rPr lang="en-US" sz="900" dirty="0">
                <a:solidFill>
                  <a:srgbClr val="F472B6"/>
                </a:solidFill>
                <a:latin typeface="Courier New" pitchFamily="34" charset="0"/>
                <a:ea typeface="Courier New" pitchFamily="34" charset="-122"/>
                <a:cs typeface="Courier New" pitchFamily="34" charset="-120"/>
              </a:rPr>
              <a:t>&lt;li class=</a:t>
            </a:r>
            <a:r>
              <a:rPr lang="en-US" sz="900" dirty="0">
                <a:solidFill>
                  <a:srgbClr val="A3E635"/>
                </a:solidFill>
                <a:latin typeface="Courier New" pitchFamily="34" charset="0"/>
                <a:ea typeface="Courier New" pitchFamily="34" charset="-122"/>
                <a:cs typeface="Courier New" pitchFamily="34" charset="-120"/>
              </a:rPr>
              <a:t>"a b"</a:t>
            </a:r>
            <a:r>
              <a:rPr lang="en-US" sz="900" dirty="0">
                <a:solidFill>
                  <a:srgbClr val="F472B6"/>
                </a:solidFill>
                <a:latin typeface="Courier New" pitchFamily="34" charset="0"/>
                <a:ea typeface="Courier New" pitchFamily="34" charset="-122"/>
                <a:cs typeface="Courier New" pitchFamily="34" charset="-120"/>
              </a:rPr>
              <a:t>&gt;</a:t>
            </a:r>
            <a:endParaRPr lang="en-US" sz="900" dirty="0"/>
          </a:p>
          <a:p>
            <a:pPr marL="0" indent="0">
              <a:buNone/>
            </a:pPr>
            <a:r>
              <a:rPr lang="en-US" sz="900" dirty="0">
                <a:solidFill>
                  <a:srgbClr val="F472B6"/>
                </a:solidFill>
                <a:latin typeface="Courier New" pitchFamily="34" charset="0"/>
                <a:ea typeface="Courier New" pitchFamily="34" charset="-122"/>
                <a:cs typeface="Courier New" pitchFamily="34" charset="-120"/>
              </a:rPr>
              <a:t>&lt;li class=</a:t>
            </a:r>
            <a:r>
              <a:rPr lang="en-US" sz="900" dirty="0">
                <a:solidFill>
                  <a:srgbClr val="A3E635"/>
                </a:solidFill>
                <a:latin typeface="Courier New" pitchFamily="34" charset="0"/>
                <a:ea typeface="Courier New" pitchFamily="34" charset="-122"/>
                <a:cs typeface="Courier New" pitchFamily="34" charset="-120"/>
              </a:rPr>
              <a:t>"ab"</a:t>
            </a:r>
            <a:r>
              <a:rPr lang="en-US" sz="900" dirty="0">
                <a:solidFill>
                  <a:srgbClr val="F472B6"/>
                </a:solidFill>
                <a:latin typeface="Courier New" pitchFamily="34" charset="0"/>
                <a:ea typeface="Courier New" pitchFamily="34" charset="-122"/>
                <a:cs typeface="Courier New" pitchFamily="34" charset="-120"/>
              </a:rPr>
              <a:t>&gt;</a:t>
            </a:r>
            <a:endParaRPr lang="en-US" sz="900" dirty="0"/>
          </a:p>
        </p:txBody>
      </p:sp>
      <p:sp>
        <p:nvSpPr>
          <p:cNvPr id="19" name="Text 16"/>
          <p:cNvSpPr txBox="1"/>
          <p:nvPr/>
        </p:nvSpPr>
        <p:spPr>
          <a:xfrm>
            <a:off x="6053328" y="2788920"/>
            <a:ext cx="2423160" cy="1234440"/>
          </a:xfrm>
          <a:prstGeom prst="rect">
            <a:avLst/>
          </a:prstGeom>
          <a:noFill/>
          <a:ln/>
        </p:spPr>
        <p:txBody>
          <a:bodyPr wrap="square" lIns="0" tIns="0" rIns="0" bIns="0" rtlCol="0" anchor="t"/>
          <a:lstStyle/>
          <a:p>
            <a:pPr marL="0" indent="0">
              <a:spcAft>
                <a:spcPts val="600"/>
              </a:spcAft>
              <a:buNone/>
            </a:pPr>
            <a:r>
              <a:rPr lang="en-US" sz="1000" b="1" dirty="0">
                <a:solidFill>
                  <a:srgbClr val="FBBF24"/>
                </a:solidFill>
                <a:latin typeface="Courier New" pitchFamily="34" charset="0"/>
                <a:ea typeface="Courier New" pitchFamily="34" charset="-122"/>
                <a:cs typeface="Courier New" pitchFamily="34" charset="-120"/>
              </a:rPr>
              <a:t>[class="a"] </a:t>
            </a:r>
            <a:r>
              <a:rPr lang="en-US" sz="1000" dirty="0">
                <a:solidFill>
                  <a:srgbClr val="EEF0F8"/>
                </a:solidFill>
                <a:latin typeface="Arial" pitchFamily="34" charset="0"/>
                <a:ea typeface="Arial" pitchFamily="34" charset="-122"/>
                <a:cs typeface="Arial" pitchFamily="34" charset="-120"/>
              </a:rPr>
              <a:t>sadece ilk</a:t>
            </a:r>
            <a:endParaRPr lang="en-US" sz="1000" dirty="0"/>
          </a:p>
          <a:p>
            <a:pPr marL="0" indent="0">
              <a:spcAft>
                <a:spcPts val="600"/>
              </a:spcAft>
              <a:buNone/>
            </a:pPr>
            <a:r>
              <a:rPr lang="en-US" sz="1000" b="1" dirty="0">
                <a:solidFill>
                  <a:srgbClr val="FBBF24"/>
                </a:solidFill>
                <a:latin typeface="Courier New" pitchFamily="34" charset="0"/>
                <a:ea typeface="Courier New" pitchFamily="34" charset="-122"/>
                <a:cs typeface="Courier New" pitchFamily="34" charset="-120"/>
              </a:rPr>
              <a:t>[class~="a"] </a:t>
            </a:r>
            <a:r>
              <a:rPr lang="en-US" sz="1000" dirty="0">
                <a:solidFill>
                  <a:srgbClr val="EEF0F8"/>
                </a:solidFill>
                <a:latin typeface="Arial" pitchFamily="34" charset="0"/>
                <a:ea typeface="Arial" pitchFamily="34" charset="-122"/>
                <a:cs typeface="Arial" pitchFamily="34" charset="-120"/>
              </a:rPr>
              <a:t>ilk iki</a:t>
            </a:r>
            <a:endParaRPr lang="en-US" sz="1000" dirty="0"/>
          </a:p>
          <a:p>
            <a:pPr marL="0" indent="0">
              <a:spcAft>
                <a:spcPts val="600"/>
              </a:spcAft>
              <a:buNone/>
            </a:pPr>
            <a:r>
              <a:rPr lang="en-US" sz="1000" b="1" dirty="0">
                <a:solidFill>
                  <a:srgbClr val="FBBF24"/>
                </a:solidFill>
                <a:latin typeface="Courier New" pitchFamily="34" charset="0"/>
                <a:ea typeface="Courier New" pitchFamily="34" charset="-122"/>
                <a:cs typeface="Courier New" pitchFamily="34" charset="-120"/>
              </a:rPr>
              <a:t>[class^="a"] </a:t>
            </a:r>
            <a:r>
              <a:rPr lang="en-US" sz="1000" dirty="0">
                <a:solidFill>
                  <a:srgbClr val="EEF0F8"/>
                </a:solidFill>
                <a:latin typeface="Arial" pitchFamily="34" charset="0"/>
                <a:ea typeface="Arial" pitchFamily="34" charset="-122"/>
                <a:cs typeface="Arial" pitchFamily="34" charset="-120"/>
              </a:rPr>
              <a:t>üçü de</a:t>
            </a:r>
            <a:endParaRPr lang="en-US" sz="1000" dirty="0"/>
          </a:p>
        </p:txBody>
      </p:sp>
      <p:sp>
        <p:nvSpPr>
          <p:cNvPr id="20" name="benzetme"/>
          <p:cNvSpPr/>
          <p:nvPr/>
        </p:nvSpPr>
        <p:spPr>
          <a:xfrm>
            <a:off x="548640" y="4224528"/>
            <a:ext cx="8046720" cy="402336"/>
          </a:xfrm>
          <a:prstGeom prst="roundRect">
            <a:avLst>
              <a:gd name="adj" fmla="val 50000"/>
            </a:avLst>
          </a:prstGeom>
          <a:solidFill>
            <a:srgbClr val="232A55"/>
          </a:solidFill>
          <a:ln/>
        </p:spPr>
      </p:sp>
      <p:sp>
        <p:nvSpPr>
          <p:cNvPr id="21" name="benzetme-ikon"/>
          <p:cNvSpPr/>
          <p:nvPr/>
        </p:nvSpPr>
        <p:spPr>
          <a:xfrm>
            <a:off x="621792" y="4261104"/>
            <a:ext cx="329184" cy="329184"/>
          </a:xfrm>
          <a:prstGeom prst="ellipse">
            <a:avLst/>
          </a:prstGeom>
          <a:solidFill>
            <a:srgbClr val="FBBF24"/>
          </a:solidFill>
          <a:ln/>
        </p:spPr>
      </p:sp>
      <p:sp>
        <p:nvSpPr>
          <p:cNvPr id="22" name="Text 19"/>
          <p:cNvSpPr txBox="1"/>
          <p:nvPr/>
        </p:nvSpPr>
        <p:spPr>
          <a:xfrm>
            <a:off x="621792" y="4261104"/>
            <a:ext cx="329184" cy="329184"/>
          </a:xfrm>
          <a:prstGeom prst="rect">
            <a:avLst/>
          </a:prstGeom>
          <a:noFill/>
          <a:ln/>
        </p:spPr>
        <p:txBody>
          <a:bodyPr wrap="square" lIns="0" tIns="0" rIns="0" bIns="0" rtlCol="0" anchor="ctr"/>
          <a:lstStyle/>
          <a:p>
            <a:pPr marL="0" indent="0" algn="ctr">
              <a:buNone/>
            </a:pPr>
            <a:r>
              <a:rPr lang="en-US" sz="1600" b="1" dirty="0">
                <a:solidFill>
                  <a:srgbClr val="10142B"/>
                </a:solidFill>
                <a:latin typeface="Arial" pitchFamily="34" charset="0"/>
                <a:ea typeface="Arial" pitchFamily="34" charset="-122"/>
                <a:cs typeface="Arial" pitchFamily="34" charset="-120"/>
              </a:rPr>
              <a:t>≈</a:t>
            </a:r>
            <a:endParaRPr lang="en-US" sz="1600" dirty="0"/>
          </a:p>
        </p:txBody>
      </p:sp>
      <p:sp>
        <p:nvSpPr>
          <p:cNvPr id="23" name="Text 20"/>
          <p:cNvSpPr txBox="1"/>
          <p:nvPr/>
        </p:nvSpPr>
        <p:spPr>
          <a:xfrm>
            <a:off x="1042416" y="4224528"/>
            <a:ext cx="7452360" cy="402336"/>
          </a:xfrm>
          <a:prstGeom prst="rect">
            <a:avLst/>
          </a:prstGeom>
          <a:noFill/>
          <a:ln/>
        </p:spPr>
        <p:txBody>
          <a:bodyPr wrap="square" lIns="0" tIns="0" rIns="0" bIns="0" rtlCol="0" anchor="ctr"/>
          <a:lstStyle/>
          <a:p>
            <a:pPr marL="0" indent="0">
              <a:buNone/>
            </a:pPr>
            <a:r>
              <a:rPr lang="en-US" sz="1100" b="1" dirty="0">
                <a:solidFill>
                  <a:srgbClr val="FBBF24"/>
                </a:solidFill>
                <a:latin typeface="Arial" pitchFamily="34" charset="0"/>
                <a:ea typeface="Arial" pitchFamily="34" charset="-122"/>
                <a:cs typeface="Arial" pitchFamily="34" charset="-120"/>
              </a:rPr>
              <a:t>Gündelik hayatta: </a:t>
            </a:r>
            <a:r>
              <a:rPr lang="en-US" sz="1100" dirty="0">
                <a:solidFill>
                  <a:srgbClr val="EEF0F8"/>
                </a:solidFill>
                <a:latin typeface="Arial" pitchFamily="34" charset="0"/>
                <a:ea typeface="Arial" pitchFamily="34" charset="-122"/>
                <a:cs typeface="Arial" pitchFamily="34" charset="-120"/>
              </a:rPr>
              <a:t>kargo etiketine göre ayırmak: “üzerinde etiket olan” ([attr]), “İstanbul yazan” (=), “İst ile başlayan” (^=).</a:t>
            </a:r>
            <a:endParaRPr lang="en-US" sz="1100" dirty="0"/>
          </a:p>
        </p:txBody>
      </p:sp>
    </p:spTree>
  </p:cSld>
  <p:clrMapOvr>
    <a:masterClrMapping/>
  </p:clrMapOvr>
  <p:transition spd="med">
    <p:pull/>
  </p:transition>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256032"/>
            <a:ext cx="4572000" cy="201168"/>
          </a:xfrm>
          <a:prstGeom prst="rect">
            <a:avLst/>
          </a:prstGeom>
          <a:noFill/>
          <a:ln/>
        </p:spPr>
        <p:txBody>
          <a:bodyPr wrap="square" lIns="0" tIns="0" rIns="0" bIns="0" rtlCol="0" anchor="t"/>
          <a:lstStyle/>
          <a:p>
            <a:pPr marL="0" indent="0">
              <a:buNone/>
            </a:pPr>
            <a:r>
              <a:rPr lang="en-US" sz="900" b="1" kern="0" spc="200" dirty="0">
                <a:solidFill>
                  <a:srgbClr val="22D3EE"/>
                </a:solidFill>
                <a:latin typeface="Arial" pitchFamily="34" charset="0"/>
                <a:ea typeface="Arial" pitchFamily="34" charset="-122"/>
                <a:cs typeface="Arial" pitchFamily="34" charset="-120"/>
              </a:rPr>
              <a:t>MODÜL 1 · CSS TEMELLERİ</a:t>
            </a:r>
            <a:endParaRPr lang="en-US" sz="900" dirty="0"/>
          </a:p>
        </p:txBody>
      </p:sp>
      <p:sp>
        <p:nvSpPr>
          <p:cNvPr id="3" name="mini-box-0"/>
          <p:cNvSpPr/>
          <p:nvPr/>
        </p:nvSpPr>
        <p:spPr>
          <a:xfrm>
            <a:off x="8229600" y="201168"/>
            <a:ext cx="384048" cy="384048"/>
          </a:xfrm>
          <a:prstGeom prst="rect">
            <a:avLst/>
          </a:prstGeom>
          <a:ln w="9525">
            <a:solidFill>
              <a:srgbClr val="22D3EE"/>
            </a:solidFill>
            <a:prstDash val="solid"/>
          </a:ln>
        </p:spPr>
      </p:sp>
      <p:sp>
        <p:nvSpPr>
          <p:cNvPr id="4" name="mini-box-1"/>
          <p:cNvSpPr/>
          <p:nvPr/>
        </p:nvSpPr>
        <p:spPr>
          <a:xfrm>
            <a:off x="8293608" y="265176"/>
            <a:ext cx="256032" cy="256032"/>
          </a:xfrm>
          <a:prstGeom prst="rect">
            <a:avLst/>
          </a:prstGeom>
          <a:ln w="9525">
            <a:solidFill>
              <a:srgbClr val="EEF0F8"/>
            </a:solidFill>
            <a:prstDash val="solid"/>
          </a:ln>
        </p:spPr>
      </p:sp>
      <p:sp>
        <p:nvSpPr>
          <p:cNvPr id="5" name="mini-box-2"/>
          <p:cNvSpPr/>
          <p:nvPr/>
        </p:nvSpPr>
        <p:spPr>
          <a:xfrm>
            <a:off x="8348472" y="320040"/>
            <a:ext cx="146304" cy="146304"/>
          </a:xfrm>
          <a:prstGeom prst="rect">
            <a:avLst/>
          </a:prstGeom>
          <a:solidFill>
            <a:srgbClr val="22D3EE"/>
          </a:solidFill>
          <a:ln w="9525">
            <a:solidFill>
              <a:srgbClr val="22D3EE"/>
            </a:solidFill>
            <a:prstDash val="solid"/>
          </a:ln>
        </p:spPr>
      </p:sp>
      <p:sp>
        <p:nvSpPr>
          <p:cNvPr id="6" name="ilerleme-zemin"/>
          <p:cNvSpPr/>
          <p:nvPr/>
        </p:nvSpPr>
        <p:spPr>
          <a:xfrm>
            <a:off x="0" y="5070348"/>
            <a:ext cx="9144000" cy="73152"/>
          </a:xfrm>
          <a:prstGeom prst="rect">
            <a:avLst/>
          </a:prstGeom>
          <a:solidFill>
            <a:srgbClr val="1A2044"/>
          </a:solidFill>
          <a:ln/>
        </p:spPr>
      </p:sp>
      <p:sp>
        <p:nvSpPr>
          <p:cNvPr id="7" name="ilerleme"/>
          <p:cNvSpPr/>
          <p:nvPr/>
        </p:nvSpPr>
        <p:spPr>
          <a:xfrm>
            <a:off x="0" y="5070348"/>
            <a:ext cx="2126512" cy="73152"/>
          </a:xfrm>
          <a:prstGeom prst="rect">
            <a:avLst/>
          </a:prstGeom>
          <a:solidFill>
            <a:srgbClr val="22D3EE"/>
          </a:solidFill>
          <a:ln/>
        </p:spPr>
      </p:sp>
      <p:sp>
        <p:nvSpPr>
          <p:cNvPr id="8" name="Text 6"/>
          <p:cNvSpPr txBox="1"/>
          <p:nvPr/>
        </p:nvSpPr>
        <p:spPr>
          <a:xfrm>
            <a:off x="548640" y="4791456"/>
            <a:ext cx="3657600" cy="201168"/>
          </a:xfrm>
          <a:prstGeom prst="rect">
            <a:avLst/>
          </a:prstGeom>
          <a:noFill/>
          <a:ln/>
        </p:spPr>
        <p:txBody>
          <a:bodyPr wrap="square" lIns="0" tIns="0" rIns="0" bIns="0" rtlCol="0" anchor="t"/>
          <a:lstStyle/>
          <a:p>
            <a:pPr marL="0" indent="0">
              <a:buNone/>
            </a:pPr>
            <a:r>
              <a:rPr lang="en-US" sz="850" dirty="0">
                <a:solidFill>
                  <a:srgbClr val="6C759E"/>
                </a:solidFill>
                <a:latin typeface="Arial" pitchFamily="34" charset="0"/>
                <a:ea typeface="Arial" pitchFamily="34" charset="-122"/>
                <a:cs typeface="Arial" pitchFamily="34" charset="-120"/>
              </a:rPr>
              <a:t>KCŞ A.Ş.  ·  CSS ile stil ve düzen</a:t>
            </a:r>
            <a:endParaRPr lang="en-US" sz="850" dirty="0"/>
          </a:p>
        </p:txBody>
      </p:sp>
      <p:sp>
        <p:nvSpPr>
          <p:cNvPr id="9" name="Text 7"/>
          <p:cNvSpPr txBox="1"/>
          <p:nvPr/>
        </p:nvSpPr>
        <p:spPr>
          <a:xfrm>
            <a:off x="4206240" y="4791456"/>
            <a:ext cx="3840480" cy="201168"/>
          </a:xfrm>
          <a:prstGeom prst="rect">
            <a:avLst/>
          </a:prstGeom>
          <a:noFill/>
          <a:ln/>
        </p:spPr>
        <p:txBody>
          <a:bodyPr wrap="square" lIns="0" tIns="0" rIns="0" bIns="0" rtlCol="0" anchor="t"/>
          <a:lstStyle/>
          <a:p>
            <a:pPr marL="0" indent="0" algn="r">
              <a:buNone/>
            </a:pPr>
            <a:r>
              <a:rPr lang="en-US" sz="850" dirty="0">
                <a:solidFill>
                  <a:srgbClr val="6C759E"/>
                </a:solidFill>
                <a:latin typeface="Arial" pitchFamily="34" charset="0"/>
                <a:ea typeface="Arial" pitchFamily="34" charset="-122"/>
                <a:cs typeface="Arial" pitchFamily="34" charset="-120"/>
              </a:rPr>
              <a:t>MDN · Pseudo-classes and elements</a:t>
            </a:r>
            <a:endParaRPr lang="en-US" sz="850" dirty="0"/>
          </a:p>
        </p:txBody>
      </p:sp>
      <p:sp>
        <p:nvSpPr>
          <p:cNvPr id="10" name="Text 8"/>
          <p:cNvSpPr txBox="1"/>
          <p:nvPr/>
        </p:nvSpPr>
        <p:spPr>
          <a:xfrm>
            <a:off x="8092440" y="4791456"/>
            <a:ext cx="685800" cy="201168"/>
          </a:xfrm>
          <a:prstGeom prst="rect">
            <a:avLst/>
          </a:prstGeom>
          <a:noFill/>
          <a:ln/>
        </p:spPr>
        <p:txBody>
          <a:bodyPr wrap="square" lIns="0" tIns="0" rIns="0" bIns="0" rtlCol="0" anchor="t"/>
          <a:lstStyle/>
          <a:p>
            <a:pPr marL="0" indent="0" algn="r">
              <a:buNone/>
            </a:pPr>
            <a:r>
              <a:rPr lang="en-US" sz="850" dirty="0">
                <a:solidFill>
                  <a:srgbClr val="9AA3C7"/>
                </a:solidFill>
                <a:latin typeface="Courier New" pitchFamily="34" charset="0"/>
                <a:ea typeface="Courier New" pitchFamily="34" charset="-122"/>
                <a:cs typeface="Courier New" pitchFamily="34" charset="-120"/>
              </a:rPr>
              <a:t>10 / 43</a:t>
            </a:r>
            <a:endParaRPr lang="en-US" sz="850" dirty="0"/>
          </a:p>
        </p:txBody>
      </p:sp>
      <p:sp>
        <p:nvSpPr>
          <p:cNvPr id="11" name="Text 9"/>
          <p:cNvSpPr txBox="1"/>
          <p:nvPr/>
        </p:nvSpPr>
        <p:spPr>
          <a:xfrm>
            <a:off x="548640" y="502920"/>
            <a:ext cx="5943600" cy="237744"/>
          </a:xfrm>
          <a:prstGeom prst="rect">
            <a:avLst/>
          </a:prstGeom>
          <a:noFill/>
          <a:ln/>
        </p:spPr>
        <p:txBody>
          <a:bodyPr wrap="square" lIns="0" tIns="0" rIns="0" bIns="0" rtlCol="0" anchor="t"/>
          <a:lstStyle/>
          <a:p>
            <a:pPr marL="0" indent="0">
              <a:buNone/>
            </a:pPr>
            <a:r>
              <a:rPr lang="en-US" sz="1100" b="1" dirty="0">
                <a:solidFill>
                  <a:srgbClr val="22D3EE"/>
                </a:solidFill>
                <a:latin typeface="Courier New" pitchFamily="34" charset="0"/>
                <a:ea typeface="Courier New" pitchFamily="34" charset="-122"/>
                <a:cs typeface="Courier New" pitchFamily="34" charset="-120"/>
              </a:rPr>
              <a:t>:hover  ::first-line  ::before</a:t>
            </a:r>
            <a:endParaRPr lang="en-US" sz="1100" dirty="0"/>
          </a:p>
        </p:txBody>
      </p:sp>
      <p:sp>
        <p:nvSpPr>
          <p:cNvPr id="12" name="Text 10"/>
          <p:cNvSpPr txBox="1"/>
          <p:nvPr/>
        </p:nvSpPr>
        <p:spPr>
          <a:xfrm>
            <a:off x="548640" y="749808"/>
            <a:ext cx="7589520" cy="502920"/>
          </a:xfrm>
          <a:prstGeom prst="rect">
            <a:avLst/>
          </a:prstGeom>
          <a:noFill/>
          <a:ln/>
        </p:spPr>
        <p:txBody>
          <a:bodyPr wrap="square" lIns="0" tIns="0" rIns="0" bIns="0" rtlCol="0" anchor="ctr"/>
          <a:lstStyle/>
          <a:p>
            <a:pPr marL="0" indent="0">
              <a:buNone/>
            </a:pPr>
            <a:r>
              <a:rPr lang="en-US" sz="2400" b="1" dirty="0">
                <a:solidFill>
                  <a:srgbClr val="EEF0F8"/>
                </a:solidFill>
                <a:latin typeface="Arial" pitchFamily="34" charset="0"/>
                <a:ea typeface="Arial" pitchFamily="34" charset="-122"/>
                <a:cs typeface="Arial" pitchFamily="34" charset="-120"/>
              </a:rPr>
              <a:t>Sözde sınıflar ve sözde öğeler</a:t>
            </a:r>
            <a:endParaRPr lang="en-US" sz="2400" dirty="0"/>
          </a:p>
        </p:txBody>
      </p:sp>
      <p:sp>
        <p:nvSpPr>
          <p:cNvPr id="13" name="kart"/>
          <p:cNvSpPr/>
          <p:nvPr/>
        </p:nvSpPr>
        <p:spPr>
          <a:xfrm>
            <a:off x="548640" y="1371600"/>
            <a:ext cx="3931920" cy="2724912"/>
          </a:xfrm>
          <a:prstGeom prst="roundRect">
            <a:avLst>
              <a:gd name="adj" fmla="val 2685"/>
            </a:avLst>
          </a:prstGeom>
          <a:solidFill>
            <a:srgbClr val="1A2044"/>
          </a:solidFill>
          <a:ln w="9525">
            <a:solidFill>
              <a:srgbClr val="2E3768"/>
            </a:solidFill>
            <a:prstDash val="solid"/>
          </a:ln>
        </p:spPr>
      </p:sp>
      <p:sp>
        <p:nvSpPr>
          <p:cNvPr id="14" name="kart-nokta"/>
          <p:cNvSpPr/>
          <p:nvPr/>
        </p:nvSpPr>
        <p:spPr>
          <a:xfrm>
            <a:off x="694944" y="1527048"/>
            <a:ext cx="91440" cy="91440"/>
          </a:xfrm>
          <a:prstGeom prst="ellipse">
            <a:avLst/>
          </a:prstGeom>
          <a:solidFill>
            <a:srgbClr val="22D3EE"/>
          </a:solidFill>
          <a:ln/>
        </p:spPr>
      </p:sp>
      <p:sp>
        <p:nvSpPr>
          <p:cNvPr id="15" name="Text 13"/>
          <p:cNvSpPr txBox="1"/>
          <p:nvPr/>
        </p:nvSpPr>
        <p:spPr>
          <a:xfrm>
            <a:off x="859536" y="1444752"/>
            <a:ext cx="3520440" cy="274320"/>
          </a:xfrm>
          <a:prstGeom prst="rect">
            <a:avLst/>
          </a:prstGeom>
          <a:noFill/>
          <a:ln/>
        </p:spPr>
        <p:txBody>
          <a:bodyPr wrap="square" lIns="0" tIns="0" rIns="0" bIns="0" rtlCol="0" anchor="ctr"/>
          <a:lstStyle/>
          <a:p>
            <a:pPr marL="0" indent="0">
              <a:buNone/>
            </a:pPr>
            <a:r>
              <a:rPr lang="en-US" sz="1300" b="1" dirty="0">
                <a:solidFill>
                  <a:srgbClr val="EEF0F8"/>
                </a:solidFill>
                <a:latin typeface="Arial" pitchFamily="34" charset="0"/>
                <a:ea typeface="Arial" pitchFamily="34" charset="-122"/>
                <a:cs typeface="Arial" pitchFamily="34" charset="-120"/>
              </a:rPr>
              <a:t>Sözde sınıf  ( : )  → durum</a:t>
            </a:r>
            <a:endParaRPr lang="en-US" sz="1300" dirty="0"/>
          </a:p>
        </p:txBody>
      </p:sp>
      <p:sp>
        <p:nvSpPr>
          <p:cNvPr id="16" name="kod-paneli"/>
          <p:cNvSpPr/>
          <p:nvPr/>
        </p:nvSpPr>
        <p:spPr>
          <a:xfrm>
            <a:off x="685800" y="1737360"/>
            <a:ext cx="3657600" cy="1024128"/>
          </a:xfrm>
          <a:prstGeom prst="roundRect">
            <a:avLst>
              <a:gd name="adj" fmla="val 7143"/>
            </a:avLst>
          </a:prstGeom>
          <a:solidFill>
            <a:srgbClr val="0A0D1F"/>
          </a:solidFill>
          <a:ln w="9525">
            <a:solidFill>
              <a:srgbClr val="2E3768"/>
            </a:solidFill>
            <a:prstDash val="solid"/>
          </a:ln>
        </p:spPr>
      </p:sp>
      <p:sp>
        <p:nvSpPr>
          <p:cNvPr id="17" name="Text 15"/>
          <p:cNvSpPr txBox="1"/>
          <p:nvPr/>
        </p:nvSpPr>
        <p:spPr>
          <a:xfrm>
            <a:off x="832104" y="1847088"/>
            <a:ext cx="3383280" cy="822960"/>
          </a:xfrm>
          <a:prstGeom prst="rect">
            <a:avLst/>
          </a:prstGeom>
          <a:noFill/>
          <a:ln/>
        </p:spPr>
        <p:txBody>
          <a:bodyPr wrap="square" lIns="0" tIns="0" rIns="0" bIns="0" rtlCol="0" anchor="ctr"/>
          <a:lstStyle/>
          <a:p>
            <a:pPr marL="0" indent="0">
              <a:buNone/>
            </a:pPr>
            <a:r>
              <a:rPr lang="en-US" sz="950" dirty="0">
                <a:solidFill>
                  <a:srgbClr val="F472B6"/>
                </a:solidFill>
                <a:latin typeface="Courier New" pitchFamily="34" charset="0"/>
                <a:ea typeface="Courier New" pitchFamily="34" charset="-122"/>
                <a:cs typeface="Courier New" pitchFamily="34" charset="-120"/>
              </a:rPr>
              <a:t>article p:first-child </a:t>
            </a:r>
            <a:r>
              <a:rPr lang="en-US" sz="950" dirty="0">
                <a:solidFill>
                  <a:srgbClr val="6C759E"/>
                </a:solidFill>
                <a:latin typeface="Courier New" pitchFamily="34" charset="0"/>
                <a:ea typeface="Courier New" pitchFamily="34" charset="-122"/>
                <a:cs typeface="Courier New" pitchFamily="34" charset="-120"/>
              </a:rPr>
              <a:t>{</a:t>
            </a:r>
            <a:endParaRPr lang="en-US" sz="950" dirty="0"/>
          </a:p>
          <a:p>
            <a:pPr marL="0" indent="0">
              <a:buNone/>
            </a:pPr>
            <a:r>
              <a:rPr lang="en-US" sz="950" dirty="0">
                <a:solidFill>
                  <a:srgbClr val="EEF0F8"/>
                </a:solidFill>
                <a:latin typeface="Courier New" pitchFamily="34" charset="0"/>
                <a:ea typeface="Courier New" pitchFamily="34" charset="-122"/>
                <a:cs typeface="Courier New" pitchFamily="34" charset="-120"/>
              </a:rPr>
              <a:t>  </a:t>
            </a:r>
            <a:r>
              <a:rPr lang="en-US" sz="950" dirty="0">
                <a:solidFill>
                  <a:srgbClr val="22D3EE"/>
                </a:solidFill>
                <a:latin typeface="Courier New" pitchFamily="34" charset="0"/>
                <a:ea typeface="Courier New" pitchFamily="34" charset="-122"/>
                <a:cs typeface="Courier New" pitchFamily="34" charset="-120"/>
              </a:rPr>
              <a:t>font-weight</a:t>
            </a:r>
            <a:r>
              <a:rPr lang="en-US" sz="950" dirty="0">
                <a:solidFill>
                  <a:srgbClr val="6C759E"/>
                </a:solidFill>
                <a:latin typeface="Courier New" pitchFamily="34" charset="0"/>
                <a:ea typeface="Courier New" pitchFamily="34" charset="-122"/>
                <a:cs typeface="Courier New" pitchFamily="34" charset="-120"/>
              </a:rPr>
              <a:t>: </a:t>
            </a:r>
            <a:r>
              <a:rPr lang="en-US" sz="950" dirty="0">
                <a:solidFill>
                  <a:srgbClr val="FBBF24"/>
                </a:solidFill>
                <a:latin typeface="Courier New" pitchFamily="34" charset="0"/>
                <a:ea typeface="Courier New" pitchFamily="34" charset="-122"/>
                <a:cs typeface="Courier New" pitchFamily="34" charset="-120"/>
              </a:rPr>
              <a:t>bold;</a:t>
            </a:r>
            <a:endParaRPr lang="en-US" sz="950" dirty="0"/>
          </a:p>
          <a:p>
            <a:pPr marL="0" indent="0">
              <a:buNone/>
            </a:pPr>
            <a:r>
              <a:rPr lang="en-US" sz="950" dirty="0">
                <a:solidFill>
                  <a:srgbClr val="6C759E"/>
                </a:solidFill>
                <a:latin typeface="Courier New" pitchFamily="34" charset="0"/>
                <a:ea typeface="Courier New" pitchFamily="34" charset="-122"/>
                <a:cs typeface="Courier New" pitchFamily="34" charset="-120"/>
              </a:rPr>
              <a:t>}</a:t>
            </a:r>
            <a:endParaRPr lang="en-US" sz="950" dirty="0"/>
          </a:p>
          <a:p>
            <a:pPr marL="0" indent="0">
              <a:buNone/>
            </a:pPr>
            <a:r>
              <a:rPr lang="en-US" sz="950" dirty="0">
                <a:solidFill>
                  <a:srgbClr val="F472B6"/>
                </a:solidFill>
                <a:latin typeface="Courier New" pitchFamily="34" charset="0"/>
                <a:ea typeface="Courier New" pitchFamily="34" charset="-122"/>
                <a:cs typeface="Courier New" pitchFamily="34" charset="-120"/>
              </a:rPr>
              <a:t>a:hover </a:t>
            </a:r>
            <a:r>
              <a:rPr lang="en-US" sz="950" dirty="0">
                <a:solidFill>
                  <a:srgbClr val="6C759E"/>
                </a:solidFill>
                <a:latin typeface="Courier New" pitchFamily="34" charset="0"/>
                <a:ea typeface="Courier New" pitchFamily="34" charset="-122"/>
                <a:cs typeface="Courier New" pitchFamily="34" charset="-120"/>
              </a:rPr>
              <a:t>{ </a:t>
            </a:r>
            <a:r>
              <a:rPr lang="en-US" sz="950" dirty="0">
                <a:solidFill>
                  <a:srgbClr val="22D3EE"/>
                </a:solidFill>
                <a:latin typeface="Courier New" pitchFamily="34" charset="0"/>
                <a:ea typeface="Courier New" pitchFamily="34" charset="-122"/>
                <a:cs typeface="Courier New" pitchFamily="34" charset="-120"/>
              </a:rPr>
              <a:t>color</a:t>
            </a:r>
            <a:r>
              <a:rPr lang="en-US" sz="950" dirty="0">
                <a:solidFill>
                  <a:srgbClr val="6C759E"/>
                </a:solidFill>
                <a:latin typeface="Courier New" pitchFamily="34" charset="0"/>
                <a:ea typeface="Courier New" pitchFamily="34" charset="-122"/>
                <a:cs typeface="Courier New" pitchFamily="34" charset="-120"/>
              </a:rPr>
              <a:t>: </a:t>
            </a:r>
            <a:r>
              <a:rPr lang="en-US" sz="950" dirty="0">
                <a:solidFill>
                  <a:srgbClr val="FBBF24"/>
                </a:solidFill>
                <a:latin typeface="Courier New" pitchFamily="34" charset="0"/>
                <a:ea typeface="Courier New" pitchFamily="34" charset="-122"/>
                <a:cs typeface="Courier New" pitchFamily="34" charset="-120"/>
              </a:rPr>
              <a:t>hotpink</a:t>
            </a:r>
            <a:r>
              <a:rPr lang="en-US" sz="950" dirty="0">
                <a:solidFill>
                  <a:srgbClr val="6C759E"/>
                </a:solidFill>
                <a:latin typeface="Courier New" pitchFamily="34" charset="0"/>
                <a:ea typeface="Courier New" pitchFamily="34" charset="-122"/>
                <a:cs typeface="Courier New" pitchFamily="34" charset="-120"/>
              </a:rPr>
              <a:t>; }</a:t>
            </a:r>
            <a:endParaRPr lang="en-US" sz="950" dirty="0"/>
          </a:p>
        </p:txBody>
      </p:sp>
      <p:sp>
        <p:nvSpPr>
          <p:cNvPr id="18" name="Text 16"/>
          <p:cNvSpPr txBox="1"/>
          <p:nvPr/>
        </p:nvSpPr>
        <p:spPr>
          <a:xfrm>
            <a:off x="713232" y="2834640"/>
            <a:ext cx="3639312" cy="1216152"/>
          </a:xfrm>
          <a:prstGeom prst="rect">
            <a:avLst/>
          </a:prstGeom>
          <a:noFill/>
          <a:ln/>
        </p:spPr>
        <p:txBody>
          <a:bodyPr wrap="square" lIns="0" tIns="0" rIns="0" bIns="0" rtlCol="0" anchor="t"/>
          <a:lstStyle/>
          <a:p>
            <a:pPr marL="0" indent="0">
              <a:buNone/>
            </a:pPr>
            <a:r>
              <a:rPr lang="en-US" sz="1000" dirty="0">
                <a:solidFill>
                  <a:srgbClr val="9AA3C7"/>
                </a:solidFill>
                <a:latin typeface="Arial" pitchFamily="34" charset="0"/>
                <a:ea typeface="Arial" pitchFamily="34" charset="-122"/>
                <a:cs typeface="Arial" pitchFamily="34" charset="-120"/>
              </a:rPr>
              <a:t>Öğenin bir durumda olmasını seçer, sanki HTML'e sınıf eklenmiş gibi. HTML değişse de çalışır: ilk paragraf her zaman ilk paragraftır. :hover ve :focus kullanıcı etkileşimiyle (dinamik) devreye girer.</a:t>
            </a:r>
            <a:endParaRPr lang="en-US" sz="1000" dirty="0"/>
          </a:p>
        </p:txBody>
      </p:sp>
      <p:sp>
        <p:nvSpPr>
          <p:cNvPr id="19" name="kart"/>
          <p:cNvSpPr/>
          <p:nvPr/>
        </p:nvSpPr>
        <p:spPr>
          <a:xfrm>
            <a:off x="4663440" y="1371600"/>
            <a:ext cx="3931920" cy="2724912"/>
          </a:xfrm>
          <a:prstGeom prst="roundRect">
            <a:avLst>
              <a:gd name="adj" fmla="val 2685"/>
            </a:avLst>
          </a:prstGeom>
          <a:solidFill>
            <a:srgbClr val="1A2044"/>
          </a:solidFill>
          <a:ln w="9525">
            <a:solidFill>
              <a:srgbClr val="2E3768"/>
            </a:solidFill>
            <a:prstDash val="solid"/>
          </a:ln>
        </p:spPr>
      </p:sp>
      <p:sp>
        <p:nvSpPr>
          <p:cNvPr id="20" name="kart-nokta"/>
          <p:cNvSpPr/>
          <p:nvPr/>
        </p:nvSpPr>
        <p:spPr>
          <a:xfrm>
            <a:off x="4809744" y="1527048"/>
            <a:ext cx="91440" cy="91440"/>
          </a:xfrm>
          <a:prstGeom prst="ellipse">
            <a:avLst/>
          </a:prstGeom>
          <a:solidFill>
            <a:srgbClr val="F472B6"/>
          </a:solidFill>
          <a:ln/>
        </p:spPr>
      </p:sp>
      <p:sp>
        <p:nvSpPr>
          <p:cNvPr id="21" name="Text 19"/>
          <p:cNvSpPr txBox="1"/>
          <p:nvPr/>
        </p:nvSpPr>
        <p:spPr>
          <a:xfrm>
            <a:off x="4974336" y="1444752"/>
            <a:ext cx="3520440" cy="274320"/>
          </a:xfrm>
          <a:prstGeom prst="rect">
            <a:avLst/>
          </a:prstGeom>
          <a:noFill/>
          <a:ln/>
        </p:spPr>
        <p:txBody>
          <a:bodyPr wrap="square" lIns="0" tIns="0" rIns="0" bIns="0" rtlCol="0" anchor="ctr"/>
          <a:lstStyle/>
          <a:p>
            <a:pPr marL="0" indent="0">
              <a:buNone/>
            </a:pPr>
            <a:r>
              <a:rPr lang="en-US" sz="1300" b="1" dirty="0">
                <a:solidFill>
                  <a:srgbClr val="EEF0F8"/>
                </a:solidFill>
                <a:latin typeface="Arial" pitchFamily="34" charset="0"/>
                <a:ea typeface="Arial" pitchFamily="34" charset="-122"/>
                <a:cs typeface="Arial" pitchFamily="34" charset="-120"/>
              </a:rPr>
              <a:t>Sözde öğe  ( :: )  → yeni parça</a:t>
            </a:r>
            <a:endParaRPr lang="en-US" sz="1300" dirty="0"/>
          </a:p>
        </p:txBody>
      </p:sp>
      <p:sp>
        <p:nvSpPr>
          <p:cNvPr id="22" name="kod-paneli"/>
          <p:cNvSpPr/>
          <p:nvPr/>
        </p:nvSpPr>
        <p:spPr>
          <a:xfrm>
            <a:off x="4800600" y="1737360"/>
            <a:ext cx="3657600" cy="1024128"/>
          </a:xfrm>
          <a:prstGeom prst="roundRect">
            <a:avLst>
              <a:gd name="adj" fmla="val 7143"/>
            </a:avLst>
          </a:prstGeom>
          <a:solidFill>
            <a:srgbClr val="0A0D1F"/>
          </a:solidFill>
          <a:ln w="9525">
            <a:solidFill>
              <a:srgbClr val="2E3768"/>
            </a:solidFill>
            <a:prstDash val="solid"/>
          </a:ln>
        </p:spPr>
      </p:sp>
      <p:sp>
        <p:nvSpPr>
          <p:cNvPr id="23" name="Text 21"/>
          <p:cNvSpPr txBox="1"/>
          <p:nvPr/>
        </p:nvSpPr>
        <p:spPr>
          <a:xfrm>
            <a:off x="4946904" y="1847088"/>
            <a:ext cx="3383280" cy="822960"/>
          </a:xfrm>
          <a:prstGeom prst="rect">
            <a:avLst/>
          </a:prstGeom>
          <a:noFill/>
          <a:ln/>
        </p:spPr>
        <p:txBody>
          <a:bodyPr wrap="square" lIns="0" tIns="0" rIns="0" bIns="0" rtlCol="0" anchor="ctr"/>
          <a:lstStyle/>
          <a:p>
            <a:pPr marL="0" indent="0">
              <a:buNone/>
            </a:pPr>
            <a:r>
              <a:rPr lang="en-US" sz="950" dirty="0">
                <a:solidFill>
                  <a:srgbClr val="F472B6"/>
                </a:solidFill>
                <a:latin typeface="Courier New" pitchFamily="34" charset="0"/>
                <a:ea typeface="Courier New" pitchFamily="34" charset="-122"/>
                <a:cs typeface="Courier New" pitchFamily="34" charset="-120"/>
              </a:rPr>
              <a:t>p::first-line </a:t>
            </a:r>
            <a:r>
              <a:rPr lang="en-US" sz="950" dirty="0">
                <a:solidFill>
                  <a:srgbClr val="6C759E"/>
                </a:solidFill>
                <a:latin typeface="Courier New" pitchFamily="34" charset="0"/>
                <a:ea typeface="Courier New" pitchFamily="34" charset="-122"/>
                <a:cs typeface="Courier New" pitchFamily="34" charset="-120"/>
              </a:rPr>
              <a:t>{ </a:t>
            </a:r>
            <a:r>
              <a:rPr lang="en-US" sz="950" dirty="0">
                <a:solidFill>
                  <a:srgbClr val="22D3EE"/>
                </a:solidFill>
                <a:latin typeface="Courier New" pitchFamily="34" charset="0"/>
                <a:ea typeface="Courier New" pitchFamily="34" charset="-122"/>
                <a:cs typeface="Courier New" pitchFamily="34" charset="-120"/>
              </a:rPr>
              <a:t>font-size</a:t>
            </a:r>
            <a:r>
              <a:rPr lang="en-US" sz="950" dirty="0">
                <a:solidFill>
                  <a:srgbClr val="6C759E"/>
                </a:solidFill>
                <a:latin typeface="Courier New" pitchFamily="34" charset="0"/>
                <a:ea typeface="Courier New" pitchFamily="34" charset="-122"/>
                <a:cs typeface="Courier New" pitchFamily="34" charset="-120"/>
              </a:rPr>
              <a:t>: </a:t>
            </a:r>
            <a:r>
              <a:rPr lang="en-US" sz="950" dirty="0">
                <a:solidFill>
                  <a:srgbClr val="FBBF24"/>
                </a:solidFill>
                <a:latin typeface="Courier New" pitchFamily="34" charset="0"/>
                <a:ea typeface="Courier New" pitchFamily="34" charset="-122"/>
                <a:cs typeface="Courier New" pitchFamily="34" charset="-120"/>
              </a:rPr>
              <a:t>120%</a:t>
            </a:r>
            <a:r>
              <a:rPr lang="en-US" sz="950" dirty="0">
                <a:solidFill>
                  <a:srgbClr val="6C759E"/>
                </a:solidFill>
                <a:latin typeface="Courier New" pitchFamily="34" charset="0"/>
                <a:ea typeface="Courier New" pitchFamily="34" charset="-122"/>
                <a:cs typeface="Courier New" pitchFamily="34" charset="-120"/>
              </a:rPr>
              <a:t>; }</a:t>
            </a:r>
            <a:endParaRPr lang="en-US" sz="950" dirty="0"/>
          </a:p>
          <a:p>
            <a:pPr marL="0" indent="0">
              <a:buNone/>
            </a:pPr>
            <a:r>
              <a:rPr lang="en-US" sz="950" dirty="0">
                <a:solidFill>
                  <a:srgbClr val="F472B6"/>
                </a:solidFill>
                <a:latin typeface="Courier New" pitchFamily="34" charset="0"/>
                <a:ea typeface="Courier New" pitchFamily="34" charset="-122"/>
                <a:cs typeface="Courier New" pitchFamily="34" charset="-120"/>
              </a:rPr>
              <a:t>.box::before </a:t>
            </a:r>
            <a:r>
              <a:rPr lang="en-US" sz="950" dirty="0">
                <a:solidFill>
                  <a:srgbClr val="6C759E"/>
                </a:solidFill>
                <a:latin typeface="Courier New" pitchFamily="34" charset="0"/>
                <a:ea typeface="Courier New" pitchFamily="34" charset="-122"/>
                <a:cs typeface="Courier New" pitchFamily="34" charset="-120"/>
              </a:rPr>
              <a:t>{</a:t>
            </a:r>
            <a:endParaRPr lang="en-US" sz="950" dirty="0"/>
          </a:p>
          <a:p>
            <a:pPr marL="0" indent="0">
              <a:buNone/>
            </a:pPr>
            <a:r>
              <a:rPr lang="en-US" sz="950" dirty="0">
                <a:solidFill>
                  <a:srgbClr val="EEF0F8"/>
                </a:solidFill>
                <a:latin typeface="Courier New" pitchFamily="34" charset="0"/>
                <a:ea typeface="Courier New" pitchFamily="34" charset="-122"/>
                <a:cs typeface="Courier New" pitchFamily="34" charset="-120"/>
              </a:rPr>
              <a:t>  </a:t>
            </a:r>
            <a:r>
              <a:rPr lang="en-US" sz="950" dirty="0">
                <a:solidFill>
                  <a:srgbClr val="22D3EE"/>
                </a:solidFill>
                <a:latin typeface="Courier New" pitchFamily="34" charset="0"/>
                <a:ea typeface="Courier New" pitchFamily="34" charset="-122"/>
                <a:cs typeface="Courier New" pitchFamily="34" charset="-120"/>
              </a:rPr>
              <a:t>content</a:t>
            </a:r>
            <a:r>
              <a:rPr lang="en-US" sz="950" dirty="0">
                <a:solidFill>
                  <a:srgbClr val="6C759E"/>
                </a:solidFill>
                <a:latin typeface="Courier New" pitchFamily="34" charset="0"/>
                <a:ea typeface="Courier New" pitchFamily="34" charset="-122"/>
                <a:cs typeface="Courier New" pitchFamily="34" charset="-120"/>
              </a:rPr>
              <a:t>: </a:t>
            </a:r>
            <a:r>
              <a:rPr lang="en-US" sz="950" dirty="0">
                <a:solidFill>
                  <a:srgbClr val="A3E635"/>
                </a:solidFill>
                <a:latin typeface="Courier New" pitchFamily="34" charset="0"/>
                <a:ea typeface="Courier New" pitchFamily="34" charset="-122"/>
                <a:cs typeface="Courier New" pitchFamily="34" charset="-120"/>
              </a:rPr>
              <a:t>""</a:t>
            </a:r>
            <a:r>
              <a:rPr lang="en-US" sz="950" dirty="0">
                <a:solidFill>
                  <a:srgbClr val="FBBF24"/>
                </a:solidFill>
                <a:latin typeface="Courier New" pitchFamily="34" charset="0"/>
                <a:ea typeface="Courier New" pitchFamily="34" charset="-122"/>
                <a:cs typeface="Courier New" pitchFamily="34" charset="-120"/>
              </a:rPr>
              <a:t>;</a:t>
            </a:r>
            <a:endParaRPr lang="en-US" sz="950" dirty="0"/>
          </a:p>
          <a:p>
            <a:pPr marL="0" indent="0">
              <a:buNone/>
            </a:pPr>
            <a:r>
              <a:rPr lang="en-US" sz="950" dirty="0">
                <a:solidFill>
                  <a:srgbClr val="EEF0F8"/>
                </a:solidFill>
                <a:latin typeface="Courier New" pitchFamily="34" charset="0"/>
                <a:ea typeface="Courier New" pitchFamily="34" charset="-122"/>
                <a:cs typeface="Courier New" pitchFamily="34" charset="-120"/>
              </a:rPr>
              <a:t>  </a:t>
            </a:r>
            <a:r>
              <a:rPr lang="en-US" sz="950" dirty="0">
                <a:solidFill>
                  <a:srgbClr val="22D3EE"/>
                </a:solidFill>
                <a:latin typeface="Courier New" pitchFamily="34" charset="0"/>
                <a:ea typeface="Courier New" pitchFamily="34" charset="-122"/>
                <a:cs typeface="Courier New" pitchFamily="34" charset="-120"/>
              </a:rPr>
              <a:t>display</a:t>
            </a:r>
            <a:r>
              <a:rPr lang="en-US" sz="950" dirty="0">
                <a:solidFill>
                  <a:srgbClr val="6C759E"/>
                </a:solidFill>
                <a:latin typeface="Courier New" pitchFamily="34" charset="0"/>
                <a:ea typeface="Courier New" pitchFamily="34" charset="-122"/>
                <a:cs typeface="Courier New" pitchFamily="34" charset="-120"/>
              </a:rPr>
              <a:t>: </a:t>
            </a:r>
            <a:r>
              <a:rPr lang="en-US" sz="950" dirty="0">
                <a:solidFill>
                  <a:srgbClr val="FBBF24"/>
                </a:solidFill>
                <a:latin typeface="Courier New" pitchFamily="34" charset="0"/>
                <a:ea typeface="Courier New" pitchFamily="34" charset="-122"/>
                <a:cs typeface="Courier New" pitchFamily="34" charset="-120"/>
              </a:rPr>
              <a:t>block; }</a:t>
            </a:r>
            <a:endParaRPr lang="en-US" sz="950" dirty="0"/>
          </a:p>
        </p:txBody>
      </p:sp>
      <p:sp>
        <p:nvSpPr>
          <p:cNvPr id="24" name="Text 22"/>
          <p:cNvSpPr txBox="1"/>
          <p:nvPr/>
        </p:nvSpPr>
        <p:spPr>
          <a:xfrm>
            <a:off x="4828032" y="2834640"/>
            <a:ext cx="3639312" cy="1216152"/>
          </a:xfrm>
          <a:prstGeom prst="rect">
            <a:avLst/>
          </a:prstGeom>
          <a:noFill/>
          <a:ln/>
        </p:spPr>
        <p:txBody>
          <a:bodyPr wrap="square" lIns="0" tIns="0" rIns="0" bIns="0" rtlCol="0" anchor="t"/>
          <a:lstStyle/>
          <a:p>
            <a:pPr marL="0" indent="0">
              <a:buNone/>
            </a:pPr>
            <a:r>
              <a:rPr lang="en-US" sz="1000" dirty="0">
                <a:solidFill>
                  <a:srgbClr val="9AA3C7"/>
                </a:solidFill>
                <a:latin typeface="Arial" pitchFamily="34" charset="0"/>
                <a:ea typeface="Arial" pitchFamily="34" charset="-122"/>
                <a:cs typeface="Arial" pitchFamily="34" charset="-120"/>
              </a:rPr>
              <a:t>Sanki HTML'e yeni bir öğe eklenmiş gibi davranır. ::first-line ekran genişliği değişse de hep ilk satırı bulur. ::before / ::after ile content özelliği üretilmiş içerik ekler; ekran okuyucular okumayabileceği için süs ikonları için kullan.</a:t>
            </a:r>
            <a:endParaRPr lang="en-US" sz="1000" dirty="0"/>
          </a:p>
        </p:txBody>
      </p:sp>
      <p:sp>
        <p:nvSpPr>
          <p:cNvPr id="25" name="benzetme"/>
          <p:cNvSpPr/>
          <p:nvPr/>
        </p:nvSpPr>
        <p:spPr>
          <a:xfrm>
            <a:off x="548640" y="4224528"/>
            <a:ext cx="8046720" cy="402336"/>
          </a:xfrm>
          <a:prstGeom prst="roundRect">
            <a:avLst>
              <a:gd name="adj" fmla="val 50000"/>
            </a:avLst>
          </a:prstGeom>
          <a:solidFill>
            <a:srgbClr val="232A55"/>
          </a:solidFill>
          <a:ln/>
        </p:spPr>
      </p:sp>
      <p:sp>
        <p:nvSpPr>
          <p:cNvPr id="26" name="benzetme-ikon"/>
          <p:cNvSpPr/>
          <p:nvPr/>
        </p:nvSpPr>
        <p:spPr>
          <a:xfrm>
            <a:off x="621792" y="4261104"/>
            <a:ext cx="329184" cy="329184"/>
          </a:xfrm>
          <a:prstGeom prst="ellipse">
            <a:avLst/>
          </a:prstGeom>
          <a:solidFill>
            <a:srgbClr val="FBBF24"/>
          </a:solidFill>
          <a:ln/>
        </p:spPr>
      </p:sp>
      <p:sp>
        <p:nvSpPr>
          <p:cNvPr id="27" name="Text 25"/>
          <p:cNvSpPr txBox="1"/>
          <p:nvPr/>
        </p:nvSpPr>
        <p:spPr>
          <a:xfrm>
            <a:off x="621792" y="4261104"/>
            <a:ext cx="329184" cy="329184"/>
          </a:xfrm>
          <a:prstGeom prst="rect">
            <a:avLst/>
          </a:prstGeom>
          <a:noFill/>
          <a:ln/>
        </p:spPr>
        <p:txBody>
          <a:bodyPr wrap="square" lIns="0" tIns="0" rIns="0" bIns="0" rtlCol="0" anchor="ctr"/>
          <a:lstStyle/>
          <a:p>
            <a:pPr marL="0" indent="0" algn="ctr">
              <a:buNone/>
            </a:pPr>
            <a:r>
              <a:rPr lang="en-US" sz="1600" b="1" dirty="0">
                <a:solidFill>
                  <a:srgbClr val="10142B"/>
                </a:solidFill>
                <a:latin typeface="Arial" pitchFamily="34" charset="0"/>
                <a:ea typeface="Arial" pitchFamily="34" charset="-122"/>
                <a:cs typeface="Arial" pitchFamily="34" charset="-120"/>
              </a:rPr>
              <a:t>≈</a:t>
            </a:r>
            <a:endParaRPr lang="en-US" sz="1600" dirty="0"/>
          </a:p>
        </p:txBody>
      </p:sp>
      <p:sp>
        <p:nvSpPr>
          <p:cNvPr id="28" name="Text 26"/>
          <p:cNvSpPr txBox="1"/>
          <p:nvPr/>
        </p:nvSpPr>
        <p:spPr>
          <a:xfrm>
            <a:off x="1042416" y="4224528"/>
            <a:ext cx="7452360" cy="402336"/>
          </a:xfrm>
          <a:prstGeom prst="rect">
            <a:avLst/>
          </a:prstGeom>
          <a:noFill/>
          <a:ln/>
        </p:spPr>
        <p:txBody>
          <a:bodyPr wrap="square" lIns="0" tIns="0" rIns="0" bIns="0" rtlCol="0" anchor="ctr"/>
          <a:lstStyle/>
          <a:p>
            <a:pPr marL="0" indent="0">
              <a:buNone/>
            </a:pPr>
            <a:r>
              <a:rPr lang="en-US" sz="1100" b="1" dirty="0">
                <a:solidFill>
                  <a:srgbClr val="FBBF24"/>
                </a:solidFill>
                <a:latin typeface="Arial" pitchFamily="34" charset="0"/>
                <a:ea typeface="Arial" pitchFamily="34" charset="-122"/>
                <a:cs typeface="Arial" pitchFamily="34" charset="-120"/>
              </a:rPr>
              <a:t>Gündelik hayatta: </a:t>
            </a:r>
            <a:r>
              <a:rPr lang="en-US" sz="1100" dirty="0">
                <a:solidFill>
                  <a:srgbClr val="EEF0F8"/>
                </a:solidFill>
                <a:latin typeface="Arial" pitchFamily="34" charset="0"/>
                <a:ea typeface="Arial" pitchFamily="34" charset="-122"/>
                <a:cs typeface="Arial" pitchFamily="34" charset="-120"/>
              </a:rPr>
              <a:t>sözde sınıf “şu an kapıda bekleyen öğrenci” demek (durum), sözde öğe ise öğrencinin yakasına sonradan iğnelenen rozet (yeni parça).</a:t>
            </a:r>
            <a:endParaRPr lang="en-US" sz="1100" dirty="0"/>
          </a:p>
        </p:txBody>
      </p:sp>
    </p:spTree>
  </p:cSld>
  <p:clrMapOvr>
    <a:masterClrMapping/>
  </p:clrMapOvr>
  <p:transition spd="med">
    <p:pull/>
  </p:transition>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256032"/>
            <a:ext cx="4572000" cy="201168"/>
          </a:xfrm>
          <a:prstGeom prst="rect">
            <a:avLst/>
          </a:prstGeom>
          <a:noFill/>
          <a:ln/>
        </p:spPr>
        <p:txBody>
          <a:bodyPr wrap="square" lIns="0" tIns="0" rIns="0" bIns="0" rtlCol="0" anchor="t"/>
          <a:lstStyle/>
          <a:p>
            <a:pPr marL="0" indent="0">
              <a:buNone/>
            </a:pPr>
            <a:r>
              <a:rPr lang="en-US" sz="900" b="1" kern="0" spc="200" dirty="0">
                <a:solidFill>
                  <a:srgbClr val="22D3EE"/>
                </a:solidFill>
                <a:latin typeface="Arial" pitchFamily="34" charset="0"/>
                <a:ea typeface="Arial" pitchFamily="34" charset="-122"/>
                <a:cs typeface="Arial" pitchFamily="34" charset="-120"/>
              </a:rPr>
              <a:t>MODÜL 1 · CSS TEMELLERİ</a:t>
            </a:r>
            <a:endParaRPr lang="en-US" sz="900" dirty="0"/>
          </a:p>
        </p:txBody>
      </p:sp>
      <p:sp>
        <p:nvSpPr>
          <p:cNvPr id="3" name="mini-box-0"/>
          <p:cNvSpPr/>
          <p:nvPr/>
        </p:nvSpPr>
        <p:spPr>
          <a:xfrm>
            <a:off x="8229600" y="201168"/>
            <a:ext cx="384048" cy="384048"/>
          </a:xfrm>
          <a:prstGeom prst="rect">
            <a:avLst/>
          </a:prstGeom>
          <a:ln w="9525">
            <a:solidFill>
              <a:srgbClr val="22D3EE"/>
            </a:solidFill>
            <a:prstDash val="solid"/>
          </a:ln>
        </p:spPr>
      </p:sp>
      <p:sp>
        <p:nvSpPr>
          <p:cNvPr id="4" name="mini-box-1"/>
          <p:cNvSpPr/>
          <p:nvPr/>
        </p:nvSpPr>
        <p:spPr>
          <a:xfrm>
            <a:off x="8293608" y="265176"/>
            <a:ext cx="256032" cy="256032"/>
          </a:xfrm>
          <a:prstGeom prst="rect">
            <a:avLst/>
          </a:prstGeom>
          <a:ln w="9525">
            <a:solidFill>
              <a:srgbClr val="EEF0F8"/>
            </a:solidFill>
            <a:prstDash val="solid"/>
          </a:ln>
        </p:spPr>
      </p:sp>
      <p:sp>
        <p:nvSpPr>
          <p:cNvPr id="5" name="mini-box-2"/>
          <p:cNvSpPr/>
          <p:nvPr/>
        </p:nvSpPr>
        <p:spPr>
          <a:xfrm>
            <a:off x="8348472" y="320040"/>
            <a:ext cx="146304" cy="146304"/>
          </a:xfrm>
          <a:prstGeom prst="rect">
            <a:avLst/>
          </a:prstGeom>
          <a:solidFill>
            <a:srgbClr val="22D3EE"/>
          </a:solidFill>
          <a:ln w="9525">
            <a:solidFill>
              <a:srgbClr val="22D3EE"/>
            </a:solidFill>
            <a:prstDash val="solid"/>
          </a:ln>
        </p:spPr>
      </p:sp>
      <p:sp>
        <p:nvSpPr>
          <p:cNvPr id="6" name="ilerleme-zemin"/>
          <p:cNvSpPr/>
          <p:nvPr/>
        </p:nvSpPr>
        <p:spPr>
          <a:xfrm>
            <a:off x="0" y="5070348"/>
            <a:ext cx="9144000" cy="73152"/>
          </a:xfrm>
          <a:prstGeom prst="rect">
            <a:avLst/>
          </a:prstGeom>
          <a:solidFill>
            <a:srgbClr val="1A2044"/>
          </a:solidFill>
          <a:ln/>
        </p:spPr>
      </p:sp>
      <p:sp>
        <p:nvSpPr>
          <p:cNvPr id="7" name="ilerleme"/>
          <p:cNvSpPr/>
          <p:nvPr/>
        </p:nvSpPr>
        <p:spPr>
          <a:xfrm>
            <a:off x="0" y="5070348"/>
            <a:ext cx="2339163" cy="73152"/>
          </a:xfrm>
          <a:prstGeom prst="rect">
            <a:avLst/>
          </a:prstGeom>
          <a:solidFill>
            <a:srgbClr val="22D3EE"/>
          </a:solidFill>
          <a:ln/>
        </p:spPr>
      </p:sp>
      <p:sp>
        <p:nvSpPr>
          <p:cNvPr id="8" name="Text 6"/>
          <p:cNvSpPr txBox="1"/>
          <p:nvPr/>
        </p:nvSpPr>
        <p:spPr>
          <a:xfrm>
            <a:off x="548640" y="4791456"/>
            <a:ext cx="3657600" cy="201168"/>
          </a:xfrm>
          <a:prstGeom prst="rect">
            <a:avLst/>
          </a:prstGeom>
          <a:noFill/>
          <a:ln/>
        </p:spPr>
        <p:txBody>
          <a:bodyPr wrap="square" lIns="0" tIns="0" rIns="0" bIns="0" rtlCol="0" anchor="t"/>
          <a:lstStyle/>
          <a:p>
            <a:pPr marL="0" indent="0">
              <a:buNone/>
            </a:pPr>
            <a:r>
              <a:rPr lang="en-US" sz="850" dirty="0">
                <a:solidFill>
                  <a:srgbClr val="6C759E"/>
                </a:solidFill>
                <a:latin typeface="Arial" pitchFamily="34" charset="0"/>
                <a:ea typeface="Arial" pitchFamily="34" charset="-122"/>
                <a:cs typeface="Arial" pitchFamily="34" charset="-120"/>
              </a:rPr>
              <a:t>KCŞ A.Ş.  ·  CSS ile stil ve düzen</a:t>
            </a:r>
            <a:endParaRPr lang="en-US" sz="850" dirty="0"/>
          </a:p>
        </p:txBody>
      </p:sp>
      <p:sp>
        <p:nvSpPr>
          <p:cNvPr id="9" name="Text 7"/>
          <p:cNvSpPr txBox="1"/>
          <p:nvPr/>
        </p:nvSpPr>
        <p:spPr>
          <a:xfrm>
            <a:off x="4206240" y="4791456"/>
            <a:ext cx="3840480" cy="201168"/>
          </a:xfrm>
          <a:prstGeom prst="rect">
            <a:avLst/>
          </a:prstGeom>
          <a:noFill/>
          <a:ln/>
        </p:spPr>
        <p:txBody>
          <a:bodyPr wrap="square" lIns="0" tIns="0" rIns="0" bIns="0" rtlCol="0" anchor="t"/>
          <a:lstStyle/>
          <a:p>
            <a:pPr marL="0" indent="0" algn="r">
              <a:buNone/>
            </a:pPr>
            <a:r>
              <a:rPr lang="en-US" sz="850" dirty="0">
                <a:solidFill>
                  <a:srgbClr val="6C759E"/>
                </a:solidFill>
                <a:latin typeface="Arial" pitchFamily="34" charset="0"/>
                <a:ea typeface="Arial" pitchFamily="34" charset="-122"/>
                <a:cs typeface="Arial" pitchFamily="34" charset="-120"/>
              </a:rPr>
              <a:t>MDN · Combinators</a:t>
            </a:r>
            <a:endParaRPr lang="en-US" sz="850" dirty="0"/>
          </a:p>
        </p:txBody>
      </p:sp>
      <p:sp>
        <p:nvSpPr>
          <p:cNvPr id="10" name="Text 8"/>
          <p:cNvSpPr txBox="1"/>
          <p:nvPr/>
        </p:nvSpPr>
        <p:spPr>
          <a:xfrm>
            <a:off x="8092440" y="4791456"/>
            <a:ext cx="685800" cy="201168"/>
          </a:xfrm>
          <a:prstGeom prst="rect">
            <a:avLst/>
          </a:prstGeom>
          <a:noFill/>
          <a:ln/>
        </p:spPr>
        <p:txBody>
          <a:bodyPr wrap="square" lIns="0" tIns="0" rIns="0" bIns="0" rtlCol="0" anchor="t"/>
          <a:lstStyle/>
          <a:p>
            <a:pPr marL="0" indent="0" algn="r">
              <a:buNone/>
            </a:pPr>
            <a:r>
              <a:rPr lang="en-US" sz="850" dirty="0">
                <a:solidFill>
                  <a:srgbClr val="9AA3C7"/>
                </a:solidFill>
                <a:latin typeface="Courier New" pitchFamily="34" charset="0"/>
                <a:ea typeface="Courier New" pitchFamily="34" charset="-122"/>
                <a:cs typeface="Courier New" pitchFamily="34" charset="-120"/>
              </a:rPr>
              <a:t>11 / 43</a:t>
            </a:r>
            <a:endParaRPr lang="en-US" sz="850" dirty="0"/>
          </a:p>
        </p:txBody>
      </p:sp>
      <p:sp>
        <p:nvSpPr>
          <p:cNvPr id="11" name="Text 9"/>
          <p:cNvSpPr txBox="1"/>
          <p:nvPr/>
        </p:nvSpPr>
        <p:spPr>
          <a:xfrm>
            <a:off x="548640" y="502920"/>
            <a:ext cx="5943600" cy="237744"/>
          </a:xfrm>
          <a:prstGeom prst="rect">
            <a:avLst/>
          </a:prstGeom>
          <a:noFill/>
          <a:ln/>
        </p:spPr>
        <p:txBody>
          <a:bodyPr wrap="square" lIns="0" tIns="0" rIns="0" bIns="0" rtlCol="0" anchor="t"/>
          <a:lstStyle/>
          <a:p>
            <a:pPr marL="0" indent="0">
              <a:buNone/>
            </a:pPr>
            <a:r>
              <a:rPr lang="en-US" sz="1100" b="1" dirty="0">
                <a:solidFill>
                  <a:srgbClr val="22D3EE"/>
                </a:solidFill>
                <a:latin typeface="Courier New" pitchFamily="34" charset="0"/>
                <a:ea typeface="Courier New" pitchFamily="34" charset="-122"/>
                <a:cs typeface="Courier New" pitchFamily="34" charset="-120"/>
              </a:rPr>
              <a:t>␣   &gt;   +   ~</a:t>
            </a:r>
            <a:endParaRPr lang="en-US" sz="1100" dirty="0"/>
          </a:p>
        </p:txBody>
      </p:sp>
      <p:sp>
        <p:nvSpPr>
          <p:cNvPr id="12" name="Text 10"/>
          <p:cNvSpPr txBox="1"/>
          <p:nvPr/>
        </p:nvSpPr>
        <p:spPr>
          <a:xfrm>
            <a:off x="548640" y="749808"/>
            <a:ext cx="7589520" cy="502920"/>
          </a:xfrm>
          <a:prstGeom prst="rect">
            <a:avLst/>
          </a:prstGeom>
          <a:noFill/>
          <a:ln/>
        </p:spPr>
        <p:txBody>
          <a:bodyPr wrap="square" lIns="0" tIns="0" rIns="0" bIns="0" rtlCol="0" anchor="ctr"/>
          <a:lstStyle/>
          <a:p>
            <a:pPr marL="0" indent="0">
              <a:buNone/>
            </a:pPr>
            <a:r>
              <a:rPr lang="en-US" sz="2400" b="1" dirty="0">
                <a:solidFill>
                  <a:srgbClr val="EEF0F8"/>
                </a:solidFill>
                <a:latin typeface="Arial" pitchFamily="34" charset="0"/>
                <a:ea typeface="Arial" pitchFamily="34" charset="-122"/>
                <a:cs typeface="Arial" pitchFamily="34" charset="-120"/>
              </a:rPr>
              <a:t>Birleştiriciler (combinators)</a:t>
            </a:r>
            <a:endParaRPr lang="en-US" sz="2400" dirty="0"/>
          </a:p>
        </p:txBody>
      </p:sp>
      <p:sp>
        <p:nvSpPr>
          <p:cNvPr id="13" name="birlestirici-0"/>
          <p:cNvSpPr/>
          <p:nvPr/>
        </p:nvSpPr>
        <p:spPr>
          <a:xfrm>
            <a:off x="548640" y="1371600"/>
            <a:ext cx="1901952" cy="2057400"/>
          </a:xfrm>
          <a:prstGeom prst="roundRect">
            <a:avLst>
              <a:gd name="adj" fmla="val 3846"/>
            </a:avLst>
          </a:prstGeom>
          <a:solidFill>
            <a:srgbClr val="1A2044"/>
          </a:solidFill>
          <a:ln w="9525">
            <a:solidFill>
              <a:srgbClr val="2E3768"/>
            </a:solidFill>
            <a:prstDash val="solid"/>
          </a:ln>
        </p:spPr>
      </p:sp>
      <p:sp>
        <p:nvSpPr>
          <p:cNvPr id="14" name="Text 12"/>
          <p:cNvSpPr txBox="1"/>
          <p:nvPr/>
        </p:nvSpPr>
        <p:spPr>
          <a:xfrm>
            <a:off x="548640" y="1417320"/>
            <a:ext cx="1901952" cy="685800"/>
          </a:xfrm>
          <a:prstGeom prst="rect">
            <a:avLst/>
          </a:prstGeom>
          <a:noFill/>
          <a:ln/>
        </p:spPr>
        <p:txBody>
          <a:bodyPr wrap="square" lIns="0" tIns="0" rIns="0" bIns="0" rtlCol="0" anchor="ctr"/>
          <a:lstStyle/>
          <a:p>
            <a:pPr marL="0" indent="0" algn="ctr">
              <a:buNone/>
            </a:pPr>
            <a:r>
              <a:rPr lang="en-US" sz="3800" b="1" dirty="0">
                <a:solidFill>
                  <a:srgbClr val="22D3EE"/>
                </a:solidFill>
                <a:latin typeface="Courier New" pitchFamily="34" charset="0"/>
                <a:ea typeface="Courier New" pitchFamily="34" charset="-122"/>
                <a:cs typeface="Courier New" pitchFamily="34" charset="-120"/>
              </a:rPr>
              <a:t>␣</a:t>
            </a:r>
            <a:endParaRPr lang="en-US" sz="3800" dirty="0"/>
          </a:p>
        </p:txBody>
      </p:sp>
      <p:sp>
        <p:nvSpPr>
          <p:cNvPr id="15" name="Text 13"/>
          <p:cNvSpPr txBox="1"/>
          <p:nvPr/>
        </p:nvSpPr>
        <p:spPr>
          <a:xfrm>
            <a:off x="658368" y="2148840"/>
            <a:ext cx="1691640" cy="274320"/>
          </a:xfrm>
          <a:prstGeom prst="rect">
            <a:avLst/>
          </a:prstGeom>
          <a:noFill/>
          <a:ln/>
        </p:spPr>
        <p:txBody>
          <a:bodyPr wrap="square" lIns="0" tIns="0" rIns="0" bIns="0" rtlCol="0" anchor="t"/>
          <a:lstStyle/>
          <a:p>
            <a:pPr marL="0" indent="0" algn="ctr">
              <a:buNone/>
            </a:pPr>
            <a:r>
              <a:rPr lang="en-US" sz="1200" b="1" dirty="0">
                <a:solidFill>
                  <a:srgbClr val="EEF0F8"/>
                </a:solidFill>
                <a:latin typeface="Arial" pitchFamily="34" charset="0"/>
                <a:ea typeface="Arial" pitchFamily="34" charset="-122"/>
                <a:cs typeface="Arial" pitchFamily="34" charset="-120"/>
              </a:rPr>
              <a:t>Torun (descendant)</a:t>
            </a:r>
            <a:endParaRPr lang="en-US" sz="1200" dirty="0"/>
          </a:p>
        </p:txBody>
      </p:sp>
      <p:sp>
        <p:nvSpPr>
          <p:cNvPr id="16" name="Text 14"/>
          <p:cNvSpPr txBox="1"/>
          <p:nvPr/>
        </p:nvSpPr>
        <p:spPr>
          <a:xfrm>
            <a:off x="822960" y="2487168"/>
            <a:ext cx="1353312" cy="256032"/>
          </a:xfrm>
          <a:prstGeom prst="roundRect">
            <a:avLst>
              <a:gd name="adj" fmla="val 42857"/>
            </a:avLst>
          </a:prstGeom>
          <a:solidFill>
            <a:srgbClr val="10142B"/>
          </a:solidFill>
          <a:ln w="12700">
            <a:solidFill>
              <a:srgbClr val="22D3EE"/>
            </a:solidFill>
          </a:ln>
        </p:spPr>
        <p:txBody>
          <a:bodyPr wrap="square" lIns="0" tIns="0" rIns="0" bIns="0" rtlCol="0" anchor="ctr"/>
          <a:lstStyle/>
          <a:p>
            <a:pPr marL="0" indent="0" algn="ctr">
              <a:buNone/>
            </a:pPr>
            <a:r>
              <a:rPr lang="en-US" sz="1000" b="1" dirty="0">
                <a:solidFill>
                  <a:srgbClr val="22D3EE"/>
                </a:solidFill>
                <a:latin typeface="Courier New" pitchFamily="34" charset="0"/>
                <a:ea typeface="Courier New" pitchFamily="34" charset="-122"/>
                <a:cs typeface="Courier New" pitchFamily="34" charset="-120"/>
              </a:rPr>
              <a:t>.box p</a:t>
            </a:r>
            <a:endParaRPr lang="en-US" sz="1000" dirty="0"/>
          </a:p>
        </p:txBody>
      </p:sp>
      <p:sp>
        <p:nvSpPr>
          <p:cNvPr id="17" name="Text 15"/>
          <p:cNvSpPr txBox="1"/>
          <p:nvPr/>
        </p:nvSpPr>
        <p:spPr>
          <a:xfrm>
            <a:off x="658368" y="2816352"/>
            <a:ext cx="1691640" cy="548640"/>
          </a:xfrm>
          <a:prstGeom prst="rect">
            <a:avLst/>
          </a:prstGeom>
          <a:noFill/>
          <a:ln/>
        </p:spPr>
        <p:txBody>
          <a:bodyPr wrap="square" lIns="0" tIns="0" rIns="0" bIns="0" rtlCol="0" anchor="t"/>
          <a:lstStyle/>
          <a:p>
            <a:pPr marL="0" indent="0" algn="ctr">
              <a:buNone/>
            </a:pPr>
            <a:r>
              <a:rPr lang="en-US" sz="1000" dirty="0">
                <a:solidFill>
                  <a:srgbClr val="9AA3C7"/>
                </a:solidFill>
                <a:latin typeface="Arial" pitchFamily="34" charset="0"/>
                <a:ea typeface="Arial" pitchFamily="34" charset="-122"/>
                <a:cs typeface="Arial" pitchFamily="34" charset="-120"/>
              </a:rPr>
              <a:t>her seviyedeki alt öğe</a:t>
            </a:r>
            <a:endParaRPr lang="en-US" sz="1000" dirty="0"/>
          </a:p>
        </p:txBody>
      </p:sp>
      <p:sp>
        <p:nvSpPr>
          <p:cNvPr id="18" name="birlestirici-1"/>
          <p:cNvSpPr/>
          <p:nvPr/>
        </p:nvSpPr>
        <p:spPr>
          <a:xfrm>
            <a:off x="2578608" y="1371600"/>
            <a:ext cx="1901952" cy="2057400"/>
          </a:xfrm>
          <a:prstGeom prst="roundRect">
            <a:avLst>
              <a:gd name="adj" fmla="val 3846"/>
            </a:avLst>
          </a:prstGeom>
          <a:solidFill>
            <a:srgbClr val="1A2044"/>
          </a:solidFill>
          <a:ln w="9525">
            <a:solidFill>
              <a:srgbClr val="2E3768"/>
            </a:solidFill>
            <a:prstDash val="solid"/>
          </a:ln>
        </p:spPr>
      </p:sp>
      <p:sp>
        <p:nvSpPr>
          <p:cNvPr id="19" name="Text 17"/>
          <p:cNvSpPr txBox="1"/>
          <p:nvPr/>
        </p:nvSpPr>
        <p:spPr>
          <a:xfrm>
            <a:off x="2578608" y="1417320"/>
            <a:ext cx="1901952" cy="685800"/>
          </a:xfrm>
          <a:prstGeom prst="rect">
            <a:avLst/>
          </a:prstGeom>
          <a:noFill/>
          <a:ln/>
        </p:spPr>
        <p:txBody>
          <a:bodyPr wrap="square" lIns="0" tIns="0" rIns="0" bIns="0" rtlCol="0" anchor="ctr"/>
          <a:lstStyle/>
          <a:p>
            <a:pPr marL="0" indent="0" algn="ctr">
              <a:buNone/>
            </a:pPr>
            <a:r>
              <a:rPr lang="en-US" sz="3800" b="1" dirty="0">
                <a:solidFill>
                  <a:srgbClr val="F472B6"/>
                </a:solidFill>
                <a:latin typeface="Courier New" pitchFamily="34" charset="0"/>
                <a:ea typeface="Courier New" pitchFamily="34" charset="-122"/>
                <a:cs typeface="Courier New" pitchFamily="34" charset="-120"/>
              </a:rPr>
              <a:t>&gt;</a:t>
            </a:r>
            <a:endParaRPr lang="en-US" sz="3800" dirty="0"/>
          </a:p>
        </p:txBody>
      </p:sp>
      <p:sp>
        <p:nvSpPr>
          <p:cNvPr id="20" name="Text 18"/>
          <p:cNvSpPr txBox="1"/>
          <p:nvPr/>
        </p:nvSpPr>
        <p:spPr>
          <a:xfrm>
            <a:off x="2688336" y="2148840"/>
            <a:ext cx="1691640" cy="274320"/>
          </a:xfrm>
          <a:prstGeom prst="rect">
            <a:avLst/>
          </a:prstGeom>
          <a:noFill/>
          <a:ln/>
        </p:spPr>
        <p:txBody>
          <a:bodyPr wrap="square" lIns="0" tIns="0" rIns="0" bIns="0" rtlCol="0" anchor="t"/>
          <a:lstStyle/>
          <a:p>
            <a:pPr marL="0" indent="0" algn="ctr">
              <a:buNone/>
            </a:pPr>
            <a:r>
              <a:rPr lang="en-US" sz="1200" b="1" dirty="0">
                <a:solidFill>
                  <a:srgbClr val="EEF0F8"/>
                </a:solidFill>
                <a:latin typeface="Arial" pitchFamily="34" charset="0"/>
                <a:ea typeface="Arial" pitchFamily="34" charset="-122"/>
                <a:cs typeface="Arial" pitchFamily="34" charset="-120"/>
              </a:rPr>
              <a:t>Çocuk (child)</a:t>
            </a:r>
            <a:endParaRPr lang="en-US" sz="1200" dirty="0"/>
          </a:p>
        </p:txBody>
      </p:sp>
      <p:sp>
        <p:nvSpPr>
          <p:cNvPr id="21" name="Text 19"/>
          <p:cNvSpPr txBox="1"/>
          <p:nvPr/>
        </p:nvSpPr>
        <p:spPr>
          <a:xfrm>
            <a:off x="2852928" y="2487168"/>
            <a:ext cx="1353312" cy="256032"/>
          </a:xfrm>
          <a:prstGeom prst="roundRect">
            <a:avLst>
              <a:gd name="adj" fmla="val 42857"/>
            </a:avLst>
          </a:prstGeom>
          <a:solidFill>
            <a:srgbClr val="10142B"/>
          </a:solidFill>
          <a:ln w="12700">
            <a:solidFill>
              <a:srgbClr val="F472B6"/>
            </a:solidFill>
          </a:ln>
        </p:spPr>
        <p:txBody>
          <a:bodyPr wrap="square" lIns="0" tIns="0" rIns="0" bIns="0" rtlCol="0" anchor="ctr"/>
          <a:lstStyle/>
          <a:p>
            <a:pPr marL="0" indent="0" algn="ctr">
              <a:buNone/>
            </a:pPr>
            <a:r>
              <a:rPr lang="en-US" sz="1000" b="1" dirty="0">
                <a:solidFill>
                  <a:srgbClr val="F472B6"/>
                </a:solidFill>
                <a:latin typeface="Courier New" pitchFamily="34" charset="0"/>
                <a:ea typeface="Courier New" pitchFamily="34" charset="-122"/>
                <a:cs typeface="Courier New" pitchFamily="34" charset="-120"/>
              </a:rPr>
              <a:t>ul &gt; li</a:t>
            </a:r>
            <a:endParaRPr lang="en-US" sz="1000" dirty="0"/>
          </a:p>
        </p:txBody>
      </p:sp>
      <p:sp>
        <p:nvSpPr>
          <p:cNvPr id="22" name="Text 20"/>
          <p:cNvSpPr txBox="1"/>
          <p:nvPr/>
        </p:nvSpPr>
        <p:spPr>
          <a:xfrm>
            <a:off x="2688336" y="2816352"/>
            <a:ext cx="1691640" cy="548640"/>
          </a:xfrm>
          <a:prstGeom prst="rect">
            <a:avLst/>
          </a:prstGeom>
          <a:noFill/>
          <a:ln/>
        </p:spPr>
        <p:txBody>
          <a:bodyPr wrap="square" lIns="0" tIns="0" rIns="0" bIns="0" rtlCol="0" anchor="t"/>
          <a:lstStyle/>
          <a:p>
            <a:pPr marL="0" indent="0" algn="ctr">
              <a:buNone/>
            </a:pPr>
            <a:r>
              <a:rPr lang="en-US" sz="1000" dirty="0">
                <a:solidFill>
                  <a:srgbClr val="9AA3C7"/>
                </a:solidFill>
                <a:latin typeface="Arial" pitchFamily="34" charset="0"/>
                <a:ea typeface="Arial" pitchFamily="34" charset="-122"/>
                <a:cs typeface="Arial" pitchFamily="34" charset="-120"/>
              </a:rPr>
              <a:t>sadece doğrudan çocuk</a:t>
            </a:r>
            <a:endParaRPr lang="en-US" sz="1000" dirty="0"/>
          </a:p>
        </p:txBody>
      </p:sp>
      <p:sp>
        <p:nvSpPr>
          <p:cNvPr id="23" name="birlestirici-2"/>
          <p:cNvSpPr/>
          <p:nvPr/>
        </p:nvSpPr>
        <p:spPr>
          <a:xfrm>
            <a:off x="4608576" y="1371600"/>
            <a:ext cx="1901952" cy="2057400"/>
          </a:xfrm>
          <a:prstGeom prst="roundRect">
            <a:avLst>
              <a:gd name="adj" fmla="val 3846"/>
            </a:avLst>
          </a:prstGeom>
          <a:solidFill>
            <a:srgbClr val="1A2044"/>
          </a:solidFill>
          <a:ln w="9525">
            <a:solidFill>
              <a:srgbClr val="2E3768"/>
            </a:solidFill>
            <a:prstDash val="solid"/>
          </a:ln>
        </p:spPr>
      </p:sp>
      <p:sp>
        <p:nvSpPr>
          <p:cNvPr id="24" name="Text 22"/>
          <p:cNvSpPr txBox="1"/>
          <p:nvPr/>
        </p:nvSpPr>
        <p:spPr>
          <a:xfrm>
            <a:off x="4608576" y="1417320"/>
            <a:ext cx="1901952" cy="685800"/>
          </a:xfrm>
          <a:prstGeom prst="rect">
            <a:avLst/>
          </a:prstGeom>
          <a:noFill/>
          <a:ln/>
        </p:spPr>
        <p:txBody>
          <a:bodyPr wrap="square" lIns="0" tIns="0" rIns="0" bIns="0" rtlCol="0" anchor="ctr"/>
          <a:lstStyle/>
          <a:p>
            <a:pPr marL="0" indent="0" algn="ctr">
              <a:buNone/>
            </a:pPr>
            <a:r>
              <a:rPr lang="en-US" sz="3800" b="1" dirty="0">
                <a:solidFill>
                  <a:srgbClr val="A3E635"/>
                </a:solidFill>
                <a:latin typeface="Courier New" pitchFamily="34" charset="0"/>
                <a:ea typeface="Courier New" pitchFamily="34" charset="-122"/>
                <a:cs typeface="Courier New" pitchFamily="34" charset="-120"/>
              </a:rPr>
              <a:t>+</a:t>
            </a:r>
            <a:endParaRPr lang="en-US" sz="3800" dirty="0"/>
          </a:p>
        </p:txBody>
      </p:sp>
      <p:sp>
        <p:nvSpPr>
          <p:cNvPr id="25" name="Text 23"/>
          <p:cNvSpPr txBox="1"/>
          <p:nvPr/>
        </p:nvSpPr>
        <p:spPr>
          <a:xfrm>
            <a:off x="4718304" y="2148840"/>
            <a:ext cx="1691640" cy="274320"/>
          </a:xfrm>
          <a:prstGeom prst="rect">
            <a:avLst/>
          </a:prstGeom>
          <a:noFill/>
          <a:ln/>
        </p:spPr>
        <p:txBody>
          <a:bodyPr wrap="square" lIns="0" tIns="0" rIns="0" bIns="0" rtlCol="0" anchor="t"/>
          <a:lstStyle/>
          <a:p>
            <a:pPr marL="0" indent="0" algn="ctr">
              <a:buNone/>
            </a:pPr>
            <a:r>
              <a:rPr lang="en-US" sz="1200" b="1" dirty="0">
                <a:solidFill>
                  <a:srgbClr val="EEF0F8"/>
                </a:solidFill>
                <a:latin typeface="Arial" pitchFamily="34" charset="0"/>
                <a:ea typeface="Arial" pitchFamily="34" charset="-122"/>
                <a:cs typeface="Arial" pitchFamily="34" charset="-120"/>
              </a:rPr>
              <a:t>Sonraki kardeş</a:t>
            </a:r>
            <a:endParaRPr lang="en-US" sz="1200" dirty="0"/>
          </a:p>
        </p:txBody>
      </p:sp>
      <p:sp>
        <p:nvSpPr>
          <p:cNvPr id="26" name="Text 24"/>
          <p:cNvSpPr txBox="1"/>
          <p:nvPr/>
        </p:nvSpPr>
        <p:spPr>
          <a:xfrm>
            <a:off x="4882896" y="2487168"/>
            <a:ext cx="1353312" cy="256032"/>
          </a:xfrm>
          <a:prstGeom prst="roundRect">
            <a:avLst>
              <a:gd name="adj" fmla="val 42857"/>
            </a:avLst>
          </a:prstGeom>
          <a:solidFill>
            <a:srgbClr val="10142B"/>
          </a:solidFill>
          <a:ln w="12700">
            <a:solidFill>
              <a:srgbClr val="A3E635"/>
            </a:solidFill>
          </a:ln>
        </p:spPr>
        <p:txBody>
          <a:bodyPr wrap="square" lIns="0" tIns="0" rIns="0" bIns="0" rtlCol="0" anchor="ctr"/>
          <a:lstStyle/>
          <a:p>
            <a:pPr marL="0" indent="0" algn="ctr">
              <a:buNone/>
            </a:pPr>
            <a:r>
              <a:rPr lang="en-US" sz="1000" b="1" dirty="0">
                <a:solidFill>
                  <a:srgbClr val="A3E635"/>
                </a:solidFill>
                <a:latin typeface="Courier New" pitchFamily="34" charset="0"/>
                <a:ea typeface="Courier New" pitchFamily="34" charset="-122"/>
                <a:cs typeface="Courier New" pitchFamily="34" charset="-120"/>
              </a:rPr>
              <a:t>h1 + p</a:t>
            </a:r>
            <a:endParaRPr lang="en-US" sz="1000" dirty="0"/>
          </a:p>
        </p:txBody>
      </p:sp>
      <p:sp>
        <p:nvSpPr>
          <p:cNvPr id="27" name="Text 25"/>
          <p:cNvSpPr txBox="1"/>
          <p:nvPr/>
        </p:nvSpPr>
        <p:spPr>
          <a:xfrm>
            <a:off x="4718304" y="2816352"/>
            <a:ext cx="1691640" cy="548640"/>
          </a:xfrm>
          <a:prstGeom prst="rect">
            <a:avLst/>
          </a:prstGeom>
          <a:noFill/>
          <a:ln/>
        </p:spPr>
        <p:txBody>
          <a:bodyPr wrap="square" lIns="0" tIns="0" rIns="0" bIns="0" rtlCol="0" anchor="t"/>
          <a:lstStyle/>
          <a:p>
            <a:pPr marL="0" indent="0" algn="ctr">
              <a:buNone/>
            </a:pPr>
            <a:r>
              <a:rPr lang="en-US" sz="1000" dirty="0">
                <a:solidFill>
                  <a:srgbClr val="9AA3C7"/>
                </a:solidFill>
                <a:latin typeface="Arial" pitchFamily="34" charset="0"/>
                <a:ea typeface="Arial" pitchFamily="34" charset="-122"/>
                <a:cs typeface="Arial" pitchFamily="34" charset="-120"/>
              </a:rPr>
              <a:t>hemen ardından gelen tek kardeş</a:t>
            </a:r>
            <a:endParaRPr lang="en-US" sz="1000" dirty="0"/>
          </a:p>
        </p:txBody>
      </p:sp>
      <p:sp>
        <p:nvSpPr>
          <p:cNvPr id="28" name="birlestirici-3"/>
          <p:cNvSpPr/>
          <p:nvPr/>
        </p:nvSpPr>
        <p:spPr>
          <a:xfrm>
            <a:off x="6638544" y="1371600"/>
            <a:ext cx="1901952" cy="2057400"/>
          </a:xfrm>
          <a:prstGeom prst="roundRect">
            <a:avLst>
              <a:gd name="adj" fmla="val 3846"/>
            </a:avLst>
          </a:prstGeom>
          <a:solidFill>
            <a:srgbClr val="1A2044"/>
          </a:solidFill>
          <a:ln w="9525">
            <a:solidFill>
              <a:srgbClr val="2E3768"/>
            </a:solidFill>
            <a:prstDash val="solid"/>
          </a:ln>
        </p:spPr>
      </p:sp>
      <p:sp>
        <p:nvSpPr>
          <p:cNvPr id="29" name="Text 27"/>
          <p:cNvSpPr txBox="1"/>
          <p:nvPr/>
        </p:nvSpPr>
        <p:spPr>
          <a:xfrm>
            <a:off x="6638544" y="1417320"/>
            <a:ext cx="1901952" cy="685800"/>
          </a:xfrm>
          <a:prstGeom prst="rect">
            <a:avLst/>
          </a:prstGeom>
          <a:noFill/>
          <a:ln/>
        </p:spPr>
        <p:txBody>
          <a:bodyPr wrap="square" lIns="0" tIns="0" rIns="0" bIns="0" rtlCol="0" anchor="ctr"/>
          <a:lstStyle/>
          <a:p>
            <a:pPr marL="0" indent="0" algn="ctr">
              <a:buNone/>
            </a:pPr>
            <a:r>
              <a:rPr lang="en-US" sz="3800" b="1" dirty="0">
                <a:solidFill>
                  <a:srgbClr val="FBBF24"/>
                </a:solidFill>
                <a:latin typeface="Courier New" pitchFamily="34" charset="0"/>
                <a:ea typeface="Courier New" pitchFamily="34" charset="-122"/>
                <a:cs typeface="Courier New" pitchFamily="34" charset="-120"/>
              </a:rPr>
              <a:t>~</a:t>
            </a:r>
            <a:endParaRPr lang="en-US" sz="3800" dirty="0"/>
          </a:p>
        </p:txBody>
      </p:sp>
      <p:sp>
        <p:nvSpPr>
          <p:cNvPr id="30" name="Text 28"/>
          <p:cNvSpPr txBox="1"/>
          <p:nvPr/>
        </p:nvSpPr>
        <p:spPr>
          <a:xfrm>
            <a:off x="6748272" y="2148840"/>
            <a:ext cx="1691640" cy="274320"/>
          </a:xfrm>
          <a:prstGeom prst="rect">
            <a:avLst/>
          </a:prstGeom>
          <a:noFill/>
          <a:ln/>
        </p:spPr>
        <p:txBody>
          <a:bodyPr wrap="square" lIns="0" tIns="0" rIns="0" bIns="0" rtlCol="0" anchor="t"/>
          <a:lstStyle/>
          <a:p>
            <a:pPr marL="0" indent="0" algn="ctr">
              <a:buNone/>
            </a:pPr>
            <a:r>
              <a:rPr lang="en-US" sz="1200" b="1" dirty="0">
                <a:solidFill>
                  <a:srgbClr val="EEF0F8"/>
                </a:solidFill>
                <a:latin typeface="Arial" pitchFamily="34" charset="0"/>
                <a:ea typeface="Arial" pitchFamily="34" charset="-122"/>
                <a:cs typeface="Arial" pitchFamily="34" charset="-120"/>
              </a:rPr>
              <a:t>Sonraki kardeşler</a:t>
            </a:r>
            <a:endParaRPr lang="en-US" sz="1200" dirty="0"/>
          </a:p>
        </p:txBody>
      </p:sp>
      <p:sp>
        <p:nvSpPr>
          <p:cNvPr id="31" name="Text 29"/>
          <p:cNvSpPr txBox="1"/>
          <p:nvPr/>
        </p:nvSpPr>
        <p:spPr>
          <a:xfrm>
            <a:off x="6912864" y="2487168"/>
            <a:ext cx="1353312" cy="256032"/>
          </a:xfrm>
          <a:prstGeom prst="roundRect">
            <a:avLst>
              <a:gd name="adj" fmla="val 42857"/>
            </a:avLst>
          </a:prstGeom>
          <a:solidFill>
            <a:srgbClr val="10142B"/>
          </a:solidFill>
          <a:ln w="12700">
            <a:solidFill>
              <a:srgbClr val="FBBF24"/>
            </a:solidFill>
          </a:ln>
        </p:spPr>
        <p:txBody>
          <a:bodyPr wrap="square" lIns="0" tIns="0" rIns="0" bIns="0" rtlCol="0" anchor="ctr"/>
          <a:lstStyle/>
          <a:p>
            <a:pPr marL="0" indent="0" algn="ctr">
              <a:buNone/>
            </a:pPr>
            <a:r>
              <a:rPr lang="en-US" sz="1000" b="1" dirty="0">
                <a:solidFill>
                  <a:srgbClr val="FBBF24"/>
                </a:solidFill>
                <a:latin typeface="Courier New" pitchFamily="34" charset="0"/>
                <a:ea typeface="Courier New" pitchFamily="34" charset="-122"/>
                <a:cs typeface="Courier New" pitchFamily="34" charset="-120"/>
              </a:rPr>
              <a:t>h1 ~ p</a:t>
            </a:r>
            <a:endParaRPr lang="en-US" sz="1000" dirty="0"/>
          </a:p>
        </p:txBody>
      </p:sp>
      <p:sp>
        <p:nvSpPr>
          <p:cNvPr id="32" name="Text 30"/>
          <p:cNvSpPr txBox="1"/>
          <p:nvPr/>
        </p:nvSpPr>
        <p:spPr>
          <a:xfrm>
            <a:off x="6748272" y="2816352"/>
            <a:ext cx="1691640" cy="548640"/>
          </a:xfrm>
          <a:prstGeom prst="rect">
            <a:avLst/>
          </a:prstGeom>
          <a:noFill/>
          <a:ln/>
        </p:spPr>
        <p:txBody>
          <a:bodyPr wrap="square" lIns="0" tIns="0" rIns="0" bIns="0" rtlCol="0" anchor="t"/>
          <a:lstStyle/>
          <a:p>
            <a:pPr marL="0" indent="0" algn="ctr">
              <a:buNone/>
            </a:pPr>
            <a:r>
              <a:rPr lang="en-US" sz="1000" dirty="0">
                <a:solidFill>
                  <a:srgbClr val="9AA3C7"/>
                </a:solidFill>
                <a:latin typeface="Arial" pitchFamily="34" charset="0"/>
                <a:ea typeface="Arial" pitchFamily="34" charset="-122"/>
                <a:cs typeface="Arial" pitchFamily="34" charset="-120"/>
              </a:rPr>
              <a:t>sonrasındaki tüm kardeşler, bitişik olmasa da</a:t>
            </a:r>
            <a:endParaRPr lang="en-US" sz="1000" dirty="0"/>
          </a:p>
        </p:txBody>
      </p:sp>
      <p:sp>
        <p:nvSpPr>
          <p:cNvPr id="33" name="birlestirici-not"/>
          <p:cNvSpPr/>
          <p:nvPr/>
        </p:nvSpPr>
        <p:spPr>
          <a:xfrm>
            <a:off x="548640" y="3547872"/>
            <a:ext cx="8046720" cy="566928"/>
          </a:xfrm>
          <a:prstGeom prst="roundRect">
            <a:avLst>
              <a:gd name="adj" fmla="val 9677"/>
            </a:avLst>
          </a:prstGeom>
          <a:solidFill>
            <a:srgbClr val="232A55"/>
          </a:solidFill>
          <a:ln/>
        </p:spPr>
      </p:sp>
      <p:sp>
        <p:nvSpPr>
          <p:cNvPr id="34" name="Text 32"/>
          <p:cNvSpPr txBox="1"/>
          <p:nvPr/>
        </p:nvSpPr>
        <p:spPr>
          <a:xfrm>
            <a:off x="713232" y="3547872"/>
            <a:ext cx="7772400" cy="566928"/>
          </a:xfrm>
          <a:prstGeom prst="rect">
            <a:avLst/>
          </a:prstGeom>
          <a:noFill/>
          <a:ln/>
        </p:spPr>
        <p:txBody>
          <a:bodyPr wrap="square" lIns="0" tIns="0" rIns="0" bIns="0" rtlCol="0" anchor="ctr"/>
          <a:lstStyle/>
          <a:p>
            <a:pPr marL="0" indent="0">
              <a:buNone/>
            </a:pPr>
            <a:r>
              <a:rPr lang="en-US" sz="1050" b="1" dirty="0">
                <a:solidFill>
                  <a:srgbClr val="FBBF24"/>
                </a:solidFill>
                <a:latin typeface="Arial" pitchFamily="34" charset="0"/>
                <a:ea typeface="Arial" pitchFamily="34" charset="-122"/>
                <a:cs typeface="Arial" pitchFamily="34" charset="-120"/>
              </a:rPr>
              <a:t>Dikkat: </a:t>
            </a:r>
            <a:r>
              <a:rPr lang="en-US" sz="1050" dirty="0">
                <a:solidFill>
                  <a:srgbClr val="EEF0F8"/>
                </a:solidFill>
                <a:latin typeface="Arial" pitchFamily="34" charset="0"/>
                <a:ea typeface="Arial" pitchFamily="34" charset="-122"/>
                <a:cs typeface="Arial" pitchFamily="34" charset="-120"/>
              </a:rPr>
              <a:t>uzun ve çok özel seçici zincirleri CSS'i HTML yapısına kilitler. Çoğu zaman basit bir sınıf eklemek daha iyidir; birleştiriciler HTML'i değiştiremediğin (CMS) durumlarda kurtarıcıdır.</a:t>
            </a:r>
            <a:endParaRPr lang="en-US" sz="1050" dirty="0"/>
          </a:p>
        </p:txBody>
      </p:sp>
      <p:sp>
        <p:nvSpPr>
          <p:cNvPr id="35" name="benzetme"/>
          <p:cNvSpPr/>
          <p:nvPr/>
        </p:nvSpPr>
        <p:spPr>
          <a:xfrm>
            <a:off x="548640" y="4224528"/>
            <a:ext cx="8046720" cy="402336"/>
          </a:xfrm>
          <a:prstGeom prst="roundRect">
            <a:avLst>
              <a:gd name="adj" fmla="val 50000"/>
            </a:avLst>
          </a:prstGeom>
          <a:solidFill>
            <a:srgbClr val="232A55"/>
          </a:solidFill>
          <a:ln/>
        </p:spPr>
      </p:sp>
      <p:sp>
        <p:nvSpPr>
          <p:cNvPr id="36" name="benzetme-ikon"/>
          <p:cNvSpPr/>
          <p:nvPr/>
        </p:nvSpPr>
        <p:spPr>
          <a:xfrm>
            <a:off x="621792" y="4261104"/>
            <a:ext cx="329184" cy="329184"/>
          </a:xfrm>
          <a:prstGeom prst="ellipse">
            <a:avLst/>
          </a:prstGeom>
          <a:solidFill>
            <a:srgbClr val="FBBF24"/>
          </a:solidFill>
          <a:ln/>
        </p:spPr>
      </p:sp>
      <p:sp>
        <p:nvSpPr>
          <p:cNvPr id="37" name="Text 35"/>
          <p:cNvSpPr txBox="1"/>
          <p:nvPr/>
        </p:nvSpPr>
        <p:spPr>
          <a:xfrm>
            <a:off x="621792" y="4261104"/>
            <a:ext cx="329184" cy="329184"/>
          </a:xfrm>
          <a:prstGeom prst="rect">
            <a:avLst/>
          </a:prstGeom>
          <a:noFill/>
          <a:ln/>
        </p:spPr>
        <p:txBody>
          <a:bodyPr wrap="square" lIns="0" tIns="0" rIns="0" bIns="0" rtlCol="0" anchor="ctr"/>
          <a:lstStyle/>
          <a:p>
            <a:pPr marL="0" indent="0" algn="ctr">
              <a:buNone/>
            </a:pPr>
            <a:r>
              <a:rPr lang="en-US" sz="1600" b="1" dirty="0">
                <a:solidFill>
                  <a:srgbClr val="10142B"/>
                </a:solidFill>
                <a:latin typeface="Arial" pitchFamily="34" charset="0"/>
                <a:ea typeface="Arial" pitchFamily="34" charset="-122"/>
                <a:cs typeface="Arial" pitchFamily="34" charset="-120"/>
              </a:rPr>
              <a:t>≈</a:t>
            </a:r>
            <a:endParaRPr lang="en-US" sz="1600" dirty="0"/>
          </a:p>
        </p:txBody>
      </p:sp>
      <p:sp>
        <p:nvSpPr>
          <p:cNvPr id="38" name="Text 36"/>
          <p:cNvSpPr txBox="1"/>
          <p:nvPr/>
        </p:nvSpPr>
        <p:spPr>
          <a:xfrm>
            <a:off x="1042416" y="4224528"/>
            <a:ext cx="7452360" cy="402336"/>
          </a:xfrm>
          <a:prstGeom prst="rect">
            <a:avLst/>
          </a:prstGeom>
          <a:noFill/>
          <a:ln/>
        </p:spPr>
        <p:txBody>
          <a:bodyPr wrap="square" lIns="0" tIns="0" rIns="0" bIns="0" rtlCol="0" anchor="ctr"/>
          <a:lstStyle/>
          <a:p>
            <a:pPr marL="0" indent="0">
              <a:buNone/>
            </a:pPr>
            <a:r>
              <a:rPr lang="en-US" sz="1100" b="1" dirty="0">
                <a:solidFill>
                  <a:srgbClr val="FBBF24"/>
                </a:solidFill>
                <a:latin typeface="Arial" pitchFamily="34" charset="0"/>
                <a:ea typeface="Arial" pitchFamily="34" charset="-122"/>
                <a:cs typeface="Arial" pitchFamily="34" charset="-120"/>
              </a:rPr>
              <a:t>Gündelik hayatta: </a:t>
            </a:r>
            <a:r>
              <a:rPr lang="en-US" sz="1100" dirty="0">
                <a:solidFill>
                  <a:srgbClr val="EEF0F8"/>
                </a:solidFill>
                <a:latin typeface="Arial" pitchFamily="34" charset="0"/>
                <a:ea typeface="Arial" pitchFamily="34" charset="-122"/>
                <a:cs typeface="Arial" pitchFamily="34" charset="-120"/>
              </a:rPr>
              <a:t>aile ağacı gibi: torunlar (␣), sadece çocuklar (&gt;), hemen sonraki kardeş (+), sonraki tüm kardeşler (~).</a:t>
            </a:r>
            <a:endParaRPr lang="en-US" sz="1100" dirty="0"/>
          </a:p>
        </p:txBody>
      </p:sp>
    </p:spTree>
  </p:cSld>
  <p:clrMapOvr>
    <a:masterClrMapping/>
  </p:clrMapOvr>
  <p:transition spd="med">
    <p:pull/>
  </p:transition>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256032"/>
            <a:ext cx="4572000" cy="201168"/>
          </a:xfrm>
          <a:prstGeom prst="rect">
            <a:avLst/>
          </a:prstGeom>
          <a:noFill/>
          <a:ln/>
        </p:spPr>
        <p:txBody>
          <a:bodyPr wrap="square" lIns="0" tIns="0" rIns="0" bIns="0" rtlCol="0" anchor="t"/>
          <a:lstStyle/>
          <a:p>
            <a:pPr marL="0" indent="0">
              <a:buNone/>
            </a:pPr>
            <a:r>
              <a:rPr lang="en-US" sz="900" b="1" kern="0" spc="200" dirty="0">
                <a:solidFill>
                  <a:srgbClr val="22D3EE"/>
                </a:solidFill>
                <a:latin typeface="Arial" pitchFamily="34" charset="0"/>
                <a:ea typeface="Arial" pitchFamily="34" charset="-122"/>
                <a:cs typeface="Arial" pitchFamily="34" charset="-120"/>
              </a:rPr>
              <a:t>MODÜL 1 · CSS TEMELLERİ</a:t>
            </a:r>
            <a:endParaRPr lang="en-US" sz="900" dirty="0"/>
          </a:p>
        </p:txBody>
      </p:sp>
      <p:sp>
        <p:nvSpPr>
          <p:cNvPr id="3" name="mini-box-0"/>
          <p:cNvSpPr/>
          <p:nvPr/>
        </p:nvSpPr>
        <p:spPr>
          <a:xfrm>
            <a:off x="8229600" y="201168"/>
            <a:ext cx="384048" cy="384048"/>
          </a:xfrm>
          <a:prstGeom prst="rect">
            <a:avLst/>
          </a:prstGeom>
          <a:ln w="9525">
            <a:solidFill>
              <a:srgbClr val="22D3EE"/>
            </a:solidFill>
            <a:prstDash val="solid"/>
          </a:ln>
        </p:spPr>
      </p:sp>
      <p:sp>
        <p:nvSpPr>
          <p:cNvPr id="4" name="mini-box-1"/>
          <p:cNvSpPr/>
          <p:nvPr/>
        </p:nvSpPr>
        <p:spPr>
          <a:xfrm>
            <a:off x="8293608" y="265176"/>
            <a:ext cx="256032" cy="256032"/>
          </a:xfrm>
          <a:prstGeom prst="rect">
            <a:avLst/>
          </a:prstGeom>
          <a:ln w="9525">
            <a:solidFill>
              <a:srgbClr val="EEF0F8"/>
            </a:solidFill>
            <a:prstDash val="solid"/>
          </a:ln>
        </p:spPr>
      </p:sp>
      <p:sp>
        <p:nvSpPr>
          <p:cNvPr id="5" name="mini-box-2"/>
          <p:cNvSpPr/>
          <p:nvPr/>
        </p:nvSpPr>
        <p:spPr>
          <a:xfrm>
            <a:off x="8348472" y="320040"/>
            <a:ext cx="146304" cy="146304"/>
          </a:xfrm>
          <a:prstGeom prst="rect">
            <a:avLst/>
          </a:prstGeom>
          <a:solidFill>
            <a:srgbClr val="22D3EE"/>
          </a:solidFill>
          <a:ln w="9525">
            <a:solidFill>
              <a:srgbClr val="22D3EE"/>
            </a:solidFill>
            <a:prstDash val="solid"/>
          </a:ln>
        </p:spPr>
      </p:sp>
      <p:sp>
        <p:nvSpPr>
          <p:cNvPr id="6" name="ilerleme-zemin"/>
          <p:cNvSpPr/>
          <p:nvPr/>
        </p:nvSpPr>
        <p:spPr>
          <a:xfrm>
            <a:off x="0" y="5070348"/>
            <a:ext cx="9144000" cy="73152"/>
          </a:xfrm>
          <a:prstGeom prst="rect">
            <a:avLst/>
          </a:prstGeom>
          <a:solidFill>
            <a:srgbClr val="1A2044"/>
          </a:solidFill>
          <a:ln/>
        </p:spPr>
      </p:sp>
      <p:sp>
        <p:nvSpPr>
          <p:cNvPr id="7" name="ilerleme"/>
          <p:cNvSpPr/>
          <p:nvPr/>
        </p:nvSpPr>
        <p:spPr>
          <a:xfrm>
            <a:off x="0" y="5070348"/>
            <a:ext cx="2551814" cy="73152"/>
          </a:xfrm>
          <a:prstGeom prst="rect">
            <a:avLst/>
          </a:prstGeom>
          <a:solidFill>
            <a:srgbClr val="22D3EE"/>
          </a:solidFill>
          <a:ln/>
        </p:spPr>
      </p:sp>
      <p:sp>
        <p:nvSpPr>
          <p:cNvPr id="8" name="Text 6"/>
          <p:cNvSpPr txBox="1"/>
          <p:nvPr/>
        </p:nvSpPr>
        <p:spPr>
          <a:xfrm>
            <a:off x="548640" y="4791456"/>
            <a:ext cx="3657600" cy="201168"/>
          </a:xfrm>
          <a:prstGeom prst="rect">
            <a:avLst/>
          </a:prstGeom>
          <a:noFill/>
          <a:ln/>
        </p:spPr>
        <p:txBody>
          <a:bodyPr wrap="square" lIns="0" tIns="0" rIns="0" bIns="0" rtlCol="0" anchor="t"/>
          <a:lstStyle/>
          <a:p>
            <a:pPr marL="0" indent="0">
              <a:buNone/>
            </a:pPr>
            <a:r>
              <a:rPr lang="en-US" sz="850" dirty="0">
                <a:solidFill>
                  <a:srgbClr val="6C759E"/>
                </a:solidFill>
                <a:latin typeface="Arial" pitchFamily="34" charset="0"/>
                <a:ea typeface="Arial" pitchFamily="34" charset="-122"/>
                <a:cs typeface="Arial" pitchFamily="34" charset="-120"/>
              </a:rPr>
              <a:t>KCŞ A.Ş.  ·  CSS ile stil ve düzen</a:t>
            </a:r>
            <a:endParaRPr lang="en-US" sz="850" dirty="0"/>
          </a:p>
        </p:txBody>
      </p:sp>
      <p:sp>
        <p:nvSpPr>
          <p:cNvPr id="9" name="Text 7"/>
          <p:cNvSpPr txBox="1"/>
          <p:nvPr/>
        </p:nvSpPr>
        <p:spPr>
          <a:xfrm>
            <a:off x="4206240" y="4791456"/>
            <a:ext cx="3840480" cy="201168"/>
          </a:xfrm>
          <a:prstGeom prst="rect">
            <a:avLst/>
          </a:prstGeom>
          <a:noFill/>
          <a:ln/>
        </p:spPr>
        <p:txBody>
          <a:bodyPr wrap="square" lIns="0" tIns="0" rIns="0" bIns="0" rtlCol="0" anchor="t"/>
          <a:lstStyle/>
          <a:p>
            <a:pPr marL="0" indent="0" algn="r">
              <a:buNone/>
            </a:pPr>
            <a:r>
              <a:rPr lang="en-US" sz="850" dirty="0">
                <a:solidFill>
                  <a:srgbClr val="6C759E"/>
                </a:solidFill>
                <a:latin typeface="Arial" pitchFamily="34" charset="0"/>
                <a:ea typeface="Arial" pitchFamily="34" charset="-122"/>
                <a:cs typeface="Arial" pitchFamily="34" charset="-120"/>
              </a:rPr>
              <a:t>MDN · The box model</a:t>
            </a:r>
            <a:endParaRPr lang="en-US" sz="850" dirty="0"/>
          </a:p>
        </p:txBody>
      </p:sp>
      <p:sp>
        <p:nvSpPr>
          <p:cNvPr id="10" name="Text 8"/>
          <p:cNvSpPr txBox="1"/>
          <p:nvPr/>
        </p:nvSpPr>
        <p:spPr>
          <a:xfrm>
            <a:off x="8092440" y="4791456"/>
            <a:ext cx="685800" cy="201168"/>
          </a:xfrm>
          <a:prstGeom prst="rect">
            <a:avLst/>
          </a:prstGeom>
          <a:noFill/>
          <a:ln/>
        </p:spPr>
        <p:txBody>
          <a:bodyPr wrap="square" lIns="0" tIns="0" rIns="0" bIns="0" rtlCol="0" anchor="t"/>
          <a:lstStyle/>
          <a:p>
            <a:pPr marL="0" indent="0" algn="r">
              <a:buNone/>
            </a:pPr>
            <a:r>
              <a:rPr lang="en-US" sz="850" dirty="0">
                <a:solidFill>
                  <a:srgbClr val="9AA3C7"/>
                </a:solidFill>
                <a:latin typeface="Courier New" pitchFamily="34" charset="0"/>
                <a:ea typeface="Courier New" pitchFamily="34" charset="-122"/>
                <a:cs typeface="Courier New" pitchFamily="34" charset="-120"/>
              </a:rPr>
              <a:t>12 / 43</a:t>
            </a:r>
            <a:endParaRPr lang="en-US" sz="850" dirty="0"/>
          </a:p>
        </p:txBody>
      </p:sp>
      <p:sp>
        <p:nvSpPr>
          <p:cNvPr id="11" name="Text 9"/>
          <p:cNvSpPr txBox="1"/>
          <p:nvPr/>
        </p:nvSpPr>
        <p:spPr>
          <a:xfrm>
            <a:off x="548640" y="502920"/>
            <a:ext cx="5943600" cy="237744"/>
          </a:xfrm>
          <a:prstGeom prst="rect">
            <a:avLst/>
          </a:prstGeom>
          <a:noFill/>
          <a:ln/>
        </p:spPr>
        <p:txBody>
          <a:bodyPr wrap="square" lIns="0" tIns="0" rIns="0" bIns="0" rtlCol="0" anchor="t"/>
          <a:lstStyle/>
          <a:p>
            <a:pPr marL="0" indent="0">
              <a:buNone/>
            </a:pPr>
            <a:r>
              <a:rPr lang="en-US" sz="1100" b="1" dirty="0">
                <a:solidFill>
                  <a:srgbClr val="22D3EE"/>
                </a:solidFill>
                <a:latin typeface="Courier New" pitchFamily="34" charset="0"/>
                <a:ea typeface="Courier New" pitchFamily="34" charset="-122"/>
                <a:cs typeface="Courier New" pitchFamily="34" charset="-120"/>
              </a:rPr>
              <a:t>display: block | inline | inline-block</a:t>
            </a:r>
            <a:endParaRPr lang="en-US" sz="1100" dirty="0"/>
          </a:p>
        </p:txBody>
      </p:sp>
      <p:sp>
        <p:nvSpPr>
          <p:cNvPr id="12" name="Text 10"/>
          <p:cNvSpPr txBox="1"/>
          <p:nvPr/>
        </p:nvSpPr>
        <p:spPr>
          <a:xfrm>
            <a:off x="548640" y="749808"/>
            <a:ext cx="7589520" cy="502920"/>
          </a:xfrm>
          <a:prstGeom prst="rect">
            <a:avLst/>
          </a:prstGeom>
          <a:noFill/>
          <a:ln/>
        </p:spPr>
        <p:txBody>
          <a:bodyPr wrap="square" lIns="0" tIns="0" rIns="0" bIns="0" rtlCol="0" anchor="ctr"/>
          <a:lstStyle/>
          <a:p>
            <a:pPr marL="0" indent="0">
              <a:buNone/>
            </a:pPr>
            <a:r>
              <a:rPr lang="en-US" sz="2400" b="1" dirty="0">
                <a:solidFill>
                  <a:srgbClr val="EEF0F8"/>
                </a:solidFill>
                <a:latin typeface="Arial" pitchFamily="34" charset="0"/>
                <a:ea typeface="Arial" pitchFamily="34" charset="-122"/>
                <a:cs typeface="Arial" pitchFamily="34" charset="-120"/>
              </a:rPr>
              <a:t>Box model 1: blok ve satır içi kutular</a:t>
            </a:r>
            <a:endParaRPr lang="en-US" sz="2400" dirty="0"/>
          </a:p>
        </p:txBody>
      </p:sp>
      <p:sp>
        <p:nvSpPr>
          <p:cNvPr id="13" name="kart"/>
          <p:cNvSpPr/>
          <p:nvPr/>
        </p:nvSpPr>
        <p:spPr>
          <a:xfrm>
            <a:off x="548640" y="1371600"/>
            <a:ext cx="2606040" cy="2724912"/>
          </a:xfrm>
          <a:prstGeom prst="roundRect">
            <a:avLst>
              <a:gd name="adj" fmla="val 2807"/>
            </a:avLst>
          </a:prstGeom>
          <a:solidFill>
            <a:srgbClr val="1A2044"/>
          </a:solidFill>
          <a:ln w="9525">
            <a:solidFill>
              <a:srgbClr val="2E3768"/>
            </a:solidFill>
            <a:prstDash val="solid"/>
          </a:ln>
        </p:spPr>
      </p:sp>
      <p:sp>
        <p:nvSpPr>
          <p:cNvPr id="14" name="kart-nokta"/>
          <p:cNvSpPr/>
          <p:nvPr/>
        </p:nvSpPr>
        <p:spPr>
          <a:xfrm>
            <a:off x="694944" y="1527048"/>
            <a:ext cx="91440" cy="91440"/>
          </a:xfrm>
          <a:prstGeom prst="ellipse">
            <a:avLst/>
          </a:prstGeom>
          <a:solidFill>
            <a:srgbClr val="22D3EE"/>
          </a:solidFill>
          <a:ln/>
        </p:spPr>
      </p:sp>
      <p:sp>
        <p:nvSpPr>
          <p:cNvPr id="15" name="Text 13"/>
          <p:cNvSpPr txBox="1"/>
          <p:nvPr/>
        </p:nvSpPr>
        <p:spPr>
          <a:xfrm>
            <a:off x="859536" y="1444752"/>
            <a:ext cx="2194560" cy="274320"/>
          </a:xfrm>
          <a:prstGeom prst="rect">
            <a:avLst/>
          </a:prstGeom>
          <a:noFill/>
          <a:ln/>
        </p:spPr>
        <p:txBody>
          <a:bodyPr wrap="square" lIns="0" tIns="0" rIns="0" bIns="0" rtlCol="0" anchor="ctr"/>
          <a:lstStyle/>
          <a:p>
            <a:pPr marL="0" indent="0">
              <a:buNone/>
            </a:pPr>
            <a:r>
              <a:rPr lang="en-US" sz="1300" b="1" dirty="0">
                <a:solidFill>
                  <a:srgbClr val="EEF0F8"/>
                </a:solidFill>
                <a:latin typeface="Arial" pitchFamily="34" charset="0"/>
                <a:ea typeface="Arial" pitchFamily="34" charset="-122"/>
                <a:cs typeface="Arial" pitchFamily="34" charset="-120"/>
              </a:rPr>
              <a:t>Blok (block)</a:t>
            </a:r>
            <a:endParaRPr lang="en-US" sz="1300" dirty="0"/>
          </a:p>
        </p:txBody>
      </p:sp>
      <p:sp>
        <p:nvSpPr>
          <p:cNvPr id="16" name="Text 14"/>
          <p:cNvSpPr txBox="1"/>
          <p:nvPr/>
        </p:nvSpPr>
        <p:spPr>
          <a:xfrm>
            <a:off x="685800" y="1737360"/>
            <a:ext cx="2377440" cy="2286000"/>
          </a:xfrm>
          <a:prstGeom prst="rect">
            <a:avLst/>
          </a:prstGeom>
          <a:noFill/>
          <a:ln/>
        </p:spPr>
        <p:txBody>
          <a:bodyPr wrap="square" lIns="0" tIns="0" rIns="0" bIns="0" rtlCol="0" anchor="t"/>
          <a:lstStyle/>
          <a:p>
            <a:pPr marL="139700" indent="-139700">
              <a:spcAft>
                <a:spcPts val="500"/>
              </a:spcAft>
              <a:buSzPct val="100000"/>
              <a:buChar char="▸"/>
            </a:pPr>
            <a:r>
              <a:rPr lang="en-US" sz="1050" dirty="0">
                <a:solidFill>
                  <a:srgbClr val="EEF0F8"/>
                </a:solidFill>
                <a:latin typeface="Arial" pitchFamily="34" charset="0"/>
                <a:ea typeface="Arial" pitchFamily="34" charset="-122"/>
                <a:cs typeface="Arial" pitchFamily="34" charset="-120"/>
              </a:rPr>
              <a:t>yeni satırda başlar</a:t>
            </a:r>
            <a:endParaRPr lang="en-US" sz="1050" dirty="0"/>
          </a:p>
          <a:p>
            <a:pPr marL="139700" indent="-139700">
              <a:spcAft>
                <a:spcPts val="500"/>
              </a:spcAft>
              <a:buSzPct val="100000"/>
              <a:buChar char="▸"/>
            </a:pPr>
            <a:r>
              <a:rPr lang="en-US" sz="1050" dirty="0">
                <a:solidFill>
                  <a:srgbClr val="EEF0F8"/>
                </a:solidFill>
                <a:latin typeface="Arial" pitchFamily="34" charset="0"/>
                <a:ea typeface="Arial" pitchFamily="34" charset="-122"/>
                <a:cs typeface="Arial" pitchFamily="34" charset="-120"/>
              </a:rPr>
              <a:t>width ve height'a uyar</a:t>
            </a:r>
            <a:endParaRPr lang="en-US" sz="1050" dirty="0"/>
          </a:p>
          <a:p>
            <a:pPr marL="139700" indent="-139700">
              <a:spcAft>
                <a:spcPts val="500"/>
              </a:spcAft>
              <a:buSzPct val="100000"/>
              <a:buChar char="▸"/>
            </a:pPr>
            <a:r>
              <a:rPr lang="en-US" sz="1050" dirty="0">
                <a:solidFill>
                  <a:srgbClr val="EEF0F8"/>
                </a:solidFill>
                <a:latin typeface="Arial" pitchFamily="34" charset="0"/>
                <a:ea typeface="Arial" pitchFamily="34" charset="-122"/>
                <a:cs typeface="Arial" pitchFamily="34" charset="-120"/>
              </a:rPr>
              <a:t>padding, margin, border diğerlerini iter</a:t>
            </a:r>
            <a:endParaRPr lang="en-US" sz="1050" dirty="0"/>
          </a:p>
          <a:p>
            <a:pPr marL="139700" indent="-139700">
              <a:spcAft>
                <a:spcPts val="500"/>
              </a:spcAft>
              <a:buSzPct val="100000"/>
              <a:buChar char="▸"/>
            </a:pPr>
            <a:r>
              <a:rPr lang="en-US" sz="1050" dirty="0">
                <a:solidFill>
                  <a:srgbClr val="EEF0F8"/>
                </a:solidFill>
                <a:latin typeface="Arial" pitchFamily="34" charset="0"/>
                <a:ea typeface="Arial" pitchFamily="34" charset="-122"/>
                <a:cs typeface="Arial" pitchFamily="34" charset="-120"/>
              </a:rPr>
              <a:t>genişlik verilmezse kabın tamamını doldurur</a:t>
            </a:r>
            <a:endParaRPr lang="en-US" sz="1050" dirty="0"/>
          </a:p>
          <a:p>
            <a:pPr marL="139700" indent="-139700">
              <a:spcAft>
                <a:spcPts val="500"/>
              </a:spcAft>
              <a:buSzPct val="100000"/>
              <a:buChar char="▸"/>
            </a:pPr>
            <a:r>
              <a:rPr lang="en-US" sz="1050" dirty="0">
                <a:solidFill>
                  <a:srgbClr val="EEF0F8"/>
                </a:solidFill>
                <a:latin typeface="Arial" pitchFamily="34" charset="0"/>
                <a:ea typeface="Arial" pitchFamily="34" charset="-122"/>
                <a:cs typeface="Arial" pitchFamily="34" charset="-120"/>
              </a:rPr>
              <a:t>ör: h1, p</a:t>
            </a:r>
            <a:endParaRPr lang="en-US" sz="1050" dirty="0"/>
          </a:p>
        </p:txBody>
      </p:sp>
      <p:sp>
        <p:nvSpPr>
          <p:cNvPr id="17" name="kart"/>
          <p:cNvSpPr/>
          <p:nvPr/>
        </p:nvSpPr>
        <p:spPr>
          <a:xfrm>
            <a:off x="3273552" y="1371600"/>
            <a:ext cx="2606040" cy="2724912"/>
          </a:xfrm>
          <a:prstGeom prst="roundRect">
            <a:avLst>
              <a:gd name="adj" fmla="val 2807"/>
            </a:avLst>
          </a:prstGeom>
          <a:solidFill>
            <a:srgbClr val="1A2044"/>
          </a:solidFill>
          <a:ln w="9525">
            <a:solidFill>
              <a:srgbClr val="2E3768"/>
            </a:solidFill>
            <a:prstDash val="solid"/>
          </a:ln>
        </p:spPr>
      </p:sp>
      <p:sp>
        <p:nvSpPr>
          <p:cNvPr id="18" name="kart-nokta"/>
          <p:cNvSpPr/>
          <p:nvPr/>
        </p:nvSpPr>
        <p:spPr>
          <a:xfrm>
            <a:off x="3419856" y="1527048"/>
            <a:ext cx="91440" cy="91440"/>
          </a:xfrm>
          <a:prstGeom prst="ellipse">
            <a:avLst/>
          </a:prstGeom>
          <a:solidFill>
            <a:srgbClr val="F472B6"/>
          </a:solidFill>
          <a:ln/>
        </p:spPr>
      </p:sp>
      <p:sp>
        <p:nvSpPr>
          <p:cNvPr id="19" name="Text 17"/>
          <p:cNvSpPr txBox="1"/>
          <p:nvPr/>
        </p:nvSpPr>
        <p:spPr>
          <a:xfrm>
            <a:off x="3584448" y="1444752"/>
            <a:ext cx="2194560" cy="274320"/>
          </a:xfrm>
          <a:prstGeom prst="rect">
            <a:avLst/>
          </a:prstGeom>
          <a:noFill/>
          <a:ln/>
        </p:spPr>
        <p:txBody>
          <a:bodyPr wrap="square" lIns="0" tIns="0" rIns="0" bIns="0" rtlCol="0" anchor="ctr"/>
          <a:lstStyle/>
          <a:p>
            <a:pPr marL="0" indent="0">
              <a:buNone/>
            </a:pPr>
            <a:r>
              <a:rPr lang="en-US" sz="1300" b="1" dirty="0">
                <a:solidFill>
                  <a:srgbClr val="EEF0F8"/>
                </a:solidFill>
                <a:latin typeface="Arial" pitchFamily="34" charset="0"/>
                <a:ea typeface="Arial" pitchFamily="34" charset="-122"/>
                <a:cs typeface="Arial" pitchFamily="34" charset="-120"/>
              </a:rPr>
              <a:t>Satır içi (inline)</a:t>
            </a:r>
            <a:endParaRPr lang="en-US" sz="1300" dirty="0"/>
          </a:p>
        </p:txBody>
      </p:sp>
      <p:sp>
        <p:nvSpPr>
          <p:cNvPr id="20" name="Text 18"/>
          <p:cNvSpPr txBox="1"/>
          <p:nvPr/>
        </p:nvSpPr>
        <p:spPr>
          <a:xfrm>
            <a:off x="3410712" y="1737360"/>
            <a:ext cx="2377440" cy="2286000"/>
          </a:xfrm>
          <a:prstGeom prst="rect">
            <a:avLst/>
          </a:prstGeom>
          <a:noFill/>
          <a:ln/>
        </p:spPr>
        <p:txBody>
          <a:bodyPr wrap="square" lIns="0" tIns="0" rIns="0" bIns="0" rtlCol="0" anchor="t"/>
          <a:lstStyle/>
          <a:p>
            <a:pPr marL="139700" indent="-139700">
              <a:spcAft>
                <a:spcPts val="500"/>
              </a:spcAft>
              <a:buSzPct val="100000"/>
              <a:buChar char="▸"/>
            </a:pPr>
            <a:r>
              <a:rPr lang="en-US" sz="1050" dirty="0">
                <a:solidFill>
                  <a:srgbClr val="EEF0F8"/>
                </a:solidFill>
                <a:latin typeface="Arial" pitchFamily="34" charset="0"/>
                <a:ea typeface="Arial" pitchFamily="34" charset="-122"/>
                <a:cs typeface="Arial" pitchFamily="34" charset="-120"/>
              </a:rPr>
              <a:t>yeni satıra geçmez</a:t>
            </a:r>
            <a:endParaRPr lang="en-US" sz="1050" dirty="0"/>
          </a:p>
          <a:p>
            <a:pPr marL="139700" indent="-139700">
              <a:spcAft>
                <a:spcPts val="500"/>
              </a:spcAft>
              <a:buSzPct val="100000"/>
              <a:buChar char="▸"/>
            </a:pPr>
            <a:r>
              <a:rPr lang="en-US" sz="1050" dirty="0">
                <a:solidFill>
                  <a:srgbClr val="EEF0F8"/>
                </a:solidFill>
                <a:latin typeface="Arial" pitchFamily="34" charset="0"/>
                <a:ea typeface="Arial" pitchFamily="34" charset="-122"/>
                <a:cs typeface="Arial" pitchFamily="34" charset="-120"/>
              </a:rPr>
              <a:t>width, height ve üst/alt margin etkisiz</a:t>
            </a:r>
            <a:endParaRPr lang="en-US" sz="1050" dirty="0"/>
          </a:p>
          <a:p>
            <a:pPr marL="139700" indent="-139700">
              <a:spcAft>
                <a:spcPts val="500"/>
              </a:spcAft>
              <a:buSzPct val="100000"/>
              <a:buChar char="▸"/>
            </a:pPr>
            <a:r>
              <a:rPr lang="en-US" sz="1050" dirty="0">
                <a:solidFill>
                  <a:srgbClr val="EEF0F8"/>
                </a:solidFill>
                <a:latin typeface="Arial" pitchFamily="34" charset="0"/>
                <a:ea typeface="Arial" pitchFamily="34" charset="-122"/>
                <a:cs typeface="Arial" pitchFamily="34" charset="-120"/>
              </a:rPr>
              <a:t>üst/alt padding görünür ama komşuları itmez, üstüne biner</a:t>
            </a:r>
            <a:endParaRPr lang="en-US" sz="1050" dirty="0"/>
          </a:p>
          <a:p>
            <a:pPr marL="139700" indent="-139700">
              <a:spcAft>
                <a:spcPts val="500"/>
              </a:spcAft>
              <a:buSzPct val="100000"/>
              <a:buChar char="▸"/>
            </a:pPr>
            <a:r>
              <a:rPr lang="en-US" sz="1050" dirty="0">
                <a:solidFill>
                  <a:srgbClr val="EEF0F8"/>
                </a:solidFill>
                <a:latin typeface="Arial" pitchFamily="34" charset="0"/>
                <a:ea typeface="Arial" pitchFamily="34" charset="-122"/>
                <a:cs typeface="Arial" pitchFamily="34" charset="-120"/>
              </a:rPr>
              <a:t>sol/sağ boşluklar komşuları iter</a:t>
            </a:r>
            <a:endParaRPr lang="en-US" sz="1050" dirty="0"/>
          </a:p>
          <a:p>
            <a:pPr marL="139700" indent="-139700">
              <a:spcAft>
                <a:spcPts val="500"/>
              </a:spcAft>
              <a:buSzPct val="100000"/>
              <a:buChar char="▸"/>
            </a:pPr>
            <a:r>
              <a:rPr lang="en-US" sz="1050" dirty="0">
                <a:solidFill>
                  <a:srgbClr val="EEF0F8"/>
                </a:solidFill>
                <a:latin typeface="Arial" pitchFamily="34" charset="0"/>
                <a:ea typeface="Arial" pitchFamily="34" charset="-122"/>
                <a:cs typeface="Arial" pitchFamily="34" charset="-120"/>
              </a:rPr>
              <a:t>ör: a, span, em</a:t>
            </a:r>
            <a:endParaRPr lang="en-US" sz="1050" dirty="0"/>
          </a:p>
        </p:txBody>
      </p:sp>
      <p:sp>
        <p:nvSpPr>
          <p:cNvPr id="21" name="kart"/>
          <p:cNvSpPr/>
          <p:nvPr/>
        </p:nvSpPr>
        <p:spPr>
          <a:xfrm>
            <a:off x="5998464" y="1371600"/>
            <a:ext cx="2596896" cy="2724912"/>
          </a:xfrm>
          <a:prstGeom prst="roundRect">
            <a:avLst>
              <a:gd name="adj" fmla="val 2817"/>
            </a:avLst>
          </a:prstGeom>
          <a:solidFill>
            <a:srgbClr val="1A2044"/>
          </a:solidFill>
          <a:ln w="9525">
            <a:solidFill>
              <a:srgbClr val="2E3768"/>
            </a:solidFill>
            <a:prstDash val="solid"/>
          </a:ln>
        </p:spPr>
      </p:sp>
      <p:sp>
        <p:nvSpPr>
          <p:cNvPr id="22" name="kart-nokta"/>
          <p:cNvSpPr/>
          <p:nvPr/>
        </p:nvSpPr>
        <p:spPr>
          <a:xfrm>
            <a:off x="6144768" y="1527048"/>
            <a:ext cx="91440" cy="91440"/>
          </a:xfrm>
          <a:prstGeom prst="ellipse">
            <a:avLst/>
          </a:prstGeom>
          <a:solidFill>
            <a:srgbClr val="A3E635"/>
          </a:solidFill>
          <a:ln/>
        </p:spPr>
      </p:sp>
      <p:sp>
        <p:nvSpPr>
          <p:cNvPr id="23" name="Text 21"/>
          <p:cNvSpPr txBox="1"/>
          <p:nvPr/>
        </p:nvSpPr>
        <p:spPr>
          <a:xfrm>
            <a:off x="6309360" y="1444752"/>
            <a:ext cx="2185416" cy="274320"/>
          </a:xfrm>
          <a:prstGeom prst="rect">
            <a:avLst/>
          </a:prstGeom>
          <a:noFill/>
          <a:ln/>
        </p:spPr>
        <p:txBody>
          <a:bodyPr wrap="square" lIns="0" tIns="0" rIns="0" bIns="0" rtlCol="0" anchor="ctr"/>
          <a:lstStyle/>
          <a:p>
            <a:pPr marL="0" indent="0">
              <a:buNone/>
            </a:pPr>
            <a:r>
              <a:rPr lang="en-US" sz="1300" b="1" dirty="0">
                <a:solidFill>
                  <a:srgbClr val="EEF0F8"/>
                </a:solidFill>
                <a:latin typeface="Arial" pitchFamily="34" charset="0"/>
                <a:ea typeface="Arial" pitchFamily="34" charset="-122"/>
                <a:cs typeface="Arial" pitchFamily="34" charset="-120"/>
              </a:rPr>
              <a:t>inline-block</a:t>
            </a:r>
            <a:endParaRPr lang="en-US" sz="1300" dirty="0"/>
          </a:p>
        </p:txBody>
      </p:sp>
      <p:sp>
        <p:nvSpPr>
          <p:cNvPr id="24" name="Text 22"/>
          <p:cNvSpPr txBox="1"/>
          <p:nvPr/>
        </p:nvSpPr>
        <p:spPr>
          <a:xfrm>
            <a:off x="6144768" y="1737360"/>
            <a:ext cx="2331720" cy="1371600"/>
          </a:xfrm>
          <a:prstGeom prst="rect">
            <a:avLst/>
          </a:prstGeom>
          <a:noFill/>
          <a:ln/>
        </p:spPr>
        <p:txBody>
          <a:bodyPr wrap="square" lIns="0" tIns="0" rIns="0" bIns="0" rtlCol="0" anchor="t"/>
          <a:lstStyle/>
          <a:p>
            <a:pPr marL="0" indent="0">
              <a:buNone/>
            </a:pPr>
            <a:r>
              <a:rPr lang="en-US" sz="1050" dirty="0">
                <a:solidFill>
                  <a:srgbClr val="EEF0F8"/>
                </a:solidFill>
                <a:latin typeface="Arial" pitchFamily="34" charset="0"/>
                <a:ea typeface="Arial" pitchFamily="34" charset="-122"/>
                <a:cs typeface="Arial" pitchFamily="34" charset="-120"/>
              </a:rPr>
              <a:t>İkisinin karışımı: yeni satıra geçmez ama width/height'a uyar ve padding ile komşularını iter. Navigasyon linklerine geniş tıklama alanı vermek için ideal.</a:t>
            </a:r>
            <a:endParaRPr lang="en-US" sz="1050" dirty="0"/>
          </a:p>
        </p:txBody>
      </p:sp>
      <p:sp>
        <p:nvSpPr>
          <p:cNvPr id="25" name="kod-paneli"/>
          <p:cNvSpPr/>
          <p:nvPr/>
        </p:nvSpPr>
        <p:spPr>
          <a:xfrm>
            <a:off x="6144768" y="3154680"/>
            <a:ext cx="2331720" cy="822960"/>
          </a:xfrm>
          <a:prstGeom prst="roundRect">
            <a:avLst>
              <a:gd name="adj" fmla="val 8889"/>
            </a:avLst>
          </a:prstGeom>
          <a:solidFill>
            <a:srgbClr val="0A0D1F"/>
          </a:solidFill>
          <a:ln w="9525">
            <a:solidFill>
              <a:srgbClr val="2E3768"/>
            </a:solidFill>
            <a:prstDash val="solid"/>
          </a:ln>
        </p:spPr>
      </p:sp>
      <p:sp>
        <p:nvSpPr>
          <p:cNvPr id="26" name="Text 24"/>
          <p:cNvSpPr txBox="1"/>
          <p:nvPr/>
        </p:nvSpPr>
        <p:spPr>
          <a:xfrm>
            <a:off x="6291072" y="3264408"/>
            <a:ext cx="2057400" cy="621792"/>
          </a:xfrm>
          <a:prstGeom prst="rect">
            <a:avLst/>
          </a:prstGeom>
          <a:noFill/>
          <a:ln/>
        </p:spPr>
        <p:txBody>
          <a:bodyPr wrap="square" lIns="0" tIns="0" rIns="0" bIns="0" rtlCol="0" anchor="ctr"/>
          <a:lstStyle/>
          <a:p>
            <a:pPr marL="0" indent="0">
              <a:buNone/>
            </a:pPr>
            <a:r>
              <a:rPr lang="en-US" sz="900" dirty="0">
                <a:solidFill>
                  <a:srgbClr val="22D3EE"/>
                </a:solidFill>
                <a:latin typeface="Courier New" pitchFamily="34" charset="0"/>
                <a:ea typeface="Courier New" pitchFamily="34" charset="-122"/>
                <a:cs typeface="Courier New" pitchFamily="34" charset="-120"/>
              </a:rPr>
              <a:t>display</a:t>
            </a:r>
            <a:r>
              <a:rPr lang="en-US" sz="900" dirty="0">
                <a:solidFill>
                  <a:srgbClr val="6C759E"/>
                </a:solidFill>
                <a:latin typeface="Courier New" pitchFamily="34" charset="0"/>
                <a:ea typeface="Courier New" pitchFamily="34" charset="-122"/>
                <a:cs typeface="Courier New" pitchFamily="34" charset="-120"/>
              </a:rPr>
              <a:t>: </a:t>
            </a:r>
            <a:r>
              <a:rPr lang="en-US" sz="900" dirty="0">
                <a:solidFill>
                  <a:srgbClr val="FBBF24"/>
                </a:solidFill>
                <a:latin typeface="Courier New" pitchFamily="34" charset="0"/>
                <a:ea typeface="Courier New" pitchFamily="34" charset="-122"/>
                <a:cs typeface="Courier New" pitchFamily="34" charset="-120"/>
              </a:rPr>
              <a:t>flex;</a:t>
            </a:r>
            <a:endParaRPr lang="en-US" sz="900" dirty="0"/>
          </a:p>
          <a:p>
            <a:pPr marL="0" indent="0">
              <a:buNone/>
            </a:pPr>
            <a:r>
              <a:rPr lang="en-US" sz="900" dirty="0">
                <a:solidFill>
                  <a:srgbClr val="6C759E"/>
                </a:solidFill>
                <a:latin typeface="Courier New" pitchFamily="34" charset="0"/>
                <a:ea typeface="Courier New" pitchFamily="34" charset="-122"/>
                <a:cs typeface="Courier New" pitchFamily="34" charset="-120"/>
              </a:rPr>
              <a:t>/* dış: block</a:t>
            </a:r>
            <a:endParaRPr lang="en-US" sz="900" dirty="0"/>
          </a:p>
          <a:p>
            <a:pPr marL="0" indent="0">
              <a:buNone/>
            </a:pPr>
            <a:r>
              <a:rPr lang="en-US" sz="900" dirty="0">
                <a:solidFill>
                  <a:srgbClr val="EEF0F8"/>
                </a:solidFill>
                <a:latin typeface="Courier New" pitchFamily="34" charset="0"/>
                <a:ea typeface="Courier New" pitchFamily="34" charset="-122"/>
                <a:cs typeface="Courier New" pitchFamily="34" charset="-120"/>
              </a:rPr>
              <a:t>   iç: flex */</a:t>
            </a:r>
            <a:endParaRPr lang="en-US" sz="900" dirty="0"/>
          </a:p>
        </p:txBody>
      </p:sp>
      <p:sp>
        <p:nvSpPr>
          <p:cNvPr id="27" name="benzetme"/>
          <p:cNvSpPr/>
          <p:nvPr/>
        </p:nvSpPr>
        <p:spPr>
          <a:xfrm>
            <a:off x="548640" y="4224528"/>
            <a:ext cx="8046720" cy="402336"/>
          </a:xfrm>
          <a:prstGeom prst="roundRect">
            <a:avLst>
              <a:gd name="adj" fmla="val 50000"/>
            </a:avLst>
          </a:prstGeom>
          <a:solidFill>
            <a:srgbClr val="232A55"/>
          </a:solidFill>
          <a:ln/>
        </p:spPr>
      </p:sp>
      <p:sp>
        <p:nvSpPr>
          <p:cNvPr id="28" name="benzetme-ikon"/>
          <p:cNvSpPr/>
          <p:nvPr/>
        </p:nvSpPr>
        <p:spPr>
          <a:xfrm>
            <a:off x="621792" y="4261104"/>
            <a:ext cx="329184" cy="329184"/>
          </a:xfrm>
          <a:prstGeom prst="ellipse">
            <a:avLst/>
          </a:prstGeom>
          <a:solidFill>
            <a:srgbClr val="FBBF24"/>
          </a:solidFill>
          <a:ln/>
        </p:spPr>
      </p:sp>
      <p:sp>
        <p:nvSpPr>
          <p:cNvPr id="29" name="Text 27"/>
          <p:cNvSpPr txBox="1"/>
          <p:nvPr/>
        </p:nvSpPr>
        <p:spPr>
          <a:xfrm>
            <a:off x="621792" y="4261104"/>
            <a:ext cx="329184" cy="329184"/>
          </a:xfrm>
          <a:prstGeom prst="rect">
            <a:avLst/>
          </a:prstGeom>
          <a:noFill/>
          <a:ln/>
        </p:spPr>
        <p:txBody>
          <a:bodyPr wrap="square" lIns="0" tIns="0" rIns="0" bIns="0" rtlCol="0" anchor="ctr"/>
          <a:lstStyle/>
          <a:p>
            <a:pPr marL="0" indent="0" algn="ctr">
              <a:buNone/>
            </a:pPr>
            <a:r>
              <a:rPr lang="en-US" sz="1600" b="1" dirty="0">
                <a:solidFill>
                  <a:srgbClr val="10142B"/>
                </a:solidFill>
                <a:latin typeface="Arial" pitchFamily="34" charset="0"/>
                <a:ea typeface="Arial" pitchFamily="34" charset="-122"/>
                <a:cs typeface="Arial" pitchFamily="34" charset="-120"/>
              </a:rPr>
              <a:t>≈</a:t>
            </a:r>
            <a:endParaRPr lang="en-US" sz="1600" dirty="0"/>
          </a:p>
        </p:txBody>
      </p:sp>
      <p:sp>
        <p:nvSpPr>
          <p:cNvPr id="30" name="Text 28"/>
          <p:cNvSpPr txBox="1"/>
          <p:nvPr/>
        </p:nvSpPr>
        <p:spPr>
          <a:xfrm>
            <a:off x="1042416" y="4224528"/>
            <a:ext cx="7452360" cy="402336"/>
          </a:xfrm>
          <a:prstGeom prst="rect">
            <a:avLst/>
          </a:prstGeom>
          <a:noFill/>
          <a:ln/>
        </p:spPr>
        <p:txBody>
          <a:bodyPr wrap="square" lIns="0" tIns="0" rIns="0" bIns="0" rtlCol="0" anchor="ctr"/>
          <a:lstStyle/>
          <a:p>
            <a:pPr marL="0" indent="0">
              <a:buNone/>
            </a:pPr>
            <a:r>
              <a:rPr lang="en-US" sz="1100" b="1" dirty="0">
                <a:solidFill>
                  <a:srgbClr val="FBBF24"/>
                </a:solidFill>
                <a:latin typeface="Arial" pitchFamily="34" charset="0"/>
                <a:ea typeface="Arial" pitchFamily="34" charset="-122"/>
                <a:cs typeface="Arial" pitchFamily="34" charset="-120"/>
              </a:rPr>
              <a:t>Gündelik hayatta: </a:t>
            </a:r>
            <a:r>
              <a:rPr lang="en-US" sz="1100" dirty="0">
                <a:solidFill>
                  <a:srgbClr val="EEF0F8"/>
                </a:solidFill>
                <a:latin typeface="Arial" pitchFamily="34" charset="0"/>
                <a:ea typeface="Arial" pitchFamily="34" charset="-122"/>
                <a:cs typeface="Arial" pitchFamily="34" charset="-120"/>
              </a:rPr>
              <a:t>blok öğeler rafa tek tek dizilen kitaplar, satır içi öğeler cümlenin içindeki kelimeler gibidir.</a:t>
            </a:r>
            <a:endParaRPr lang="en-US" sz="1100" dirty="0"/>
          </a:p>
        </p:txBody>
      </p:sp>
    </p:spTree>
  </p:cSld>
  <p:clrMapOvr>
    <a:masterClrMapping/>
  </p:clrMapOvr>
  <p:transition spd="med">
    <p:pull/>
  </p:transition>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256032"/>
            <a:ext cx="4572000" cy="201168"/>
          </a:xfrm>
          <a:prstGeom prst="rect">
            <a:avLst/>
          </a:prstGeom>
          <a:noFill/>
          <a:ln/>
        </p:spPr>
        <p:txBody>
          <a:bodyPr wrap="square" lIns="0" tIns="0" rIns="0" bIns="0" rtlCol="0" anchor="t"/>
          <a:lstStyle/>
          <a:p>
            <a:pPr marL="0" indent="0">
              <a:buNone/>
            </a:pPr>
            <a:r>
              <a:rPr lang="en-US" sz="900" b="1" kern="0" spc="200" dirty="0">
                <a:solidFill>
                  <a:srgbClr val="22D3EE"/>
                </a:solidFill>
                <a:latin typeface="Arial" pitchFamily="34" charset="0"/>
                <a:ea typeface="Arial" pitchFamily="34" charset="-122"/>
                <a:cs typeface="Arial" pitchFamily="34" charset="-120"/>
              </a:rPr>
              <a:t>MODÜL 1 · CSS TEMELLERİ</a:t>
            </a:r>
            <a:endParaRPr lang="en-US" sz="900" dirty="0"/>
          </a:p>
        </p:txBody>
      </p:sp>
      <p:sp>
        <p:nvSpPr>
          <p:cNvPr id="3" name="mini-box-0"/>
          <p:cNvSpPr/>
          <p:nvPr/>
        </p:nvSpPr>
        <p:spPr>
          <a:xfrm>
            <a:off x="8229600" y="201168"/>
            <a:ext cx="384048" cy="384048"/>
          </a:xfrm>
          <a:prstGeom prst="rect">
            <a:avLst/>
          </a:prstGeom>
          <a:ln w="9525">
            <a:solidFill>
              <a:srgbClr val="22D3EE"/>
            </a:solidFill>
            <a:prstDash val="solid"/>
          </a:ln>
        </p:spPr>
      </p:sp>
      <p:sp>
        <p:nvSpPr>
          <p:cNvPr id="4" name="mini-box-1"/>
          <p:cNvSpPr/>
          <p:nvPr/>
        </p:nvSpPr>
        <p:spPr>
          <a:xfrm>
            <a:off x="8293608" y="265176"/>
            <a:ext cx="256032" cy="256032"/>
          </a:xfrm>
          <a:prstGeom prst="rect">
            <a:avLst/>
          </a:prstGeom>
          <a:ln w="9525">
            <a:solidFill>
              <a:srgbClr val="EEF0F8"/>
            </a:solidFill>
            <a:prstDash val="solid"/>
          </a:ln>
        </p:spPr>
      </p:sp>
      <p:sp>
        <p:nvSpPr>
          <p:cNvPr id="5" name="mini-box-2"/>
          <p:cNvSpPr/>
          <p:nvPr/>
        </p:nvSpPr>
        <p:spPr>
          <a:xfrm>
            <a:off x="8348472" y="320040"/>
            <a:ext cx="146304" cy="146304"/>
          </a:xfrm>
          <a:prstGeom prst="rect">
            <a:avLst/>
          </a:prstGeom>
          <a:solidFill>
            <a:srgbClr val="22D3EE"/>
          </a:solidFill>
          <a:ln w="9525">
            <a:solidFill>
              <a:srgbClr val="22D3EE"/>
            </a:solidFill>
            <a:prstDash val="solid"/>
          </a:ln>
        </p:spPr>
      </p:sp>
      <p:sp>
        <p:nvSpPr>
          <p:cNvPr id="6" name="ilerleme-zemin"/>
          <p:cNvSpPr/>
          <p:nvPr/>
        </p:nvSpPr>
        <p:spPr>
          <a:xfrm>
            <a:off x="0" y="5070348"/>
            <a:ext cx="9144000" cy="73152"/>
          </a:xfrm>
          <a:prstGeom prst="rect">
            <a:avLst/>
          </a:prstGeom>
          <a:solidFill>
            <a:srgbClr val="1A2044"/>
          </a:solidFill>
          <a:ln/>
        </p:spPr>
      </p:sp>
      <p:sp>
        <p:nvSpPr>
          <p:cNvPr id="7" name="ilerleme"/>
          <p:cNvSpPr/>
          <p:nvPr/>
        </p:nvSpPr>
        <p:spPr>
          <a:xfrm>
            <a:off x="0" y="5070348"/>
            <a:ext cx="2764465" cy="73152"/>
          </a:xfrm>
          <a:prstGeom prst="rect">
            <a:avLst/>
          </a:prstGeom>
          <a:solidFill>
            <a:srgbClr val="22D3EE"/>
          </a:solidFill>
          <a:ln/>
        </p:spPr>
      </p:sp>
      <p:sp>
        <p:nvSpPr>
          <p:cNvPr id="8" name="Text 6"/>
          <p:cNvSpPr txBox="1"/>
          <p:nvPr/>
        </p:nvSpPr>
        <p:spPr>
          <a:xfrm>
            <a:off x="548640" y="4791456"/>
            <a:ext cx="3657600" cy="201168"/>
          </a:xfrm>
          <a:prstGeom prst="rect">
            <a:avLst/>
          </a:prstGeom>
          <a:noFill/>
          <a:ln/>
        </p:spPr>
        <p:txBody>
          <a:bodyPr wrap="square" lIns="0" tIns="0" rIns="0" bIns="0" rtlCol="0" anchor="t"/>
          <a:lstStyle/>
          <a:p>
            <a:pPr marL="0" indent="0">
              <a:buNone/>
            </a:pPr>
            <a:r>
              <a:rPr lang="en-US" sz="850" dirty="0">
                <a:solidFill>
                  <a:srgbClr val="6C759E"/>
                </a:solidFill>
                <a:latin typeface="Arial" pitchFamily="34" charset="0"/>
                <a:ea typeface="Arial" pitchFamily="34" charset="-122"/>
                <a:cs typeface="Arial" pitchFamily="34" charset="-120"/>
              </a:rPr>
              <a:t>KCŞ A.Ş.  ·  CSS ile stil ve düzen</a:t>
            </a:r>
            <a:endParaRPr lang="en-US" sz="850" dirty="0"/>
          </a:p>
        </p:txBody>
      </p:sp>
      <p:sp>
        <p:nvSpPr>
          <p:cNvPr id="9" name="Text 7"/>
          <p:cNvSpPr txBox="1"/>
          <p:nvPr/>
        </p:nvSpPr>
        <p:spPr>
          <a:xfrm>
            <a:off x="4206240" y="4791456"/>
            <a:ext cx="3840480" cy="201168"/>
          </a:xfrm>
          <a:prstGeom prst="rect">
            <a:avLst/>
          </a:prstGeom>
          <a:noFill/>
          <a:ln/>
        </p:spPr>
        <p:txBody>
          <a:bodyPr wrap="square" lIns="0" tIns="0" rIns="0" bIns="0" rtlCol="0" anchor="t"/>
          <a:lstStyle/>
          <a:p>
            <a:pPr marL="0" indent="0" algn="r">
              <a:buNone/>
            </a:pPr>
            <a:r>
              <a:rPr lang="en-US" sz="850" dirty="0">
                <a:solidFill>
                  <a:srgbClr val="6C759E"/>
                </a:solidFill>
                <a:latin typeface="Arial" pitchFamily="34" charset="0"/>
                <a:ea typeface="Arial" pitchFamily="34" charset="-122"/>
                <a:cs typeface="Arial" pitchFamily="34" charset="-120"/>
              </a:rPr>
              <a:t>MDN · The box model</a:t>
            </a:r>
            <a:endParaRPr lang="en-US" sz="850" dirty="0"/>
          </a:p>
        </p:txBody>
      </p:sp>
      <p:sp>
        <p:nvSpPr>
          <p:cNvPr id="10" name="Text 8"/>
          <p:cNvSpPr txBox="1"/>
          <p:nvPr/>
        </p:nvSpPr>
        <p:spPr>
          <a:xfrm>
            <a:off x="8092440" y="4791456"/>
            <a:ext cx="685800" cy="201168"/>
          </a:xfrm>
          <a:prstGeom prst="rect">
            <a:avLst/>
          </a:prstGeom>
          <a:noFill/>
          <a:ln/>
        </p:spPr>
        <p:txBody>
          <a:bodyPr wrap="square" lIns="0" tIns="0" rIns="0" bIns="0" rtlCol="0" anchor="t"/>
          <a:lstStyle/>
          <a:p>
            <a:pPr marL="0" indent="0" algn="r">
              <a:buNone/>
            </a:pPr>
            <a:r>
              <a:rPr lang="en-US" sz="850" dirty="0">
                <a:solidFill>
                  <a:srgbClr val="9AA3C7"/>
                </a:solidFill>
                <a:latin typeface="Courier New" pitchFamily="34" charset="0"/>
                <a:ea typeface="Courier New" pitchFamily="34" charset="-122"/>
                <a:cs typeface="Courier New" pitchFamily="34" charset="-120"/>
              </a:rPr>
              <a:t>13 / 43</a:t>
            </a:r>
            <a:endParaRPr lang="en-US" sz="850" dirty="0"/>
          </a:p>
        </p:txBody>
      </p:sp>
      <p:sp>
        <p:nvSpPr>
          <p:cNvPr id="11" name="Text 9"/>
          <p:cNvSpPr txBox="1"/>
          <p:nvPr/>
        </p:nvSpPr>
        <p:spPr>
          <a:xfrm>
            <a:off x="548640" y="502920"/>
            <a:ext cx="5943600" cy="237744"/>
          </a:xfrm>
          <a:prstGeom prst="rect">
            <a:avLst/>
          </a:prstGeom>
          <a:noFill/>
          <a:ln/>
        </p:spPr>
        <p:txBody>
          <a:bodyPr wrap="square" lIns="0" tIns="0" rIns="0" bIns="0" rtlCol="0" anchor="t"/>
          <a:lstStyle/>
          <a:p>
            <a:pPr marL="0" indent="0">
              <a:buNone/>
            </a:pPr>
            <a:r>
              <a:rPr lang="en-US" sz="1100" b="1" dirty="0">
                <a:solidFill>
                  <a:srgbClr val="22D3EE"/>
                </a:solidFill>
                <a:latin typeface="Courier New" pitchFamily="34" charset="0"/>
                <a:ea typeface="Courier New" pitchFamily="34" charset="-122"/>
                <a:cs typeface="Courier New" pitchFamily="34" charset="-120"/>
              </a:rPr>
              <a:t>box-sizing: border-box;</a:t>
            </a:r>
            <a:endParaRPr lang="en-US" sz="1100" dirty="0"/>
          </a:p>
        </p:txBody>
      </p:sp>
      <p:sp>
        <p:nvSpPr>
          <p:cNvPr id="12" name="Text 10"/>
          <p:cNvSpPr txBox="1"/>
          <p:nvPr/>
        </p:nvSpPr>
        <p:spPr>
          <a:xfrm>
            <a:off x="548640" y="749808"/>
            <a:ext cx="7589520" cy="502920"/>
          </a:xfrm>
          <a:prstGeom prst="rect">
            <a:avLst/>
          </a:prstGeom>
          <a:noFill/>
          <a:ln/>
        </p:spPr>
        <p:txBody>
          <a:bodyPr wrap="square" lIns="0" tIns="0" rIns="0" bIns="0" rtlCol="0" anchor="ctr"/>
          <a:lstStyle/>
          <a:p>
            <a:pPr marL="0" indent="0">
              <a:buNone/>
            </a:pPr>
            <a:r>
              <a:rPr lang="en-US" sz="2400" b="1" dirty="0">
                <a:solidFill>
                  <a:srgbClr val="EEF0F8"/>
                </a:solidFill>
                <a:latin typeface="Arial" pitchFamily="34" charset="0"/>
                <a:ea typeface="Arial" pitchFamily="34" charset="-122"/>
                <a:cs typeface="Arial" pitchFamily="34" charset="-120"/>
              </a:rPr>
              <a:t>Box model 2: kutunun katmanları</a:t>
            </a:r>
            <a:endParaRPr lang="en-US" sz="2400" dirty="0"/>
          </a:p>
        </p:txBody>
      </p:sp>
      <p:sp>
        <p:nvSpPr>
          <p:cNvPr id="13" name="katman-margin"/>
          <p:cNvSpPr/>
          <p:nvPr/>
        </p:nvSpPr>
        <p:spPr>
          <a:xfrm>
            <a:off x="548640" y="1371600"/>
            <a:ext cx="3291840" cy="2697480"/>
          </a:xfrm>
          <a:prstGeom prst="rect">
            <a:avLst/>
          </a:prstGeom>
          <a:ln w="15875">
            <a:solidFill>
              <a:srgbClr val="A3E635"/>
            </a:solidFill>
            <a:prstDash val="dash"/>
          </a:ln>
        </p:spPr>
      </p:sp>
      <p:sp>
        <p:nvSpPr>
          <p:cNvPr id="14" name="Text 12"/>
          <p:cNvSpPr txBox="1"/>
          <p:nvPr/>
        </p:nvSpPr>
        <p:spPr>
          <a:xfrm>
            <a:off x="594360" y="1399032"/>
            <a:ext cx="1097280" cy="182880"/>
          </a:xfrm>
          <a:prstGeom prst="rect">
            <a:avLst/>
          </a:prstGeom>
          <a:noFill/>
          <a:ln/>
        </p:spPr>
        <p:txBody>
          <a:bodyPr wrap="square" lIns="0" tIns="0" rIns="0" bIns="0" rtlCol="0" anchor="t"/>
          <a:lstStyle/>
          <a:p>
            <a:pPr marL="0" indent="0">
              <a:buNone/>
            </a:pPr>
            <a:r>
              <a:rPr lang="en-US" sz="850" dirty="0">
                <a:solidFill>
                  <a:srgbClr val="A3E635"/>
                </a:solidFill>
                <a:latin typeface="Courier New" pitchFamily="34" charset="0"/>
                <a:ea typeface="Courier New" pitchFamily="34" charset="-122"/>
                <a:cs typeface="Courier New" pitchFamily="34" charset="-120"/>
              </a:rPr>
              <a:t>margin</a:t>
            </a:r>
            <a:endParaRPr lang="en-US" sz="850" dirty="0"/>
          </a:p>
        </p:txBody>
      </p:sp>
      <p:sp>
        <p:nvSpPr>
          <p:cNvPr id="15" name="katman-border"/>
          <p:cNvSpPr/>
          <p:nvPr/>
        </p:nvSpPr>
        <p:spPr>
          <a:xfrm>
            <a:off x="822960" y="1664208"/>
            <a:ext cx="2743200" cy="2103120"/>
          </a:xfrm>
          <a:prstGeom prst="rect">
            <a:avLst/>
          </a:prstGeom>
          <a:ln w="15875">
            <a:solidFill>
              <a:srgbClr val="F472B6"/>
            </a:solidFill>
            <a:prstDash val="solid"/>
          </a:ln>
        </p:spPr>
      </p:sp>
      <p:sp>
        <p:nvSpPr>
          <p:cNvPr id="16" name="Text 14"/>
          <p:cNvSpPr txBox="1"/>
          <p:nvPr/>
        </p:nvSpPr>
        <p:spPr>
          <a:xfrm>
            <a:off x="868680" y="1691640"/>
            <a:ext cx="1097280" cy="182880"/>
          </a:xfrm>
          <a:prstGeom prst="rect">
            <a:avLst/>
          </a:prstGeom>
          <a:noFill/>
          <a:ln/>
        </p:spPr>
        <p:txBody>
          <a:bodyPr wrap="square" lIns="0" tIns="0" rIns="0" bIns="0" rtlCol="0" anchor="t"/>
          <a:lstStyle/>
          <a:p>
            <a:pPr marL="0" indent="0">
              <a:buNone/>
            </a:pPr>
            <a:r>
              <a:rPr lang="en-US" sz="850" dirty="0">
                <a:solidFill>
                  <a:srgbClr val="F472B6"/>
                </a:solidFill>
                <a:latin typeface="Courier New" pitchFamily="34" charset="0"/>
                <a:ea typeface="Courier New" pitchFamily="34" charset="-122"/>
                <a:cs typeface="Courier New" pitchFamily="34" charset="-120"/>
              </a:rPr>
              <a:t>border</a:t>
            </a:r>
            <a:endParaRPr lang="en-US" sz="850" dirty="0"/>
          </a:p>
        </p:txBody>
      </p:sp>
      <p:sp>
        <p:nvSpPr>
          <p:cNvPr id="17" name="katman-padding"/>
          <p:cNvSpPr/>
          <p:nvPr/>
        </p:nvSpPr>
        <p:spPr>
          <a:xfrm>
            <a:off x="1097280" y="1956816"/>
            <a:ext cx="2194560" cy="1517904"/>
          </a:xfrm>
          <a:prstGeom prst="rect">
            <a:avLst/>
          </a:prstGeom>
          <a:ln w="15875">
            <a:solidFill>
              <a:srgbClr val="22D3EE"/>
            </a:solidFill>
            <a:prstDash val="solid"/>
          </a:ln>
        </p:spPr>
      </p:sp>
      <p:sp>
        <p:nvSpPr>
          <p:cNvPr id="18" name="Text 16"/>
          <p:cNvSpPr txBox="1"/>
          <p:nvPr/>
        </p:nvSpPr>
        <p:spPr>
          <a:xfrm>
            <a:off x="1143000" y="1984248"/>
            <a:ext cx="1097280" cy="182880"/>
          </a:xfrm>
          <a:prstGeom prst="rect">
            <a:avLst/>
          </a:prstGeom>
          <a:noFill/>
          <a:ln/>
        </p:spPr>
        <p:txBody>
          <a:bodyPr wrap="square" lIns="0" tIns="0" rIns="0" bIns="0" rtlCol="0" anchor="t"/>
          <a:lstStyle/>
          <a:p>
            <a:pPr marL="0" indent="0">
              <a:buNone/>
            </a:pPr>
            <a:r>
              <a:rPr lang="en-US" sz="850" dirty="0">
                <a:solidFill>
                  <a:srgbClr val="22D3EE"/>
                </a:solidFill>
                <a:latin typeface="Courier New" pitchFamily="34" charset="0"/>
                <a:ea typeface="Courier New" pitchFamily="34" charset="-122"/>
                <a:cs typeface="Courier New" pitchFamily="34" charset="-120"/>
              </a:rPr>
              <a:t>padding</a:t>
            </a:r>
            <a:endParaRPr lang="en-US" sz="850" dirty="0"/>
          </a:p>
        </p:txBody>
      </p:sp>
      <p:sp>
        <p:nvSpPr>
          <p:cNvPr id="19" name="katman-content"/>
          <p:cNvSpPr/>
          <p:nvPr/>
        </p:nvSpPr>
        <p:spPr>
          <a:xfrm>
            <a:off x="1371600" y="2249424"/>
            <a:ext cx="1645920" cy="932688"/>
          </a:xfrm>
          <a:prstGeom prst="rect">
            <a:avLst/>
          </a:prstGeom>
          <a:solidFill>
            <a:srgbClr val="8B7CFF">
              <a:alpha val="35000"/>
            </a:srgbClr>
          </a:solidFill>
          <a:ln w="15875">
            <a:solidFill>
              <a:srgbClr val="8B7CFF"/>
            </a:solidFill>
            <a:prstDash val="solid"/>
          </a:ln>
        </p:spPr>
      </p:sp>
      <p:sp>
        <p:nvSpPr>
          <p:cNvPr id="20" name="Text 18"/>
          <p:cNvSpPr txBox="1"/>
          <p:nvPr/>
        </p:nvSpPr>
        <p:spPr>
          <a:xfrm>
            <a:off x="1417320" y="2276856"/>
            <a:ext cx="1097280" cy="182880"/>
          </a:xfrm>
          <a:prstGeom prst="rect">
            <a:avLst/>
          </a:prstGeom>
          <a:noFill/>
          <a:ln/>
        </p:spPr>
        <p:txBody>
          <a:bodyPr wrap="square" lIns="0" tIns="0" rIns="0" bIns="0" rtlCol="0" anchor="t"/>
          <a:lstStyle/>
          <a:p>
            <a:pPr marL="0" indent="0">
              <a:buNone/>
            </a:pPr>
            <a:r>
              <a:rPr lang="en-US" sz="850" dirty="0">
                <a:solidFill>
                  <a:srgbClr val="8B7CFF"/>
                </a:solidFill>
                <a:latin typeface="Courier New" pitchFamily="34" charset="0"/>
                <a:ea typeface="Courier New" pitchFamily="34" charset="-122"/>
                <a:cs typeface="Courier New" pitchFamily="34" charset="-120"/>
              </a:rPr>
              <a:t>content</a:t>
            </a:r>
            <a:endParaRPr lang="en-US" sz="850" dirty="0"/>
          </a:p>
        </p:txBody>
      </p:sp>
      <p:sp>
        <p:nvSpPr>
          <p:cNvPr id="21" name="Text 19"/>
          <p:cNvSpPr txBox="1"/>
          <p:nvPr/>
        </p:nvSpPr>
        <p:spPr>
          <a:xfrm>
            <a:off x="1371600" y="2487168"/>
            <a:ext cx="1645920" cy="457200"/>
          </a:xfrm>
          <a:prstGeom prst="rect">
            <a:avLst/>
          </a:prstGeom>
          <a:noFill/>
          <a:ln/>
        </p:spPr>
        <p:txBody>
          <a:bodyPr wrap="square" lIns="0" tIns="0" rIns="0" bIns="0" rtlCol="0" anchor="ctr"/>
          <a:lstStyle/>
          <a:p>
            <a:pPr marL="0" indent="0" algn="ctr">
              <a:buNone/>
            </a:pPr>
            <a:r>
              <a:rPr lang="en-US" sz="1200" b="1" dirty="0">
                <a:solidFill>
                  <a:srgbClr val="EEF0F8"/>
                </a:solidFill>
                <a:latin typeface="Courier New" pitchFamily="34" charset="0"/>
                <a:ea typeface="Courier New" pitchFamily="34" charset="-122"/>
                <a:cs typeface="Courier New" pitchFamily="34" charset="-120"/>
              </a:rPr>
              <a:t>350 × 150</a:t>
            </a:r>
            <a:endParaRPr lang="en-US" sz="1200" dirty="0"/>
          </a:p>
        </p:txBody>
      </p:sp>
      <p:sp>
        <p:nvSpPr>
          <p:cNvPr id="22" name="kod-paneli"/>
          <p:cNvSpPr/>
          <p:nvPr/>
        </p:nvSpPr>
        <p:spPr>
          <a:xfrm>
            <a:off x="4069080" y="1371600"/>
            <a:ext cx="2148840" cy="1234440"/>
          </a:xfrm>
          <a:prstGeom prst="roundRect">
            <a:avLst>
              <a:gd name="adj" fmla="val 5926"/>
            </a:avLst>
          </a:prstGeom>
          <a:solidFill>
            <a:srgbClr val="0A0D1F"/>
          </a:solidFill>
          <a:ln w="9525">
            <a:solidFill>
              <a:srgbClr val="2E3768"/>
            </a:solidFill>
            <a:prstDash val="solid"/>
          </a:ln>
        </p:spPr>
      </p:sp>
      <p:sp>
        <p:nvSpPr>
          <p:cNvPr id="23" name="Text 21"/>
          <p:cNvSpPr txBox="1"/>
          <p:nvPr/>
        </p:nvSpPr>
        <p:spPr>
          <a:xfrm>
            <a:off x="4215384" y="1481328"/>
            <a:ext cx="1874520" cy="1033272"/>
          </a:xfrm>
          <a:prstGeom prst="rect">
            <a:avLst/>
          </a:prstGeom>
          <a:noFill/>
          <a:ln/>
        </p:spPr>
        <p:txBody>
          <a:bodyPr wrap="square" lIns="0" tIns="0" rIns="0" bIns="0" rtlCol="0" anchor="ctr"/>
          <a:lstStyle/>
          <a:p>
            <a:pPr marL="0" indent="0">
              <a:buNone/>
            </a:pPr>
            <a:r>
              <a:rPr lang="en-US" sz="850" dirty="0">
                <a:solidFill>
                  <a:srgbClr val="F472B6"/>
                </a:solidFill>
                <a:latin typeface="Courier New" pitchFamily="34" charset="0"/>
                <a:ea typeface="Courier New" pitchFamily="34" charset="-122"/>
                <a:cs typeface="Courier New" pitchFamily="34" charset="-120"/>
              </a:rPr>
              <a:t>.box </a:t>
            </a:r>
            <a:r>
              <a:rPr lang="en-US" sz="850" dirty="0">
                <a:solidFill>
                  <a:srgbClr val="6C759E"/>
                </a:solidFill>
                <a:latin typeface="Courier New" pitchFamily="34" charset="0"/>
                <a:ea typeface="Courier New" pitchFamily="34" charset="-122"/>
                <a:cs typeface="Courier New" pitchFamily="34" charset="-120"/>
              </a:rPr>
              <a:t>{</a:t>
            </a:r>
            <a:endParaRPr lang="en-US" sz="850" dirty="0"/>
          </a:p>
          <a:p>
            <a:pPr marL="0" indent="0">
              <a:buNone/>
            </a:pPr>
            <a:r>
              <a:rPr lang="en-US" sz="850" dirty="0">
                <a:solidFill>
                  <a:srgbClr val="EEF0F8"/>
                </a:solidFill>
                <a:latin typeface="Courier New" pitchFamily="34" charset="0"/>
                <a:ea typeface="Courier New" pitchFamily="34" charset="-122"/>
                <a:cs typeface="Courier New" pitchFamily="34" charset="-120"/>
              </a:rPr>
              <a:t>  </a:t>
            </a:r>
            <a:r>
              <a:rPr lang="en-US" sz="850" dirty="0">
                <a:solidFill>
                  <a:srgbClr val="22D3EE"/>
                </a:solidFill>
                <a:latin typeface="Courier New" pitchFamily="34" charset="0"/>
                <a:ea typeface="Courier New" pitchFamily="34" charset="-122"/>
                <a:cs typeface="Courier New" pitchFamily="34" charset="-120"/>
              </a:rPr>
              <a:t>width</a:t>
            </a:r>
            <a:r>
              <a:rPr lang="en-US" sz="850" dirty="0">
                <a:solidFill>
                  <a:srgbClr val="6C759E"/>
                </a:solidFill>
                <a:latin typeface="Courier New" pitchFamily="34" charset="0"/>
                <a:ea typeface="Courier New" pitchFamily="34" charset="-122"/>
                <a:cs typeface="Courier New" pitchFamily="34" charset="-120"/>
              </a:rPr>
              <a:t>: </a:t>
            </a:r>
            <a:r>
              <a:rPr lang="en-US" sz="850" dirty="0">
                <a:solidFill>
                  <a:srgbClr val="FBBF24"/>
                </a:solidFill>
                <a:latin typeface="Courier New" pitchFamily="34" charset="0"/>
                <a:ea typeface="Courier New" pitchFamily="34" charset="-122"/>
                <a:cs typeface="Courier New" pitchFamily="34" charset="-120"/>
              </a:rPr>
              <a:t>350px;</a:t>
            </a:r>
            <a:endParaRPr lang="en-US" sz="850" dirty="0"/>
          </a:p>
          <a:p>
            <a:pPr marL="0" indent="0">
              <a:buNone/>
            </a:pPr>
            <a:r>
              <a:rPr lang="en-US" sz="850" dirty="0">
                <a:solidFill>
                  <a:srgbClr val="EEF0F8"/>
                </a:solidFill>
                <a:latin typeface="Courier New" pitchFamily="34" charset="0"/>
                <a:ea typeface="Courier New" pitchFamily="34" charset="-122"/>
                <a:cs typeface="Courier New" pitchFamily="34" charset="-120"/>
              </a:rPr>
              <a:t>  </a:t>
            </a:r>
            <a:r>
              <a:rPr lang="en-US" sz="850" dirty="0">
                <a:solidFill>
                  <a:srgbClr val="22D3EE"/>
                </a:solidFill>
                <a:latin typeface="Courier New" pitchFamily="34" charset="0"/>
                <a:ea typeface="Courier New" pitchFamily="34" charset="-122"/>
                <a:cs typeface="Courier New" pitchFamily="34" charset="-120"/>
              </a:rPr>
              <a:t>height</a:t>
            </a:r>
            <a:r>
              <a:rPr lang="en-US" sz="850" dirty="0">
                <a:solidFill>
                  <a:srgbClr val="6C759E"/>
                </a:solidFill>
                <a:latin typeface="Courier New" pitchFamily="34" charset="0"/>
                <a:ea typeface="Courier New" pitchFamily="34" charset="-122"/>
                <a:cs typeface="Courier New" pitchFamily="34" charset="-120"/>
              </a:rPr>
              <a:t>: </a:t>
            </a:r>
            <a:r>
              <a:rPr lang="en-US" sz="850" dirty="0">
                <a:solidFill>
                  <a:srgbClr val="FBBF24"/>
                </a:solidFill>
                <a:latin typeface="Courier New" pitchFamily="34" charset="0"/>
                <a:ea typeface="Courier New" pitchFamily="34" charset="-122"/>
                <a:cs typeface="Courier New" pitchFamily="34" charset="-120"/>
              </a:rPr>
              <a:t>150px;</a:t>
            </a:r>
            <a:endParaRPr lang="en-US" sz="850" dirty="0"/>
          </a:p>
          <a:p>
            <a:pPr marL="0" indent="0">
              <a:buNone/>
            </a:pPr>
            <a:r>
              <a:rPr lang="en-US" sz="850" dirty="0">
                <a:solidFill>
                  <a:srgbClr val="EEF0F8"/>
                </a:solidFill>
                <a:latin typeface="Courier New" pitchFamily="34" charset="0"/>
                <a:ea typeface="Courier New" pitchFamily="34" charset="-122"/>
                <a:cs typeface="Courier New" pitchFamily="34" charset="-120"/>
              </a:rPr>
              <a:t>  </a:t>
            </a:r>
            <a:r>
              <a:rPr lang="en-US" sz="850" dirty="0">
                <a:solidFill>
                  <a:srgbClr val="22D3EE"/>
                </a:solidFill>
                <a:latin typeface="Courier New" pitchFamily="34" charset="0"/>
                <a:ea typeface="Courier New" pitchFamily="34" charset="-122"/>
                <a:cs typeface="Courier New" pitchFamily="34" charset="-120"/>
              </a:rPr>
              <a:t>padding</a:t>
            </a:r>
            <a:r>
              <a:rPr lang="en-US" sz="850" dirty="0">
                <a:solidFill>
                  <a:srgbClr val="6C759E"/>
                </a:solidFill>
                <a:latin typeface="Courier New" pitchFamily="34" charset="0"/>
                <a:ea typeface="Courier New" pitchFamily="34" charset="-122"/>
                <a:cs typeface="Courier New" pitchFamily="34" charset="-120"/>
              </a:rPr>
              <a:t>: </a:t>
            </a:r>
            <a:r>
              <a:rPr lang="en-US" sz="850" dirty="0">
                <a:solidFill>
                  <a:srgbClr val="FBBF24"/>
                </a:solidFill>
                <a:latin typeface="Courier New" pitchFamily="34" charset="0"/>
                <a:ea typeface="Courier New" pitchFamily="34" charset="-122"/>
                <a:cs typeface="Courier New" pitchFamily="34" charset="-120"/>
              </a:rPr>
              <a:t>25px;</a:t>
            </a:r>
            <a:endParaRPr lang="en-US" sz="850" dirty="0"/>
          </a:p>
          <a:p>
            <a:pPr marL="0" indent="0">
              <a:buNone/>
            </a:pPr>
            <a:r>
              <a:rPr lang="en-US" sz="850" dirty="0">
                <a:solidFill>
                  <a:srgbClr val="EEF0F8"/>
                </a:solidFill>
                <a:latin typeface="Courier New" pitchFamily="34" charset="0"/>
                <a:ea typeface="Courier New" pitchFamily="34" charset="-122"/>
                <a:cs typeface="Courier New" pitchFamily="34" charset="-120"/>
              </a:rPr>
              <a:t>  </a:t>
            </a:r>
            <a:r>
              <a:rPr lang="en-US" sz="850" dirty="0">
                <a:solidFill>
                  <a:srgbClr val="22D3EE"/>
                </a:solidFill>
                <a:latin typeface="Courier New" pitchFamily="34" charset="0"/>
                <a:ea typeface="Courier New" pitchFamily="34" charset="-122"/>
                <a:cs typeface="Courier New" pitchFamily="34" charset="-120"/>
              </a:rPr>
              <a:t>border</a:t>
            </a:r>
            <a:r>
              <a:rPr lang="en-US" sz="850" dirty="0">
                <a:solidFill>
                  <a:srgbClr val="6C759E"/>
                </a:solidFill>
                <a:latin typeface="Courier New" pitchFamily="34" charset="0"/>
                <a:ea typeface="Courier New" pitchFamily="34" charset="-122"/>
                <a:cs typeface="Courier New" pitchFamily="34" charset="-120"/>
              </a:rPr>
              <a:t>: </a:t>
            </a:r>
            <a:r>
              <a:rPr lang="en-US" sz="850" dirty="0">
                <a:solidFill>
                  <a:srgbClr val="FBBF24"/>
                </a:solidFill>
                <a:latin typeface="Courier New" pitchFamily="34" charset="0"/>
                <a:ea typeface="Courier New" pitchFamily="34" charset="-122"/>
                <a:cs typeface="Courier New" pitchFamily="34" charset="-120"/>
              </a:rPr>
              <a:t>5px solid; }</a:t>
            </a:r>
            <a:endParaRPr lang="en-US" sz="850" dirty="0"/>
          </a:p>
        </p:txBody>
      </p:sp>
      <p:sp>
        <p:nvSpPr>
          <p:cNvPr id="24" name="kart"/>
          <p:cNvSpPr/>
          <p:nvPr/>
        </p:nvSpPr>
        <p:spPr>
          <a:xfrm>
            <a:off x="6400800" y="1371600"/>
            <a:ext cx="2194560" cy="1234440"/>
          </a:xfrm>
          <a:prstGeom prst="roundRect">
            <a:avLst>
              <a:gd name="adj" fmla="val 5926"/>
            </a:avLst>
          </a:prstGeom>
          <a:solidFill>
            <a:srgbClr val="1A2044"/>
          </a:solidFill>
          <a:ln w="9525">
            <a:solidFill>
              <a:srgbClr val="2E3768"/>
            </a:solidFill>
            <a:prstDash val="solid"/>
          </a:ln>
        </p:spPr>
      </p:sp>
      <p:sp>
        <p:nvSpPr>
          <p:cNvPr id="25" name="kart-nokta"/>
          <p:cNvSpPr/>
          <p:nvPr/>
        </p:nvSpPr>
        <p:spPr>
          <a:xfrm>
            <a:off x="6547104" y="1527048"/>
            <a:ext cx="91440" cy="91440"/>
          </a:xfrm>
          <a:prstGeom prst="ellipse">
            <a:avLst/>
          </a:prstGeom>
          <a:solidFill>
            <a:srgbClr val="22D3EE"/>
          </a:solidFill>
          <a:ln/>
        </p:spPr>
      </p:sp>
      <p:sp>
        <p:nvSpPr>
          <p:cNvPr id="26" name="Text 24"/>
          <p:cNvSpPr txBox="1"/>
          <p:nvPr/>
        </p:nvSpPr>
        <p:spPr>
          <a:xfrm>
            <a:off x="6711696" y="1444752"/>
            <a:ext cx="1783080" cy="274320"/>
          </a:xfrm>
          <a:prstGeom prst="rect">
            <a:avLst/>
          </a:prstGeom>
          <a:noFill/>
          <a:ln/>
        </p:spPr>
        <p:txBody>
          <a:bodyPr wrap="square" lIns="0" tIns="0" rIns="0" bIns="0" rtlCol="0" anchor="ctr"/>
          <a:lstStyle/>
          <a:p>
            <a:pPr marL="0" indent="0">
              <a:buNone/>
            </a:pPr>
            <a:r>
              <a:rPr lang="en-US" sz="1200" b="1" dirty="0">
                <a:solidFill>
                  <a:srgbClr val="EEF0F8"/>
                </a:solidFill>
                <a:latin typeface="Arial" pitchFamily="34" charset="0"/>
                <a:ea typeface="Arial" pitchFamily="34" charset="-122"/>
                <a:cs typeface="Arial" pitchFamily="34" charset="-120"/>
              </a:rPr>
              <a:t>Standart</a:t>
            </a:r>
            <a:endParaRPr lang="en-US" sz="1200" dirty="0"/>
          </a:p>
        </p:txBody>
      </p:sp>
      <p:sp>
        <p:nvSpPr>
          <p:cNvPr id="27" name="Text 25"/>
          <p:cNvSpPr txBox="1"/>
          <p:nvPr/>
        </p:nvSpPr>
        <p:spPr>
          <a:xfrm>
            <a:off x="6528816" y="1700784"/>
            <a:ext cx="1965960" cy="868680"/>
          </a:xfrm>
          <a:prstGeom prst="rect">
            <a:avLst/>
          </a:prstGeom>
          <a:noFill/>
          <a:ln/>
        </p:spPr>
        <p:txBody>
          <a:bodyPr wrap="square" lIns="0" tIns="0" rIns="0" bIns="0" rtlCol="0" anchor="t"/>
          <a:lstStyle/>
          <a:p>
            <a:pPr marL="0" indent="0">
              <a:buNone/>
            </a:pPr>
            <a:r>
              <a:rPr lang="en-US" sz="1000" b="1" dirty="0">
                <a:solidFill>
                  <a:srgbClr val="22D3EE"/>
                </a:solidFill>
                <a:latin typeface="Arial" pitchFamily="34" charset="0"/>
                <a:ea typeface="Arial" pitchFamily="34" charset="-122"/>
                <a:cs typeface="Arial" pitchFamily="34" charset="-120"/>
              </a:rPr>
              <a:t>410 × 210 px</a:t>
            </a:r>
            <a:endParaRPr lang="en-US" sz="1000" dirty="0"/>
          </a:p>
          <a:p>
            <a:pPr marL="0" indent="0">
              <a:buNone/>
            </a:pPr>
            <a:r>
              <a:rPr lang="en-US" sz="1000" dirty="0">
                <a:solidFill>
                  <a:srgbClr val="9AA3C7"/>
                </a:solidFill>
                <a:latin typeface="Arial" pitchFamily="34" charset="0"/>
                <a:ea typeface="Arial" pitchFamily="34" charset="-122"/>
                <a:cs typeface="Arial" pitchFamily="34" charset="-120"/>
              </a:rPr>
              <a:t>width sadece içeriği ölçer; padding ve border eklenir.</a:t>
            </a:r>
            <a:endParaRPr lang="en-US" sz="1000" dirty="0"/>
          </a:p>
        </p:txBody>
      </p:sp>
      <p:sp>
        <p:nvSpPr>
          <p:cNvPr id="28" name="kart"/>
          <p:cNvSpPr/>
          <p:nvPr/>
        </p:nvSpPr>
        <p:spPr>
          <a:xfrm>
            <a:off x="4069080" y="2743200"/>
            <a:ext cx="2148840" cy="1353312"/>
          </a:xfrm>
          <a:prstGeom prst="roundRect">
            <a:avLst>
              <a:gd name="adj" fmla="val 5405"/>
            </a:avLst>
          </a:prstGeom>
          <a:solidFill>
            <a:srgbClr val="1A2044"/>
          </a:solidFill>
          <a:ln w="9525">
            <a:solidFill>
              <a:srgbClr val="2E3768"/>
            </a:solidFill>
            <a:prstDash val="solid"/>
          </a:ln>
        </p:spPr>
      </p:sp>
      <p:sp>
        <p:nvSpPr>
          <p:cNvPr id="29" name="kart-nokta"/>
          <p:cNvSpPr/>
          <p:nvPr/>
        </p:nvSpPr>
        <p:spPr>
          <a:xfrm>
            <a:off x="4215384" y="2898648"/>
            <a:ext cx="91440" cy="91440"/>
          </a:xfrm>
          <a:prstGeom prst="ellipse">
            <a:avLst/>
          </a:prstGeom>
          <a:solidFill>
            <a:srgbClr val="F472B6"/>
          </a:solidFill>
          <a:ln/>
        </p:spPr>
      </p:sp>
      <p:sp>
        <p:nvSpPr>
          <p:cNvPr id="30" name="Text 28"/>
          <p:cNvSpPr txBox="1"/>
          <p:nvPr/>
        </p:nvSpPr>
        <p:spPr>
          <a:xfrm>
            <a:off x="4379976" y="2816352"/>
            <a:ext cx="1737360" cy="274320"/>
          </a:xfrm>
          <a:prstGeom prst="rect">
            <a:avLst/>
          </a:prstGeom>
          <a:noFill/>
          <a:ln/>
        </p:spPr>
        <p:txBody>
          <a:bodyPr wrap="square" lIns="0" tIns="0" rIns="0" bIns="0" rtlCol="0" anchor="ctr"/>
          <a:lstStyle/>
          <a:p>
            <a:pPr marL="0" indent="0">
              <a:buNone/>
            </a:pPr>
            <a:r>
              <a:rPr lang="en-US" sz="1100" b="1" dirty="0">
                <a:solidFill>
                  <a:srgbClr val="EEF0F8"/>
                </a:solidFill>
                <a:latin typeface="Courier New" pitchFamily="34" charset="0"/>
                <a:ea typeface="Courier New" pitchFamily="34" charset="-122"/>
                <a:cs typeface="Courier New" pitchFamily="34" charset="-120"/>
              </a:rPr>
              <a:t>border-box</a:t>
            </a:r>
            <a:endParaRPr lang="en-US" sz="1100" dirty="0"/>
          </a:p>
        </p:txBody>
      </p:sp>
      <p:sp>
        <p:nvSpPr>
          <p:cNvPr id="31" name="Text 29"/>
          <p:cNvSpPr txBox="1"/>
          <p:nvPr/>
        </p:nvSpPr>
        <p:spPr>
          <a:xfrm>
            <a:off x="4206240" y="3063240"/>
            <a:ext cx="1920240" cy="987552"/>
          </a:xfrm>
          <a:prstGeom prst="rect">
            <a:avLst/>
          </a:prstGeom>
          <a:noFill/>
          <a:ln/>
        </p:spPr>
        <p:txBody>
          <a:bodyPr wrap="square" lIns="0" tIns="0" rIns="0" bIns="0" rtlCol="0" anchor="t"/>
          <a:lstStyle/>
          <a:p>
            <a:pPr marL="0" indent="0">
              <a:buNone/>
            </a:pPr>
            <a:r>
              <a:rPr lang="en-US" sz="1000" b="1" dirty="0">
                <a:solidFill>
                  <a:srgbClr val="F472B6"/>
                </a:solidFill>
                <a:latin typeface="Arial" pitchFamily="34" charset="0"/>
                <a:ea typeface="Arial" pitchFamily="34" charset="-122"/>
                <a:cs typeface="Arial" pitchFamily="34" charset="-120"/>
              </a:rPr>
              <a:t>350 × 150 px</a:t>
            </a:r>
            <a:endParaRPr lang="en-US" sz="1000" dirty="0"/>
          </a:p>
          <a:p>
            <a:pPr marL="0" indent="0">
              <a:buNone/>
            </a:pPr>
            <a:r>
              <a:rPr lang="en-US" sz="1000" dirty="0">
                <a:solidFill>
                  <a:srgbClr val="9AA3C7"/>
                </a:solidFill>
                <a:latin typeface="Arial" pitchFamily="34" charset="0"/>
                <a:ea typeface="Arial" pitchFamily="34" charset="-122"/>
                <a:cs typeface="Arial" pitchFamily="34" charset="-120"/>
              </a:rPr>
              <a:t>width görünen kutunun tamamıdır; hesap yapmak gerekmez.</a:t>
            </a:r>
            <a:endParaRPr lang="en-US" sz="1000" dirty="0"/>
          </a:p>
        </p:txBody>
      </p:sp>
      <p:sp>
        <p:nvSpPr>
          <p:cNvPr id="32" name="kart"/>
          <p:cNvSpPr/>
          <p:nvPr/>
        </p:nvSpPr>
        <p:spPr>
          <a:xfrm>
            <a:off x="6400800" y="2743200"/>
            <a:ext cx="2194560" cy="1353312"/>
          </a:xfrm>
          <a:prstGeom prst="roundRect">
            <a:avLst>
              <a:gd name="adj" fmla="val 5405"/>
            </a:avLst>
          </a:prstGeom>
          <a:solidFill>
            <a:srgbClr val="1A2044"/>
          </a:solidFill>
          <a:ln w="9525">
            <a:solidFill>
              <a:srgbClr val="2E3768"/>
            </a:solidFill>
            <a:prstDash val="solid"/>
          </a:ln>
        </p:spPr>
      </p:sp>
      <p:sp>
        <p:nvSpPr>
          <p:cNvPr id="33" name="kart-nokta"/>
          <p:cNvSpPr/>
          <p:nvPr/>
        </p:nvSpPr>
        <p:spPr>
          <a:xfrm>
            <a:off x="6547104" y="2898648"/>
            <a:ext cx="91440" cy="91440"/>
          </a:xfrm>
          <a:prstGeom prst="ellipse">
            <a:avLst/>
          </a:prstGeom>
          <a:solidFill>
            <a:srgbClr val="FBBF24"/>
          </a:solidFill>
          <a:ln/>
        </p:spPr>
      </p:sp>
      <p:sp>
        <p:nvSpPr>
          <p:cNvPr id="34" name="Text 32"/>
          <p:cNvSpPr txBox="1"/>
          <p:nvPr/>
        </p:nvSpPr>
        <p:spPr>
          <a:xfrm>
            <a:off x="6711696" y="2816352"/>
            <a:ext cx="1783080" cy="274320"/>
          </a:xfrm>
          <a:prstGeom prst="rect">
            <a:avLst/>
          </a:prstGeom>
          <a:noFill/>
          <a:ln/>
        </p:spPr>
        <p:txBody>
          <a:bodyPr wrap="square" lIns="0" tIns="0" rIns="0" bIns="0" rtlCol="0" anchor="ctr"/>
          <a:lstStyle/>
          <a:p>
            <a:pPr marL="0" indent="0">
              <a:buNone/>
            </a:pPr>
            <a:r>
              <a:rPr lang="en-US" sz="1200" b="1" dirty="0">
                <a:solidFill>
                  <a:srgbClr val="EEF0F8"/>
                </a:solidFill>
                <a:latin typeface="Arial" pitchFamily="34" charset="0"/>
                <a:ea typeface="Arial" pitchFamily="34" charset="-122"/>
                <a:cs typeface="Arial" pitchFamily="34" charset="-120"/>
              </a:rPr>
              <a:t>Margin çökmesi</a:t>
            </a:r>
            <a:endParaRPr lang="en-US" sz="1200" dirty="0"/>
          </a:p>
        </p:txBody>
      </p:sp>
      <p:sp>
        <p:nvSpPr>
          <p:cNvPr id="35" name="Text 33"/>
          <p:cNvSpPr txBox="1"/>
          <p:nvPr/>
        </p:nvSpPr>
        <p:spPr>
          <a:xfrm>
            <a:off x="6528816" y="3063240"/>
            <a:ext cx="1965960" cy="987552"/>
          </a:xfrm>
          <a:prstGeom prst="rect">
            <a:avLst/>
          </a:prstGeom>
          <a:noFill/>
          <a:ln/>
        </p:spPr>
        <p:txBody>
          <a:bodyPr wrap="square" lIns="0" tIns="0" rIns="0" bIns="0" rtlCol="0" anchor="t"/>
          <a:lstStyle/>
          <a:p>
            <a:pPr marL="0" indent="0">
              <a:buNone/>
            </a:pPr>
            <a:r>
              <a:rPr lang="en-US" sz="950" dirty="0">
                <a:solidFill>
                  <a:srgbClr val="9AA3C7"/>
                </a:solidFill>
                <a:latin typeface="Arial" pitchFamily="34" charset="0"/>
                <a:ea typeface="Arial" pitchFamily="34" charset="-122"/>
                <a:cs typeface="Arial" pitchFamily="34" charset="-120"/>
              </a:rPr>
              <a:t>Dikeyde değen iki pozitif margin birleşir, büyük olan kalır: 50px + 30px = 50px. Margin negatif olabilir, padding olamaz.</a:t>
            </a:r>
            <a:endParaRPr lang="en-US" sz="950" dirty="0"/>
          </a:p>
        </p:txBody>
      </p:sp>
      <p:sp>
        <p:nvSpPr>
          <p:cNvPr id="36" name="benzetme"/>
          <p:cNvSpPr/>
          <p:nvPr/>
        </p:nvSpPr>
        <p:spPr>
          <a:xfrm>
            <a:off x="548640" y="4224528"/>
            <a:ext cx="8046720" cy="402336"/>
          </a:xfrm>
          <a:prstGeom prst="roundRect">
            <a:avLst>
              <a:gd name="adj" fmla="val 50000"/>
            </a:avLst>
          </a:prstGeom>
          <a:solidFill>
            <a:srgbClr val="232A55"/>
          </a:solidFill>
          <a:ln/>
        </p:spPr>
      </p:sp>
      <p:sp>
        <p:nvSpPr>
          <p:cNvPr id="37" name="benzetme-ikon"/>
          <p:cNvSpPr/>
          <p:nvPr/>
        </p:nvSpPr>
        <p:spPr>
          <a:xfrm>
            <a:off x="621792" y="4261104"/>
            <a:ext cx="329184" cy="329184"/>
          </a:xfrm>
          <a:prstGeom prst="ellipse">
            <a:avLst/>
          </a:prstGeom>
          <a:solidFill>
            <a:srgbClr val="FBBF24"/>
          </a:solidFill>
          <a:ln/>
        </p:spPr>
      </p:sp>
      <p:sp>
        <p:nvSpPr>
          <p:cNvPr id="38" name="Text 36"/>
          <p:cNvSpPr txBox="1"/>
          <p:nvPr/>
        </p:nvSpPr>
        <p:spPr>
          <a:xfrm>
            <a:off x="621792" y="4261104"/>
            <a:ext cx="329184" cy="329184"/>
          </a:xfrm>
          <a:prstGeom prst="rect">
            <a:avLst/>
          </a:prstGeom>
          <a:noFill/>
          <a:ln/>
        </p:spPr>
        <p:txBody>
          <a:bodyPr wrap="square" lIns="0" tIns="0" rIns="0" bIns="0" rtlCol="0" anchor="ctr"/>
          <a:lstStyle/>
          <a:p>
            <a:pPr marL="0" indent="0" algn="ctr">
              <a:buNone/>
            </a:pPr>
            <a:r>
              <a:rPr lang="en-US" sz="1600" b="1" dirty="0">
                <a:solidFill>
                  <a:srgbClr val="10142B"/>
                </a:solidFill>
                <a:latin typeface="Arial" pitchFamily="34" charset="0"/>
                <a:ea typeface="Arial" pitchFamily="34" charset="-122"/>
                <a:cs typeface="Arial" pitchFamily="34" charset="-120"/>
              </a:rPr>
              <a:t>≈</a:t>
            </a:r>
            <a:endParaRPr lang="en-US" sz="1600" dirty="0"/>
          </a:p>
        </p:txBody>
      </p:sp>
      <p:sp>
        <p:nvSpPr>
          <p:cNvPr id="39" name="Text 37"/>
          <p:cNvSpPr txBox="1"/>
          <p:nvPr/>
        </p:nvSpPr>
        <p:spPr>
          <a:xfrm>
            <a:off x="1042416" y="4224528"/>
            <a:ext cx="7452360" cy="402336"/>
          </a:xfrm>
          <a:prstGeom prst="rect">
            <a:avLst/>
          </a:prstGeom>
          <a:noFill/>
          <a:ln/>
        </p:spPr>
        <p:txBody>
          <a:bodyPr wrap="square" lIns="0" tIns="0" rIns="0" bIns="0" rtlCol="0" anchor="ctr"/>
          <a:lstStyle/>
          <a:p>
            <a:pPr marL="0" indent="0">
              <a:buNone/>
            </a:pPr>
            <a:r>
              <a:rPr lang="en-US" sz="1100" b="1" dirty="0">
                <a:solidFill>
                  <a:srgbClr val="FBBF24"/>
                </a:solidFill>
                <a:latin typeface="Arial" pitchFamily="34" charset="0"/>
                <a:ea typeface="Arial" pitchFamily="34" charset="-122"/>
                <a:cs typeface="Arial" pitchFamily="34" charset="-120"/>
              </a:rPr>
              <a:t>Gündelik hayatta: </a:t>
            </a:r>
            <a:r>
              <a:rPr lang="en-US" sz="1100" dirty="0">
                <a:solidFill>
                  <a:srgbClr val="EEF0F8"/>
                </a:solidFill>
                <a:latin typeface="Arial" pitchFamily="34" charset="0"/>
                <a:ea typeface="Arial" pitchFamily="34" charset="-122"/>
                <a:cs typeface="Arial" pitchFamily="34" charset="-120"/>
              </a:rPr>
              <a:t>kargo kutusu: ürün (content), köpük dolgu (padding), karton (border), raftaki diğer kutulardan uzaklık (margin).</a:t>
            </a:r>
            <a:endParaRPr lang="en-US" sz="1100" dirty="0"/>
          </a:p>
        </p:txBody>
      </p:sp>
    </p:spTree>
  </p:cSld>
  <p:clrMapOvr>
    <a:masterClrMapping/>
  </p:clrMapOvr>
  <p:transition spd="med">
    <p:pull/>
  </p:transition>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256032"/>
            <a:ext cx="4572000" cy="201168"/>
          </a:xfrm>
          <a:prstGeom prst="rect">
            <a:avLst/>
          </a:prstGeom>
          <a:noFill/>
          <a:ln/>
        </p:spPr>
        <p:txBody>
          <a:bodyPr wrap="square" lIns="0" tIns="0" rIns="0" bIns="0" rtlCol="0" anchor="t"/>
          <a:lstStyle/>
          <a:p>
            <a:pPr marL="0" indent="0">
              <a:buNone/>
            </a:pPr>
            <a:r>
              <a:rPr lang="en-US" sz="900" b="1" kern="0" spc="200" dirty="0">
                <a:solidFill>
                  <a:srgbClr val="22D3EE"/>
                </a:solidFill>
                <a:latin typeface="Arial" pitchFamily="34" charset="0"/>
                <a:ea typeface="Arial" pitchFamily="34" charset="-122"/>
                <a:cs typeface="Arial" pitchFamily="34" charset="-120"/>
              </a:rPr>
              <a:t>MODÜL 1 · CSS TEMELLERİ</a:t>
            </a:r>
            <a:endParaRPr lang="en-US" sz="900" dirty="0"/>
          </a:p>
        </p:txBody>
      </p:sp>
      <p:sp>
        <p:nvSpPr>
          <p:cNvPr id="3" name="mini-box-0"/>
          <p:cNvSpPr/>
          <p:nvPr/>
        </p:nvSpPr>
        <p:spPr>
          <a:xfrm>
            <a:off x="8229600" y="201168"/>
            <a:ext cx="384048" cy="384048"/>
          </a:xfrm>
          <a:prstGeom prst="rect">
            <a:avLst/>
          </a:prstGeom>
          <a:ln w="9525">
            <a:solidFill>
              <a:srgbClr val="22D3EE"/>
            </a:solidFill>
            <a:prstDash val="solid"/>
          </a:ln>
        </p:spPr>
      </p:sp>
      <p:sp>
        <p:nvSpPr>
          <p:cNvPr id="4" name="mini-box-1"/>
          <p:cNvSpPr/>
          <p:nvPr/>
        </p:nvSpPr>
        <p:spPr>
          <a:xfrm>
            <a:off x="8293608" y="265176"/>
            <a:ext cx="256032" cy="256032"/>
          </a:xfrm>
          <a:prstGeom prst="rect">
            <a:avLst/>
          </a:prstGeom>
          <a:ln w="9525">
            <a:solidFill>
              <a:srgbClr val="EEF0F8"/>
            </a:solidFill>
            <a:prstDash val="solid"/>
          </a:ln>
        </p:spPr>
      </p:sp>
      <p:sp>
        <p:nvSpPr>
          <p:cNvPr id="5" name="mini-box-2"/>
          <p:cNvSpPr/>
          <p:nvPr/>
        </p:nvSpPr>
        <p:spPr>
          <a:xfrm>
            <a:off x="8348472" y="320040"/>
            <a:ext cx="146304" cy="146304"/>
          </a:xfrm>
          <a:prstGeom prst="rect">
            <a:avLst/>
          </a:prstGeom>
          <a:solidFill>
            <a:srgbClr val="22D3EE"/>
          </a:solidFill>
          <a:ln w="9525">
            <a:solidFill>
              <a:srgbClr val="22D3EE"/>
            </a:solidFill>
            <a:prstDash val="solid"/>
          </a:ln>
        </p:spPr>
      </p:sp>
      <p:sp>
        <p:nvSpPr>
          <p:cNvPr id="6" name="ilerleme-zemin"/>
          <p:cNvSpPr/>
          <p:nvPr/>
        </p:nvSpPr>
        <p:spPr>
          <a:xfrm>
            <a:off x="0" y="5070348"/>
            <a:ext cx="9144000" cy="73152"/>
          </a:xfrm>
          <a:prstGeom prst="rect">
            <a:avLst/>
          </a:prstGeom>
          <a:solidFill>
            <a:srgbClr val="1A2044"/>
          </a:solidFill>
          <a:ln/>
        </p:spPr>
      </p:sp>
      <p:sp>
        <p:nvSpPr>
          <p:cNvPr id="7" name="ilerleme"/>
          <p:cNvSpPr/>
          <p:nvPr/>
        </p:nvSpPr>
        <p:spPr>
          <a:xfrm>
            <a:off x="0" y="5070348"/>
            <a:ext cx="2977116" cy="73152"/>
          </a:xfrm>
          <a:prstGeom prst="rect">
            <a:avLst/>
          </a:prstGeom>
          <a:solidFill>
            <a:srgbClr val="22D3EE"/>
          </a:solidFill>
          <a:ln/>
        </p:spPr>
      </p:sp>
      <p:sp>
        <p:nvSpPr>
          <p:cNvPr id="8" name="Text 6"/>
          <p:cNvSpPr txBox="1"/>
          <p:nvPr/>
        </p:nvSpPr>
        <p:spPr>
          <a:xfrm>
            <a:off x="548640" y="4791456"/>
            <a:ext cx="3657600" cy="201168"/>
          </a:xfrm>
          <a:prstGeom prst="rect">
            <a:avLst/>
          </a:prstGeom>
          <a:noFill/>
          <a:ln/>
        </p:spPr>
        <p:txBody>
          <a:bodyPr wrap="square" lIns="0" tIns="0" rIns="0" bIns="0" rtlCol="0" anchor="t"/>
          <a:lstStyle/>
          <a:p>
            <a:pPr marL="0" indent="0">
              <a:buNone/>
            </a:pPr>
            <a:r>
              <a:rPr lang="en-US" sz="850" dirty="0">
                <a:solidFill>
                  <a:srgbClr val="6C759E"/>
                </a:solidFill>
                <a:latin typeface="Arial" pitchFamily="34" charset="0"/>
                <a:ea typeface="Arial" pitchFamily="34" charset="-122"/>
                <a:cs typeface="Arial" pitchFamily="34" charset="-120"/>
              </a:rPr>
              <a:t>KCŞ A.Ş.  ·  CSS ile stil ve düzen</a:t>
            </a:r>
            <a:endParaRPr lang="en-US" sz="850" dirty="0"/>
          </a:p>
        </p:txBody>
      </p:sp>
      <p:sp>
        <p:nvSpPr>
          <p:cNvPr id="9" name="Text 7"/>
          <p:cNvSpPr txBox="1"/>
          <p:nvPr/>
        </p:nvSpPr>
        <p:spPr>
          <a:xfrm>
            <a:off x="4206240" y="4791456"/>
            <a:ext cx="3840480" cy="201168"/>
          </a:xfrm>
          <a:prstGeom prst="rect">
            <a:avLst/>
          </a:prstGeom>
          <a:noFill/>
          <a:ln/>
        </p:spPr>
        <p:txBody>
          <a:bodyPr wrap="square" lIns="0" tIns="0" rIns="0" bIns="0" rtlCol="0" anchor="t"/>
          <a:lstStyle/>
          <a:p>
            <a:pPr marL="0" indent="0" algn="r">
              <a:buNone/>
            </a:pPr>
            <a:r>
              <a:rPr lang="en-US" sz="850" dirty="0">
                <a:solidFill>
                  <a:srgbClr val="6C759E"/>
                </a:solidFill>
                <a:latin typeface="Arial" pitchFamily="34" charset="0"/>
                <a:ea typeface="Arial" pitchFamily="34" charset="-122"/>
                <a:cs typeface="Arial" pitchFamily="34" charset="-120"/>
              </a:rPr>
              <a:t>MDN · Handling conflicts</a:t>
            </a:r>
            <a:endParaRPr lang="en-US" sz="850" dirty="0"/>
          </a:p>
        </p:txBody>
      </p:sp>
      <p:sp>
        <p:nvSpPr>
          <p:cNvPr id="10" name="Text 8"/>
          <p:cNvSpPr txBox="1"/>
          <p:nvPr/>
        </p:nvSpPr>
        <p:spPr>
          <a:xfrm>
            <a:off x="8092440" y="4791456"/>
            <a:ext cx="685800" cy="201168"/>
          </a:xfrm>
          <a:prstGeom prst="rect">
            <a:avLst/>
          </a:prstGeom>
          <a:noFill/>
          <a:ln/>
        </p:spPr>
        <p:txBody>
          <a:bodyPr wrap="square" lIns="0" tIns="0" rIns="0" bIns="0" rtlCol="0" anchor="t"/>
          <a:lstStyle/>
          <a:p>
            <a:pPr marL="0" indent="0" algn="r">
              <a:buNone/>
            </a:pPr>
            <a:r>
              <a:rPr lang="en-US" sz="850" dirty="0">
                <a:solidFill>
                  <a:srgbClr val="9AA3C7"/>
                </a:solidFill>
                <a:latin typeface="Courier New" pitchFamily="34" charset="0"/>
                <a:ea typeface="Courier New" pitchFamily="34" charset="-122"/>
                <a:cs typeface="Courier New" pitchFamily="34" charset="-120"/>
              </a:rPr>
              <a:t>14 / 43</a:t>
            </a:r>
            <a:endParaRPr lang="en-US" sz="850" dirty="0"/>
          </a:p>
        </p:txBody>
      </p:sp>
      <p:sp>
        <p:nvSpPr>
          <p:cNvPr id="11" name="Text 9"/>
          <p:cNvSpPr txBox="1"/>
          <p:nvPr/>
        </p:nvSpPr>
        <p:spPr>
          <a:xfrm>
            <a:off x="548640" y="502920"/>
            <a:ext cx="5943600" cy="237744"/>
          </a:xfrm>
          <a:prstGeom prst="rect">
            <a:avLst/>
          </a:prstGeom>
          <a:noFill/>
          <a:ln/>
        </p:spPr>
        <p:txBody>
          <a:bodyPr wrap="square" lIns="0" tIns="0" rIns="0" bIns="0" rtlCol="0" anchor="t"/>
          <a:lstStyle/>
          <a:p>
            <a:pPr marL="0" indent="0">
              <a:buNone/>
            </a:pPr>
            <a:r>
              <a:rPr lang="en-US" sz="1100" b="1" dirty="0">
                <a:solidFill>
                  <a:srgbClr val="22D3EE"/>
                </a:solidFill>
                <a:latin typeface="Courier New" pitchFamily="34" charset="0"/>
                <a:ea typeface="Courier New" pitchFamily="34" charset="-122"/>
                <a:cs typeface="Courier New" pitchFamily="34" charset="-120"/>
              </a:rPr>
              <a:t>cascade · specificity · inheritance</a:t>
            </a:r>
            <a:endParaRPr lang="en-US" sz="1100" dirty="0"/>
          </a:p>
        </p:txBody>
      </p:sp>
      <p:sp>
        <p:nvSpPr>
          <p:cNvPr id="12" name="Text 10"/>
          <p:cNvSpPr txBox="1"/>
          <p:nvPr/>
        </p:nvSpPr>
        <p:spPr>
          <a:xfrm>
            <a:off x="548640" y="749808"/>
            <a:ext cx="7589520" cy="502920"/>
          </a:xfrm>
          <a:prstGeom prst="rect">
            <a:avLst/>
          </a:prstGeom>
          <a:noFill/>
          <a:ln/>
        </p:spPr>
        <p:txBody>
          <a:bodyPr wrap="square" lIns="0" tIns="0" rIns="0" bIns="0" rtlCol="0" anchor="ctr"/>
          <a:lstStyle/>
          <a:p>
            <a:pPr marL="0" indent="0">
              <a:buNone/>
            </a:pPr>
            <a:r>
              <a:rPr lang="en-US" sz="2400" b="1" dirty="0">
                <a:solidFill>
                  <a:srgbClr val="EEF0F8"/>
                </a:solidFill>
                <a:latin typeface="Arial" pitchFamily="34" charset="0"/>
                <a:ea typeface="Arial" pitchFamily="34" charset="-122"/>
                <a:cs typeface="Arial" pitchFamily="34" charset="-120"/>
              </a:rPr>
              <a:t>Çakışmalar 1: hangi kural kazanır?</a:t>
            </a:r>
            <a:endParaRPr lang="en-US" sz="2400" dirty="0"/>
          </a:p>
        </p:txBody>
      </p:sp>
      <p:sp>
        <p:nvSpPr>
          <p:cNvPr id="13" name="kart"/>
          <p:cNvSpPr/>
          <p:nvPr/>
        </p:nvSpPr>
        <p:spPr>
          <a:xfrm>
            <a:off x="548640" y="1371600"/>
            <a:ext cx="2587752" cy="1901952"/>
          </a:xfrm>
          <a:prstGeom prst="roundRect">
            <a:avLst>
              <a:gd name="adj" fmla="val 3846"/>
            </a:avLst>
          </a:prstGeom>
          <a:solidFill>
            <a:srgbClr val="1A2044"/>
          </a:solidFill>
          <a:ln w="9525">
            <a:solidFill>
              <a:srgbClr val="2E3768"/>
            </a:solidFill>
            <a:prstDash val="solid"/>
          </a:ln>
        </p:spPr>
      </p:sp>
      <p:sp>
        <p:nvSpPr>
          <p:cNvPr id="14" name="kart-nokta"/>
          <p:cNvSpPr/>
          <p:nvPr/>
        </p:nvSpPr>
        <p:spPr>
          <a:xfrm>
            <a:off x="694944" y="1527048"/>
            <a:ext cx="91440" cy="91440"/>
          </a:xfrm>
          <a:prstGeom prst="ellipse">
            <a:avLst/>
          </a:prstGeom>
          <a:solidFill>
            <a:srgbClr val="22D3EE"/>
          </a:solidFill>
          <a:ln/>
        </p:spPr>
      </p:sp>
      <p:sp>
        <p:nvSpPr>
          <p:cNvPr id="15" name="Text 13"/>
          <p:cNvSpPr txBox="1"/>
          <p:nvPr/>
        </p:nvSpPr>
        <p:spPr>
          <a:xfrm>
            <a:off x="859536" y="1444752"/>
            <a:ext cx="2176272" cy="274320"/>
          </a:xfrm>
          <a:prstGeom prst="rect">
            <a:avLst/>
          </a:prstGeom>
          <a:noFill/>
          <a:ln/>
        </p:spPr>
        <p:txBody>
          <a:bodyPr wrap="square" lIns="0" tIns="0" rIns="0" bIns="0" rtlCol="0" anchor="ctr"/>
          <a:lstStyle/>
          <a:p>
            <a:pPr marL="0" indent="0">
              <a:buNone/>
            </a:pPr>
            <a:r>
              <a:rPr lang="en-US" sz="1300" b="1" dirty="0">
                <a:solidFill>
                  <a:srgbClr val="EEF0F8"/>
                </a:solidFill>
                <a:latin typeface="Arial" pitchFamily="34" charset="0"/>
                <a:ea typeface="Arial" pitchFamily="34" charset="-122"/>
                <a:cs typeface="Arial" pitchFamily="34" charset="-120"/>
              </a:rPr>
              <a:t>Cascade (basamak)</a:t>
            </a:r>
            <a:endParaRPr lang="en-US" sz="1300" dirty="0"/>
          </a:p>
        </p:txBody>
      </p:sp>
      <p:sp>
        <p:nvSpPr>
          <p:cNvPr id="16" name="kod-paneli"/>
          <p:cNvSpPr/>
          <p:nvPr/>
        </p:nvSpPr>
        <p:spPr>
          <a:xfrm>
            <a:off x="676656" y="1719072"/>
            <a:ext cx="2331720" cy="658368"/>
          </a:xfrm>
          <a:prstGeom prst="roundRect">
            <a:avLst>
              <a:gd name="adj" fmla="val 11111"/>
            </a:avLst>
          </a:prstGeom>
          <a:solidFill>
            <a:srgbClr val="0A0D1F"/>
          </a:solidFill>
          <a:ln w="9525">
            <a:solidFill>
              <a:srgbClr val="2E3768"/>
            </a:solidFill>
            <a:prstDash val="solid"/>
          </a:ln>
        </p:spPr>
      </p:sp>
      <p:sp>
        <p:nvSpPr>
          <p:cNvPr id="17" name="Text 15"/>
          <p:cNvSpPr txBox="1"/>
          <p:nvPr/>
        </p:nvSpPr>
        <p:spPr>
          <a:xfrm>
            <a:off x="822960" y="1828800"/>
            <a:ext cx="2057400" cy="457200"/>
          </a:xfrm>
          <a:prstGeom prst="rect">
            <a:avLst/>
          </a:prstGeom>
          <a:noFill/>
          <a:ln/>
        </p:spPr>
        <p:txBody>
          <a:bodyPr wrap="square" lIns="0" tIns="0" rIns="0" bIns="0" rtlCol="0" anchor="ctr"/>
          <a:lstStyle/>
          <a:p>
            <a:pPr marL="0" indent="0">
              <a:buNone/>
            </a:pPr>
            <a:r>
              <a:rPr lang="en-US" sz="850" dirty="0">
                <a:solidFill>
                  <a:srgbClr val="F472B6"/>
                </a:solidFill>
                <a:latin typeface="Courier New" pitchFamily="34" charset="0"/>
                <a:ea typeface="Courier New" pitchFamily="34" charset="-122"/>
                <a:cs typeface="Courier New" pitchFamily="34" charset="-120"/>
              </a:rPr>
              <a:t>h1 </a:t>
            </a:r>
            <a:r>
              <a:rPr lang="en-US" sz="850" dirty="0">
                <a:solidFill>
                  <a:srgbClr val="6C759E"/>
                </a:solidFill>
                <a:latin typeface="Courier New" pitchFamily="34" charset="0"/>
                <a:ea typeface="Courier New" pitchFamily="34" charset="-122"/>
                <a:cs typeface="Courier New" pitchFamily="34" charset="-120"/>
              </a:rPr>
              <a:t>{ </a:t>
            </a:r>
            <a:r>
              <a:rPr lang="en-US" sz="850" dirty="0">
                <a:solidFill>
                  <a:srgbClr val="22D3EE"/>
                </a:solidFill>
                <a:latin typeface="Courier New" pitchFamily="34" charset="0"/>
                <a:ea typeface="Courier New" pitchFamily="34" charset="-122"/>
                <a:cs typeface="Courier New" pitchFamily="34" charset="-120"/>
              </a:rPr>
              <a:t>color</a:t>
            </a:r>
            <a:r>
              <a:rPr lang="en-US" sz="850" dirty="0">
                <a:solidFill>
                  <a:srgbClr val="6C759E"/>
                </a:solidFill>
                <a:latin typeface="Courier New" pitchFamily="34" charset="0"/>
                <a:ea typeface="Courier New" pitchFamily="34" charset="-122"/>
                <a:cs typeface="Courier New" pitchFamily="34" charset="-120"/>
              </a:rPr>
              <a:t>: </a:t>
            </a:r>
            <a:r>
              <a:rPr lang="en-US" sz="850" dirty="0">
                <a:solidFill>
                  <a:srgbClr val="FBBF24"/>
                </a:solidFill>
                <a:latin typeface="Courier New" pitchFamily="34" charset="0"/>
                <a:ea typeface="Courier New" pitchFamily="34" charset="-122"/>
                <a:cs typeface="Courier New" pitchFamily="34" charset="-120"/>
              </a:rPr>
              <a:t>red</a:t>
            </a:r>
            <a:r>
              <a:rPr lang="en-US" sz="850" dirty="0">
                <a:solidFill>
                  <a:srgbClr val="6C759E"/>
                </a:solidFill>
                <a:latin typeface="Courier New" pitchFamily="34" charset="0"/>
                <a:ea typeface="Courier New" pitchFamily="34" charset="-122"/>
                <a:cs typeface="Courier New" pitchFamily="34" charset="-120"/>
              </a:rPr>
              <a:t>; }</a:t>
            </a:r>
            <a:endParaRPr lang="en-US" sz="850" dirty="0"/>
          </a:p>
          <a:p>
            <a:pPr marL="0" indent="0">
              <a:buNone/>
            </a:pPr>
            <a:r>
              <a:rPr lang="en-US" sz="850" dirty="0">
                <a:solidFill>
                  <a:srgbClr val="F472B6"/>
                </a:solidFill>
                <a:latin typeface="Courier New" pitchFamily="34" charset="0"/>
                <a:ea typeface="Courier New" pitchFamily="34" charset="-122"/>
                <a:cs typeface="Courier New" pitchFamily="34" charset="-120"/>
              </a:rPr>
              <a:t>h1 </a:t>
            </a:r>
            <a:r>
              <a:rPr lang="en-US" sz="850" dirty="0">
                <a:solidFill>
                  <a:srgbClr val="6C759E"/>
                </a:solidFill>
                <a:latin typeface="Courier New" pitchFamily="34" charset="0"/>
                <a:ea typeface="Courier New" pitchFamily="34" charset="-122"/>
                <a:cs typeface="Courier New" pitchFamily="34" charset="-120"/>
              </a:rPr>
              <a:t>{ </a:t>
            </a:r>
            <a:r>
              <a:rPr lang="en-US" sz="850" dirty="0">
                <a:solidFill>
                  <a:srgbClr val="22D3EE"/>
                </a:solidFill>
                <a:latin typeface="Courier New" pitchFamily="34" charset="0"/>
                <a:ea typeface="Courier New" pitchFamily="34" charset="-122"/>
                <a:cs typeface="Courier New" pitchFamily="34" charset="-120"/>
              </a:rPr>
              <a:t>color</a:t>
            </a:r>
            <a:r>
              <a:rPr lang="en-US" sz="850" dirty="0">
                <a:solidFill>
                  <a:srgbClr val="6C759E"/>
                </a:solidFill>
                <a:latin typeface="Courier New" pitchFamily="34" charset="0"/>
                <a:ea typeface="Courier New" pitchFamily="34" charset="-122"/>
                <a:cs typeface="Courier New" pitchFamily="34" charset="-120"/>
              </a:rPr>
              <a:t>: </a:t>
            </a:r>
            <a:r>
              <a:rPr lang="en-US" sz="850" dirty="0">
                <a:solidFill>
                  <a:srgbClr val="FBBF24"/>
                </a:solidFill>
                <a:latin typeface="Courier New" pitchFamily="34" charset="0"/>
                <a:ea typeface="Courier New" pitchFamily="34" charset="-122"/>
                <a:cs typeface="Courier New" pitchFamily="34" charset="-120"/>
              </a:rPr>
              <a:t>blue</a:t>
            </a:r>
            <a:r>
              <a:rPr lang="en-US" sz="850" dirty="0">
                <a:solidFill>
                  <a:srgbClr val="6C759E"/>
                </a:solidFill>
                <a:latin typeface="Courier New" pitchFamily="34" charset="0"/>
                <a:ea typeface="Courier New" pitchFamily="34" charset="-122"/>
                <a:cs typeface="Courier New" pitchFamily="34" charset="-120"/>
              </a:rPr>
              <a:t>; }</a:t>
            </a:r>
            <a:endParaRPr lang="en-US" sz="850" dirty="0"/>
          </a:p>
        </p:txBody>
      </p:sp>
      <p:sp>
        <p:nvSpPr>
          <p:cNvPr id="18" name="Text 16"/>
          <p:cNvSpPr txBox="1"/>
          <p:nvPr/>
        </p:nvSpPr>
        <p:spPr>
          <a:xfrm>
            <a:off x="694944" y="2450592"/>
            <a:ext cx="2304288" cy="786384"/>
          </a:xfrm>
          <a:prstGeom prst="rect">
            <a:avLst/>
          </a:prstGeom>
          <a:noFill/>
          <a:ln/>
        </p:spPr>
        <p:txBody>
          <a:bodyPr wrap="square" lIns="0" tIns="0" rIns="0" bIns="0" rtlCol="0" anchor="t"/>
          <a:lstStyle/>
          <a:p>
            <a:pPr marL="0" indent="0">
              <a:buNone/>
            </a:pPr>
            <a:r>
              <a:rPr lang="en-US" sz="1000" dirty="0">
                <a:solidFill>
                  <a:srgbClr val="9AA3C7"/>
                </a:solidFill>
                <a:latin typeface="Arial" pitchFamily="34" charset="0"/>
                <a:ea typeface="Arial" pitchFamily="34" charset="-122"/>
                <a:cs typeface="Arial" pitchFamily="34" charset="-120"/>
              </a:rPr>
              <a:t>Eşit güçteki kurallarda sonra yazılan kazanır → mavi.</a:t>
            </a:r>
            <a:endParaRPr lang="en-US" sz="1000" dirty="0"/>
          </a:p>
        </p:txBody>
      </p:sp>
      <p:sp>
        <p:nvSpPr>
          <p:cNvPr id="19" name="kart"/>
          <p:cNvSpPr/>
          <p:nvPr/>
        </p:nvSpPr>
        <p:spPr>
          <a:xfrm>
            <a:off x="3264408" y="1371600"/>
            <a:ext cx="2587752" cy="1901952"/>
          </a:xfrm>
          <a:prstGeom prst="roundRect">
            <a:avLst>
              <a:gd name="adj" fmla="val 3846"/>
            </a:avLst>
          </a:prstGeom>
          <a:solidFill>
            <a:srgbClr val="1A2044"/>
          </a:solidFill>
          <a:ln w="9525">
            <a:solidFill>
              <a:srgbClr val="2E3768"/>
            </a:solidFill>
            <a:prstDash val="solid"/>
          </a:ln>
        </p:spPr>
      </p:sp>
      <p:sp>
        <p:nvSpPr>
          <p:cNvPr id="20" name="kart-nokta"/>
          <p:cNvSpPr/>
          <p:nvPr/>
        </p:nvSpPr>
        <p:spPr>
          <a:xfrm>
            <a:off x="3410712" y="1527048"/>
            <a:ext cx="91440" cy="91440"/>
          </a:xfrm>
          <a:prstGeom prst="ellipse">
            <a:avLst/>
          </a:prstGeom>
          <a:solidFill>
            <a:srgbClr val="F472B6"/>
          </a:solidFill>
          <a:ln/>
        </p:spPr>
      </p:sp>
      <p:sp>
        <p:nvSpPr>
          <p:cNvPr id="21" name="Text 19"/>
          <p:cNvSpPr txBox="1"/>
          <p:nvPr/>
        </p:nvSpPr>
        <p:spPr>
          <a:xfrm>
            <a:off x="3575304" y="1444752"/>
            <a:ext cx="2176272" cy="274320"/>
          </a:xfrm>
          <a:prstGeom prst="rect">
            <a:avLst/>
          </a:prstGeom>
          <a:noFill/>
          <a:ln/>
        </p:spPr>
        <p:txBody>
          <a:bodyPr wrap="square" lIns="0" tIns="0" rIns="0" bIns="0" rtlCol="0" anchor="ctr"/>
          <a:lstStyle/>
          <a:p>
            <a:pPr marL="0" indent="0">
              <a:buNone/>
            </a:pPr>
            <a:r>
              <a:rPr lang="en-US" sz="1300" b="1" dirty="0">
                <a:solidFill>
                  <a:srgbClr val="EEF0F8"/>
                </a:solidFill>
                <a:latin typeface="Arial" pitchFamily="34" charset="0"/>
                <a:ea typeface="Arial" pitchFamily="34" charset="-122"/>
                <a:cs typeface="Arial" pitchFamily="34" charset="-120"/>
              </a:rPr>
              <a:t>Özgüllük</a:t>
            </a:r>
            <a:endParaRPr lang="en-US" sz="1300" dirty="0"/>
          </a:p>
        </p:txBody>
      </p:sp>
      <p:sp>
        <p:nvSpPr>
          <p:cNvPr id="22" name="kod-paneli"/>
          <p:cNvSpPr/>
          <p:nvPr/>
        </p:nvSpPr>
        <p:spPr>
          <a:xfrm>
            <a:off x="3392424" y="1719072"/>
            <a:ext cx="2331720" cy="658368"/>
          </a:xfrm>
          <a:prstGeom prst="roundRect">
            <a:avLst>
              <a:gd name="adj" fmla="val 11111"/>
            </a:avLst>
          </a:prstGeom>
          <a:solidFill>
            <a:srgbClr val="0A0D1F"/>
          </a:solidFill>
          <a:ln w="9525">
            <a:solidFill>
              <a:srgbClr val="2E3768"/>
            </a:solidFill>
            <a:prstDash val="solid"/>
          </a:ln>
        </p:spPr>
      </p:sp>
      <p:sp>
        <p:nvSpPr>
          <p:cNvPr id="23" name="Text 21"/>
          <p:cNvSpPr txBox="1"/>
          <p:nvPr/>
        </p:nvSpPr>
        <p:spPr>
          <a:xfrm>
            <a:off x="3538728" y="1828800"/>
            <a:ext cx="2057400" cy="457200"/>
          </a:xfrm>
          <a:prstGeom prst="rect">
            <a:avLst/>
          </a:prstGeom>
          <a:noFill/>
          <a:ln/>
        </p:spPr>
        <p:txBody>
          <a:bodyPr wrap="square" lIns="0" tIns="0" rIns="0" bIns="0" rtlCol="0" anchor="ctr"/>
          <a:lstStyle/>
          <a:p>
            <a:pPr marL="0" indent="0">
              <a:buNone/>
            </a:pPr>
            <a:r>
              <a:rPr lang="en-US" sz="850" dirty="0">
                <a:solidFill>
                  <a:srgbClr val="F472B6"/>
                </a:solidFill>
                <a:latin typeface="Courier New" pitchFamily="34" charset="0"/>
                <a:ea typeface="Courier New" pitchFamily="34" charset="-122"/>
                <a:cs typeface="Courier New" pitchFamily="34" charset="-120"/>
              </a:rPr>
              <a:t>.main-heading </a:t>
            </a:r>
            <a:r>
              <a:rPr lang="en-US" sz="850" dirty="0">
                <a:solidFill>
                  <a:srgbClr val="6C759E"/>
                </a:solidFill>
                <a:latin typeface="Courier New" pitchFamily="34" charset="0"/>
                <a:ea typeface="Courier New" pitchFamily="34" charset="-122"/>
                <a:cs typeface="Courier New" pitchFamily="34" charset="-120"/>
              </a:rPr>
              <a:t>{ </a:t>
            </a:r>
            <a:r>
              <a:rPr lang="en-US" sz="850" dirty="0">
                <a:solidFill>
                  <a:srgbClr val="22D3EE"/>
                </a:solidFill>
                <a:latin typeface="Courier New" pitchFamily="34" charset="0"/>
                <a:ea typeface="Courier New" pitchFamily="34" charset="-122"/>
                <a:cs typeface="Courier New" pitchFamily="34" charset="-120"/>
              </a:rPr>
              <a:t>color</a:t>
            </a:r>
            <a:r>
              <a:rPr lang="en-US" sz="850" dirty="0">
                <a:solidFill>
                  <a:srgbClr val="6C759E"/>
                </a:solidFill>
                <a:latin typeface="Courier New" pitchFamily="34" charset="0"/>
                <a:ea typeface="Courier New" pitchFamily="34" charset="-122"/>
                <a:cs typeface="Courier New" pitchFamily="34" charset="-120"/>
              </a:rPr>
              <a:t>: </a:t>
            </a:r>
            <a:r>
              <a:rPr lang="en-US" sz="850" dirty="0">
                <a:solidFill>
                  <a:srgbClr val="FBBF24"/>
                </a:solidFill>
                <a:latin typeface="Courier New" pitchFamily="34" charset="0"/>
                <a:ea typeface="Courier New" pitchFamily="34" charset="-122"/>
                <a:cs typeface="Courier New" pitchFamily="34" charset="-120"/>
              </a:rPr>
              <a:t>red</a:t>
            </a:r>
            <a:r>
              <a:rPr lang="en-US" sz="850" dirty="0">
                <a:solidFill>
                  <a:srgbClr val="6C759E"/>
                </a:solidFill>
                <a:latin typeface="Courier New" pitchFamily="34" charset="0"/>
                <a:ea typeface="Courier New" pitchFamily="34" charset="-122"/>
                <a:cs typeface="Courier New" pitchFamily="34" charset="-120"/>
              </a:rPr>
              <a:t>; }</a:t>
            </a:r>
            <a:endParaRPr lang="en-US" sz="850" dirty="0"/>
          </a:p>
          <a:p>
            <a:pPr marL="0" indent="0">
              <a:buNone/>
            </a:pPr>
            <a:r>
              <a:rPr lang="en-US" sz="850" dirty="0">
                <a:solidFill>
                  <a:srgbClr val="F472B6"/>
                </a:solidFill>
                <a:latin typeface="Courier New" pitchFamily="34" charset="0"/>
                <a:ea typeface="Courier New" pitchFamily="34" charset="-122"/>
                <a:cs typeface="Courier New" pitchFamily="34" charset="-120"/>
              </a:rPr>
              <a:t>h1 </a:t>
            </a:r>
            <a:r>
              <a:rPr lang="en-US" sz="850" dirty="0">
                <a:solidFill>
                  <a:srgbClr val="6C759E"/>
                </a:solidFill>
                <a:latin typeface="Courier New" pitchFamily="34" charset="0"/>
                <a:ea typeface="Courier New" pitchFamily="34" charset="-122"/>
                <a:cs typeface="Courier New" pitchFamily="34" charset="-120"/>
              </a:rPr>
              <a:t>{ </a:t>
            </a:r>
            <a:r>
              <a:rPr lang="en-US" sz="850" dirty="0">
                <a:solidFill>
                  <a:srgbClr val="22D3EE"/>
                </a:solidFill>
                <a:latin typeface="Courier New" pitchFamily="34" charset="0"/>
                <a:ea typeface="Courier New" pitchFamily="34" charset="-122"/>
                <a:cs typeface="Courier New" pitchFamily="34" charset="-120"/>
              </a:rPr>
              <a:t>color</a:t>
            </a:r>
            <a:r>
              <a:rPr lang="en-US" sz="850" dirty="0">
                <a:solidFill>
                  <a:srgbClr val="6C759E"/>
                </a:solidFill>
                <a:latin typeface="Courier New" pitchFamily="34" charset="0"/>
                <a:ea typeface="Courier New" pitchFamily="34" charset="-122"/>
                <a:cs typeface="Courier New" pitchFamily="34" charset="-120"/>
              </a:rPr>
              <a:t>: </a:t>
            </a:r>
            <a:r>
              <a:rPr lang="en-US" sz="850" dirty="0">
                <a:solidFill>
                  <a:srgbClr val="FBBF24"/>
                </a:solidFill>
                <a:latin typeface="Courier New" pitchFamily="34" charset="0"/>
                <a:ea typeface="Courier New" pitchFamily="34" charset="-122"/>
                <a:cs typeface="Courier New" pitchFamily="34" charset="-120"/>
              </a:rPr>
              <a:t>blue</a:t>
            </a:r>
            <a:r>
              <a:rPr lang="en-US" sz="850" dirty="0">
                <a:solidFill>
                  <a:srgbClr val="6C759E"/>
                </a:solidFill>
                <a:latin typeface="Courier New" pitchFamily="34" charset="0"/>
                <a:ea typeface="Courier New" pitchFamily="34" charset="-122"/>
                <a:cs typeface="Courier New" pitchFamily="34" charset="-120"/>
              </a:rPr>
              <a:t>; }</a:t>
            </a:r>
            <a:endParaRPr lang="en-US" sz="850" dirty="0"/>
          </a:p>
        </p:txBody>
      </p:sp>
      <p:sp>
        <p:nvSpPr>
          <p:cNvPr id="24" name="Text 22"/>
          <p:cNvSpPr txBox="1"/>
          <p:nvPr/>
        </p:nvSpPr>
        <p:spPr>
          <a:xfrm>
            <a:off x="3410712" y="2450592"/>
            <a:ext cx="2304288" cy="786384"/>
          </a:xfrm>
          <a:prstGeom prst="rect">
            <a:avLst/>
          </a:prstGeom>
          <a:noFill/>
          <a:ln/>
        </p:spPr>
        <p:txBody>
          <a:bodyPr wrap="square" lIns="0" tIns="0" rIns="0" bIns="0" rtlCol="0" anchor="t"/>
          <a:lstStyle/>
          <a:p>
            <a:pPr marL="0" indent="0">
              <a:buNone/>
            </a:pPr>
            <a:r>
              <a:rPr lang="en-US" sz="1000" dirty="0">
                <a:solidFill>
                  <a:srgbClr val="9AA3C7"/>
                </a:solidFill>
                <a:latin typeface="Arial" pitchFamily="34" charset="0"/>
                <a:ea typeface="Arial" pitchFamily="34" charset="-122"/>
                <a:cs typeface="Arial" pitchFamily="34" charset="-120"/>
              </a:rPr>
              <a:t>Daha isabetli seçici kazanır: sınıf &gt; tür → kırmızı.</a:t>
            </a:r>
            <a:endParaRPr lang="en-US" sz="1000" dirty="0"/>
          </a:p>
        </p:txBody>
      </p:sp>
      <p:sp>
        <p:nvSpPr>
          <p:cNvPr id="25" name="kart"/>
          <p:cNvSpPr/>
          <p:nvPr/>
        </p:nvSpPr>
        <p:spPr>
          <a:xfrm>
            <a:off x="5980176" y="1371600"/>
            <a:ext cx="2587752" cy="1901952"/>
          </a:xfrm>
          <a:prstGeom prst="roundRect">
            <a:avLst>
              <a:gd name="adj" fmla="val 3846"/>
            </a:avLst>
          </a:prstGeom>
          <a:solidFill>
            <a:srgbClr val="1A2044"/>
          </a:solidFill>
          <a:ln w="9525">
            <a:solidFill>
              <a:srgbClr val="2E3768"/>
            </a:solidFill>
            <a:prstDash val="solid"/>
          </a:ln>
        </p:spPr>
      </p:sp>
      <p:sp>
        <p:nvSpPr>
          <p:cNvPr id="26" name="kart-nokta"/>
          <p:cNvSpPr/>
          <p:nvPr/>
        </p:nvSpPr>
        <p:spPr>
          <a:xfrm>
            <a:off x="6126480" y="1527048"/>
            <a:ext cx="91440" cy="91440"/>
          </a:xfrm>
          <a:prstGeom prst="ellipse">
            <a:avLst/>
          </a:prstGeom>
          <a:solidFill>
            <a:srgbClr val="A3E635"/>
          </a:solidFill>
          <a:ln/>
        </p:spPr>
      </p:sp>
      <p:sp>
        <p:nvSpPr>
          <p:cNvPr id="27" name="Text 25"/>
          <p:cNvSpPr txBox="1"/>
          <p:nvPr/>
        </p:nvSpPr>
        <p:spPr>
          <a:xfrm>
            <a:off x="6291072" y="1444752"/>
            <a:ext cx="2176272" cy="274320"/>
          </a:xfrm>
          <a:prstGeom prst="rect">
            <a:avLst/>
          </a:prstGeom>
          <a:noFill/>
          <a:ln/>
        </p:spPr>
        <p:txBody>
          <a:bodyPr wrap="square" lIns="0" tIns="0" rIns="0" bIns="0" rtlCol="0" anchor="ctr"/>
          <a:lstStyle/>
          <a:p>
            <a:pPr marL="0" indent="0">
              <a:buNone/>
            </a:pPr>
            <a:r>
              <a:rPr lang="en-US" sz="1300" b="1" dirty="0">
                <a:solidFill>
                  <a:srgbClr val="EEF0F8"/>
                </a:solidFill>
                <a:latin typeface="Arial" pitchFamily="34" charset="0"/>
                <a:ea typeface="Arial" pitchFamily="34" charset="-122"/>
                <a:cs typeface="Arial" pitchFamily="34" charset="-120"/>
              </a:rPr>
              <a:t>Kalıtım</a:t>
            </a:r>
            <a:endParaRPr lang="en-US" sz="1300" dirty="0"/>
          </a:p>
        </p:txBody>
      </p:sp>
      <p:sp>
        <p:nvSpPr>
          <p:cNvPr id="28" name="kod-paneli"/>
          <p:cNvSpPr/>
          <p:nvPr/>
        </p:nvSpPr>
        <p:spPr>
          <a:xfrm>
            <a:off x="6108192" y="1719072"/>
            <a:ext cx="2331720" cy="658368"/>
          </a:xfrm>
          <a:prstGeom prst="roundRect">
            <a:avLst>
              <a:gd name="adj" fmla="val 11111"/>
            </a:avLst>
          </a:prstGeom>
          <a:solidFill>
            <a:srgbClr val="0A0D1F"/>
          </a:solidFill>
          <a:ln w="9525">
            <a:solidFill>
              <a:srgbClr val="2E3768"/>
            </a:solidFill>
            <a:prstDash val="solid"/>
          </a:ln>
        </p:spPr>
      </p:sp>
      <p:sp>
        <p:nvSpPr>
          <p:cNvPr id="29" name="Text 27"/>
          <p:cNvSpPr txBox="1"/>
          <p:nvPr/>
        </p:nvSpPr>
        <p:spPr>
          <a:xfrm>
            <a:off x="6254496" y="1828800"/>
            <a:ext cx="2057400" cy="457200"/>
          </a:xfrm>
          <a:prstGeom prst="rect">
            <a:avLst/>
          </a:prstGeom>
          <a:noFill/>
          <a:ln/>
        </p:spPr>
        <p:txBody>
          <a:bodyPr wrap="square" lIns="0" tIns="0" rIns="0" bIns="0" rtlCol="0" anchor="ctr"/>
          <a:lstStyle/>
          <a:p>
            <a:pPr marL="0" indent="0">
              <a:buNone/>
            </a:pPr>
            <a:r>
              <a:rPr lang="en-US" sz="850" dirty="0">
                <a:solidFill>
                  <a:srgbClr val="F472B6"/>
                </a:solidFill>
                <a:latin typeface="Courier New" pitchFamily="34" charset="0"/>
                <a:ea typeface="Courier New" pitchFamily="34" charset="-122"/>
                <a:cs typeface="Courier New" pitchFamily="34" charset="-120"/>
              </a:rPr>
              <a:t>body </a:t>
            </a:r>
            <a:r>
              <a:rPr lang="en-US" sz="850" dirty="0">
                <a:solidFill>
                  <a:srgbClr val="6C759E"/>
                </a:solidFill>
                <a:latin typeface="Courier New" pitchFamily="34" charset="0"/>
                <a:ea typeface="Courier New" pitchFamily="34" charset="-122"/>
                <a:cs typeface="Courier New" pitchFamily="34" charset="-120"/>
              </a:rPr>
              <a:t>{ </a:t>
            </a:r>
            <a:r>
              <a:rPr lang="en-US" sz="850" dirty="0">
                <a:solidFill>
                  <a:srgbClr val="22D3EE"/>
                </a:solidFill>
                <a:latin typeface="Courier New" pitchFamily="34" charset="0"/>
                <a:ea typeface="Courier New" pitchFamily="34" charset="-122"/>
                <a:cs typeface="Courier New" pitchFamily="34" charset="-120"/>
              </a:rPr>
              <a:t>color</a:t>
            </a:r>
            <a:r>
              <a:rPr lang="en-US" sz="850" dirty="0">
                <a:solidFill>
                  <a:srgbClr val="6C759E"/>
                </a:solidFill>
                <a:latin typeface="Courier New" pitchFamily="34" charset="0"/>
                <a:ea typeface="Courier New" pitchFamily="34" charset="-122"/>
                <a:cs typeface="Courier New" pitchFamily="34" charset="-120"/>
              </a:rPr>
              <a:t>: </a:t>
            </a:r>
            <a:r>
              <a:rPr lang="en-US" sz="850" dirty="0">
                <a:solidFill>
                  <a:srgbClr val="FBBF24"/>
                </a:solidFill>
                <a:latin typeface="Courier New" pitchFamily="34" charset="0"/>
                <a:ea typeface="Courier New" pitchFamily="34" charset="-122"/>
                <a:cs typeface="Courier New" pitchFamily="34" charset="-120"/>
              </a:rPr>
              <a:t>blue</a:t>
            </a:r>
            <a:r>
              <a:rPr lang="en-US" sz="850" dirty="0">
                <a:solidFill>
                  <a:srgbClr val="6C759E"/>
                </a:solidFill>
                <a:latin typeface="Courier New" pitchFamily="34" charset="0"/>
                <a:ea typeface="Courier New" pitchFamily="34" charset="-122"/>
                <a:cs typeface="Courier New" pitchFamily="34" charset="-120"/>
              </a:rPr>
              <a:t>; }</a:t>
            </a:r>
            <a:endParaRPr lang="en-US" sz="850" dirty="0"/>
          </a:p>
          <a:p>
            <a:pPr marL="0" indent="0">
              <a:buNone/>
            </a:pPr>
            <a:r>
              <a:rPr lang="en-US" sz="850" dirty="0">
                <a:solidFill>
                  <a:srgbClr val="F472B6"/>
                </a:solidFill>
                <a:latin typeface="Courier New" pitchFamily="34" charset="0"/>
                <a:ea typeface="Courier New" pitchFamily="34" charset="-122"/>
                <a:cs typeface="Courier New" pitchFamily="34" charset="-120"/>
              </a:rPr>
              <a:t>span </a:t>
            </a:r>
            <a:r>
              <a:rPr lang="en-US" sz="850" dirty="0">
                <a:solidFill>
                  <a:srgbClr val="6C759E"/>
                </a:solidFill>
                <a:latin typeface="Courier New" pitchFamily="34" charset="0"/>
                <a:ea typeface="Courier New" pitchFamily="34" charset="-122"/>
                <a:cs typeface="Courier New" pitchFamily="34" charset="-120"/>
              </a:rPr>
              <a:t>{ </a:t>
            </a:r>
            <a:r>
              <a:rPr lang="en-US" sz="850" dirty="0">
                <a:solidFill>
                  <a:srgbClr val="22D3EE"/>
                </a:solidFill>
                <a:latin typeface="Courier New" pitchFamily="34" charset="0"/>
                <a:ea typeface="Courier New" pitchFamily="34" charset="-122"/>
                <a:cs typeface="Courier New" pitchFamily="34" charset="-120"/>
              </a:rPr>
              <a:t>color</a:t>
            </a:r>
            <a:r>
              <a:rPr lang="en-US" sz="850" dirty="0">
                <a:solidFill>
                  <a:srgbClr val="6C759E"/>
                </a:solidFill>
                <a:latin typeface="Courier New" pitchFamily="34" charset="0"/>
                <a:ea typeface="Courier New" pitchFamily="34" charset="-122"/>
                <a:cs typeface="Courier New" pitchFamily="34" charset="-120"/>
              </a:rPr>
              <a:t>: </a:t>
            </a:r>
            <a:r>
              <a:rPr lang="en-US" sz="850" dirty="0">
                <a:solidFill>
                  <a:srgbClr val="FBBF24"/>
                </a:solidFill>
                <a:latin typeface="Courier New" pitchFamily="34" charset="0"/>
                <a:ea typeface="Courier New" pitchFamily="34" charset="-122"/>
                <a:cs typeface="Courier New" pitchFamily="34" charset="-120"/>
              </a:rPr>
              <a:t>black</a:t>
            </a:r>
            <a:r>
              <a:rPr lang="en-US" sz="850" dirty="0">
                <a:solidFill>
                  <a:srgbClr val="6C759E"/>
                </a:solidFill>
                <a:latin typeface="Courier New" pitchFamily="34" charset="0"/>
                <a:ea typeface="Courier New" pitchFamily="34" charset="-122"/>
                <a:cs typeface="Courier New" pitchFamily="34" charset="-120"/>
              </a:rPr>
              <a:t>; }</a:t>
            </a:r>
            <a:endParaRPr lang="en-US" sz="850" dirty="0"/>
          </a:p>
        </p:txBody>
      </p:sp>
      <p:sp>
        <p:nvSpPr>
          <p:cNvPr id="30" name="Text 28"/>
          <p:cNvSpPr txBox="1"/>
          <p:nvPr/>
        </p:nvSpPr>
        <p:spPr>
          <a:xfrm>
            <a:off x="6126480" y="2450592"/>
            <a:ext cx="2304288" cy="786384"/>
          </a:xfrm>
          <a:prstGeom prst="rect">
            <a:avLst/>
          </a:prstGeom>
          <a:noFill/>
          <a:ln/>
        </p:spPr>
        <p:txBody>
          <a:bodyPr wrap="square" lIns="0" tIns="0" rIns="0" bIns="0" rtlCol="0" anchor="t"/>
          <a:lstStyle/>
          <a:p>
            <a:pPr marL="0" indent="0">
              <a:buNone/>
            </a:pPr>
            <a:r>
              <a:rPr lang="en-US" sz="1000" dirty="0">
                <a:solidFill>
                  <a:srgbClr val="9AA3C7"/>
                </a:solidFill>
                <a:latin typeface="Arial" pitchFamily="34" charset="0"/>
                <a:ea typeface="Arial" pitchFamily="34" charset="-122"/>
                <a:cs typeface="Arial" pitchFamily="34" charset="-120"/>
              </a:rPr>
              <a:t>color, font-family gibi özellikler çocuklara geçer; width, margin, border geçmez.</a:t>
            </a:r>
            <a:endParaRPr lang="en-US" sz="1000" dirty="0"/>
          </a:p>
        </p:txBody>
      </p:sp>
      <p:sp>
        <p:nvSpPr>
          <p:cNvPr id="31" name="kalitim-degerleri"/>
          <p:cNvSpPr/>
          <p:nvPr/>
        </p:nvSpPr>
        <p:spPr>
          <a:xfrm>
            <a:off x="548640" y="3383280"/>
            <a:ext cx="8046720" cy="731520"/>
          </a:xfrm>
          <a:prstGeom prst="roundRect">
            <a:avLst>
              <a:gd name="adj" fmla="val 7500"/>
            </a:avLst>
          </a:prstGeom>
          <a:solidFill>
            <a:srgbClr val="232A55"/>
          </a:solidFill>
          <a:ln/>
        </p:spPr>
      </p:sp>
      <p:sp>
        <p:nvSpPr>
          <p:cNvPr id="32" name="Text 30"/>
          <p:cNvSpPr txBox="1"/>
          <p:nvPr/>
        </p:nvSpPr>
        <p:spPr>
          <a:xfrm>
            <a:off x="713232" y="3401568"/>
            <a:ext cx="1463040" cy="274320"/>
          </a:xfrm>
          <a:prstGeom prst="rect">
            <a:avLst/>
          </a:prstGeom>
          <a:noFill/>
          <a:ln/>
        </p:spPr>
        <p:txBody>
          <a:bodyPr wrap="square" lIns="0" tIns="0" rIns="0" bIns="0" rtlCol="0" anchor="t"/>
          <a:lstStyle/>
          <a:p>
            <a:pPr marL="0" indent="0">
              <a:buNone/>
            </a:pPr>
            <a:r>
              <a:rPr lang="en-US" sz="1100" b="1" dirty="0">
                <a:solidFill>
                  <a:srgbClr val="FBBF24"/>
                </a:solidFill>
                <a:latin typeface="Arial" pitchFamily="34" charset="0"/>
                <a:ea typeface="Arial" pitchFamily="34" charset="-122"/>
                <a:cs typeface="Arial" pitchFamily="34" charset="-120"/>
              </a:rPr>
              <a:t>Kalıtımı yönet:</a:t>
            </a:r>
            <a:endParaRPr lang="en-US" sz="1100" dirty="0"/>
          </a:p>
        </p:txBody>
      </p:sp>
      <p:sp>
        <p:nvSpPr>
          <p:cNvPr id="33" name="Text 31"/>
          <p:cNvSpPr txBox="1"/>
          <p:nvPr/>
        </p:nvSpPr>
        <p:spPr>
          <a:xfrm>
            <a:off x="713232" y="3685032"/>
            <a:ext cx="1463040" cy="256032"/>
          </a:xfrm>
          <a:prstGeom prst="roundRect">
            <a:avLst>
              <a:gd name="adj" fmla="val 42857"/>
            </a:avLst>
          </a:prstGeom>
          <a:solidFill>
            <a:srgbClr val="10142B"/>
          </a:solidFill>
          <a:ln w="12700">
            <a:solidFill>
              <a:srgbClr val="FBBF24"/>
            </a:solidFill>
          </a:ln>
        </p:spPr>
        <p:txBody>
          <a:bodyPr wrap="square" lIns="0" tIns="0" rIns="0" bIns="0" rtlCol="0" anchor="ctr"/>
          <a:lstStyle/>
          <a:p>
            <a:pPr marL="0" indent="0" algn="ctr">
              <a:buNone/>
            </a:pPr>
            <a:r>
              <a:rPr lang="en-US" sz="950" b="1" dirty="0">
                <a:solidFill>
                  <a:srgbClr val="FBBF24"/>
                </a:solidFill>
                <a:latin typeface="Courier New" pitchFamily="34" charset="0"/>
                <a:ea typeface="Courier New" pitchFamily="34" charset="-122"/>
                <a:cs typeface="Courier New" pitchFamily="34" charset="-120"/>
              </a:rPr>
              <a:t>inherit</a:t>
            </a:r>
            <a:endParaRPr lang="en-US" sz="950" dirty="0"/>
          </a:p>
        </p:txBody>
      </p:sp>
      <p:sp>
        <p:nvSpPr>
          <p:cNvPr id="34" name="Text 32"/>
          <p:cNvSpPr txBox="1"/>
          <p:nvPr/>
        </p:nvSpPr>
        <p:spPr>
          <a:xfrm>
            <a:off x="713232" y="3931920"/>
            <a:ext cx="1463040" cy="164592"/>
          </a:xfrm>
          <a:prstGeom prst="rect">
            <a:avLst/>
          </a:prstGeom>
          <a:noFill/>
          <a:ln/>
        </p:spPr>
        <p:txBody>
          <a:bodyPr wrap="square" lIns="0" tIns="0" rIns="0" bIns="0" rtlCol="0" anchor="t"/>
          <a:lstStyle/>
          <a:p>
            <a:pPr marL="0" indent="0" algn="ctr">
              <a:buNone/>
            </a:pPr>
            <a:r>
              <a:rPr lang="en-US" sz="850" dirty="0">
                <a:solidFill>
                  <a:srgbClr val="9AA3C7"/>
                </a:solidFill>
                <a:latin typeface="Arial" pitchFamily="34" charset="0"/>
                <a:ea typeface="Arial" pitchFamily="34" charset="-122"/>
                <a:cs typeface="Arial" pitchFamily="34" charset="-120"/>
              </a:rPr>
              <a:t>ebeveynden al</a:t>
            </a:r>
            <a:endParaRPr lang="en-US" sz="850" dirty="0"/>
          </a:p>
        </p:txBody>
      </p:sp>
      <p:sp>
        <p:nvSpPr>
          <p:cNvPr id="35" name="Text 33"/>
          <p:cNvSpPr txBox="1"/>
          <p:nvPr/>
        </p:nvSpPr>
        <p:spPr>
          <a:xfrm>
            <a:off x="2295144" y="3685032"/>
            <a:ext cx="1463040" cy="256032"/>
          </a:xfrm>
          <a:prstGeom prst="roundRect">
            <a:avLst>
              <a:gd name="adj" fmla="val 42857"/>
            </a:avLst>
          </a:prstGeom>
          <a:solidFill>
            <a:srgbClr val="10142B"/>
          </a:solidFill>
          <a:ln w="12700">
            <a:solidFill>
              <a:srgbClr val="FBBF24"/>
            </a:solidFill>
          </a:ln>
        </p:spPr>
        <p:txBody>
          <a:bodyPr wrap="square" lIns="0" tIns="0" rIns="0" bIns="0" rtlCol="0" anchor="ctr"/>
          <a:lstStyle/>
          <a:p>
            <a:pPr marL="0" indent="0" algn="ctr">
              <a:buNone/>
            </a:pPr>
            <a:r>
              <a:rPr lang="en-US" sz="950" b="1" dirty="0">
                <a:solidFill>
                  <a:srgbClr val="FBBF24"/>
                </a:solidFill>
                <a:latin typeface="Courier New" pitchFamily="34" charset="0"/>
                <a:ea typeface="Courier New" pitchFamily="34" charset="-122"/>
                <a:cs typeface="Courier New" pitchFamily="34" charset="-120"/>
              </a:rPr>
              <a:t>initial</a:t>
            </a:r>
            <a:endParaRPr lang="en-US" sz="950" dirty="0"/>
          </a:p>
        </p:txBody>
      </p:sp>
      <p:sp>
        <p:nvSpPr>
          <p:cNvPr id="36" name="Text 34"/>
          <p:cNvSpPr txBox="1"/>
          <p:nvPr/>
        </p:nvSpPr>
        <p:spPr>
          <a:xfrm>
            <a:off x="2295144" y="3931920"/>
            <a:ext cx="1463040" cy="164592"/>
          </a:xfrm>
          <a:prstGeom prst="rect">
            <a:avLst/>
          </a:prstGeom>
          <a:noFill/>
          <a:ln/>
        </p:spPr>
        <p:txBody>
          <a:bodyPr wrap="square" lIns="0" tIns="0" rIns="0" bIns="0" rtlCol="0" anchor="t"/>
          <a:lstStyle/>
          <a:p>
            <a:pPr marL="0" indent="0" algn="ctr">
              <a:buNone/>
            </a:pPr>
            <a:r>
              <a:rPr lang="en-US" sz="850" dirty="0">
                <a:solidFill>
                  <a:srgbClr val="9AA3C7"/>
                </a:solidFill>
                <a:latin typeface="Arial" pitchFamily="34" charset="0"/>
                <a:ea typeface="Arial" pitchFamily="34" charset="-122"/>
                <a:cs typeface="Arial" pitchFamily="34" charset="-120"/>
              </a:rPr>
              <a:t>ilk değer</a:t>
            </a:r>
            <a:endParaRPr lang="en-US" sz="850" dirty="0"/>
          </a:p>
        </p:txBody>
      </p:sp>
      <p:sp>
        <p:nvSpPr>
          <p:cNvPr id="37" name="Text 35"/>
          <p:cNvSpPr txBox="1"/>
          <p:nvPr/>
        </p:nvSpPr>
        <p:spPr>
          <a:xfrm>
            <a:off x="3877056" y="3685032"/>
            <a:ext cx="1463040" cy="256032"/>
          </a:xfrm>
          <a:prstGeom prst="roundRect">
            <a:avLst>
              <a:gd name="adj" fmla="val 42857"/>
            </a:avLst>
          </a:prstGeom>
          <a:solidFill>
            <a:srgbClr val="10142B"/>
          </a:solidFill>
          <a:ln w="12700">
            <a:solidFill>
              <a:srgbClr val="FBBF24"/>
            </a:solidFill>
          </a:ln>
        </p:spPr>
        <p:txBody>
          <a:bodyPr wrap="square" lIns="0" tIns="0" rIns="0" bIns="0" rtlCol="0" anchor="ctr"/>
          <a:lstStyle/>
          <a:p>
            <a:pPr marL="0" indent="0" algn="ctr">
              <a:buNone/>
            </a:pPr>
            <a:r>
              <a:rPr lang="en-US" sz="950" b="1" dirty="0">
                <a:solidFill>
                  <a:srgbClr val="FBBF24"/>
                </a:solidFill>
                <a:latin typeface="Courier New" pitchFamily="34" charset="0"/>
                <a:ea typeface="Courier New" pitchFamily="34" charset="-122"/>
                <a:cs typeface="Courier New" pitchFamily="34" charset="-120"/>
              </a:rPr>
              <a:t>unset</a:t>
            </a:r>
            <a:endParaRPr lang="en-US" sz="950" dirty="0"/>
          </a:p>
        </p:txBody>
      </p:sp>
      <p:sp>
        <p:nvSpPr>
          <p:cNvPr id="38" name="Text 36"/>
          <p:cNvSpPr txBox="1"/>
          <p:nvPr/>
        </p:nvSpPr>
        <p:spPr>
          <a:xfrm>
            <a:off x="3877056" y="3931920"/>
            <a:ext cx="1463040" cy="164592"/>
          </a:xfrm>
          <a:prstGeom prst="rect">
            <a:avLst/>
          </a:prstGeom>
          <a:noFill/>
          <a:ln/>
        </p:spPr>
        <p:txBody>
          <a:bodyPr wrap="square" lIns="0" tIns="0" rIns="0" bIns="0" rtlCol="0" anchor="t"/>
          <a:lstStyle/>
          <a:p>
            <a:pPr marL="0" indent="0" algn="ctr">
              <a:buNone/>
            </a:pPr>
            <a:r>
              <a:rPr lang="en-US" sz="850" dirty="0">
                <a:solidFill>
                  <a:srgbClr val="9AA3C7"/>
                </a:solidFill>
                <a:latin typeface="Arial" pitchFamily="34" charset="0"/>
                <a:ea typeface="Arial" pitchFamily="34" charset="-122"/>
                <a:cs typeface="Arial" pitchFamily="34" charset="-120"/>
              </a:rPr>
              <a:t>doğal davranış</a:t>
            </a:r>
            <a:endParaRPr lang="en-US" sz="850" dirty="0"/>
          </a:p>
        </p:txBody>
      </p:sp>
      <p:sp>
        <p:nvSpPr>
          <p:cNvPr id="39" name="Text 37"/>
          <p:cNvSpPr txBox="1"/>
          <p:nvPr/>
        </p:nvSpPr>
        <p:spPr>
          <a:xfrm>
            <a:off x="5458968" y="3685032"/>
            <a:ext cx="1463040" cy="256032"/>
          </a:xfrm>
          <a:prstGeom prst="roundRect">
            <a:avLst>
              <a:gd name="adj" fmla="val 42857"/>
            </a:avLst>
          </a:prstGeom>
          <a:solidFill>
            <a:srgbClr val="10142B"/>
          </a:solidFill>
          <a:ln w="12700">
            <a:solidFill>
              <a:srgbClr val="FBBF24"/>
            </a:solidFill>
          </a:ln>
        </p:spPr>
        <p:txBody>
          <a:bodyPr wrap="square" lIns="0" tIns="0" rIns="0" bIns="0" rtlCol="0" anchor="ctr"/>
          <a:lstStyle/>
          <a:p>
            <a:pPr marL="0" indent="0" algn="ctr">
              <a:buNone/>
            </a:pPr>
            <a:r>
              <a:rPr lang="en-US" sz="950" b="1" dirty="0">
                <a:solidFill>
                  <a:srgbClr val="FBBF24"/>
                </a:solidFill>
                <a:latin typeface="Courier New" pitchFamily="34" charset="0"/>
                <a:ea typeface="Courier New" pitchFamily="34" charset="-122"/>
                <a:cs typeface="Courier New" pitchFamily="34" charset="-120"/>
              </a:rPr>
              <a:t>revert</a:t>
            </a:r>
            <a:endParaRPr lang="en-US" sz="950" dirty="0"/>
          </a:p>
        </p:txBody>
      </p:sp>
      <p:sp>
        <p:nvSpPr>
          <p:cNvPr id="40" name="Text 38"/>
          <p:cNvSpPr txBox="1"/>
          <p:nvPr/>
        </p:nvSpPr>
        <p:spPr>
          <a:xfrm>
            <a:off x="5458968" y="3931920"/>
            <a:ext cx="1463040" cy="164592"/>
          </a:xfrm>
          <a:prstGeom prst="rect">
            <a:avLst/>
          </a:prstGeom>
          <a:noFill/>
          <a:ln/>
        </p:spPr>
        <p:txBody>
          <a:bodyPr wrap="square" lIns="0" tIns="0" rIns="0" bIns="0" rtlCol="0" anchor="t"/>
          <a:lstStyle/>
          <a:p>
            <a:pPr marL="0" indent="0" algn="ctr">
              <a:buNone/>
            </a:pPr>
            <a:r>
              <a:rPr lang="en-US" sz="850" dirty="0">
                <a:solidFill>
                  <a:srgbClr val="9AA3C7"/>
                </a:solidFill>
                <a:latin typeface="Arial" pitchFamily="34" charset="0"/>
                <a:ea typeface="Arial" pitchFamily="34" charset="-122"/>
                <a:cs typeface="Arial" pitchFamily="34" charset="-120"/>
              </a:rPr>
              <a:t>tarayıcı varsayılanı</a:t>
            </a:r>
            <a:endParaRPr lang="en-US" sz="850" dirty="0"/>
          </a:p>
        </p:txBody>
      </p:sp>
      <p:sp>
        <p:nvSpPr>
          <p:cNvPr id="41" name="Text 39"/>
          <p:cNvSpPr txBox="1"/>
          <p:nvPr/>
        </p:nvSpPr>
        <p:spPr>
          <a:xfrm>
            <a:off x="7040880" y="3685032"/>
            <a:ext cx="1463040" cy="256032"/>
          </a:xfrm>
          <a:prstGeom prst="roundRect">
            <a:avLst>
              <a:gd name="adj" fmla="val 42857"/>
            </a:avLst>
          </a:prstGeom>
          <a:solidFill>
            <a:srgbClr val="10142B"/>
          </a:solidFill>
          <a:ln w="12700">
            <a:solidFill>
              <a:srgbClr val="FBBF24"/>
            </a:solidFill>
          </a:ln>
        </p:spPr>
        <p:txBody>
          <a:bodyPr wrap="square" lIns="0" tIns="0" rIns="0" bIns="0" rtlCol="0" anchor="ctr"/>
          <a:lstStyle/>
          <a:p>
            <a:pPr marL="0" indent="0" algn="ctr">
              <a:buNone/>
            </a:pPr>
            <a:r>
              <a:rPr lang="en-US" sz="950" b="1" dirty="0">
                <a:solidFill>
                  <a:srgbClr val="FBBF24"/>
                </a:solidFill>
                <a:latin typeface="Courier New" pitchFamily="34" charset="0"/>
                <a:ea typeface="Courier New" pitchFamily="34" charset="-122"/>
                <a:cs typeface="Courier New" pitchFamily="34" charset="-120"/>
              </a:rPr>
              <a:t>all: unset</a:t>
            </a:r>
            <a:endParaRPr lang="en-US" sz="950" dirty="0"/>
          </a:p>
        </p:txBody>
      </p:sp>
      <p:sp>
        <p:nvSpPr>
          <p:cNvPr id="42" name="Text 40"/>
          <p:cNvSpPr txBox="1"/>
          <p:nvPr/>
        </p:nvSpPr>
        <p:spPr>
          <a:xfrm>
            <a:off x="7040880" y="3931920"/>
            <a:ext cx="1463040" cy="164592"/>
          </a:xfrm>
          <a:prstGeom prst="rect">
            <a:avLst/>
          </a:prstGeom>
          <a:noFill/>
          <a:ln/>
        </p:spPr>
        <p:txBody>
          <a:bodyPr wrap="square" lIns="0" tIns="0" rIns="0" bIns="0" rtlCol="0" anchor="t"/>
          <a:lstStyle/>
          <a:p>
            <a:pPr marL="0" indent="0" algn="ctr">
              <a:buNone/>
            </a:pPr>
            <a:r>
              <a:rPr lang="en-US" sz="850" dirty="0">
                <a:solidFill>
                  <a:srgbClr val="9AA3C7"/>
                </a:solidFill>
                <a:latin typeface="Arial" pitchFamily="34" charset="0"/>
                <a:ea typeface="Arial" pitchFamily="34" charset="-122"/>
                <a:cs typeface="Arial" pitchFamily="34" charset="-120"/>
              </a:rPr>
              <a:t>hepsini sıfırla</a:t>
            </a:r>
            <a:endParaRPr lang="en-US" sz="850" dirty="0"/>
          </a:p>
        </p:txBody>
      </p:sp>
      <p:sp>
        <p:nvSpPr>
          <p:cNvPr id="43" name="benzetme"/>
          <p:cNvSpPr/>
          <p:nvPr/>
        </p:nvSpPr>
        <p:spPr>
          <a:xfrm>
            <a:off x="548640" y="4224528"/>
            <a:ext cx="8046720" cy="402336"/>
          </a:xfrm>
          <a:prstGeom prst="roundRect">
            <a:avLst>
              <a:gd name="adj" fmla="val 50000"/>
            </a:avLst>
          </a:prstGeom>
          <a:solidFill>
            <a:srgbClr val="232A55"/>
          </a:solidFill>
          <a:ln/>
        </p:spPr>
      </p:sp>
      <p:sp>
        <p:nvSpPr>
          <p:cNvPr id="44" name="benzetme-ikon"/>
          <p:cNvSpPr/>
          <p:nvPr/>
        </p:nvSpPr>
        <p:spPr>
          <a:xfrm>
            <a:off x="621792" y="4261104"/>
            <a:ext cx="329184" cy="329184"/>
          </a:xfrm>
          <a:prstGeom prst="ellipse">
            <a:avLst/>
          </a:prstGeom>
          <a:solidFill>
            <a:srgbClr val="FBBF24"/>
          </a:solidFill>
          <a:ln/>
        </p:spPr>
      </p:sp>
      <p:sp>
        <p:nvSpPr>
          <p:cNvPr id="45" name="Text 43"/>
          <p:cNvSpPr txBox="1"/>
          <p:nvPr/>
        </p:nvSpPr>
        <p:spPr>
          <a:xfrm>
            <a:off x="621792" y="4261104"/>
            <a:ext cx="329184" cy="329184"/>
          </a:xfrm>
          <a:prstGeom prst="rect">
            <a:avLst/>
          </a:prstGeom>
          <a:noFill/>
          <a:ln/>
        </p:spPr>
        <p:txBody>
          <a:bodyPr wrap="square" lIns="0" tIns="0" rIns="0" bIns="0" rtlCol="0" anchor="ctr"/>
          <a:lstStyle/>
          <a:p>
            <a:pPr marL="0" indent="0" algn="ctr">
              <a:buNone/>
            </a:pPr>
            <a:r>
              <a:rPr lang="en-US" sz="1600" b="1" dirty="0">
                <a:solidFill>
                  <a:srgbClr val="10142B"/>
                </a:solidFill>
                <a:latin typeface="Arial" pitchFamily="34" charset="0"/>
                <a:ea typeface="Arial" pitchFamily="34" charset="-122"/>
                <a:cs typeface="Arial" pitchFamily="34" charset="-120"/>
              </a:rPr>
              <a:t>≈</a:t>
            </a:r>
            <a:endParaRPr lang="en-US" sz="1600" dirty="0"/>
          </a:p>
        </p:txBody>
      </p:sp>
      <p:sp>
        <p:nvSpPr>
          <p:cNvPr id="46" name="Text 44"/>
          <p:cNvSpPr txBox="1"/>
          <p:nvPr/>
        </p:nvSpPr>
        <p:spPr>
          <a:xfrm>
            <a:off x="1042416" y="4224528"/>
            <a:ext cx="7452360" cy="402336"/>
          </a:xfrm>
          <a:prstGeom prst="rect">
            <a:avLst/>
          </a:prstGeom>
          <a:noFill/>
          <a:ln/>
        </p:spPr>
        <p:txBody>
          <a:bodyPr wrap="square" lIns="0" tIns="0" rIns="0" bIns="0" rtlCol="0" anchor="ctr"/>
          <a:lstStyle/>
          <a:p>
            <a:pPr marL="0" indent="0">
              <a:buNone/>
            </a:pPr>
            <a:r>
              <a:rPr lang="en-US" sz="1100" b="1" dirty="0">
                <a:solidFill>
                  <a:srgbClr val="FBBF24"/>
                </a:solidFill>
                <a:latin typeface="Arial" pitchFamily="34" charset="0"/>
                <a:ea typeface="Arial" pitchFamily="34" charset="-122"/>
                <a:cs typeface="Arial" pitchFamily="34" charset="-120"/>
              </a:rPr>
              <a:t>Gündelik hayatta: </a:t>
            </a:r>
            <a:r>
              <a:rPr lang="en-US" sz="1100" dirty="0">
                <a:solidFill>
                  <a:srgbClr val="EEF0F8"/>
                </a:solidFill>
                <a:latin typeface="Arial" pitchFamily="34" charset="0"/>
                <a:ea typeface="Arial" pitchFamily="34" charset="-122"/>
                <a:cs typeface="Arial" pitchFamily="34" charset="-120"/>
              </a:rPr>
              <a:t>ailede kural: son söyleyen geçerli (cascade), müdür veliden üstün (özgüllük), soyadı çocuğa geçer ama ayakkabı numarası geçmez (kalıtım).</a:t>
            </a:r>
            <a:endParaRPr lang="en-US" sz="1100" dirty="0"/>
          </a:p>
        </p:txBody>
      </p:sp>
    </p:spTree>
  </p:cSld>
  <p:clrMapOvr>
    <a:masterClrMapping/>
  </p:clrMapOvr>
  <p:transition spd="med">
    <p:pull/>
  </p:transition>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256032"/>
            <a:ext cx="4572000" cy="201168"/>
          </a:xfrm>
          <a:prstGeom prst="rect">
            <a:avLst/>
          </a:prstGeom>
          <a:noFill/>
          <a:ln/>
        </p:spPr>
        <p:txBody>
          <a:bodyPr wrap="square" lIns="0" tIns="0" rIns="0" bIns="0" rtlCol="0" anchor="t"/>
          <a:lstStyle/>
          <a:p>
            <a:pPr marL="0" indent="0">
              <a:buNone/>
            </a:pPr>
            <a:r>
              <a:rPr lang="en-US" sz="900" b="1" kern="0" spc="200" dirty="0">
                <a:solidFill>
                  <a:srgbClr val="22D3EE"/>
                </a:solidFill>
                <a:latin typeface="Arial" pitchFamily="34" charset="0"/>
                <a:ea typeface="Arial" pitchFamily="34" charset="-122"/>
                <a:cs typeface="Arial" pitchFamily="34" charset="-120"/>
              </a:rPr>
              <a:t>MODÜL 1 · CSS TEMELLERİ</a:t>
            </a:r>
            <a:endParaRPr lang="en-US" sz="900" dirty="0"/>
          </a:p>
        </p:txBody>
      </p:sp>
      <p:sp>
        <p:nvSpPr>
          <p:cNvPr id="3" name="mini-box-0"/>
          <p:cNvSpPr/>
          <p:nvPr/>
        </p:nvSpPr>
        <p:spPr>
          <a:xfrm>
            <a:off x="8229600" y="201168"/>
            <a:ext cx="384048" cy="384048"/>
          </a:xfrm>
          <a:prstGeom prst="rect">
            <a:avLst/>
          </a:prstGeom>
          <a:ln w="9525">
            <a:solidFill>
              <a:srgbClr val="22D3EE"/>
            </a:solidFill>
            <a:prstDash val="solid"/>
          </a:ln>
        </p:spPr>
      </p:sp>
      <p:sp>
        <p:nvSpPr>
          <p:cNvPr id="4" name="mini-box-1"/>
          <p:cNvSpPr/>
          <p:nvPr/>
        </p:nvSpPr>
        <p:spPr>
          <a:xfrm>
            <a:off x="8293608" y="265176"/>
            <a:ext cx="256032" cy="256032"/>
          </a:xfrm>
          <a:prstGeom prst="rect">
            <a:avLst/>
          </a:prstGeom>
          <a:ln w="9525">
            <a:solidFill>
              <a:srgbClr val="EEF0F8"/>
            </a:solidFill>
            <a:prstDash val="solid"/>
          </a:ln>
        </p:spPr>
      </p:sp>
      <p:sp>
        <p:nvSpPr>
          <p:cNvPr id="5" name="mini-box-2"/>
          <p:cNvSpPr/>
          <p:nvPr/>
        </p:nvSpPr>
        <p:spPr>
          <a:xfrm>
            <a:off x="8348472" y="320040"/>
            <a:ext cx="146304" cy="146304"/>
          </a:xfrm>
          <a:prstGeom prst="rect">
            <a:avLst/>
          </a:prstGeom>
          <a:solidFill>
            <a:srgbClr val="22D3EE"/>
          </a:solidFill>
          <a:ln w="9525">
            <a:solidFill>
              <a:srgbClr val="22D3EE"/>
            </a:solidFill>
            <a:prstDash val="solid"/>
          </a:ln>
        </p:spPr>
      </p:sp>
      <p:sp>
        <p:nvSpPr>
          <p:cNvPr id="6" name="ilerleme-zemin"/>
          <p:cNvSpPr/>
          <p:nvPr/>
        </p:nvSpPr>
        <p:spPr>
          <a:xfrm>
            <a:off x="0" y="5070348"/>
            <a:ext cx="9144000" cy="73152"/>
          </a:xfrm>
          <a:prstGeom prst="rect">
            <a:avLst/>
          </a:prstGeom>
          <a:solidFill>
            <a:srgbClr val="1A2044"/>
          </a:solidFill>
          <a:ln/>
        </p:spPr>
      </p:sp>
      <p:sp>
        <p:nvSpPr>
          <p:cNvPr id="7" name="ilerleme"/>
          <p:cNvSpPr/>
          <p:nvPr/>
        </p:nvSpPr>
        <p:spPr>
          <a:xfrm>
            <a:off x="0" y="5070348"/>
            <a:ext cx="3189767" cy="73152"/>
          </a:xfrm>
          <a:prstGeom prst="rect">
            <a:avLst/>
          </a:prstGeom>
          <a:solidFill>
            <a:srgbClr val="22D3EE"/>
          </a:solidFill>
          <a:ln/>
        </p:spPr>
      </p:sp>
      <p:sp>
        <p:nvSpPr>
          <p:cNvPr id="8" name="Text 6"/>
          <p:cNvSpPr txBox="1"/>
          <p:nvPr/>
        </p:nvSpPr>
        <p:spPr>
          <a:xfrm>
            <a:off x="548640" y="4791456"/>
            <a:ext cx="3657600" cy="201168"/>
          </a:xfrm>
          <a:prstGeom prst="rect">
            <a:avLst/>
          </a:prstGeom>
          <a:noFill/>
          <a:ln/>
        </p:spPr>
        <p:txBody>
          <a:bodyPr wrap="square" lIns="0" tIns="0" rIns="0" bIns="0" rtlCol="0" anchor="t"/>
          <a:lstStyle/>
          <a:p>
            <a:pPr marL="0" indent="0">
              <a:buNone/>
            </a:pPr>
            <a:r>
              <a:rPr lang="en-US" sz="850" dirty="0">
                <a:solidFill>
                  <a:srgbClr val="6C759E"/>
                </a:solidFill>
                <a:latin typeface="Arial" pitchFamily="34" charset="0"/>
                <a:ea typeface="Arial" pitchFamily="34" charset="-122"/>
                <a:cs typeface="Arial" pitchFamily="34" charset="-120"/>
              </a:rPr>
              <a:t>KCŞ A.Ş.  ·  CSS ile stil ve düzen</a:t>
            </a:r>
            <a:endParaRPr lang="en-US" sz="850" dirty="0"/>
          </a:p>
        </p:txBody>
      </p:sp>
      <p:sp>
        <p:nvSpPr>
          <p:cNvPr id="9" name="Text 7"/>
          <p:cNvSpPr txBox="1"/>
          <p:nvPr/>
        </p:nvSpPr>
        <p:spPr>
          <a:xfrm>
            <a:off x="4206240" y="4791456"/>
            <a:ext cx="3840480" cy="201168"/>
          </a:xfrm>
          <a:prstGeom prst="rect">
            <a:avLst/>
          </a:prstGeom>
          <a:noFill/>
          <a:ln/>
        </p:spPr>
        <p:txBody>
          <a:bodyPr wrap="square" lIns="0" tIns="0" rIns="0" bIns="0" rtlCol="0" anchor="t"/>
          <a:lstStyle/>
          <a:p>
            <a:pPr marL="0" indent="0" algn="r">
              <a:buNone/>
            </a:pPr>
            <a:r>
              <a:rPr lang="en-US" sz="850" dirty="0">
                <a:solidFill>
                  <a:srgbClr val="6C759E"/>
                </a:solidFill>
                <a:latin typeface="Arial" pitchFamily="34" charset="0"/>
                <a:ea typeface="Arial" pitchFamily="34" charset="-122"/>
                <a:cs typeface="Arial" pitchFamily="34" charset="-120"/>
              </a:rPr>
              <a:t>MDN · Handling conflicts</a:t>
            </a:r>
            <a:endParaRPr lang="en-US" sz="850" dirty="0"/>
          </a:p>
        </p:txBody>
      </p:sp>
      <p:sp>
        <p:nvSpPr>
          <p:cNvPr id="10" name="Text 8"/>
          <p:cNvSpPr txBox="1"/>
          <p:nvPr/>
        </p:nvSpPr>
        <p:spPr>
          <a:xfrm>
            <a:off x="8092440" y="4791456"/>
            <a:ext cx="685800" cy="201168"/>
          </a:xfrm>
          <a:prstGeom prst="rect">
            <a:avLst/>
          </a:prstGeom>
          <a:noFill/>
          <a:ln/>
        </p:spPr>
        <p:txBody>
          <a:bodyPr wrap="square" lIns="0" tIns="0" rIns="0" bIns="0" rtlCol="0" anchor="t"/>
          <a:lstStyle/>
          <a:p>
            <a:pPr marL="0" indent="0" algn="r">
              <a:buNone/>
            </a:pPr>
            <a:r>
              <a:rPr lang="en-US" sz="850" dirty="0">
                <a:solidFill>
                  <a:srgbClr val="9AA3C7"/>
                </a:solidFill>
                <a:latin typeface="Courier New" pitchFamily="34" charset="0"/>
                <a:ea typeface="Courier New" pitchFamily="34" charset="-122"/>
                <a:cs typeface="Courier New" pitchFamily="34" charset="-120"/>
              </a:rPr>
              <a:t>15 / 43</a:t>
            </a:r>
            <a:endParaRPr lang="en-US" sz="850" dirty="0"/>
          </a:p>
        </p:txBody>
      </p:sp>
      <p:sp>
        <p:nvSpPr>
          <p:cNvPr id="11" name="Text 9"/>
          <p:cNvSpPr txBox="1"/>
          <p:nvPr/>
        </p:nvSpPr>
        <p:spPr>
          <a:xfrm>
            <a:off x="548640" y="502920"/>
            <a:ext cx="5943600" cy="237744"/>
          </a:xfrm>
          <a:prstGeom prst="rect">
            <a:avLst/>
          </a:prstGeom>
          <a:noFill/>
          <a:ln/>
        </p:spPr>
        <p:txBody>
          <a:bodyPr wrap="square" lIns="0" tIns="0" rIns="0" bIns="0" rtlCol="0" anchor="t"/>
          <a:lstStyle/>
          <a:p>
            <a:pPr marL="0" indent="0">
              <a:buNone/>
            </a:pPr>
            <a:r>
              <a:rPr lang="en-US" sz="1100" b="1" dirty="0">
                <a:solidFill>
                  <a:srgbClr val="22D3EE"/>
                </a:solidFill>
                <a:latin typeface="Courier New" pitchFamily="34" charset="0"/>
                <a:ea typeface="Courier New" pitchFamily="34" charset="-122"/>
                <a:cs typeface="Courier New" pitchFamily="34" charset="-120"/>
              </a:rPr>
              <a:t>1-0-0  &gt;  0-99-99</a:t>
            </a:r>
            <a:endParaRPr lang="en-US" sz="1100" dirty="0"/>
          </a:p>
        </p:txBody>
      </p:sp>
      <p:sp>
        <p:nvSpPr>
          <p:cNvPr id="12" name="Text 10"/>
          <p:cNvSpPr txBox="1"/>
          <p:nvPr/>
        </p:nvSpPr>
        <p:spPr>
          <a:xfrm>
            <a:off x="548640" y="749808"/>
            <a:ext cx="7589520" cy="502920"/>
          </a:xfrm>
          <a:prstGeom prst="rect">
            <a:avLst/>
          </a:prstGeom>
          <a:noFill/>
          <a:ln/>
        </p:spPr>
        <p:txBody>
          <a:bodyPr wrap="square" lIns="0" tIns="0" rIns="0" bIns="0" rtlCol="0" anchor="ctr"/>
          <a:lstStyle/>
          <a:p>
            <a:pPr marL="0" indent="0">
              <a:buNone/>
            </a:pPr>
            <a:r>
              <a:rPr lang="en-US" sz="2400" b="1" dirty="0">
                <a:solidFill>
                  <a:srgbClr val="EEF0F8"/>
                </a:solidFill>
                <a:latin typeface="Arial" pitchFamily="34" charset="0"/>
                <a:ea typeface="Arial" pitchFamily="34" charset="-122"/>
                <a:cs typeface="Arial" pitchFamily="34" charset="-120"/>
              </a:rPr>
              <a:t>Çakışmalar 2: özgüllük puanı</a:t>
            </a:r>
            <a:endParaRPr lang="en-US" sz="2400" dirty="0"/>
          </a:p>
        </p:txBody>
      </p:sp>
      <p:graphicFrame>
        <p:nvGraphicFramePr>
          <p:cNvPr id="16" name="tablo"/>
          <p:cNvGraphicFramePr>
            <a:graphicFrameLocks noGrp="1"/>
          </p:cNvGraphicFramePr>
          <p:nvPr>
            <p:extLst>
              <p:ext uri="{D42A27DB-BD31-4B8C-83A1-F6EECF244321}">
                <p14:modId xmlns:p14="http://schemas.microsoft.com/office/powerpoint/2010/main" val="1579011935"/>
              </p:ext>
            </p:extLst>
          </p:nvPr>
        </p:nvGraphicFramePr>
        <p:xfrm>
          <a:off x="548640" y="1371600"/>
          <a:ext cx="4754880" cy="1737360"/>
        </p:xfrm>
        <a:graphic>
          <a:graphicData uri="http://schemas.openxmlformats.org/drawingml/2006/table">
            <a:tbl>
              <a:tblPr/>
              <a:tblGrid>
                <a:gridCol w="2057400">
                  <a:extLst>
                    <a:ext uri="{9D8B030D-6E8A-4147-A177-3AD203B41FA5}">
                      <a16:colId xmlns:a16="http://schemas.microsoft.com/office/drawing/2014/main" val="20000"/>
                    </a:ext>
                  </a:extLst>
                </a:gridCol>
                <a:gridCol w="54864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548640">
                  <a:extLst>
                    <a:ext uri="{9D8B030D-6E8A-4147-A177-3AD203B41FA5}">
                      <a16:colId xmlns:a16="http://schemas.microsoft.com/office/drawing/2014/main" val="20003"/>
                    </a:ext>
                  </a:extLst>
                </a:gridCol>
                <a:gridCol w="960120">
                  <a:extLst>
                    <a:ext uri="{9D8B030D-6E8A-4147-A177-3AD203B41FA5}">
                      <a16:colId xmlns:a16="http://schemas.microsoft.com/office/drawing/2014/main" val="20004"/>
                    </a:ext>
                  </a:extLst>
                </a:gridCol>
              </a:tblGrid>
              <a:tr h="347472">
                <a:tc>
                  <a:txBody>
                    <a:bodyPr/>
                    <a:lstStyle/>
                    <a:p>
                      <a:pPr marL="0" indent="0">
                        <a:buNone/>
                      </a:pPr>
                      <a:r>
                        <a:rPr lang="en-US" sz="1000" b="1" dirty="0">
                          <a:solidFill>
                            <a:srgbClr val="10142B"/>
                          </a:solidFill>
                          <a:latin typeface="Arial" pitchFamily="34" charset="0"/>
                          <a:ea typeface="Arial" pitchFamily="34" charset="-122"/>
                          <a:cs typeface="Arial" pitchFamily="34" charset="-120"/>
                        </a:rPr>
                        <a:t>Seçici</a:t>
                      </a:r>
                      <a:endParaRPr lang="en-US" sz="1000" dirty="0">
                        <a:latin typeface="Arial" charset="0"/>
                        <a:ea typeface="Arial" charset="0"/>
                        <a:cs typeface="Arial" charset="0"/>
                      </a:endParaRPr>
                    </a:p>
                  </a:txBody>
                  <a:tcPr marL="64008" marR="64008" marT="0" marB="0" anchor="ctr">
                    <a:lnL w="9525" cap="flat" cmpd="sng" algn="ctr">
                      <a:solidFill>
                        <a:srgbClr val="2E3768"/>
                      </a:solidFill>
                      <a:prstDash val="solid"/>
                      <a:round/>
                      <a:headEnd type="none" w="med" len="med"/>
                      <a:tailEnd type="none" w="med" len="med"/>
                    </a:lnL>
                    <a:lnR w="9525" cap="flat" cmpd="sng" algn="ctr">
                      <a:solidFill>
                        <a:srgbClr val="2E3768"/>
                      </a:solidFill>
                      <a:prstDash val="solid"/>
                      <a:round/>
                      <a:headEnd type="none" w="med" len="med"/>
                      <a:tailEnd type="none" w="med" len="med"/>
                    </a:lnR>
                    <a:lnT w="9525" cap="flat" cmpd="sng" algn="ctr">
                      <a:solidFill>
                        <a:srgbClr val="2E3768"/>
                      </a:solidFill>
                      <a:prstDash val="solid"/>
                      <a:round/>
                      <a:headEnd type="none" w="med" len="med"/>
                      <a:tailEnd type="none" w="med" len="med"/>
                    </a:lnT>
                    <a:lnB w="9525" cap="flat" cmpd="sng" algn="ctr">
                      <a:solidFill>
                        <a:srgbClr val="2E3768"/>
                      </a:solidFill>
                      <a:prstDash val="solid"/>
                      <a:round/>
                      <a:headEnd type="none" w="med" len="med"/>
                      <a:tailEnd type="none" w="med" len="med"/>
                    </a:lnB>
                    <a:solidFill>
                      <a:srgbClr val="F472B6"/>
                    </a:solidFill>
                  </a:tcPr>
                </a:tc>
                <a:tc>
                  <a:txBody>
                    <a:bodyPr/>
                    <a:lstStyle/>
                    <a:p>
                      <a:pPr marL="0" indent="0">
                        <a:buNone/>
                      </a:pPr>
                      <a:r>
                        <a:rPr lang="en-US" sz="1000" b="1" dirty="0">
                          <a:solidFill>
                            <a:srgbClr val="10142B"/>
                          </a:solidFill>
                          <a:latin typeface="Arial" pitchFamily="34" charset="0"/>
                          <a:ea typeface="Arial" pitchFamily="34" charset="-122"/>
                          <a:cs typeface="Arial" pitchFamily="34" charset="-120"/>
                        </a:rPr>
                        <a:t>ID</a:t>
                      </a:r>
                      <a:endParaRPr lang="en-US" sz="1000" dirty="0">
                        <a:latin typeface="Arial" charset="0"/>
                        <a:ea typeface="Arial" charset="0"/>
                        <a:cs typeface="Arial" charset="0"/>
                      </a:endParaRPr>
                    </a:p>
                  </a:txBody>
                  <a:tcPr marL="64008" marR="64008" marT="0" marB="0" anchor="ctr">
                    <a:lnL w="9525" cap="flat" cmpd="sng" algn="ctr">
                      <a:solidFill>
                        <a:srgbClr val="2E3768"/>
                      </a:solidFill>
                      <a:prstDash val="solid"/>
                      <a:round/>
                      <a:headEnd type="none" w="med" len="med"/>
                      <a:tailEnd type="none" w="med" len="med"/>
                    </a:lnL>
                    <a:lnR w="9525" cap="flat" cmpd="sng" algn="ctr">
                      <a:solidFill>
                        <a:srgbClr val="2E3768"/>
                      </a:solidFill>
                      <a:prstDash val="solid"/>
                      <a:round/>
                      <a:headEnd type="none" w="med" len="med"/>
                      <a:tailEnd type="none" w="med" len="med"/>
                    </a:lnR>
                    <a:lnT w="9525" cap="flat" cmpd="sng" algn="ctr">
                      <a:solidFill>
                        <a:srgbClr val="2E3768"/>
                      </a:solidFill>
                      <a:prstDash val="solid"/>
                      <a:round/>
                      <a:headEnd type="none" w="med" len="med"/>
                      <a:tailEnd type="none" w="med" len="med"/>
                    </a:lnT>
                    <a:lnB w="9525" cap="flat" cmpd="sng" algn="ctr">
                      <a:solidFill>
                        <a:srgbClr val="2E3768"/>
                      </a:solidFill>
                      <a:prstDash val="solid"/>
                      <a:round/>
                      <a:headEnd type="none" w="med" len="med"/>
                      <a:tailEnd type="none" w="med" len="med"/>
                    </a:lnB>
                    <a:solidFill>
                      <a:srgbClr val="F472B6"/>
                    </a:solidFill>
                  </a:tcPr>
                </a:tc>
                <a:tc>
                  <a:txBody>
                    <a:bodyPr/>
                    <a:lstStyle/>
                    <a:p>
                      <a:pPr marL="0" indent="0">
                        <a:buNone/>
                      </a:pPr>
                      <a:r>
                        <a:rPr lang="en-US" sz="1000" b="1" dirty="0">
                          <a:solidFill>
                            <a:srgbClr val="10142B"/>
                          </a:solidFill>
                          <a:latin typeface="Arial" pitchFamily="34" charset="0"/>
                          <a:ea typeface="Arial" pitchFamily="34" charset="-122"/>
                          <a:cs typeface="Arial" pitchFamily="34" charset="-120"/>
                        </a:rPr>
                        <a:t>Sınıf</a:t>
                      </a:r>
                      <a:endParaRPr lang="en-US" sz="1000" dirty="0">
                        <a:latin typeface="Arial" charset="0"/>
                        <a:ea typeface="Arial" charset="0"/>
                        <a:cs typeface="Arial" charset="0"/>
                      </a:endParaRPr>
                    </a:p>
                  </a:txBody>
                  <a:tcPr marL="64008" marR="64008" marT="0" marB="0" anchor="ctr">
                    <a:lnL w="9525" cap="flat" cmpd="sng" algn="ctr">
                      <a:solidFill>
                        <a:srgbClr val="2E3768"/>
                      </a:solidFill>
                      <a:prstDash val="solid"/>
                      <a:round/>
                      <a:headEnd type="none" w="med" len="med"/>
                      <a:tailEnd type="none" w="med" len="med"/>
                    </a:lnL>
                    <a:lnR w="9525" cap="flat" cmpd="sng" algn="ctr">
                      <a:solidFill>
                        <a:srgbClr val="2E3768"/>
                      </a:solidFill>
                      <a:prstDash val="solid"/>
                      <a:round/>
                      <a:headEnd type="none" w="med" len="med"/>
                      <a:tailEnd type="none" w="med" len="med"/>
                    </a:lnR>
                    <a:lnT w="9525" cap="flat" cmpd="sng" algn="ctr">
                      <a:solidFill>
                        <a:srgbClr val="2E3768"/>
                      </a:solidFill>
                      <a:prstDash val="solid"/>
                      <a:round/>
                      <a:headEnd type="none" w="med" len="med"/>
                      <a:tailEnd type="none" w="med" len="med"/>
                    </a:lnT>
                    <a:lnB w="9525" cap="flat" cmpd="sng" algn="ctr">
                      <a:solidFill>
                        <a:srgbClr val="2E3768"/>
                      </a:solidFill>
                      <a:prstDash val="solid"/>
                      <a:round/>
                      <a:headEnd type="none" w="med" len="med"/>
                      <a:tailEnd type="none" w="med" len="med"/>
                    </a:lnB>
                    <a:solidFill>
                      <a:srgbClr val="F472B6"/>
                    </a:solidFill>
                  </a:tcPr>
                </a:tc>
                <a:tc>
                  <a:txBody>
                    <a:bodyPr/>
                    <a:lstStyle/>
                    <a:p>
                      <a:pPr marL="0" indent="0">
                        <a:buNone/>
                      </a:pPr>
                      <a:r>
                        <a:rPr lang="en-US" sz="1000" b="1" dirty="0">
                          <a:solidFill>
                            <a:srgbClr val="10142B"/>
                          </a:solidFill>
                          <a:latin typeface="Arial" pitchFamily="34" charset="0"/>
                          <a:ea typeface="Arial" pitchFamily="34" charset="-122"/>
                          <a:cs typeface="Arial" pitchFamily="34" charset="-120"/>
                        </a:rPr>
                        <a:t>Öğe</a:t>
                      </a:r>
                      <a:endParaRPr lang="en-US" sz="1000" dirty="0">
                        <a:latin typeface="Arial" charset="0"/>
                        <a:ea typeface="Arial" charset="0"/>
                        <a:cs typeface="Arial" charset="0"/>
                      </a:endParaRPr>
                    </a:p>
                  </a:txBody>
                  <a:tcPr marL="64008" marR="64008" marT="0" marB="0" anchor="ctr">
                    <a:lnL w="9525" cap="flat" cmpd="sng" algn="ctr">
                      <a:solidFill>
                        <a:srgbClr val="2E3768"/>
                      </a:solidFill>
                      <a:prstDash val="solid"/>
                      <a:round/>
                      <a:headEnd type="none" w="med" len="med"/>
                      <a:tailEnd type="none" w="med" len="med"/>
                    </a:lnL>
                    <a:lnR w="9525" cap="flat" cmpd="sng" algn="ctr">
                      <a:solidFill>
                        <a:srgbClr val="2E3768"/>
                      </a:solidFill>
                      <a:prstDash val="solid"/>
                      <a:round/>
                      <a:headEnd type="none" w="med" len="med"/>
                      <a:tailEnd type="none" w="med" len="med"/>
                    </a:lnR>
                    <a:lnT w="9525" cap="flat" cmpd="sng" algn="ctr">
                      <a:solidFill>
                        <a:srgbClr val="2E3768"/>
                      </a:solidFill>
                      <a:prstDash val="solid"/>
                      <a:round/>
                      <a:headEnd type="none" w="med" len="med"/>
                      <a:tailEnd type="none" w="med" len="med"/>
                    </a:lnT>
                    <a:lnB w="9525" cap="flat" cmpd="sng" algn="ctr">
                      <a:solidFill>
                        <a:srgbClr val="2E3768"/>
                      </a:solidFill>
                      <a:prstDash val="solid"/>
                      <a:round/>
                      <a:headEnd type="none" w="med" len="med"/>
                      <a:tailEnd type="none" w="med" len="med"/>
                    </a:lnB>
                    <a:solidFill>
                      <a:srgbClr val="F472B6"/>
                    </a:solidFill>
                  </a:tcPr>
                </a:tc>
                <a:tc>
                  <a:txBody>
                    <a:bodyPr/>
                    <a:lstStyle/>
                    <a:p>
                      <a:pPr marL="0" indent="0">
                        <a:buNone/>
                      </a:pPr>
                      <a:r>
                        <a:rPr lang="en-US" sz="1000" b="1" dirty="0">
                          <a:solidFill>
                            <a:srgbClr val="10142B"/>
                          </a:solidFill>
                          <a:latin typeface="Arial" pitchFamily="34" charset="0"/>
                          <a:ea typeface="Arial" pitchFamily="34" charset="-122"/>
                          <a:cs typeface="Arial" pitchFamily="34" charset="-120"/>
                        </a:rPr>
                        <a:t>Puan</a:t>
                      </a:r>
                      <a:endParaRPr lang="en-US" sz="1000" dirty="0">
                        <a:latin typeface="Arial" charset="0"/>
                        <a:ea typeface="Arial" charset="0"/>
                        <a:cs typeface="Arial" charset="0"/>
                      </a:endParaRPr>
                    </a:p>
                  </a:txBody>
                  <a:tcPr marL="64008" marR="64008" marT="0" marB="0" anchor="ctr">
                    <a:lnL w="9525" cap="flat" cmpd="sng" algn="ctr">
                      <a:solidFill>
                        <a:srgbClr val="2E3768"/>
                      </a:solidFill>
                      <a:prstDash val="solid"/>
                      <a:round/>
                      <a:headEnd type="none" w="med" len="med"/>
                      <a:tailEnd type="none" w="med" len="med"/>
                    </a:lnL>
                    <a:lnR w="9525" cap="flat" cmpd="sng" algn="ctr">
                      <a:solidFill>
                        <a:srgbClr val="2E3768"/>
                      </a:solidFill>
                      <a:prstDash val="solid"/>
                      <a:round/>
                      <a:headEnd type="none" w="med" len="med"/>
                      <a:tailEnd type="none" w="med" len="med"/>
                    </a:lnR>
                    <a:lnT w="9525" cap="flat" cmpd="sng" algn="ctr">
                      <a:solidFill>
                        <a:srgbClr val="2E3768"/>
                      </a:solidFill>
                      <a:prstDash val="solid"/>
                      <a:round/>
                      <a:headEnd type="none" w="med" len="med"/>
                      <a:tailEnd type="none" w="med" len="med"/>
                    </a:lnT>
                    <a:lnB w="9525" cap="flat" cmpd="sng" algn="ctr">
                      <a:solidFill>
                        <a:srgbClr val="2E3768"/>
                      </a:solidFill>
                      <a:prstDash val="solid"/>
                      <a:round/>
                      <a:headEnd type="none" w="med" len="med"/>
                      <a:tailEnd type="none" w="med" len="med"/>
                    </a:lnB>
                    <a:solidFill>
                      <a:srgbClr val="F472B6"/>
                    </a:solidFill>
                  </a:tcPr>
                </a:tc>
                <a:extLst>
                  <a:ext uri="{0D108BD9-81ED-4DB2-BD59-A6C34878D82A}">
                    <a16:rowId xmlns:a16="http://schemas.microsoft.com/office/drawing/2014/main" val="10000"/>
                  </a:ext>
                </a:extLst>
              </a:tr>
              <a:tr h="347472">
                <a:tc>
                  <a:txBody>
                    <a:bodyPr/>
                    <a:lstStyle/>
                    <a:p>
                      <a:pPr marL="0" indent="0">
                        <a:buNone/>
                      </a:pPr>
                      <a:r>
                        <a:rPr lang="en-US" sz="1000" dirty="0">
                          <a:solidFill>
                            <a:srgbClr val="EEF0F8"/>
                          </a:solidFill>
                          <a:latin typeface="Courier New" pitchFamily="34" charset="0"/>
                          <a:ea typeface="Courier New" pitchFamily="34" charset="-122"/>
                          <a:cs typeface="Courier New" pitchFamily="34" charset="-120"/>
                        </a:rPr>
                        <a:t>h1</a:t>
                      </a:r>
                      <a:endParaRPr lang="en-US" sz="1000" dirty="0">
                        <a:latin typeface="Courier New" charset="0"/>
                        <a:ea typeface="Courier New" charset="0"/>
                        <a:cs typeface="Courier New" charset="0"/>
                      </a:endParaRPr>
                    </a:p>
                  </a:txBody>
                  <a:tcPr marL="64008" marR="64008" marT="0" marB="0" anchor="ctr">
                    <a:lnL w="9525" cap="flat" cmpd="sng" algn="ctr">
                      <a:solidFill>
                        <a:srgbClr val="2E3768"/>
                      </a:solidFill>
                      <a:prstDash val="solid"/>
                      <a:round/>
                      <a:headEnd type="none" w="med" len="med"/>
                      <a:tailEnd type="none" w="med" len="med"/>
                    </a:lnL>
                    <a:lnR w="9525" cap="flat" cmpd="sng" algn="ctr">
                      <a:solidFill>
                        <a:srgbClr val="2E3768"/>
                      </a:solidFill>
                      <a:prstDash val="solid"/>
                      <a:round/>
                      <a:headEnd type="none" w="med" len="med"/>
                      <a:tailEnd type="none" w="med" len="med"/>
                    </a:lnR>
                    <a:lnT w="9525" cap="flat" cmpd="sng" algn="ctr">
                      <a:solidFill>
                        <a:srgbClr val="2E3768"/>
                      </a:solidFill>
                      <a:prstDash val="solid"/>
                      <a:round/>
                      <a:headEnd type="none" w="med" len="med"/>
                      <a:tailEnd type="none" w="med" len="med"/>
                    </a:lnT>
                    <a:lnB w="9525" cap="flat" cmpd="sng" algn="ctr">
                      <a:solidFill>
                        <a:srgbClr val="2E3768"/>
                      </a:solidFill>
                      <a:prstDash val="solid"/>
                      <a:round/>
                      <a:headEnd type="none" w="med" len="med"/>
                      <a:tailEnd type="none" w="med" len="med"/>
                    </a:lnB>
                    <a:solidFill>
                      <a:srgbClr val="1A2044"/>
                    </a:solidFill>
                  </a:tcPr>
                </a:tc>
                <a:tc>
                  <a:txBody>
                    <a:bodyPr/>
                    <a:lstStyle/>
                    <a:p>
                      <a:pPr marL="0" indent="0">
                        <a:buNone/>
                      </a:pPr>
                      <a:r>
                        <a:rPr lang="en-US" sz="1000" dirty="0">
                          <a:solidFill>
                            <a:srgbClr val="EEF0F8"/>
                          </a:solidFill>
                          <a:latin typeface="Arial" pitchFamily="34" charset="0"/>
                          <a:ea typeface="Arial" pitchFamily="34" charset="-122"/>
                          <a:cs typeface="Arial" pitchFamily="34" charset="-120"/>
                        </a:rPr>
                        <a:t>0</a:t>
                      </a:r>
                      <a:endParaRPr lang="en-US" sz="1000" dirty="0">
                        <a:latin typeface="Arial" charset="0"/>
                        <a:ea typeface="Arial" charset="0"/>
                        <a:cs typeface="Arial" charset="0"/>
                      </a:endParaRPr>
                    </a:p>
                  </a:txBody>
                  <a:tcPr marL="64008" marR="64008" marT="0" marB="0" anchor="ctr">
                    <a:lnL w="9525" cap="flat" cmpd="sng" algn="ctr">
                      <a:solidFill>
                        <a:srgbClr val="2E3768"/>
                      </a:solidFill>
                      <a:prstDash val="solid"/>
                      <a:round/>
                      <a:headEnd type="none" w="med" len="med"/>
                      <a:tailEnd type="none" w="med" len="med"/>
                    </a:lnL>
                    <a:lnR w="9525" cap="flat" cmpd="sng" algn="ctr">
                      <a:solidFill>
                        <a:srgbClr val="2E3768"/>
                      </a:solidFill>
                      <a:prstDash val="solid"/>
                      <a:round/>
                      <a:headEnd type="none" w="med" len="med"/>
                      <a:tailEnd type="none" w="med" len="med"/>
                    </a:lnR>
                    <a:lnT w="9525" cap="flat" cmpd="sng" algn="ctr">
                      <a:solidFill>
                        <a:srgbClr val="2E3768"/>
                      </a:solidFill>
                      <a:prstDash val="solid"/>
                      <a:round/>
                      <a:headEnd type="none" w="med" len="med"/>
                      <a:tailEnd type="none" w="med" len="med"/>
                    </a:lnT>
                    <a:lnB w="9525" cap="flat" cmpd="sng" algn="ctr">
                      <a:solidFill>
                        <a:srgbClr val="2E3768"/>
                      </a:solidFill>
                      <a:prstDash val="solid"/>
                      <a:round/>
                      <a:headEnd type="none" w="med" len="med"/>
                      <a:tailEnd type="none" w="med" len="med"/>
                    </a:lnB>
                    <a:solidFill>
                      <a:srgbClr val="1A2044"/>
                    </a:solidFill>
                  </a:tcPr>
                </a:tc>
                <a:tc>
                  <a:txBody>
                    <a:bodyPr/>
                    <a:lstStyle/>
                    <a:p>
                      <a:pPr marL="0" indent="0">
                        <a:buNone/>
                      </a:pPr>
                      <a:r>
                        <a:rPr lang="en-US" sz="1000" dirty="0">
                          <a:solidFill>
                            <a:srgbClr val="EEF0F8"/>
                          </a:solidFill>
                          <a:latin typeface="Arial" pitchFamily="34" charset="0"/>
                          <a:ea typeface="Arial" pitchFamily="34" charset="-122"/>
                          <a:cs typeface="Arial" pitchFamily="34" charset="-120"/>
                        </a:rPr>
                        <a:t>0</a:t>
                      </a:r>
                      <a:endParaRPr lang="en-US" sz="1000" dirty="0">
                        <a:latin typeface="Arial" charset="0"/>
                        <a:ea typeface="Arial" charset="0"/>
                        <a:cs typeface="Arial" charset="0"/>
                      </a:endParaRPr>
                    </a:p>
                  </a:txBody>
                  <a:tcPr marL="64008" marR="64008" marT="0" marB="0" anchor="ctr">
                    <a:lnL w="9525" cap="flat" cmpd="sng" algn="ctr">
                      <a:solidFill>
                        <a:srgbClr val="2E3768"/>
                      </a:solidFill>
                      <a:prstDash val="solid"/>
                      <a:round/>
                      <a:headEnd type="none" w="med" len="med"/>
                      <a:tailEnd type="none" w="med" len="med"/>
                    </a:lnL>
                    <a:lnR w="9525" cap="flat" cmpd="sng" algn="ctr">
                      <a:solidFill>
                        <a:srgbClr val="2E3768"/>
                      </a:solidFill>
                      <a:prstDash val="solid"/>
                      <a:round/>
                      <a:headEnd type="none" w="med" len="med"/>
                      <a:tailEnd type="none" w="med" len="med"/>
                    </a:lnR>
                    <a:lnT w="9525" cap="flat" cmpd="sng" algn="ctr">
                      <a:solidFill>
                        <a:srgbClr val="2E3768"/>
                      </a:solidFill>
                      <a:prstDash val="solid"/>
                      <a:round/>
                      <a:headEnd type="none" w="med" len="med"/>
                      <a:tailEnd type="none" w="med" len="med"/>
                    </a:lnT>
                    <a:lnB w="9525" cap="flat" cmpd="sng" algn="ctr">
                      <a:solidFill>
                        <a:srgbClr val="2E3768"/>
                      </a:solidFill>
                      <a:prstDash val="solid"/>
                      <a:round/>
                      <a:headEnd type="none" w="med" len="med"/>
                      <a:tailEnd type="none" w="med" len="med"/>
                    </a:lnB>
                    <a:solidFill>
                      <a:srgbClr val="1A2044"/>
                    </a:solidFill>
                  </a:tcPr>
                </a:tc>
                <a:tc>
                  <a:txBody>
                    <a:bodyPr/>
                    <a:lstStyle/>
                    <a:p>
                      <a:pPr marL="0" indent="0">
                        <a:buNone/>
                      </a:pPr>
                      <a:r>
                        <a:rPr lang="en-US" sz="1000" dirty="0">
                          <a:solidFill>
                            <a:srgbClr val="EEF0F8"/>
                          </a:solidFill>
                          <a:latin typeface="Arial" pitchFamily="34" charset="0"/>
                          <a:ea typeface="Arial" pitchFamily="34" charset="-122"/>
                          <a:cs typeface="Arial" pitchFamily="34" charset="-120"/>
                        </a:rPr>
                        <a:t>1</a:t>
                      </a:r>
                      <a:endParaRPr lang="en-US" sz="1000" dirty="0">
                        <a:latin typeface="Arial" charset="0"/>
                        <a:ea typeface="Arial" charset="0"/>
                        <a:cs typeface="Arial" charset="0"/>
                      </a:endParaRPr>
                    </a:p>
                  </a:txBody>
                  <a:tcPr marL="64008" marR="64008" marT="0" marB="0" anchor="ctr">
                    <a:lnL w="9525" cap="flat" cmpd="sng" algn="ctr">
                      <a:solidFill>
                        <a:srgbClr val="2E3768"/>
                      </a:solidFill>
                      <a:prstDash val="solid"/>
                      <a:round/>
                      <a:headEnd type="none" w="med" len="med"/>
                      <a:tailEnd type="none" w="med" len="med"/>
                    </a:lnL>
                    <a:lnR w="9525" cap="flat" cmpd="sng" algn="ctr">
                      <a:solidFill>
                        <a:srgbClr val="2E3768"/>
                      </a:solidFill>
                      <a:prstDash val="solid"/>
                      <a:round/>
                      <a:headEnd type="none" w="med" len="med"/>
                      <a:tailEnd type="none" w="med" len="med"/>
                    </a:lnR>
                    <a:lnT w="9525" cap="flat" cmpd="sng" algn="ctr">
                      <a:solidFill>
                        <a:srgbClr val="2E3768"/>
                      </a:solidFill>
                      <a:prstDash val="solid"/>
                      <a:round/>
                      <a:headEnd type="none" w="med" len="med"/>
                      <a:tailEnd type="none" w="med" len="med"/>
                    </a:lnT>
                    <a:lnB w="9525" cap="flat" cmpd="sng" algn="ctr">
                      <a:solidFill>
                        <a:srgbClr val="2E3768"/>
                      </a:solidFill>
                      <a:prstDash val="solid"/>
                      <a:round/>
                      <a:headEnd type="none" w="med" len="med"/>
                      <a:tailEnd type="none" w="med" len="med"/>
                    </a:lnB>
                    <a:solidFill>
                      <a:srgbClr val="1A2044"/>
                    </a:solidFill>
                  </a:tcPr>
                </a:tc>
                <a:tc>
                  <a:txBody>
                    <a:bodyPr/>
                    <a:lstStyle/>
                    <a:p>
                      <a:pPr marL="0" indent="0">
                        <a:buNone/>
                      </a:pPr>
                      <a:r>
                        <a:rPr lang="en-US" sz="1000" dirty="0">
                          <a:solidFill>
                            <a:srgbClr val="EEF0F8"/>
                          </a:solidFill>
                          <a:latin typeface="Courier New" pitchFamily="34" charset="0"/>
                          <a:ea typeface="Courier New" pitchFamily="34" charset="-122"/>
                          <a:cs typeface="Courier New" pitchFamily="34" charset="-120"/>
                        </a:rPr>
                        <a:t>0-0-1</a:t>
                      </a:r>
                      <a:endParaRPr lang="en-US" sz="1000" dirty="0">
                        <a:latin typeface="Courier New" charset="0"/>
                        <a:ea typeface="Courier New" charset="0"/>
                        <a:cs typeface="Courier New" charset="0"/>
                      </a:endParaRPr>
                    </a:p>
                  </a:txBody>
                  <a:tcPr marL="64008" marR="64008" marT="0" marB="0" anchor="ctr">
                    <a:lnL w="9525" cap="flat" cmpd="sng" algn="ctr">
                      <a:solidFill>
                        <a:srgbClr val="2E3768"/>
                      </a:solidFill>
                      <a:prstDash val="solid"/>
                      <a:round/>
                      <a:headEnd type="none" w="med" len="med"/>
                      <a:tailEnd type="none" w="med" len="med"/>
                    </a:lnL>
                    <a:lnR w="9525" cap="flat" cmpd="sng" algn="ctr">
                      <a:solidFill>
                        <a:srgbClr val="2E3768"/>
                      </a:solidFill>
                      <a:prstDash val="solid"/>
                      <a:round/>
                      <a:headEnd type="none" w="med" len="med"/>
                      <a:tailEnd type="none" w="med" len="med"/>
                    </a:lnR>
                    <a:lnT w="9525" cap="flat" cmpd="sng" algn="ctr">
                      <a:solidFill>
                        <a:srgbClr val="2E3768"/>
                      </a:solidFill>
                      <a:prstDash val="solid"/>
                      <a:round/>
                      <a:headEnd type="none" w="med" len="med"/>
                      <a:tailEnd type="none" w="med" len="med"/>
                    </a:lnT>
                    <a:lnB w="9525" cap="flat" cmpd="sng" algn="ctr">
                      <a:solidFill>
                        <a:srgbClr val="2E3768"/>
                      </a:solidFill>
                      <a:prstDash val="solid"/>
                      <a:round/>
                      <a:headEnd type="none" w="med" len="med"/>
                      <a:tailEnd type="none" w="med" len="med"/>
                    </a:lnB>
                    <a:solidFill>
                      <a:srgbClr val="1A2044"/>
                    </a:solidFill>
                  </a:tcPr>
                </a:tc>
                <a:extLst>
                  <a:ext uri="{0D108BD9-81ED-4DB2-BD59-A6C34878D82A}">
                    <a16:rowId xmlns:a16="http://schemas.microsoft.com/office/drawing/2014/main" val="10001"/>
                  </a:ext>
                </a:extLst>
              </a:tr>
              <a:tr h="347472">
                <a:tc>
                  <a:txBody>
                    <a:bodyPr/>
                    <a:lstStyle/>
                    <a:p>
                      <a:pPr marL="0" indent="0">
                        <a:buNone/>
                      </a:pPr>
                      <a:r>
                        <a:rPr lang="en-US" sz="1000" dirty="0">
                          <a:solidFill>
                            <a:srgbClr val="EEF0F8"/>
                          </a:solidFill>
                          <a:latin typeface="Courier New" pitchFamily="34" charset="0"/>
                          <a:ea typeface="Courier New" pitchFamily="34" charset="-122"/>
                          <a:cs typeface="Courier New" pitchFamily="34" charset="-120"/>
                        </a:rPr>
                        <a:t>h1 + p::first-letter</a:t>
                      </a:r>
                      <a:endParaRPr lang="en-US" sz="1000" dirty="0">
                        <a:latin typeface="Courier New" charset="0"/>
                        <a:ea typeface="Courier New" charset="0"/>
                        <a:cs typeface="Courier New" charset="0"/>
                      </a:endParaRPr>
                    </a:p>
                  </a:txBody>
                  <a:tcPr marL="64008" marR="64008" marT="0" marB="0" anchor="ctr">
                    <a:lnL w="9525" cap="flat" cmpd="sng" algn="ctr">
                      <a:solidFill>
                        <a:srgbClr val="2E3768"/>
                      </a:solidFill>
                      <a:prstDash val="solid"/>
                      <a:round/>
                      <a:headEnd type="none" w="med" len="med"/>
                      <a:tailEnd type="none" w="med" len="med"/>
                    </a:lnL>
                    <a:lnR w="9525" cap="flat" cmpd="sng" algn="ctr">
                      <a:solidFill>
                        <a:srgbClr val="2E3768"/>
                      </a:solidFill>
                      <a:prstDash val="solid"/>
                      <a:round/>
                      <a:headEnd type="none" w="med" len="med"/>
                      <a:tailEnd type="none" w="med" len="med"/>
                    </a:lnR>
                    <a:lnT w="9525" cap="flat" cmpd="sng" algn="ctr">
                      <a:solidFill>
                        <a:srgbClr val="2E3768"/>
                      </a:solidFill>
                      <a:prstDash val="solid"/>
                      <a:round/>
                      <a:headEnd type="none" w="med" len="med"/>
                      <a:tailEnd type="none" w="med" len="med"/>
                    </a:lnT>
                    <a:lnB w="9525" cap="flat" cmpd="sng" algn="ctr">
                      <a:solidFill>
                        <a:srgbClr val="2E3768"/>
                      </a:solidFill>
                      <a:prstDash val="solid"/>
                      <a:round/>
                      <a:headEnd type="none" w="med" len="med"/>
                      <a:tailEnd type="none" w="med" len="med"/>
                    </a:lnB>
                    <a:solidFill>
                      <a:srgbClr val="1A2044"/>
                    </a:solidFill>
                  </a:tcPr>
                </a:tc>
                <a:tc>
                  <a:txBody>
                    <a:bodyPr/>
                    <a:lstStyle/>
                    <a:p>
                      <a:pPr marL="0" indent="0">
                        <a:buNone/>
                      </a:pPr>
                      <a:r>
                        <a:rPr lang="en-US" sz="1000" dirty="0">
                          <a:solidFill>
                            <a:srgbClr val="EEF0F8"/>
                          </a:solidFill>
                          <a:latin typeface="Arial" pitchFamily="34" charset="0"/>
                          <a:ea typeface="Arial" pitchFamily="34" charset="-122"/>
                          <a:cs typeface="Arial" pitchFamily="34" charset="-120"/>
                        </a:rPr>
                        <a:t>0</a:t>
                      </a:r>
                      <a:endParaRPr lang="en-US" sz="1000" dirty="0">
                        <a:latin typeface="Arial" charset="0"/>
                        <a:ea typeface="Arial" charset="0"/>
                        <a:cs typeface="Arial" charset="0"/>
                      </a:endParaRPr>
                    </a:p>
                  </a:txBody>
                  <a:tcPr marL="64008" marR="64008" marT="0" marB="0" anchor="ctr">
                    <a:lnL w="9525" cap="flat" cmpd="sng" algn="ctr">
                      <a:solidFill>
                        <a:srgbClr val="2E3768"/>
                      </a:solidFill>
                      <a:prstDash val="solid"/>
                      <a:round/>
                      <a:headEnd type="none" w="med" len="med"/>
                      <a:tailEnd type="none" w="med" len="med"/>
                    </a:lnL>
                    <a:lnR w="9525" cap="flat" cmpd="sng" algn="ctr">
                      <a:solidFill>
                        <a:srgbClr val="2E3768"/>
                      </a:solidFill>
                      <a:prstDash val="solid"/>
                      <a:round/>
                      <a:headEnd type="none" w="med" len="med"/>
                      <a:tailEnd type="none" w="med" len="med"/>
                    </a:lnR>
                    <a:lnT w="9525" cap="flat" cmpd="sng" algn="ctr">
                      <a:solidFill>
                        <a:srgbClr val="2E3768"/>
                      </a:solidFill>
                      <a:prstDash val="solid"/>
                      <a:round/>
                      <a:headEnd type="none" w="med" len="med"/>
                      <a:tailEnd type="none" w="med" len="med"/>
                    </a:lnT>
                    <a:lnB w="9525" cap="flat" cmpd="sng" algn="ctr">
                      <a:solidFill>
                        <a:srgbClr val="2E3768"/>
                      </a:solidFill>
                      <a:prstDash val="solid"/>
                      <a:round/>
                      <a:headEnd type="none" w="med" len="med"/>
                      <a:tailEnd type="none" w="med" len="med"/>
                    </a:lnB>
                    <a:solidFill>
                      <a:srgbClr val="1A2044"/>
                    </a:solidFill>
                  </a:tcPr>
                </a:tc>
                <a:tc>
                  <a:txBody>
                    <a:bodyPr/>
                    <a:lstStyle/>
                    <a:p>
                      <a:pPr marL="0" indent="0">
                        <a:buNone/>
                      </a:pPr>
                      <a:r>
                        <a:rPr lang="en-US" sz="1000" dirty="0">
                          <a:solidFill>
                            <a:srgbClr val="EEF0F8"/>
                          </a:solidFill>
                          <a:latin typeface="Arial" pitchFamily="34" charset="0"/>
                          <a:ea typeface="Arial" pitchFamily="34" charset="-122"/>
                          <a:cs typeface="Arial" pitchFamily="34" charset="-120"/>
                        </a:rPr>
                        <a:t>0</a:t>
                      </a:r>
                      <a:endParaRPr lang="en-US" sz="1000" dirty="0">
                        <a:latin typeface="Arial" charset="0"/>
                        <a:ea typeface="Arial" charset="0"/>
                        <a:cs typeface="Arial" charset="0"/>
                      </a:endParaRPr>
                    </a:p>
                  </a:txBody>
                  <a:tcPr marL="64008" marR="64008" marT="0" marB="0" anchor="ctr">
                    <a:lnL w="9525" cap="flat" cmpd="sng" algn="ctr">
                      <a:solidFill>
                        <a:srgbClr val="2E3768"/>
                      </a:solidFill>
                      <a:prstDash val="solid"/>
                      <a:round/>
                      <a:headEnd type="none" w="med" len="med"/>
                      <a:tailEnd type="none" w="med" len="med"/>
                    </a:lnL>
                    <a:lnR w="9525" cap="flat" cmpd="sng" algn="ctr">
                      <a:solidFill>
                        <a:srgbClr val="2E3768"/>
                      </a:solidFill>
                      <a:prstDash val="solid"/>
                      <a:round/>
                      <a:headEnd type="none" w="med" len="med"/>
                      <a:tailEnd type="none" w="med" len="med"/>
                    </a:lnR>
                    <a:lnT w="9525" cap="flat" cmpd="sng" algn="ctr">
                      <a:solidFill>
                        <a:srgbClr val="2E3768"/>
                      </a:solidFill>
                      <a:prstDash val="solid"/>
                      <a:round/>
                      <a:headEnd type="none" w="med" len="med"/>
                      <a:tailEnd type="none" w="med" len="med"/>
                    </a:lnT>
                    <a:lnB w="9525" cap="flat" cmpd="sng" algn="ctr">
                      <a:solidFill>
                        <a:srgbClr val="2E3768"/>
                      </a:solidFill>
                      <a:prstDash val="solid"/>
                      <a:round/>
                      <a:headEnd type="none" w="med" len="med"/>
                      <a:tailEnd type="none" w="med" len="med"/>
                    </a:lnB>
                    <a:solidFill>
                      <a:srgbClr val="1A2044"/>
                    </a:solidFill>
                  </a:tcPr>
                </a:tc>
                <a:tc>
                  <a:txBody>
                    <a:bodyPr/>
                    <a:lstStyle/>
                    <a:p>
                      <a:pPr marL="0" indent="0">
                        <a:buNone/>
                      </a:pPr>
                      <a:r>
                        <a:rPr lang="en-US" sz="1000" dirty="0">
                          <a:solidFill>
                            <a:srgbClr val="EEF0F8"/>
                          </a:solidFill>
                          <a:latin typeface="Arial" pitchFamily="34" charset="0"/>
                          <a:ea typeface="Arial" pitchFamily="34" charset="-122"/>
                          <a:cs typeface="Arial" pitchFamily="34" charset="-120"/>
                        </a:rPr>
                        <a:t>3</a:t>
                      </a:r>
                      <a:endParaRPr lang="en-US" sz="1000" dirty="0">
                        <a:latin typeface="Arial" charset="0"/>
                        <a:ea typeface="Arial" charset="0"/>
                        <a:cs typeface="Arial" charset="0"/>
                      </a:endParaRPr>
                    </a:p>
                  </a:txBody>
                  <a:tcPr marL="64008" marR="64008" marT="0" marB="0" anchor="ctr">
                    <a:lnL w="9525" cap="flat" cmpd="sng" algn="ctr">
                      <a:solidFill>
                        <a:srgbClr val="2E3768"/>
                      </a:solidFill>
                      <a:prstDash val="solid"/>
                      <a:round/>
                      <a:headEnd type="none" w="med" len="med"/>
                      <a:tailEnd type="none" w="med" len="med"/>
                    </a:lnL>
                    <a:lnR w="9525" cap="flat" cmpd="sng" algn="ctr">
                      <a:solidFill>
                        <a:srgbClr val="2E3768"/>
                      </a:solidFill>
                      <a:prstDash val="solid"/>
                      <a:round/>
                      <a:headEnd type="none" w="med" len="med"/>
                      <a:tailEnd type="none" w="med" len="med"/>
                    </a:lnR>
                    <a:lnT w="9525" cap="flat" cmpd="sng" algn="ctr">
                      <a:solidFill>
                        <a:srgbClr val="2E3768"/>
                      </a:solidFill>
                      <a:prstDash val="solid"/>
                      <a:round/>
                      <a:headEnd type="none" w="med" len="med"/>
                      <a:tailEnd type="none" w="med" len="med"/>
                    </a:lnT>
                    <a:lnB w="9525" cap="flat" cmpd="sng" algn="ctr">
                      <a:solidFill>
                        <a:srgbClr val="2E3768"/>
                      </a:solidFill>
                      <a:prstDash val="solid"/>
                      <a:round/>
                      <a:headEnd type="none" w="med" len="med"/>
                      <a:tailEnd type="none" w="med" len="med"/>
                    </a:lnB>
                    <a:solidFill>
                      <a:srgbClr val="1A2044"/>
                    </a:solidFill>
                  </a:tcPr>
                </a:tc>
                <a:tc>
                  <a:txBody>
                    <a:bodyPr/>
                    <a:lstStyle/>
                    <a:p>
                      <a:pPr marL="0" indent="0">
                        <a:buNone/>
                      </a:pPr>
                      <a:r>
                        <a:rPr lang="en-US" sz="1000" dirty="0">
                          <a:solidFill>
                            <a:srgbClr val="EEF0F8"/>
                          </a:solidFill>
                          <a:latin typeface="Courier New" pitchFamily="34" charset="0"/>
                          <a:ea typeface="Courier New" pitchFamily="34" charset="-122"/>
                          <a:cs typeface="Courier New" pitchFamily="34" charset="-120"/>
                        </a:rPr>
                        <a:t>0-0-3</a:t>
                      </a:r>
                      <a:endParaRPr lang="en-US" sz="1000" dirty="0">
                        <a:latin typeface="Courier New" charset="0"/>
                        <a:ea typeface="Courier New" charset="0"/>
                        <a:cs typeface="Courier New" charset="0"/>
                      </a:endParaRPr>
                    </a:p>
                  </a:txBody>
                  <a:tcPr marL="64008" marR="64008" marT="0" marB="0" anchor="ctr">
                    <a:lnL w="9525" cap="flat" cmpd="sng" algn="ctr">
                      <a:solidFill>
                        <a:srgbClr val="2E3768"/>
                      </a:solidFill>
                      <a:prstDash val="solid"/>
                      <a:round/>
                      <a:headEnd type="none" w="med" len="med"/>
                      <a:tailEnd type="none" w="med" len="med"/>
                    </a:lnL>
                    <a:lnR w="9525" cap="flat" cmpd="sng" algn="ctr">
                      <a:solidFill>
                        <a:srgbClr val="2E3768"/>
                      </a:solidFill>
                      <a:prstDash val="solid"/>
                      <a:round/>
                      <a:headEnd type="none" w="med" len="med"/>
                      <a:tailEnd type="none" w="med" len="med"/>
                    </a:lnR>
                    <a:lnT w="9525" cap="flat" cmpd="sng" algn="ctr">
                      <a:solidFill>
                        <a:srgbClr val="2E3768"/>
                      </a:solidFill>
                      <a:prstDash val="solid"/>
                      <a:round/>
                      <a:headEnd type="none" w="med" len="med"/>
                      <a:tailEnd type="none" w="med" len="med"/>
                    </a:lnT>
                    <a:lnB w="9525" cap="flat" cmpd="sng" algn="ctr">
                      <a:solidFill>
                        <a:srgbClr val="2E3768"/>
                      </a:solidFill>
                      <a:prstDash val="solid"/>
                      <a:round/>
                      <a:headEnd type="none" w="med" len="med"/>
                      <a:tailEnd type="none" w="med" len="med"/>
                    </a:lnB>
                    <a:solidFill>
                      <a:srgbClr val="1A2044"/>
                    </a:solidFill>
                  </a:tcPr>
                </a:tc>
                <a:extLst>
                  <a:ext uri="{0D108BD9-81ED-4DB2-BD59-A6C34878D82A}">
                    <a16:rowId xmlns:a16="http://schemas.microsoft.com/office/drawing/2014/main" val="10002"/>
                  </a:ext>
                </a:extLst>
              </a:tr>
              <a:tr h="347472">
                <a:tc>
                  <a:txBody>
                    <a:bodyPr/>
                    <a:lstStyle/>
                    <a:p>
                      <a:pPr marL="0" indent="0">
                        <a:buNone/>
                      </a:pPr>
                      <a:r>
                        <a:rPr lang="en-US" sz="1000" dirty="0">
                          <a:solidFill>
                            <a:srgbClr val="EEF0F8"/>
                          </a:solidFill>
                          <a:latin typeface="Courier New" pitchFamily="34" charset="0"/>
                          <a:ea typeface="Courier New" pitchFamily="34" charset="-122"/>
                          <a:cs typeface="Courier New" pitchFamily="34" charset="-120"/>
                        </a:rPr>
                        <a:t>li &gt; a[href*="en"] &gt; .warn</a:t>
                      </a:r>
                      <a:endParaRPr lang="en-US" sz="1000" dirty="0">
                        <a:latin typeface="Courier New" charset="0"/>
                        <a:ea typeface="Courier New" charset="0"/>
                        <a:cs typeface="Courier New" charset="0"/>
                      </a:endParaRPr>
                    </a:p>
                  </a:txBody>
                  <a:tcPr marL="64008" marR="64008" marT="0" marB="0" anchor="ctr">
                    <a:lnL w="9525" cap="flat" cmpd="sng" algn="ctr">
                      <a:solidFill>
                        <a:srgbClr val="2E3768"/>
                      </a:solidFill>
                      <a:prstDash val="solid"/>
                      <a:round/>
                      <a:headEnd type="none" w="med" len="med"/>
                      <a:tailEnd type="none" w="med" len="med"/>
                    </a:lnL>
                    <a:lnR w="9525" cap="flat" cmpd="sng" algn="ctr">
                      <a:solidFill>
                        <a:srgbClr val="2E3768"/>
                      </a:solidFill>
                      <a:prstDash val="solid"/>
                      <a:round/>
                      <a:headEnd type="none" w="med" len="med"/>
                      <a:tailEnd type="none" w="med" len="med"/>
                    </a:lnR>
                    <a:lnT w="9525" cap="flat" cmpd="sng" algn="ctr">
                      <a:solidFill>
                        <a:srgbClr val="2E3768"/>
                      </a:solidFill>
                      <a:prstDash val="solid"/>
                      <a:round/>
                      <a:headEnd type="none" w="med" len="med"/>
                      <a:tailEnd type="none" w="med" len="med"/>
                    </a:lnT>
                    <a:lnB w="9525" cap="flat" cmpd="sng" algn="ctr">
                      <a:solidFill>
                        <a:srgbClr val="2E3768"/>
                      </a:solidFill>
                      <a:prstDash val="solid"/>
                      <a:round/>
                      <a:headEnd type="none" w="med" len="med"/>
                      <a:tailEnd type="none" w="med" len="med"/>
                    </a:lnB>
                    <a:solidFill>
                      <a:srgbClr val="1A2044"/>
                    </a:solidFill>
                  </a:tcPr>
                </a:tc>
                <a:tc>
                  <a:txBody>
                    <a:bodyPr/>
                    <a:lstStyle/>
                    <a:p>
                      <a:pPr marL="0" indent="0">
                        <a:buNone/>
                      </a:pPr>
                      <a:r>
                        <a:rPr lang="en-US" sz="1000" dirty="0">
                          <a:solidFill>
                            <a:srgbClr val="EEF0F8"/>
                          </a:solidFill>
                          <a:latin typeface="Arial" pitchFamily="34" charset="0"/>
                          <a:ea typeface="Arial" pitchFamily="34" charset="-122"/>
                          <a:cs typeface="Arial" pitchFamily="34" charset="-120"/>
                        </a:rPr>
                        <a:t>0</a:t>
                      </a:r>
                      <a:endParaRPr lang="en-US" sz="1000" dirty="0">
                        <a:latin typeface="Arial" charset="0"/>
                        <a:ea typeface="Arial" charset="0"/>
                        <a:cs typeface="Arial" charset="0"/>
                      </a:endParaRPr>
                    </a:p>
                  </a:txBody>
                  <a:tcPr marL="64008" marR="64008" marT="0" marB="0" anchor="ctr">
                    <a:lnL w="9525" cap="flat" cmpd="sng" algn="ctr">
                      <a:solidFill>
                        <a:srgbClr val="2E3768"/>
                      </a:solidFill>
                      <a:prstDash val="solid"/>
                      <a:round/>
                      <a:headEnd type="none" w="med" len="med"/>
                      <a:tailEnd type="none" w="med" len="med"/>
                    </a:lnL>
                    <a:lnR w="9525" cap="flat" cmpd="sng" algn="ctr">
                      <a:solidFill>
                        <a:srgbClr val="2E3768"/>
                      </a:solidFill>
                      <a:prstDash val="solid"/>
                      <a:round/>
                      <a:headEnd type="none" w="med" len="med"/>
                      <a:tailEnd type="none" w="med" len="med"/>
                    </a:lnR>
                    <a:lnT w="9525" cap="flat" cmpd="sng" algn="ctr">
                      <a:solidFill>
                        <a:srgbClr val="2E3768"/>
                      </a:solidFill>
                      <a:prstDash val="solid"/>
                      <a:round/>
                      <a:headEnd type="none" w="med" len="med"/>
                      <a:tailEnd type="none" w="med" len="med"/>
                    </a:lnT>
                    <a:lnB w="9525" cap="flat" cmpd="sng" algn="ctr">
                      <a:solidFill>
                        <a:srgbClr val="2E3768"/>
                      </a:solidFill>
                      <a:prstDash val="solid"/>
                      <a:round/>
                      <a:headEnd type="none" w="med" len="med"/>
                      <a:tailEnd type="none" w="med" len="med"/>
                    </a:lnB>
                    <a:solidFill>
                      <a:srgbClr val="1A2044"/>
                    </a:solidFill>
                  </a:tcPr>
                </a:tc>
                <a:tc>
                  <a:txBody>
                    <a:bodyPr/>
                    <a:lstStyle/>
                    <a:p>
                      <a:pPr marL="0" indent="0">
                        <a:buNone/>
                      </a:pPr>
                      <a:r>
                        <a:rPr lang="en-US" sz="1000" dirty="0">
                          <a:solidFill>
                            <a:srgbClr val="EEF0F8"/>
                          </a:solidFill>
                          <a:latin typeface="Arial" pitchFamily="34" charset="0"/>
                          <a:ea typeface="Arial" pitchFamily="34" charset="-122"/>
                          <a:cs typeface="Arial" pitchFamily="34" charset="-120"/>
                        </a:rPr>
                        <a:t>2</a:t>
                      </a:r>
                      <a:endParaRPr lang="en-US" sz="1000" dirty="0">
                        <a:latin typeface="Arial" charset="0"/>
                        <a:ea typeface="Arial" charset="0"/>
                        <a:cs typeface="Arial" charset="0"/>
                      </a:endParaRPr>
                    </a:p>
                  </a:txBody>
                  <a:tcPr marL="64008" marR="64008" marT="0" marB="0" anchor="ctr">
                    <a:lnL w="9525" cap="flat" cmpd="sng" algn="ctr">
                      <a:solidFill>
                        <a:srgbClr val="2E3768"/>
                      </a:solidFill>
                      <a:prstDash val="solid"/>
                      <a:round/>
                      <a:headEnd type="none" w="med" len="med"/>
                      <a:tailEnd type="none" w="med" len="med"/>
                    </a:lnL>
                    <a:lnR w="9525" cap="flat" cmpd="sng" algn="ctr">
                      <a:solidFill>
                        <a:srgbClr val="2E3768"/>
                      </a:solidFill>
                      <a:prstDash val="solid"/>
                      <a:round/>
                      <a:headEnd type="none" w="med" len="med"/>
                      <a:tailEnd type="none" w="med" len="med"/>
                    </a:lnR>
                    <a:lnT w="9525" cap="flat" cmpd="sng" algn="ctr">
                      <a:solidFill>
                        <a:srgbClr val="2E3768"/>
                      </a:solidFill>
                      <a:prstDash val="solid"/>
                      <a:round/>
                      <a:headEnd type="none" w="med" len="med"/>
                      <a:tailEnd type="none" w="med" len="med"/>
                    </a:lnT>
                    <a:lnB w="9525" cap="flat" cmpd="sng" algn="ctr">
                      <a:solidFill>
                        <a:srgbClr val="2E3768"/>
                      </a:solidFill>
                      <a:prstDash val="solid"/>
                      <a:round/>
                      <a:headEnd type="none" w="med" len="med"/>
                      <a:tailEnd type="none" w="med" len="med"/>
                    </a:lnB>
                    <a:solidFill>
                      <a:srgbClr val="1A2044"/>
                    </a:solidFill>
                  </a:tcPr>
                </a:tc>
                <a:tc>
                  <a:txBody>
                    <a:bodyPr/>
                    <a:lstStyle/>
                    <a:p>
                      <a:pPr marL="0" indent="0">
                        <a:buNone/>
                      </a:pPr>
                      <a:r>
                        <a:rPr lang="en-US" sz="1000" dirty="0">
                          <a:solidFill>
                            <a:srgbClr val="EEF0F8"/>
                          </a:solidFill>
                          <a:latin typeface="Arial" pitchFamily="34" charset="0"/>
                          <a:ea typeface="Arial" pitchFamily="34" charset="-122"/>
                          <a:cs typeface="Arial" pitchFamily="34" charset="-120"/>
                        </a:rPr>
                        <a:t>2</a:t>
                      </a:r>
                      <a:endParaRPr lang="en-US" sz="1000" dirty="0">
                        <a:latin typeface="Arial" charset="0"/>
                        <a:ea typeface="Arial" charset="0"/>
                        <a:cs typeface="Arial" charset="0"/>
                      </a:endParaRPr>
                    </a:p>
                  </a:txBody>
                  <a:tcPr marL="64008" marR="64008" marT="0" marB="0" anchor="ctr">
                    <a:lnL w="9525" cap="flat" cmpd="sng" algn="ctr">
                      <a:solidFill>
                        <a:srgbClr val="2E3768"/>
                      </a:solidFill>
                      <a:prstDash val="solid"/>
                      <a:round/>
                      <a:headEnd type="none" w="med" len="med"/>
                      <a:tailEnd type="none" w="med" len="med"/>
                    </a:lnL>
                    <a:lnR w="9525" cap="flat" cmpd="sng" algn="ctr">
                      <a:solidFill>
                        <a:srgbClr val="2E3768"/>
                      </a:solidFill>
                      <a:prstDash val="solid"/>
                      <a:round/>
                      <a:headEnd type="none" w="med" len="med"/>
                      <a:tailEnd type="none" w="med" len="med"/>
                    </a:lnR>
                    <a:lnT w="9525" cap="flat" cmpd="sng" algn="ctr">
                      <a:solidFill>
                        <a:srgbClr val="2E3768"/>
                      </a:solidFill>
                      <a:prstDash val="solid"/>
                      <a:round/>
                      <a:headEnd type="none" w="med" len="med"/>
                      <a:tailEnd type="none" w="med" len="med"/>
                    </a:lnT>
                    <a:lnB w="9525" cap="flat" cmpd="sng" algn="ctr">
                      <a:solidFill>
                        <a:srgbClr val="2E3768"/>
                      </a:solidFill>
                      <a:prstDash val="solid"/>
                      <a:round/>
                      <a:headEnd type="none" w="med" len="med"/>
                      <a:tailEnd type="none" w="med" len="med"/>
                    </a:lnB>
                    <a:solidFill>
                      <a:srgbClr val="1A2044"/>
                    </a:solidFill>
                  </a:tcPr>
                </a:tc>
                <a:tc>
                  <a:txBody>
                    <a:bodyPr/>
                    <a:lstStyle/>
                    <a:p>
                      <a:pPr marL="0" indent="0">
                        <a:buNone/>
                      </a:pPr>
                      <a:r>
                        <a:rPr lang="en-US" sz="1000" dirty="0">
                          <a:solidFill>
                            <a:srgbClr val="EEF0F8"/>
                          </a:solidFill>
                          <a:latin typeface="Courier New" pitchFamily="34" charset="0"/>
                          <a:ea typeface="Courier New" pitchFamily="34" charset="-122"/>
                          <a:cs typeface="Courier New" pitchFamily="34" charset="-120"/>
                        </a:rPr>
                        <a:t>0-2-2</a:t>
                      </a:r>
                      <a:endParaRPr lang="en-US" sz="1000" dirty="0">
                        <a:latin typeface="Courier New" charset="0"/>
                        <a:ea typeface="Courier New" charset="0"/>
                        <a:cs typeface="Courier New" charset="0"/>
                      </a:endParaRPr>
                    </a:p>
                  </a:txBody>
                  <a:tcPr marL="64008" marR="64008" marT="0" marB="0" anchor="ctr">
                    <a:lnL w="9525" cap="flat" cmpd="sng" algn="ctr">
                      <a:solidFill>
                        <a:srgbClr val="2E3768"/>
                      </a:solidFill>
                      <a:prstDash val="solid"/>
                      <a:round/>
                      <a:headEnd type="none" w="med" len="med"/>
                      <a:tailEnd type="none" w="med" len="med"/>
                    </a:lnL>
                    <a:lnR w="9525" cap="flat" cmpd="sng" algn="ctr">
                      <a:solidFill>
                        <a:srgbClr val="2E3768"/>
                      </a:solidFill>
                      <a:prstDash val="solid"/>
                      <a:round/>
                      <a:headEnd type="none" w="med" len="med"/>
                      <a:tailEnd type="none" w="med" len="med"/>
                    </a:lnR>
                    <a:lnT w="9525" cap="flat" cmpd="sng" algn="ctr">
                      <a:solidFill>
                        <a:srgbClr val="2E3768"/>
                      </a:solidFill>
                      <a:prstDash val="solid"/>
                      <a:round/>
                      <a:headEnd type="none" w="med" len="med"/>
                      <a:tailEnd type="none" w="med" len="med"/>
                    </a:lnT>
                    <a:lnB w="9525" cap="flat" cmpd="sng" algn="ctr">
                      <a:solidFill>
                        <a:srgbClr val="2E3768"/>
                      </a:solidFill>
                      <a:prstDash val="solid"/>
                      <a:round/>
                      <a:headEnd type="none" w="med" len="med"/>
                      <a:tailEnd type="none" w="med" len="med"/>
                    </a:lnB>
                    <a:solidFill>
                      <a:srgbClr val="1A2044"/>
                    </a:solidFill>
                  </a:tcPr>
                </a:tc>
                <a:extLst>
                  <a:ext uri="{0D108BD9-81ED-4DB2-BD59-A6C34878D82A}">
                    <a16:rowId xmlns:a16="http://schemas.microsoft.com/office/drawing/2014/main" val="10003"/>
                  </a:ext>
                </a:extLst>
              </a:tr>
              <a:tr h="347472">
                <a:tc>
                  <a:txBody>
                    <a:bodyPr/>
                    <a:lstStyle/>
                    <a:p>
                      <a:pPr marL="0" indent="0">
                        <a:buNone/>
                      </a:pPr>
                      <a:r>
                        <a:rPr lang="en-US" sz="1000" dirty="0">
                          <a:solidFill>
                            <a:srgbClr val="EEF0F8"/>
                          </a:solidFill>
                          <a:latin typeface="Courier New" pitchFamily="34" charset="0"/>
                          <a:ea typeface="Courier New" pitchFamily="34" charset="-122"/>
                          <a:cs typeface="Courier New" pitchFamily="34" charset="-120"/>
                        </a:rPr>
                        <a:t>#identifier</a:t>
                      </a:r>
                      <a:endParaRPr lang="en-US" sz="1000" dirty="0">
                        <a:latin typeface="Courier New" charset="0"/>
                        <a:ea typeface="Courier New" charset="0"/>
                        <a:cs typeface="Courier New" charset="0"/>
                      </a:endParaRPr>
                    </a:p>
                  </a:txBody>
                  <a:tcPr marL="64008" marR="64008" marT="0" marB="0" anchor="ctr">
                    <a:lnL w="9525" cap="flat" cmpd="sng" algn="ctr">
                      <a:solidFill>
                        <a:srgbClr val="2E3768"/>
                      </a:solidFill>
                      <a:prstDash val="solid"/>
                      <a:round/>
                      <a:headEnd type="none" w="med" len="med"/>
                      <a:tailEnd type="none" w="med" len="med"/>
                    </a:lnL>
                    <a:lnR w="9525" cap="flat" cmpd="sng" algn="ctr">
                      <a:solidFill>
                        <a:srgbClr val="2E3768"/>
                      </a:solidFill>
                      <a:prstDash val="solid"/>
                      <a:round/>
                      <a:headEnd type="none" w="med" len="med"/>
                      <a:tailEnd type="none" w="med" len="med"/>
                    </a:lnR>
                    <a:lnT w="9525" cap="flat" cmpd="sng" algn="ctr">
                      <a:solidFill>
                        <a:srgbClr val="2E3768"/>
                      </a:solidFill>
                      <a:prstDash val="solid"/>
                      <a:round/>
                      <a:headEnd type="none" w="med" len="med"/>
                      <a:tailEnd type="none" w="med" len="med"/>
                    </a:lnT>
                    <a:lnB w="9525" cap="flat" cmpd="sng" algn="ctr">
                      <a:solidFill>
                        <a:srgbClr val="2E3768"/>
                      </a:solidFill>
                      <a:prstDash val="solid"/>
                      <a:round/>
                      <a:headEnd type="none" w="med" len="med"/>
                      <a:tailEnd type="none" w="med" len="med"/>
                    </a:lnB>
                    <a:solidFill>
                      <a:srgbClr val="1A2044"/>
                    </a:solidFill>
                  </a:tcPr>
                </a:tc>
                <a:tc>
                  <a:txBody>
                    <a:bodyPr/>
                    <a:lstStyle/>
                    <a:p>
                      <a:pPr marL="0" indent="0">
                        <a:buNone/>
                      </a:pPr>
                      <a:r>
                        <a:rPr lang="en-US" sz="1000" dirty="0">
                          <a:solidFill>
                            <a:srgbClr val="EEF0F8"/>
                          </a:solidFill>
                          <a:latin typeface="Arial" pitchFamily="34" charset="0"/>
                          <a:ea typeface="Arial" pitchFamily="34" charset="-122"/>
                          <a:cs typeface="Arial" pitchFamily="34" charset="-120"/>
                        </a:rPr>
                        <a:t>1</a:t>
                      </a:r>
                      <a:endParaRPr lang="en-US" sz="1000" dirty="0">
                        <a:latin typeface="Arial" charset="0"/>
                        <a:ea typeface="Arial" charset="0"/>
                        <a:cs typeface="Arial" charset="0"/>
                      </a:endParaRPr>
                    </a:p>
                  </a:txBody>
                  <a:tcPr marL="64008" marR="64008" marT="0" marB="0" anchor="ctr">
                    <a:lnL w="9525" cap="flat" cmpd="sng" algn="ctr">
                      <a:solidFill>
                        <a:srgbClr val="2E3768"/>
                      </a:solidFill>
                      <a:prstDash val="solid"/>
                      <a:round/>
                      <a:headEnd type="none" w="med" len="med"/>
                      <a:tailEnd type="none" w="med" len="med"/>
                    </a:lnL>
                    <a:lnR w="9525" cap="flat" cmpd="sng" algn="ctr">
                      <a:solidFill>
                        <a:srgbClr val="2E3768"/>
                      </a:solidFill>
                      <a:prstDash val="solid"/>
                      <a:round/>
                      <a:headEnd type="none" w="med" len="med"/>
                      <a:tailEnd type="none" w="med" len="med"/>
                    </a:lnR>
                    <a:lnT w="9525" cap="flat" cmpd="sng" algn="ctr">
                      <a:solidFill>
                        <a:srgbClr val="2E3768"/>
                      </a:solidFill>
                      <a:prstDash val="solid"/>
                      <a:round/>
                      <a:headEnd type="none" w="med" len="med"/>
                      <a:tailEnd type="none" w="med" len="med"/>
                    </a:lnT>
                    <a:lnB w="9525" cap="flat" cmpd="sng" algn="ctr">
                      <a:solidFill>
                        <a:srgbClr val="2E3768"/>
                      </a:solidFill>
                      <a:prstDash val="solid"/>
                      <a:round/>
                      <a:headEnd type="none" w="med" len="med"/>
                      <a:tailEnd type="none" w="med" len="med"/>
                    </a:lnB>
                    <a:solidFill>
                      <a:srgbClr val="1A2044"/>
                    </a:solidFill>
                  </a:tcPr>
                </a:tc>
                <a:tc>
                  <a:txBody>
                    <a:bodyPr/>
                    <a:lstStyle/>
                    <a:p>
                      <a:pPr marL="0" indent="0">
                        <a:buNone/>
                      </a:pPr>
                      <a:r>
                        <a:rPr lang="en-US" sz="1000" dirty="0">
                          <a:solidFill>
                            <a:srgbClr val="EEF0F8"/>
                          </a:solidFill>
                          <a:latin typeface="Arial" pitchFamily="34" charset="0"/>
                          <a:ea typeface="Arial" pitchFamily="34" charset="-122"/>
                          <a:cs typeface="Arial" pitchFamily="34" charset="-120"/>
                        </a:rPr>
                        <a:t>0</a:t>
                      </a:r>
                      <a:endParaRPr lang="en-US" sz="1000" dirty="0">
                        <a:latin typeface="Arial" charset="0"/>
                        <a:ea typeface="Arial" charset="0"/>
                        <a:cs typeface="Arial" charset="0"/>
                      </a:endParaRPr>
                    </a:p>
                  </a:txBody>
                  <a:tcPr marL="64008" marR="64008" marT="0" marB="0" anchor="ctr">
                    <a:lnL w="9525" cap="flat" cmpd="sng" algn="ctr">
                      <a:solidFill>
                        <a:srgbClr val="2E3768"/>
                      </a:solidFill>
                      <a:prstDash val="solid"/>
                      <a:round/>
                      <a:headEnd type="none" w="med" len="med"/>
                      <a:tailEnd type="none" w="med" len="med"/>
                    </a:lnL>
                    <a:lnR w="9525" cap="flat" cmpd="sng" algn="ctr">
                      <a:solidFill>
                        <a:srgbClr val="2E3768"/>
                      </a:solidFill>
                      <a:prstDash val="solid"/>
                      <a:round/>
                      <a:headEnd type="none" w="med" len="med"/>
                      <a:tailEnd type="none" w="med" len="med"/>
                    </a:lnR>
                    <a:lnT w="9525" cap="flat" cmpd="sng" algn="ctr">
                      <a:solidFill>
                        <a:srgbClr val="2E3768"/>
                      </a:solidFill>
                      <a:prstDash val="solid"/>
                      <a:round/>
                      <a:headEnd type="none" w="med" len="med"/>
                      <a:tailEnd type="none" w="med" len="med"/>
                    </a:lnT>
                    <a:lnB w="9525" cap="flat" cmpd="sng" algn="ctr">
                      <a:solidFill>
                        <a:srgbClr val="2E3768"/>
                      </a:solidFill>
                      <a:prstDash val="solid"/>
                      <a:round/>
                      <a:headEnd type="none" w="med" len="med"/>
                      <a:tailEnd type="none" w="med" len="med"/>
                    </a:lnB>
                    <a:solidFill>
                      <a:srgbClr val="1A2044"/>
                    </a:solidFill>
                  </a:tcPr>
                </a:tc>
                <a:tc>
                  <a:txBody>
                    <a:bodyPr/>
                    <a:lstStyle/>
                    <a:p>
                      <a:pPr marL="0" indent="0">
                        <a:buNone/>
                      </a:pPr>
                      <a:r>
                        <a:rPr lang="en-US" sz="1000" dirty="0">
                          <a:solidFill>
                            <a:srgbClr val="EEF0F8"/>
                          </a:solidFill>
                          <a:latin typeface="Arial" pitchFamily="34" charset="0"/>
                          <a:ea typeface="Arial" pitchFamily="34" charset="-122"/>
                          <a:cs typeface="Arial" pitchFamily="34" charset="-120"/>
                        </a:rPr>
                        <a:t>0</a:t>
                      </a:r>
                      <a:endParaRPr lang="en-US" sz="1000" dirty="0">
                        <a:latin typeface="Arial" charset="0"/>
                        <a:ea typeface="Arial" charset="0"/>
                        <a:cs typeface="Arial" charset="0"/>
                      </a:endParaRPr>
                    </a:p>
                  </a:txBody>
                  <a:tcPr marL="64008" marR="64008" marT="0" marB="0" anchor="ctr">
                    <a:lnL w="9525" cap="flat" cmpd="sng" algn="ctr">
                      <a:solidFill>
                        <a:srgbClr val="2E3768"/>
                      </a:solidFill>
                      <a:prstDash val="solid"/>
                      <a:round/>
                      <a:headEnd type="none" w="med" len="med"/>
                      <a:tailEnd type="none" w="med" len="med"/>
                    </a:lnL>
                    <a:lnR w="9525" cap="flat" cmpd="sng" algn="ctr">
                      <a:solidFill>
                        <a:srgbClr val="2E3768"/>
                      </a:solidFill>
                      <a:prstDash val="solid"/>
                      <a:round/>
                      <a:headEnd type="none" w="med" len="med"/>
                      <a:tailEnd type="none" w="med" len="med"/>
                    </a:lnR>
                    <a:lnT w="9525" cap="flat" cmpd="sng" algn="ctr">
                      <a:solidFill>
                        <a:srgbClr val="2E3768"/>
                      </a:solidFill>
                      <a:prstDash val="solid"/>
                      <a:round/>
                      <a:headEnd type="none" w="med" len="med"/>
                      <a:tailEnd type="none" w="med" len="med"/>
                    </a:lnT>
                    <a:lnB w="9525" cap="flat" cmpd="sng" algn="ctr">
                      <a:solidFill>
                        <a:srgbClr val="2E3768"/>
                      </a:solidFill>
                      <a:prstDash val="solid"/>
                      <a:round/>
                      <a:headEnd type="none" w="med" len="med"/>
                      <a:tailEnd type="none" w="med" len="med"/>
                    </a:lnB>
                    <a:solidFill>
                      <a:srgbClr val="1A2044"/>
                    </a:solidFill>
                  </a:tcPr>
                </a:tc>
                <a:tc>
                  <a:txBody>
                    <a:bodyPr/>
                    <a:lstStyle/>
                    <a:p>
                      <a:pPr marL="0" indent="0">
                        <a:buNone/>
                      </a:pPr>
                      <a:r>
                        <a:rPr lang="en-US" sz="1000" dirty="0">
                          <a:solidFill>
                            <a:srgbClr val="EEF0F8"/>
                          </a:solidFill>
                          <a:latin typeface="Courier New" pitchFamily="34" charset="0"/>
                          <a:ea typeface="Courier New" pitchFamily="34" charset="-122"/>
                          <a:cs typeface="Courier New" pitchFamily="34" charset="-120"/>
                        </a:rPr>
                        <a:t>1-0-0</a:t>
                      </a:r>
                      <a:endParaRPr lang="en-US" sz="1000" dirty="0">
                        <a:latin typeface="Courier New" charset="0"/>
                        <a:ea typeface="Courier New" charset="0"/>
                        <a:cs typeface="Courier New" charset="0"/>
                      </a:endParaRPr>
                    </a:p>
                  </a:txBody>
                  <a:tcPr marL="64008" marR="64008" marT="0" marB="0" anchor="ctr">
                    <a:lnL w="9525" cap="flat" cmpd="sng" algn="ctr">
                      <a:solidFill>
                        <a:srgbClr val="2E3768"/>
                      </a:solidFill>
                      <a:prstDash val="solid"/>
                      <a:round/>
                      <a:headEnd type="none" w="med" len="med"/>
                      <a:tailEnd type="none" w="med" len="med"/>
                    </a:lnL>
                    <a:lnR w="9525" cap="flat" cmpd="sng" algn="ctr">
                      <a:solidFill>
                        <a:srgbClr val="2E3768"/>
                      </a:solidFill>
                      <a:prstDash val="solid"/>
                      <a:round/>
                      <a:headEnd type="none" w="med" len="med"/>
                      <a:tailEnd type="none" w="med" len="med"/>
                    </a:lnR>
                    <a:lnT w="9525" cap="flat" cmpd="sng" algn="ctr">
                      <a:solidFill>
                        <a:srgbClr val="2E3768"/>
                      </a:solidFill>
                      <a:prstDash val="solid"/>
                      <a:round/>
                      <a:headEnd type="none" w="med" len="med"/>
                      <a:tailEnd type="none" w="med" len="med"/>
                    </a:lnT>
                    <a:lnB w="9525" cap="flat" cmpd="sng" algn="ctr">
                      <a:solidFill>
                        <a:srgbClr val="2E3768"/>
                      </a:solidFill>
                      <a:prstDash val="solid"/>
                      <a:round/>
                      <a:headEnd type="none" w="med" len="med"/>
                      <a:tailEnd type="none" w="med" len="med"/>
                    </a:lnB>
                    <a:solidFill>
                      <a:srgbClr val="1A2044"/>
                    </a:solidFill>
                  </a:tcPr>
                </a:tc>
                <a:extLst>
                  <a:ext uri="{0D108BD9-81ED-4DB2-BD59-A6C34878D82A}">
                    <a16:rowId xmlns:a16="http://schemas.microsoft.com/office/drawing/2014/main" val="10004"/>
                  </a:ext>
                </a:extLst>
              </a:tr>
            </a:tbl>
          </a:graphicData>
        </a:graphic>
      </p:graphicFrame>
      <p:sp>
        <p:nvSpPr>
          <p:cNvPr id="14" name="Text 11"/>
          <p:cNvSpPr txBox="1"/>
          <p:nvPr/>
        </p:nvSpPr>
        <p:spPr>
          <a:xfrm>
            <a:off x="548640" y="3182112"/>
            <a:ext cx="4754880" cy="868680"/>
          </a:xfrm>
          <a:prstGeom prst="rect">
            <a:avLst/>
          </a:prstGeom>
          <a:noFill/>
          <a:ln/>
        </p:spPr>
        <p:txBody>
          <a:bodyPr wrap="square" lIns="0" tIns="0" rIns="0" bIns="0" rtlCol="0" anchor="t"/>
          <a:lstStyle/>
          <a:p>
            <a:pPr marL="0" indent="0">
              <a:buNone/>
            </a:pPr>
            <a:r>
              <a:rPr lang="en-US" sz="1000" dirty="0">
                <a:solidFill>
                  <a:srgbClr val="9AA3C7"/>
                </a:solidFill>
                <a:latin typeface="Arial" pitchFamily="34" charset="0"/>
                <a:ea typeface="Arial" pitchFamily="34" charset="-122"/>
                <a:cs typeface="Arial" pitchFamily="34" charset="-120"/>
              </a:rPr>
              <a:t>ID = 100, sınıf / öznitelik / sözde sınıf = 10, öğe / sözde öğe = 1. Sütunlar bağımsızdır: milyon sınıf bir ID'yi yenemez. *, birleştiriciler ve :where() puan eklemez.</a:t>
            </a:r>
            <a:endParaRPr lang="en-US" sz="1000" dirty="0"/>
          </a:p>
        </p:txBody>
      </p:sp>
      <p:sp>
        <p:nvSpPr>
          <p:cNvPr id="15" name="kart"/>
          <p:cNvSpPr/>
          <p:nvPr/>
        </p:nvSpPr>
        <p:spPr>
          <a:xfrm>
            <a:off x="5532120" y="1371600"/>
            <a:ext cx="3063240" cy="2724912"/>
          </a:xfrm>
          <a:prstGeom prst="roundRect">
            <a:avLst>
              <a:gd name="adj" fmla="val 2685"/>
            </a:avLst>
          </a:prstGeom>
          <a:solidFill>
            <a:srgbClr val="1A2044"/>
          </a:solidFill>
          <a:ln w="9525">
            <a:solidFill>
              <a:srgbClr val="2E3768"/>
            </a:solidFill>
            <a:prstDash val="solid"/>
          </a:ln>
        </p:spPr>
      </p:sp>
      <p:sp>
        <p:nvSpPr>
          <p:cNvPr id="13" name="kart-nokta"/>
          <p:cNvSpPr/>
          <p:nvPr/>
        </p:nvSpPr>
        <p:spPr>
          <a:xfrm>
            <a:off x="5678424" y="1527048"/>
            <a:ext cx="91440" cy="91440"/>
          </a:xfrm>
          <a:prstGeom prst="ellipse">
            <a:avLst/>
          </a:prstGeom>
          <a:solidFill>
            <a:srgbClr val="FBBF24"/>
          </a:solidFill>
          <a:ln/>
        </p:spPr>
      </p:sp>
      <p:sp>
        <p:nvSpPr>
          <p:cNvPr id="17" name="Text 14"/>
          <p:cNvSpPr txBox="1"/>
          <p:nvPr/>
        </p:nvSpPr>
        <p:spPr>
          <a:xfrm>
            <a:off x="5843016" y="1444752"/>
            <a:ext cx="2651760" cy="274320"/>
          </a:xfrm>
          <a:prstGeom prst="rect">
            <a:avLst/>
          </a:prstGeom>
          <a:noFill/>
          <a:ln/>
        </p:spPr>
        <p:txBody>
          <a:bodyPr wrap="square" lIns="0" tIns="0" rIns="0" bIns="0" rtlCol="0" anchor="ctr"/>
          <a:lstStyle/>
          <a:p>
            <a:pPr marL="0" indent="0">
              <a:buNone/>
            </a:pPr>
            <a:r>
              <a:rPr lang="en-US" sz="1150" b="1" dirty="0">
                <a:solidFill>
                  <a:srgbClr val="EEF0F8"/>
                </a:solidFill>
                <a:latin typeface="Arial" pitchFamily="34" charset="0"/>
                <a:ea typeface="Arial" pitchFamily="34" charset="-122"/>
                <a:cs typeface="Arial" pitchFamily="34" charset="-120"/>
              </a:rPr>
              <a:t>Öncelik sırası (düşük → yüksek)</a:t>
            </a:r>
            <a:endParaRPr lang="en-US" sz="1150" dirty="0"/>
          </a:p>
        </p:txBody>
      </p:sp>
      <p:sp>
        <p:nvSpPr>
          <p:cNvPr id="18" name="Text 15"/>
          <p:cNvSpPr txBox="1"/>
          <p:nvPr/>
        </p:nvSpPr>
        <p:spPr>
          <a:xfrm>
            <a:off x="5669280" y="1737360"/>
            <a:ext cx="2834640" cy="2331720"/>
          </a:xfrm>
          <a:prstGeom prst="rect">
            <a:avLst/>
          </a:prstGeom>
          <a:noFill/>
          <a:ln/>
        </p:spPr>
        <p:txBody>
          <a:bodyPr wrap="square" lIns="0" tIns="0" rIns="0" bIns="0" rtlCol="0" anchor="t"/>
          <a:lstStyle/>
          <a:p>
            <a:pPr marL="0" indent="0">
              <a:spcAft>
                <a:spcPts val="600"/>
              </a:spcAft>
              <a:buNone/>
            </a:pPr>
            <a:r>
              <a:rPr lang="en-US" sz="1000" b="1" dirty="0">
                <a:solidFill>
                  <a:srgbClr val="FBBF24"/>
                </a:solidFill>
                <a:latin typeface="Arial" pitchFamily="34" charset="0"/>
                <a:ea typeface="Arial" pitchFamily="34" charset="-122"/>
                <a:cs typeface="Arial" pitchFamily="34" charset="-120"/>
              </a:rPr>
              <a:t>1. </a:t>
            </a:r>
            <a:r>
              <a:rPr lang="en-US" sz="1000" dirty="0">
                <a:solidFill>
                  <a:srgbClr val="EEF0F8"/>
                </a:solidFill>
                <a:latin typeface="Arial" pitchFamily="34" charset="0"/>
                <a:ea typeface="Arial" pitchFamily="34" charset="-122"/>
                <a:cs typeface="Arial" pitchFamily="34" charset="-120"/>
              </a:rPr>
              <a:t>Tarayıcı varsayılanı</a:t>
            </a:r>
            <a:endParaRPr lang="en-US" sz="1000" dirty="0"/>
          </a:p>
          <a:p>
            <a:pPr marL="0" indent="0">
              <a:spcAft>
                <a:spcPts val="600"/>
              </a:spcAft>
              <a:buNone/>
            </a:pPr>
            <a:r>
              <a:rPr lang="en-US" sz="1000" b="1" dirty="0">
                <a:solidFill>
                  <a:srgbClr val="FBBF24"/>
                </a:solidFill>
                <a:latin typeface="Arial" pitchFamily="34" charset="0"/>
                <a:ea typeface="Arial" pitchFamily="34" charset="-122"/>
                <a:cs typeface="Arial" pitchFamily="34" charset="-120"/>
              </a:rPr>
              <a:t>2. </a:t>
            </a:r>
            <a:r>
              <a:rPr lang="en-US" sz="1000" dirty="0">
                <a:solidFill>
                  <a:srgbClr val="EEF0F8"/>
                </a:solidFill>
                <a:latin typeface="Arial" pitchFamily="34" charset="0"/>
                <a:ea typeface="Arial" pitchFamily="34" charset="-122"/>
                <a:cs typeface="Arial" pitchFamily="34" charset="-120"/>
              </a:rPr>
              <a:t>Kullanıcı stili</a:t>
            </a:r>
            <a:endParaRPr lang="en-US" sz="1000" dirty="0"/>
          </a:p>
          <a:p>
            <a:pPr marL="0" indent="0">
              <a:spcAft>
                <a:spcPts val="600"/>
              </a:spcAft>
              <a:buNone/>
            </a:pPr>
            <a:r>
              <a:rPr lang="en-US" sz="1000" b="1" dirty="0">
                <a:solidFill>
                  <a:srgbClr val="FBBF24"/>
                </a:solidFill>
                <a:latin typeface="Arial" pitchFamily="34" charset="0"/>
                <a:ea typeface="Arial" pitchFamily="34" charset="-122"/>
                <a:cs typeface="Arial" pitchFamily="34" charset="-120"/>
              </a:rPr>
              <a:t>3. </a:t>
            </a:r>
            <a:r>
              <a:rPr lang="en-US" sz="1000" dirty="0">
                <a:solidFill>
                  <a:srgbClr val="EEF0F8"/>
                </a:solidFill>
                <a:latin typeface="Arial" pitchFamily="34" charset="0"/>
                <a:ea typeface="Arial" pitchFamily="34" charset="-122"/>
                <a:cs typeface="Arial" pitchFamily="34" charset="-120"/>
              </a:rPr>
              <a:t>Geliştirici (senin CSS'in)</a:t>
            </a:r>
            <a:endParaRPr lang="en-US" sz="1000" dirty="0"/>
          </a:p>
          <a:p>
            <a:pPr marL="0" indent="0">
              <a:spcAft>
                <a:spcPts val="600"/>
              </a:spcAft>
              <a:buNone/>
            </a:pPr>
            <a:r>
              <a:rPr lang="en-US" sz="1000" b="1" dirty="0">
                <a:solidFill>
                  <a:srgbClr val="FBBF24"/>
                </a:solidFill>
                <a:latin typeface="Arial" pitchFamily="34" charset="0"/>
                <a:ea typeface="Arial" pitchFamily="34" charset="-122"/>
                <a:cs typeface="Arial" pitchFamily="34" charset="-120"/>
              </a:rPr>
              <a:t>4. </a:t>
            </a:r>
            <a:r>
              <a:rPr lang="en-US" sz="1000" dirty="0">
                <a:solidFill>
                  <a:srgbClr val="EEF0F8"/>
                </a:solidFill>
                <a:latin typeface="Arial" pitchFamily="34" charset="0"/>
                <a:ea typeface="Arial" pitchFamily="34" charset="-122"/>
                <a:cs typeface="Arial" pitchFamily="34" charset="-120"/>
              </a:rPr>
              <a:t>Satır içi style (≈ 1-0-0-0)</a:t>
            </a:r>
            <a:endParaRPr lang="en-US" sz="1000" dirty="0"/>
          </a:p>
          <a:p>
            <a:pPr marL="0" indent="0">
              <a:spcAft>
                <a:spcPts val="600"/>
              </a:spcAft>
              <a:buNone/>
            </a:pPr>
            <a:r>
              <a:rPr lang="en-US" sz="1000" b="1" dirty="0">
                <a:solidFill>
                  <a:srgbClr val="FBBF24"/>
                </a:solidFill>
                <a:latin typeface="Arial" pitchFamily="34" charset="0"/>
                <a:ea typeface="Arial" pitchFamily="34" charset="-122"/>
                <a:cs typeface="Arial" pitchFamily="34" charset="-120"/>
              </a:rPr>
              <a:t>5. </a:t>
            </a:r>
            <a:r>
              <a:rPr lang="en-US" sz="1000" dirty="0">
                <a:solidFill>
                  <a:srgbClr val="EEF0F8"/>
                </a:solidFill>
                <a:latin typeface="Arial" pitchFamily="34" charset="0"/>
                <a:ea typeface="Arial" pitchFamily="34" charset="-122"/>
                <a:cs typeface="Arial" pitchFamily="34" charset="-120"/>
              </a:rPr>
              <a:t>!important: hepsini ezer; mecbur kalmadıkça kullanma, hata ayıklamayı zorlaştırır</a:t>
            </a:r>
            <a:endParaRPr lang="en-US" sz="1000" dirty="0"/>
          </a:p>
        </p:txBody>
      </p:sp>
      <p:sp>
        <p:nvSpPr>
          <p:cNvPr id="19" name="benzetme"/>
          <p:cNvSpPr/>
          <p:nvPr/>
        </p:nvSpPr>
        <p:spPr>
          <a:xfrm>
            <a:off x="548640" y="4224528"/>
            <a:ext cx="8046720" cy="402336"/>
          </a:xfrm>
          <a:prstGeom prst="roundRect">
            <a:avLst>
              <a:gd name="adj" fmla="val 50000"/>
            </a:avLst>
          </a:prstGeom>
          <a:solidFill>
            <a:srgbClr val="232A55"/>
          </a:solidFill>
          <a:ln/>
        </p:spPr>
      </p:sp>
      <p:sp>
        <p:nvSpPr>
          <p:cNvPr id="20" name="benzetme-ikon"/>
          <p:cNvSpPr/>
          <p:nvPr/>
        </p:nvSpPr>
        <p:spPr>
          <a:xfrm>
            <a:off x="621792" y="4261104"/>
            <a:ext cx="329184" cy="329184"/>
          </a:xfrm>
          <a:prstGeom prst="ellipse">
            <a:avLst/>
          </a:prstGeom>
          <a:solidFill>
            <a:srgbClr val="FBBF24"/>
          </a:solidFill>
          <a:ln/>
        </p:spPr>
      </p:sp>
      <p:sp>
        <p:nvSpPr>
          <p:cNvPr id="21" name="Text 18"/>
          <p:cNvSpPr txBox="1"/>
          <p:nvPr/>
        </p:nvSpPr>
        <p:spPr>
          <a:xfrm>
            <a:off x="621792" y="4261104"/>
            <a:ext cx="329184" cy="329184"/>
          </a:xfrm>
          <a:prstGeom prst="rect">
            <a:avLst/>
          </a:prstGeom>
          <a:noFill/>
          <a:ln/>
        </p:spPr>
        <p:txBody>
          <a:bodyPr wrap="square" lIns="0" tIns="0" rIns="0" bIns="0" rtlCol="0" anchor="ctr"/>
          <a:lstStyle/>
          <a:p>
            <a:pPr marL="0" indent="0" algn="ctr">
              <a:buNone/>
            </a:pPr>
            <a:r>
              <a:rPr lang="en-US" sz="1600" b="1" dirty="0">
                <a:solidFill>
                  <a:srgbClr val="10142B"/>
                </a:solidFill>
                <a:latin typeface="Arial" pitchFamily="34" charset="0"/>
                <a:ea typeface="Arial" pitchFamily="34" charset="-122"/>
                <a:cs typeface="Arial" pitchFamily="34" charset="-120"/>
              </a:rPr>
              <a:t>≈</a:t>
            </a:r>
            <a:endParaRPr lang="en-US" sz="1600" dirty="0"/>
          </a:p>
        </p:txBody>
      </p:sp>
      <p:sp>
        <p:nvSpPr>
          <p:cNvPr id="22" name="Text 19"/>
          <p:cNvSpPr txBox="1"/>
          <p:nvPr/>
        </p:nvSpPr>
        <p:spPr>
          <a:xfrm>
            <a:off x="1042416" y="4224528"/>
            <a:ext cx="7452360" cy="402336"/>
          </a:xfrm>
          <a:prstGeom prst="rect">
            <a:avLst/>
          </a:prstGeom>
          <a:noFill/>
          <a:ln/>
        </p:spPr>
        <p:txBody>
          <a:bodyPr wrap="square" lIns="0" tIns="0" rIns="0" bIns="0" rtlCol="0" anchor="ctr"/>
          <a:lstStyle/>
          <a:p>
            <a:pPr marL="0" indent="0">
              <a:buNone/>
            </a:pPr>
            <a:r>
              <a:rPr lang="en-US" sz="1100" b="1" dirty="0">
                <a:solidFill>
                  <a:srgbClr val="FBBF24"/>
                </a:solidFill>
                <a:latin typeface="Arial" pitchFamily="34" charset="0"/>
                <a:ea typeface="Arial" pitchFamily="34" charset="-122"/>
                <a:cs typeface="Arial" pitchFamily="34" charset="-120"/>
              </a:rPr>
              <a:t>Gündelik hayatta: </a:t>
            </a:r>
            <a:r>
              <a:rPr lang="en-US" sz="1100" dirty="0">
                <a:solidFill>
                  <a:srgbClr val="EEF0F8"/>
                </a:solidFill>
                <a:latin typeface="Arial" pitchFamily="34" charset="0"/>
                <a:ea typeface="Arial" pitchFamily="34" charset="-122"/>
                <a:cs typeface="Arial" pitchFamily="34" charset="-120"/>
              </a:rPr>
              <a:t>futbolda puan tablosu: önce galibiyete (ID) bakılır, eşitse beraberliğe (sınıf), o da eşitse atılan gole (öğe).</a:t>
            </a:r>
            <a:endParaRPr lang="en-US" sz="1100" dirty="0"/>
          </a:p>
        </p:txBody>
      </p:sp>
    </p:spTree>
  </p:cSld>
  <p:clrMapOvr>
    <a:masterClrMapping/>
  </p:clrMapOvr>
  <p:transition spd="med">
    <p:pull/>
  </p:transition>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256032"/>
            <a:ext cx="4572000" cy="201168"/>
          </a:xfrm>
          <a:prstGeom prst="rect">
            <a:avLst/>
          </a:prstGeom>
          <a:noFill/>
          <a:ln/>
        </p:spPr>
        <p:txBody>
          <a:bodyPr wrap="square" lIns="0" tIns="0" rIns="0" bIns="0" rtlCol="0" anchor="t"/>
          <a:lstStyle/>
          <a:p>
            <a:pPr marL="0" indent="0">
              <a:buNone/>
            </a:pPr>
            <a:r>
              <a:rPr lang="en-US" sz="900" b="1" kern="0" spc="200" dirty="0">
                <a:solidFill>
                  <a:srgbClr val="22D3EE"/>
                </a:solidFill>
                <a:latin typeface="Arial" pitchFamily="34" charset="0"/>
                <a:ea typeface="Arial" pitchFamily="34" charset="-122"/>
                <a:cs typeface="Arial" pitchFamily="34" charset="-120"/>
              </a:rPr>
              <a:t>MODÜL 1 · CSS TEMELLERİ</a:t>
            </a:r>
            <a:endParaRPr lang="en-US" sz="900" dirty="0"/>
          </a:p>
        </p:txBody>
      </p:sp>
      <p:sp>
        <p:nvSpPr>
          <p:cNvPr id="3" name="mini-box-0"/>
          <p:cNvSpPr/>
          <p:nvPr/>
        </p:nvSpPr>
        <p:spPr>
          <a:xfrm>
            <a:off x="8229600" y="201168"/>
            <a:ext cx="384048" cy="384048"/>
          </a:xfrm>
          <a:prstGeom prst="rect">
            <a:avLst/>
          </a:prstGeom>
          <a:ln w="9525">
            <a:solidFill>
              <a:srgbClr val="22D3EE"/>
            </a:solidFill>
            <a:prstDash val="solid"/>
          </a:ln>
        </p:spPr>
      </p:sp>
      <p:sp>
        <p:nvSpPr>
          <p:cNvPr id="4" name="mini-box-1"/>
          <p:cNvSpPr/>
          <p:nvPr/>
        </p:nvSpPr>
        <p:spPr>
          <a:xfrm>
            <a:off x="8293608" y="265176"/>
            <a:ext cx="256032" cy="256032"/>
          </a:xfrm>
          <a:prstGeom prst="rect">
            <a:avLst/>
          </a:prstGeom>
          <a:ln w="9525">
            <a:solidFill>
              <a:srgbClr val="EEF0F8"/>
            </a:solidFill>
            <a:prstDash val="solid"/>
          </a:ln>
        </p:spPr>
      </p:sp>
      <p:sp>
        <p:nvSpPr>
          <p:cNvPr id="5" name="mini-box-2"/>
          <p:cNvSpPr/>
          <p:nvPr/>
        </p:nvSpPr>
        <p:spPr>
          <a:xfrm>
            <a:off x="8348472" y="320040"/>
            <a:ext cx="146304" cy="146304"/>
          </a:xfrm>
          <a:prstGeom prst="rect">
            <a:avLst/>
          </a:prstGeom>
          <a:solidFill>
            <a:srgbClr val="22D3EE"/>
          </a:solidFill>
          <a:ln w="9525">
            <a:solidFill>
              <a:srgbClr val="22D3EE"/>
            </a:solidFill>
            <a:prstDash val="solid"/>
          </a:ln>
        </p:spPr>
      </p:sp>
      <p:sp>
        <p:nvSpPr>
          <p:cNvPr id="6" name="ilerleme-zemin"/>
          <p:cNvSpPr/>
          <p:nvPr/>
        </p:nvSpPr>
        <p:spPr>
          <a:xfrm>
            <a:off x="0" y="5070348"/>
            <a:ext cx="9144000" cy="73152"/>
          </a:xfrm>
          <a:prstGeom prst="rect">
            <a:avLst/>
          </a:prstGeom>
          <a:solidFill>
            <a:srgbClr val="1A2044"/>
          </a:solidFill>
          <a:ln/>
        </p:spPr>
      </p:sp>
      <p:sp>
        <p:nvSpPr>
          <p:cNvPr id="7" name="ilerleme"/>
          <p:cNvSpPr/>
          <p:nvPr/>
        </p:nvSpPr>
        <p:spPr>
          <a:xfrm>
            <a:off x="0" y="5070348"/>
            <a:ext cx="3402419" cy="73152"/>
          </a:xfrm>
          <a:prstGeom prst="rect">
            <a:avLst/>
          </a:prstGeom>
          <a:solidFill>
            <a:srgbClr val="22D3EE"/>
          </a:solidFill>
          <a:ln/>
        </p:spPr>
      </p:sp>
      <p:sp>
        <p:nvSpPr>
          <p:cNvPr id="8" name="Text 6"/>
          <p:cNvSpPr txBox="1"/>
          <p:nvPr/>
        </p:nvSpPr>
        <p:spPr>
          <a:xfrm>
            <a:off x="548640" y="4791456"/>
            <a:ext cx="3657600" cy="201168"/>
          </a:xfrm>
          <a:prstGeom prst="rect">
            <a:avLst/>
          </a:prstGeom>
          <a:noFill/>
          <a:ln/>
        </p:spPr>
        <p:txBody>
          <a:bodyPr wrap="square" lIns="0" tIns="0" rIns="0" bIns="0" rtlCol="0" anchor="t"/>
          <a:lstStyle/>
          <a:p>
            <a:pPr marL="0" indent="0">
              <a:buNone/>
            </a:pPr>
            <a:r>
              <a:rPr lang="en-US" sz="850" dirty="0">
                <a:solidFill>
                  <a:srgbClr val="6C759E"/>
                </a:solidFill>
                <a:latin typeface="Arial" pitchFamily="34" charset="0"/>
                <a:ea typeface="Arial" pitchFamily="34" charset="-122"/>
                <a:cs typeface="Arial" pitchFamily="34" charset="-120"/>
              </a:rPr>
              <a:t>KCŞ A.Ş.  ·  CSS ile stil ve düzen</a:t>
            </a:r>
            <a:endParaRPr lang="en-US" sz="850" dirty="0"/>
          </a:p>
        </p:txBody>
      </p:sp>
      <p:sp>
        <p:nvSpPr>
          <p:cNvPr id="9" name="Text 7"/>
          <p:cNvSpPr txBox="1"/>
          <p:nvPr/>
        </p:nvSpPr>
        <p:spPr>
          <a:xfrm>
            <a:off x="4206240" y="4791456"/>
            <a:ext cx="3840480" cy="201168"/>
          </a:xfrm>
          <a:prstGeom prst="rect">
            <a:avLst/>
          </a:prstGeom>
          <a:noFill/>
          <a:ln/>
        </p:spPr>
        <p:txBody>
          <a:bodyPr wrap="square" lIns="0" tIns="0" rIns="0" bIns="0" rtlCol="0" anchor="t"/>
          <a:lstStyle/>
          <a:p>
            <a:pPr marL="0" indent="0" algn="r">
              <a:buNone/>
            </a:pPr>
            <a:r>
              <a:rPr lang="en-US" sz="850" dirty="0">
                <a:solidFill>
                  <a:srgbClr val="6C759E"/>
                </a:solidFill>
                <a:latin typeface="Arial" pitchFamily="34" charset="0"/>
                <a:ea typeface="Arial" pitchFamily="34" charset="-122"/>
                <a:cs typeface="Arial" pitchFamily="34" charset="-120"/>
              </a:rPr>
              <a:t>MDN · CSS values and units</a:t>
            </a:r>
            <a:endParaRPr lang="en-US" sz="850" dirty="0"/>
          </a:p>
        </p:txBody>
      </p:sp>
      <p:sp>
        <p:nvSpPr>
          <p:cNvPr id="10" name="Text 8"/>
          <p:cNvSpPr txBox="1"/>
          <p:nvPr/>
        </p:nvSpPr>
        <p:spPr>
          <a:xfrm>
            <a:off x="8092440" y="4791456"/>
            <a:ext cx="685800" cy="201168"/>
          </a:xfrm>
          <a:prstGeom prst="rect">
            <a:avLst/>
          </a:prstGeom>
          <a:noFill/>
          <a:ln/>
        </p:spPr>
        <p:txBody>
          <a:bodyPr wrap="square" lIns="0" tIns="0" rIns="0" bIns="0" rtlCol="0" anchor="t"/>
          <a:lstStyle/>
          <a:p>
            <a:pPr marL="0" indent="0" algn="r">
              <a:buNone/>
            </a:pPr>
            <a:r>
              <a:rPr lang="en-US" sz="850" dirty="0">
                <a:solidFill>
                  <a:srgbClr val="9AA3C7"/>
                </a:solidFill>
                <a:latin typeface="Courier New" pitchFamily="34" charset="0"/>
                <a:ea typeface="Courier New" pitchFamily="34" charset="-122"/>
                <a:cs typeface="Courier New" pitchFamily="34" charset="-120"/>
              </a:rPr>
              <a:t>16 / 43</a:t>
            </a:r>
            <a:endParaRPr lang="en-US" sz="850" dirty="0"/>
          </a:p>
        </p:txBody>
      </p:sp>
      <p:sp>
        <p:nvSpPr>
          <p:cNvPr id="11" name="Text 9"/>
          <p:cNvSpPr txBox="1"/>
          <p:nvPr/>
        </p:nvSpPr>
        <p:spPr>
          <a:xfrm>
            <a:off x="548640" y="502920"/>
            <a:ext cx="5943600" cy="237744"/>
          </a:xfrm>
          <a:prstGeom prst="rect">
            <a:avLst/>
          </a:prstGeom>
          <a:noFill/>
          <a:ln/>
        </p:spPr>
        <p:txBody>
          <a:bodyPr wrap="square" lIns="0" tIns="0" rIns="0" bIns="0" rtlCol="0" anchor="t"/>
          <a:lstStyle/>
          <a:p>
            <a:pPr marL="0" indent="0">
              <a:buNone/>
            </a:pPr>
            <a:r>
              <a:rPr lang="en-US" sz="1100" b="1" dirty="0">
                <a:solidFill>
                  <a:srgbClr val="22D3EE"/>
                </a:solidFill>
                <a:latin typeface="Courier New" pitchFamily="34" charset="0"/>
                <a:ea typeface="Courier New" pitchFamily="34" charset="-122"/>
                <a:cs typeface="Courier New" pitchFamily="34" charset="-120"/>
              </a:rPr>
              <a:t>px  em  rem  %  vw</a:t>
            </a:r>
            <a:endParaRPr lang="en-US" sz="1100" dirty="0"/>
          </a:p>
        </p:txBody>
      </p:sp>
      <p:sp>
        <p:nvSpPr>
          <p:cNvPr id="12" name="Text 10"/>
          <p:cNvSpPr txBox="1"/>
          <p:nvPr/>
        </p:nvSpPr>
        <p:spPr>
          <a:xfrm>
            <a:off x="548640" y="749808"/>
            <a:ext cx="7589520" cy="502920"/>
          </a:xfrm>
          <a:prstGeom prst="rect">
            <a:avLst/>
          </a:prstGeom>
          <a:noFill/>
          <a:ln/>
        </p:spPr>
        <p:txBody>
          <a:bodyPr wrap="square" lIns="0" tIns="0" rIns="0" bIns="0" rtlCol="0" anchor="ctr"/>
          <a:lstStyle/>
          <a:p>
            <a:pPr marL="0" indent="0">
              <a:buNone/>
            </a:pPr>
            <a:r>
              <a:rPr lang="en-US" sz="2400" b="1" dirty="0">
                <a:solidFill>
                  <a:srgbClr val="EEF0F8"/>
                </a:solidFill>
                <a:latin typeface="Arial" pitchFamily="34" charset="0"/>
                <a:ea typeface="Arial" pitchFamily="34" charset="-122"/>
                <a:cs typeface="Arial" pitchFamily="34" charset="-120"/>
              </a:rPr>
              <a:t>Değerler ve birimler 1: uzunluklar</a:t>
            </a:r>
            <a:endParaRPr lang="en-US" sz="2400" dirty="0"/>
          </a:p>
        </p:txBody>
      </p:sp>
      <p:sp>
        <p:nvSpPr>
          <p:cNvPr id="13" name="kart"/>
          <p:cNvSpPr/>
          <p:nvPr/>
        </p:nvSpPr>
        <p:spPr>
          <a:xfrm>
            <a:off x="548640" y="1371600"/>
            <a:ext cx="2606040" cy="2724912"/>
          </a:xfrm>
          <a:prstGeom prst="roundRect">
            <a:avLst>
              <a:gd name="adj" fmla="val 2807"/>
            </a:avLst>
          </a:prstGeom>
          <a:solidFill>
            <a:srgbClr val="1A2044"/>
          </a:solidFill>
          <a:ln w="9525">
            <a:solidFill>
              <a:srgbClr val="2E3768"/>
            </a:solidFill>
            <a:prstDash val="solid"/>
          </a:ln>
        </p:spPr>
      </p:sp>
      <p:sp>
        <p:nvSpPr>
          <p:cNvPr id="14" name="kart-nokta"/>
          <p:cNvSpPr/>
          <p:nvPr/>
        </p:nvSpPr>
        <p:spPr>
          <a:xfrm>
            <a:off x="694944" y="1527048"/>
            <a:ext cx="91440" cy="91440"/>
          </a:xfrm>
          <a:prstGeom prst="ellipse">
            <a:avLst/>
          </a:prstGeom>
          <a:solidFill>
            <a:srgbClr val="22D3EE"/>
          </a:solidFill>
          <a:ln/>
        </p:spPr>
      </p:sp>
      <p:sp>
        <p:nvSpPr>
          <p:cNvPr id="15" name="Text 13"/>
          <p:cNvSpPr txBox="1"/>
          <p:nvPr/>
        </p:nvSpPr>
        <p:spPr>
          <a:xfrm>
            <a:off x="859536" y="1444752"/>
            <a:ext cx="2194560" cy="274320"/>
          </a:xfrm>
          <a:prstGeom prst="rect">
            <a:avLst/>
          </a:prstGeom>
          <a:noFill/>
          <a:ln/>
        </p:spPr>
        <p:txBody>
          <a:bodyPr wrap="square" lIns="0" tIns="0" rIns="0" bIns="0" rtlCol="0" anchor="ctr"/>
          <a:lstStyle/>
          <a:p>
            <a:pPr marL="0" indent="0">
              <a:buNone/>
            </a:pPr>
            <a:r>
              <a:rPr lang="en-US" sz="1300" b="1" dirty="0">
                <a:solidFill>
                  <a:srgbClr val="EEF0F8"/>
                </a:solidFill>
                <a:latin typeface="Arial" pitchFamily="34" charset="0"/>
                <a:ea typeface="Arial" pitchFamily="34" charset="-122"/>
                <a:cs typeface="Arial" pitchFamily="34" charset="-120"/>
              </a:rPr>
              <a:t>Mutlak birimler</a:t>
            </a:r>
            <a:endParaRPr lang="en-US" sz="1300" dirty="0"/>
          </a:p>
        </p:txBody>
      </p:sp>
      <p:sp>
        <p:nvSpPr>
          <p:cNvPr id="16" name="Text 14"/>
          <p:cNvSpPr txBox="1"/>
          <p:nvPr/>
        </p:nvSpPr>
        <p:spPr>
          <a:xfrm>
            <a:off x="694944" y="1737360"/>
            <a:ext cx="2359152" cy="1463040"/>
          </a:xfrm>
          <a:prstGeom prst="rect">
            <a:avLst/>
          </a:prstGeom>
          <a:noFill/>
          <a:ln/>
        </p:spPr>
        <p:txBody>
          <a:bodyPr wrap="square" lIns="0" tIns="0" rIns="0" bIns="0" rtlCol="0" anchor="t"/>
          <a:lstStyle/>
          <a:p>
            <a:pPr marL="0" indent="0">
              <a:buNone/>
            </a:pPr>
            <a:r>
              <a:rPr lang="en-US" sz="1050" dirty="0">
                <a:solidFill>
                  <a:srgbClr val="EEF0F8"/>
                </a:solidFill>
                <a:latin typeface="Arial" pitchFamily="34" charset="0"/>
                <a:ea typeface="Arial" pitchFamily="34" charset="-122"/>
                <a:cs typeface="Arial" pitchFamily="34" charset="-120"/>
              </a:rPr>
              <a:t>Her yerde aynı boyut sayılır. cm, mm, in, pt, pc çoğunlukla baskı içindir; ekranda en çok px kullanılır. 1in = 96px. 1px her zaman tek bir fiziksel piksel değildir.</a:t>
            </a:r>
            <a:endParaRPr lang="en-US" sz="1050" dirty="0"/>
          </a:p>
        </p:txBody>
      </p:sp>
      <p:sp>
        <p:nvSpPr>
          <p:cNvPr id="17" name="kod-paneli"/>
          <p:cNvSpPr/>
          <p:nvPr/>
        </p:nvSpPr>
        <p:spPr>
          <a:xfrm>
            <a:off x="694944" y="3246120"/>
            <a:ext cx="2331720" cy="731520"/>
          </a:xfrm>
          <a:prstGeom prst="roundRect">
            <a:avLst>
              <a:gd name="adj" fmla="val 10000"/>
            </a:avLst>
          </a:prstGeom>
          <a:solidFill>
            <a:srgbClr val="0A0D1F"/>
          </a:solidFill>
          <a:ln w="9525">
            <a:solidFill>
              <a:srgbClr val="2E3768"/>
            </a:solidFill>
            <a:prstDash val="solid"/>
          </a:ln>
        </p:spPr>
      </p:sp>
      <p:sp>
        <p:nvSpPr>
          <p:cNvPr id="18" name="Text 16"/>
          <p:cNvSpPr txBox="1"/>
          <p:nvPr/>
        </p:nvSpPr>
        <p:spPr>
          <a:xfrm>
            <a:off x="841248" y="3355848"/>
            <a:ext cx="2057400" cy="530352"/>
          </a:xfrm>
          <a:prstGeom prst="rect">
            <a:avLst/>
          </a:prstGeom>
          <a:noFill/>
          <a:ln/>
        </p:spPr>
        <p:txBody>
          <a:bodyPr wrap="square" lIns="0" tIns="0" rIns="0" bIns="0" rtlCol="0" anchor="ctr"/>
          <a:lstStyle/>
          <a:p>
            <a:pPr marL="0" indent="0">
              <a:buNone/>
            </a:pPr>
            <a:r>
              <a:rPr lang="en-US" sz="900" dirty="0">
                <a:solidFill>
                  <a:srgbClr val="F472B6"/>
                </a:solidFill>
                <a:latin typeface="Courier New" pitchFamily="34" charset="0"/>
                <a:ea typeface="Courier New" pitchFamily="34" charset="-122"/>
                <a:cs typeface="Courier New" pitchFamily="34" charset="-120"/>
              </a:rPr>
              <a:t>.px </a:t>
            </a:r>
            <a:r>
              <a:rPr lang="en-US" sz="900" dirty="0">
                <a:solidFill>
                  <a:srgbClr val="6C759E"/>
                </a:solidFill>
                <a:latin typeface="Courier New" pitchFamily="34" charset="0"/>
                <a:ea typeface="Courier New" pitchFamily="34" charset="-122"/>
                <a:cs typeface="Courier New" pitchFamily="34" charset="-120"/>
              </a:rPr>
              <a:t>{ </a:t>
            </a:r>
            <a:r>
              <a:rPr lang="en-US" sz="900" dirty="0">
                <a:solidFill>
                  <a:srgbClr val="22D3EE"/>
                </a:solidFill>
                <a:latin typeface="Courier New" pitchFamily="34" charset="0"/>
                <a:ea typeface="Courier New" pitchFamily="34" charset="-122"/>
                <a:cs typeface="Courier New" pitchFamily="34" charset="-120"/>
              </a:rPr>
              <a:t>width</a:t>
            </a:r>
            <a:r>
              <a:rPr lang="en-US" sz="900" dirty="0">
                <a:solidFill>
                  <a:srgbClr val="6C759E"/>
                </a:solidFill>
                <a:latin typeface="Courier New" pitchFamily="34" charset="0"/>
                <a:ea typeface="Courier New" pitchFamily="34" charset="-122"/>
                <a:cs typeface="Courier New" pitchFamily="34" charset="-120"/>
              </a:rPr>
              <a:t>: </a:t>
            </a:r>
            <a:r>
              <a:rPr lang="en-US" sz="900" dirty="0">
                <a:solidFill>
                  <a:srgbClr val="FBBF24"/>
                </a:solidFill>
                <a:latin typeface="Courier New" pitchFamily="34" charset="0"/>
                <a:ea typeface="Courier New" pitchFamily="34" charset="-122"/>
                <a:cs typeface="Courier New" pitchFamily="34" charset="-120"/>
              </a:rPr>
              <a:t>200px</a:t>
            </a:r>
            <a:r>
              <a:rPr lang="en-US" sz="900" dirty="0">
                <a:solidFill>
                  <a:srgbClr val="6C759E"/>
                </a:solidFill>
                <a:latin typeface="Courier New" pitchFamily="34" charset="0"/>
                <a:ea typeface="Courier New" pitchFamily="34" charset="-122"/>
                <a:cs typeface="Courier New" pitchFamily="34" charset="-120"/>
              </a:rPr>
              <a:t>; }</a:t>
            </a:r>
            <a:endParaRPr lang="en-US" sz="900" dirty="0"/>
          </a:p>
          <a:p>
            <a:pPr marL="0" indent="0">
              <a:buNone/>
            </a:pPr>
            <a:r>
              <a:rPr lang="en-US" sz="900" dirty="0">
                <a:solidFill>
                  <a:srgbClr val="F472B6"/>
                </a:solidFill>
                <a:latin typeface="Courier New" pitchFamily="34" charset="0"/>
                <a:ea typeface="Courier New" pitchFamily="34" charset="-122"/>
                <a:cs typeface="Courier New" pitchFamily="34" charset="-120"/>
              </a:rPr>
              <a:t>.vw </a:t>
            </a:r>
            <a:r>
              <a:rPr lang="en-US" sz="900" dirty="0">
                <a:solidFill>
                  <a:srgbClr val="6C759E"/>
                </a:solidFill>
                <a:latin typeface="Courier New" pitchFamily="34" charset="0"/>
                <a:ea typeface="Courier New" pitchFamily="34" charset="-122"/>
                <a:cs typeface="Courier New" pitchFamily="34" charset="-120"/>
              </a:rPr>
              <a:t>{ </a:t>
            </a:r>
            <a:r>
              <a:rPr lang="en-US" sz="900" dirty="0">
                <a:solidFill>
                  <a:srgbClr val="22D3EE"/>
                </a:solidFill>
                <a:latin typeface="Courier New" pitchFamily="34" charset="0"/>
                <a:ea typeface="Courier New" pitchFamily="34" charset="-122"/>
                <a:cs typeface="Courier New" pitchFamily="34" charset="-120"/>
              </a:rPr>
              <a:t>width</a:t>
            </a:r>
            <a:r>
              <a:rPr lang="en-US" sz="900" dirty="0">
                <a:solidFill>
                  <a:srgbClr val="6C759E"/>
                </a:solidFill>
                <a:latin typeface="Courier New" pitchFamily="34" charset="0"/>
                <a:ea typeface="Courier New" pitchFamily="34" charset="-122"/>
                <a:cs typeface="Courier New" pitchFamily="34" charset="-120"/>
              </a:rPr>
              <a:t>: </a:t>
            </a:r>
            <a:r>
              <a:rPr lang="en-US" sz="900" dirty="0">
                <a:solidFill>
                  <a:srgbClr val="FBBF24"/>
                </a:solidFill>
                <a:latin typeface="Courier New" pitchFamily="34" charset="0"/>
                <a:ea typeface="Courier New" pitchFamily="34" charset="-122"/>
                <a:cs typeface="Courier New" pitchFamily="34" charset="-120"/>
              </a:rPr>
              <a:t>10vw</a:t>
            </a:r>
            <a:r>
              <a:rPr lang="en-US" sz="900" dirty="0">
                <a:solidFill>
                  <a:srgbClr val="6C759E"/>
                </a:solidFill>
                <a:latin typeface="Courier New" pitchFamily="34" charset="0"/>
                <a:ea typeface="Courier New" pitchFamily="34" charset="-122"/>
                <a:cs typeface="Courier New" pitchFamily="34" charset="-120"/>
              </a:rPr>
              <a:t>; }</a:t>
            </a:r>
            <a:endParaRPr lang="en-US" sz="900" dirty="0"/>
          </a:p>
        </p:txBody>
      </p:sp>
      <p:sp>
        <p:nvSpPr>
          <p:cNvPr id="19" name="kart"/>
          <p:cNvSpPr/>
          <p:nvPr/>
        </p:nvSpPr>
        <p:spPr>
          <a:xfrm>
            <a:off x="3273552" y="1371600"/>
            <a:ext cx="2606040" cy="2724912"/>
          </a:xfrm>
          <a:prstGeom prst="roundRect">
            <a:avLst>
              <a:gd name="adj" fmla="val 2807"/>
            </a:avLst>
          </a:prstGeom>
          <a:solidFill>
            <a:srgbClr val="1A2044"/>
          </a:solidFill>
          <a:ln w="9525">
            <a:solidFill>
              <a:srgbClr val="2E3768"/>
            </a:solidFill>
            <a:prstDash val="solid"/>
          </a:ln>
        </p:spPr>
      </p:sp>
      <p:sp>
        <p:nvSpPr>
          <p:cNvPr id="20" name="kart-nokta"/>
          <p:cNvSpPr/>
          <p:nvPr/>
        </p:nvSpPr>
        <p:spPr>
          <a:xfrm>
            <a:off x="3419856" y="1527048"/>
            <a:ext cx="91440" cy="91440"/>
          </a:xfrm>
          <a:prstGeom prst="ellipse">
            <a:avLst/>
          </a:prstGeom>
          <a:solidFill>
            <a:srgbClr val="F472B6"/>
          </a:solidFill>
          <a:ln/>
        </p:spPr>
      </p:sp>
      <p:sp>
        <p:nvSpPr>
          <p:cNvPr id="21" name="Text 19"/>
          <p:cNvSpPr txBox="1"/>
          <p:nvPr/>
        </p:nvSpPr>
        <p:spPr>
          <a:xfrm>
            <a:off x="3584448" y="1444752"/>
            <a:ext cx="2194560" cy="274320"/>
          </a:xfrm>
          <a:prstGeom prst="rect">
            <a:avLst/>
          </a:prstGeom>
          <a:noFill/>
          <a:ln/>
        </p:spPr>
        <p:txBody>
          <a:bodyPr wrap="square" lIns="0" tIns="0" rIns="0" bIns="0" rtlCol="0" anchor="ctr"/>
          <a:lstStyle/>
          <a:p>
            <a:pPr marL="0" indent="0">
              <a:buNone/>
            </a:pPr>
            <a:r>
              <a:rPr lang="en-US" sz="1300" b="1" dirty="0">
                <a:solidFill>
                  <a:srgbClr val="EEF0F8"/>
                </a:solidFill>
                <a:latin typeface="Arial" pitchFamily="34" charset="0"/>
                <a:ea typeface="Arial" pitchFamily="34" charset="-122"/>
                <a:cs typeface="Arial" pitchFamily="34" charset="-120"/>
              </a:rPr>
              <a:t>em ve rem</a:t>
            </a:r>
            <a:endParaRPr lang="en-US" sz="1300" dirty="0"/>
          </a:p>
        </p:txBody>
      </p:sp>
      <p:sp>
        <p:nvSpPr>
          <p:cNvPr id="22" name="Text 20"/>
          <p:cNvSpPr txBox="1"/>
          <p:nvPr/>
        </p:nvSpPr>
        <p:spPr>
          <a:xfrm>
            <a:off x="3419856" y="1737360"/>
            <a:ext cx="2359152" cy="1463040"/>
          </a:xfrm>
          <a:prstGeom prst="rect">
            <a:avLst/>
          </a:prstGeom>
          <a:noFill/>
          <a:ln/>
        </p:spPr>
        <p:txBody>
          <a:bodyPr wrap="square" lIns="0" tIns="0" rIns="0" bIns="0" rtlCol="0" anchor="t"/>
          <a:lstStyle/>
          <a:p>
            <a:pPr marL="0" indent="0">
              <a:buNone/>
            </a:pPr>
            <a:r>
              <a:rPr lang="en-US" sz="1050" dirty="0">
                <a:solidFill>
                  <a:srgbClr val="EEF0F8"/>
                </a:solidFill>
                <a:latin typeface="Arial" pitchFamily="34" charset="0"/>
                <a:ea typeface="Arial" pitchFamily="34" charset="-122"/>
                <a:cs typeface="Arial" pitchFamily="34" charset="-120"/>
              </a:rPr>
              <a:t>em: font-size'da ebeveynin, diğer özelliklerde öğenin kendi font boyutu. İç içe listelerde 1.3em büyüye büyüye gider. rem: her zaman kök (html) font boyutu; iç içe olunca büyümez.</a:t>
            </a:r>
            <a:endParaRPr lang="en-US" sz="1050" dirty="0"/>
          </a:p>
        </p:txBody>
      </p:sp>
      <p:sp>
        <p:nvSpPr>
          <p:cNvPr id="23" name="kod-paneli"/>
          <p:cNvSpPr/>
          <p:nvPr/>
        </p:nvSpPr>
        <p:spPr>
          <a:xfrm>
            <a:off x="3419856" y="3246120"/>
            <a:ext cx="2331720" cy="731520"/>
          </a:xfrm>
          <a:prstGeom prst="roundRect">
            <a:avLst>
              <a:gd name="adj" fmla="val 10000"/>
            </a:avLst>
          </a:prstGeom>
          <a:solidFill>
            <a:srgbClr val="0A0D1F"/>
          </a:solidFill>
          <a:ln w="9525">
            <a:solidFill>
              <a:srgbClr val="2E3768"/>
            </a:solidFill>
            <a:prstDash val="solid"/>
          </a:ln>
        </p:spPr>
      </p:sp>
      <p:sp>
        <p:nvSpPr>
          <p:cNvPr id="24" name="Text 22"/>
          <p:cNvSpPr txBox="1"/>
          <p:nvPr/>
        </p:nvSpPr>
        <p:spPr>
          <a:xfrm>
            <a:off x="3566160" y="3355848"/>
            <a:ext cx="2057400" cy="530352"/>
          </a:xfrm>
          <a:prstGeom prst="rect">
            <a:avLst/>
          </a:prstGeom>
          <a:noFill/>
          <a:ln/>
        </p:spPr>
        <p:txBody>
          <a:bodyPr wrap="square" lIns="0" tIns="0" rIns="0" bIns="0" rtlCol="0" anchor="ctr"/>
          <a:lstStyle/>
          <a:p>
            <a:pPr marL="0" indent="0">
              <a:buNone/>
            </a:pPr>
            <a:r>
              <a:rPr lang="en-US" sz="850" dirty="0">
                <a:solidFill>
                  <a:srgbClr val="F472B6"/>
                </a:solidFill>
                <a:latin typeface="Courier New" pitchFamily="34" charset="0"/>
                <a:ea typeface="Courier New" pitchFamily="34" charset="-122"/>
                <a:cs typeface="Courier New" pitchFamily="34" charset="-120"/>
              </a:rPr>
              <a:t>.ems li </a:t>
            </a:r>
            <a:r>
              <a:rPr lang="en-US" sz="850" dirty="0">
                <a:solidFill>
                  <a:srgbClr val="6C759E"/>
                </a:solidFill>
                <a:latin typeface="Courier New" pitchFamily="34" charset="0"/>
                <a:ea typeface="Courier New" pitchFamily="34" charset="-122"/>
                <a:cs typeface="Courier New" pitchFamily="34" charset="-120"/>
              </a:rPr>
              <a:t>{ </a:t>
            </a:r>
            <a:r>
              <a:rPr lang="en-US" sz="850" dirty="0">
                <a:solidFill>
                  <a:srgbClr val="22D3EE"/>
                </a:solidFill>
                <a:latin typeface="Courier New" pitchFamily="34" charset="0"/>
                <a:ea typeface="Courier New" pitchFamily="34" charset="-122"/>
                <a:cs typeface="Courier New" pitchFamily="34" charset="-120"/>
              </a:rPr>
              <a:t>font-size</a:t>
            </a:r>
            <a:r>
              <a:rPr lang="en-US" sz="850" dirty="0">
                <a:solidFill>
                  <a:srgbClr val="6C759E"/>
                </a:solidFill>
                <a:latin typeface="Courier New" pitchFamily="34" charset="0"/>
                <a:ea typeface="Courier New" pitchFamily="34" charset="-122"/>
                <a:cs typeface="Courier New" pitchFamily="34" charset="-120"/>
              </a:rPr>
              <a:t>: </a:t>
            </a:r>
            <a:r>
              <a:rPr lang="en-US" sz="850" dirty="0">
                <a:solidFill>
                  <a:srgbClr val="FBBF24"/>
                </a:solidFill>
                <a:latin typeface="Courier New" pitchFamily="34" charset="0"/>
                <a:ea typeface="Courier New" pitchFamily="34" charset="-122"/>
                <a:cs typeface="Courier New" pitchFamily="34" charset="-120"/>
              </a:rPr>
              <a:t>1.3em</a:t>
            </a:r>
            <a:r>
              <a:rPr lang="en-US" sz="850" dirty="0">
                <a:solidFill>
                  <a:srgbClr val="6C759E"/>
                </a:solidFill>
                <a:latin typeface="Courier New" pitchFamily="34" charset="0"/>
                <a:ea typeface="Courier New" pitchFamily="34" charset="-122"/>
                <a:cs typeface="Courier New" pitchFamily="34" charset="-120"/>
              </a:rPr>
              <a:t>; }</a:t>
            </a:r>
            <a:endParaRPr lang="en-US" sz="850" dirty="0"/>
          </a:p>
          <a:p>
            <a:pPr marL="0" indent="0">
              <a:buNone/>
            </a:pPr>
            <a:r>
              <a:rPr lang="en-US" sz="850" dirty="0">
                <a:solidFill>
                  <a:srgbClr val="F472B6"/>
                </a:solidFill>
                <a:latin typeface="Courier New" pitchFamily="34" charset="0"/>
                <a:ea typeface="Courier New" pitchFamily="34" charset="-122"/>
                <a:cs typeface="Courier New" pitchFamily="34" charset="-120"/>
              </a:rPr>
              <a:t>.rems li </a:t>
            </a:r>
            <a:r>
              <a:rPr lang="en-US" sz="850" dirty="0">
                <a:solidFill>
                  <a:srgbClr val="6C759E"/>
                </a:solidFill>
                <a:latin typeface="Courier New" pitchFamily="34" charset="0"/>
                <a:ea typeface="Courier New" pitchFamily="34" charset="-122"/>
                <a:cs typeface="Courier New" pitchFamily="34" charset="-120"/>
              </a:rPr>
              <a:t>{ </a:t>
            </a:r>
            <a:r>
              <a:rPr lang="en-US" sz="850" dirty="0">
                <a:solidFill>
                  <a:srgbClr val="22D3EE"/>
                </a:solidFill>
                <a:latin typeface="Courier New" pitchFamily="34" charset="0"/>
                <a:ea typeface="Courier New" pitchFamily="34" charset="-122"/>
                <a:cs typeface="Courier New" pitchFamily="34" charset="-120"/>
              </a:rPr>
              <a:t>font-size</a:t>
            </a:r>
            <a:r>
              <a:rPr lang="en-US" sz="850" dirty="0">
                <a:solidFill>
                  <a:srgbClr val="6C759E"/>
                </a:solidFill>
                <a:latin typeface="Courier New" pitchFamily="34" charset="0"/>
                <a:ea typeface="Courier New" pitchFamily="34" charset="-122"/>
                <a:cs typeface="Courier New" pitchFamily="34" charset="-120"/>
              </a:rPr>
              <a:t>: </a:t>
            </a:r>
            <a:r>
              <a:rPr lang="en-US" sz="850" dirty="0">
                <a:solidFill>
                  <a:srgbClr val="FBBF24"/>
                </a:solidFill>
                <a:latin typeface="Courier New" pitchFamily="34" charset="0"/>
                <a:ea typeface="Courier New" pitchFamily="34" charset="-122"/>
                <a:cs typeface="Courier New" pitchFamily="34" charset="-120"/>
              </a:rPr>
              <a:t>1.3rem</a:t>
            </a:r>
            <a:r>
              <a:rPr lang="en-US" sz="850" dirty="0">
                <a:solidFill>
                  <a:srgbClr val="6C759E"/>
                </a:solidFill>
                <a:latin typeface="Courier New" pitchFamily="34" charset="0"/>
                <a:ea typeface="Courier New" pitchFamily="34" charset="-122"/>
                <a:cs typeface="Courier New" pitchFamily="34" charset="-120"/>
              </a:rPr>
              <a:t>; }</a:t>
            </a:r>
            <a:endParaRPr lang="en-US" sz="850" dirty="0"/>
          </a:p>
        </p:txBody>
      </p:sp>
      <p:sp>
        <p:nvSpPr>
          <p:cNvPr id="25" name="kart"/>
          <p:cNvSpPr/>
          <p:nvPr/>
        </p:nvSpPr>
        <p:spPr>
          <a:xfrm>
            <a:off x="5998464" y="1371600"/>
            <a:ext cx="2596896" cy="2724912"/>
          </a:xfrm>
          <a:prstGeom prst="roundRect">
            <a:avLst>
              <a:gd name="adj" fmla="val 2817"/>
            </a:avLst>
          </a:prstGeom>
          <a:solidFill>
            <a:srgbClr val="1A2044"/>
          </a:solidFill>
          <a:ln w="9525">
            <a:solidFill>
              <a:srgbClr val="2E3768"/>
            </a:solidFill>
            <a:prstDash val="solid"/>
          </a:ln>
        </p:spPr>
      </p:sp>
      <p:sp>
        <p:nvSpPr>
          <p:cNvPr id="26" name="kart-nokta"/>
          <p:cNvSpPr/>
          <p:nvPr/>
        </p:nvSpPr>
        <p:spPr>
          <a:xfrm>
            <a:off x="6144768" y="1527048"/>
            <a:ext cx="91440" cy="91440"/>
          </a:xfrm>
          <a:prstGeom prst="ellipse">
            <a:avLst/>
          </a:prstGeom>
          <a:solidFill>
            <a:srgbClr val="A3E635"/>
          </a:solidFill>
          <a:ln/>
        </p:spPr>
      </p:sp>
      <p:sp>
        <p:nvSpPr>
          <p:cNvPr id="27" name="Text 25"/>
          <p:cNvSpPr txBox="1"/>
          <p:nvPr/>
        </p:nvSpPr>
        <p:spPr>
          <a:xfrm>
            <a:off x="6309360" y="1444752"/>
            <a:ext cx="2185416" cy="274320"/>
          </a:xfrm>
          <a:prstGeom prst="rect">
            <a:avLst/>
          </a:prstGeom>
          <a:noFill/>
          <a:ln/>
        </p:spPr>
        <p:txBody>
          <a:bodyPr wrap="square" lIns="0" tIns="0" rIns="0" bIns="0" rtlCol="0" anchor="ctr"/>
          <a:lstStyle/>
          <a:p>
            <a:pPr marL="0" indent="0">
              <a:buNone/>
            </a:pPr>
            <a:r>
              <a:rPr lang="en-US" sz="1300" b="1" dirty="0">
                <a:solidFill>
                  <a:srgbClr val="EEF0F8"/>
                </a:solidFill>
                <a:latin typeface="Arial" pitchFamily="34" charset="0"/>
                <a:ea typeface="Arial" pitchFamily="34" charset="-122"/>
                <a:cs typeface="Arial" pitchFamily="34" charset="-120"/>
              </a:rPr>
              <a:t>Yüzde ve sayı</a:t>
            </a:r>
            <a:endParaRPr lang="en-US" sz="1300" dirty="0"/>
          </a:p>
        </p:txBody>
      </p:sp>
      <p:sp>
        <p:nvSpPr>
          <p:cNvPr id="28" name="Text 26"/>
          <p:cNvSpPr txBox="1"/>
          <p:nvPr/>
        </p:nvSpPr>
        <p:spPr>
          <a:xfrm>
            <a:off x="6144768" y="1737360"/>
            <a:ext cx="2359152" cy="1463040"/>
          </a:xfrm>
          <a:prstGeom prst="rect">
            <a:avLst/>
          </a:prstGeom>
          <a:noFill/>
          <a:ln/>
        </p:spPr>
        <p:txBody>
          <a:bodyPr wrap="square" lIns="0" tIns="0" rIns="0" bIns="0" rtlCol="0" anchor="t"/>
          <a:lstStyle/>
          <a:p>
            <a:pPr marL="0" indent="0">
              <a:buNone/>
            </a:pPr>
            <a:r>
              <a:rPr lang="en-US" sz="1050" dirty="0">
                <a:solidFill>
                  <a:srgbClr val="EEF0F8"/>
                </a:solidFill>
                <a:latin typeface="Arial" pitchFamily="34" charset="0"/>
                <a:ea typeface="Arial" pitchFamily="34" charset="-122"/>
                <a:cs typeface="Arial" pitchFamily="34" charset="-120"/>
              </a:rPr>
              <a:t>% her zaman başka bir değere göredir: width'te ebeveyn genişliğine, font-size'da ebeveyn fontuna. 400px kutuda 40% = 160px. Bazı özellikler birimsiz sayı alır: opacity 0–1.</a:t>
            </a:r>
            <a:endParaRPr lang="en-US" sz="1050" dirty="0"/>
          </a:p>
        </p:txBody>
      </p:sp>
      <p:sp>
        <p:nvSpPr>
          <p:cNvPr id="29" name="kod-paneli"/>
          <p:cNvSpPr/>
          <p:nvPr/>
        </p:nvSpPr>
        <p:spPr>
          <a:xfrm>
            <a:off x="6144768" y="3246120"/>
            <a:ext cx="2331720" cy="731520"/>
          </a:xfrm>
          <a:prstGeom prst="roundRect">
            <a:avLst>
              <a:gd name="adj" fmla="val 10000"/>
            </a:avLst>
          </a:prstGeom>
          <a:solidFill>
            <a:srgbClr val="0A0D1F"/>
          </a:solidFill>
          <a:ln w="9525">
            <a:solidFill>
              <a:srgbClr val="2E3768"/>
            </a:solidFill>
            <a:prstDash val="solid"/>
          </a:ln>
        </p:spPr>
      </p:sp>
      <p:sp>
        <p:nvSpPr>
          <p:cNvPr id="30" name="Text 28"/>
          <p:cNvSpPr txBox="1"/>
          <p:nvPr/>
        </p:nvSpPr>
        <p:spPr>
          <a:xfrm>
            <a:off x="6291072" y="3355848"/>
            <a:ext cx="2057400" cy="530352"/>
          </a:xfrm>
          <a:prstGeom prst="rect">
            <a:avLst/>
          </a:prstGeom>
          <a:noFill/>
          <a:ln/>
        </p:spPr>
        <p:txBody>
          <a:bodyPr wrap="square" lIns="0" tIns="0" rIns="0" bIns="0" rtlCol="0" anchor="ctr"/>
          <a:lstStyle/>
          <a:p>
            <a:pPr marL="0" indent="0">
              <a:buNone/>
            </a:pPr>
            <a:r>
              <a:rPr lang="en-US" sz="900" dirty="0">
                <a:solidFill>
                  <a:srgbClr val="F472B6"/>
                </a:solidFill>
                <a:latin typeface="Courier New" pitchFamily="34" charset="0"/>
                <a:ea typeface="Courier New" pitchFamily="34" charset="-122"/>
                <a:cs typeface="Courier New" pitchFamily="34" charset="-120"/>
              </a:rPr>
              <a:t>.percent </a:t>
            </a:r>
            <a:r>
              <a:rPr lang="en-US" sz="900" dirty="0">
                <a:solidFill>
                  <a:srgbClr val="6C759E"/>
                </a:solidFill>
                <a:latin typeface="Courier New" pitchFamily="34" charset="0"/>
                <a:ea typeface="Courier New" pitchFamily="34" charset="-122"/>
                <a:cs typeface="Courier New" pitchFamily="34" charset="-120"/>
              </a:rPr>
              <a:t>{ </a:t>
            </a:r>
            <a:r>
              <a:rPr lang="en-US" sz="900" dirty="0">
                <a:solidFill>
                  <a:srgbClr val="22D3EE"/>
                </a:solidFill>
                <a:latin typeface="Courier New" pitchFamily="34" charset="0"/>
                <a:ea typeface="Courier New" pitchFamily="34" charset="-122"/>
                <a:cs typeface="Courier New" pitchFamily="34" charset="-120"/>
              </a:rPr>
              <a:t>width</a:t>
            </a:r>
            <a:r>
              <a:rPr lang="en-US" sz="900" dirty="0">
                <a:solidFill>
                  <a:srgbClr val="6C759E"/>
                </a:solidFill>
                <a:latin typeface="Courier New" pitchFamily="34" charset="0"/>
                <a:ea typeface="Courier New" pitchFamily="34" charset="-122"/>
                <a:cs typeface="Courier New" pitchFamily="34" charset="-120"/>
              </a:rPr>
              <a:t>: </a:t>
            </a:r>
            <a:r>
              <a:rPr lang="en-US" sz="900" dirty="0">
                <a:solidFill>
                  <a:srgbClr val="FBBF24"/>
                </a:solidFill>
                <a:latin typeface="Courier New" pitchFamily="34" charset="0"/>
                <a:ea typeface="Courier New" pitchFamily="34" charset="-122"/>
                <a:cs typeface="Courier New" pitchFamily="34" charset="-120"/>
              </a:rPr>
              <a:t>40%</a:t>
            </a:r>
            <a:r>
              <a:rPr lang="en-US" sz="900" dirty="0">
                <a:solidFill>
                  <a:srgbClr val="6C759E"/>
                </a:solidFill>
                <a:latin typeface="Courier New" pitchFamily="34" charset="0"/>
                <a:ea typeface="Courier New" pitchFamily="34" charset="-122"/>
                <a:cs typeface="Courier New" pitchFamily="34" charset="-120"/>
              </a:rPr>
              <a:t>; }</a:t>
            </a:r>
            <a:endParaRPr lang="en-US" sz="900" dirty="0"/>
          </a:p>
          <a:p>
            <a:pPr marL="0" indent="0">
              <a:buNone/>
            </a:pPr>
            <a:r>
              <a:rPr lang="en-US" sz="900" dirty="0">
                <a:solidFill>
                  <a:srgbClr val="F472B6"/>
                </a:solidFill>
                <a:latin typeface="Courier New" pitchFamily="34" charset="0"/>
                <a:ea typeface="Courier New" pitchFamily="34" charset="-122"/>
                <a:cs typeface="Courier New" pitchFamily="34" charset="-120"/>
              </a:rPr>
              <a:t>.box </a:t>
            </a:r>
            <a:r>
              <a:rPr lang="en-US" sz="900" dirty="0">
                <a:solidFill>
                  <a:srgbClr val="6C759E"/>
                </a:solidFill>
                <a:latin typeface="Courier New" pitchFamily="34" charset="0"/>
                <a:ea typeface="Courier New" pitchFamily="34" charset="-122"/>
                <a:cs typeface="Courier New" pitchFamily="34" charset="-120"/>
              </a:rPr>
              <a:t>{ </a:t>
            </a:r>
            <a:r>
              <a:rPr lang="en-US" sz="900" dirty="0">
                <a:solidFill>
                  <a:srgbClr val="22D3EE"/>
                </a:solidFill>
                <a:latin typeface="Courier New" pitchFamily="34" charset="0"/>
                <a:ea typeface="Courier New" pitchFamily="34" charset="-122"/>
                <a:cs typeface="Courier New" pitchFamily="34" charset="-120"/>
              </a:rPr>
              <a:t>opacity</a:t>
            </a:r>
            <a:r>
              <a:rPr lang="en-US" sz="900" dirty="0">
                <a:solidFill>
                  <a:srgbClr val="6C759E"/>
                </a:solidFill>
                <a:latin typeface="Courier New" pitchFamily="34" charset="0"/>
                <a:ea typeface="Courier New" pitchFamily="34" charset="-122"/>
                <a:cs typeface="Courier New" pitchFamily="34" charset="-120"/>
              </a:rPr>
              <a:t>: </a:t>
            </a:r>
            <a:r>
              <a:rPr lang="en-US" sz="900" dirty="0">
                <a:solidFill>
                  <a:srgbClr val="FBBF24"/>
                </a:solidFill>
                <a:latin typeface="Courier New" pitchFamily="34" charset="0"/>
                <a:ea typeface="Courier New" pitchFamily="34" charset="-122"/>
                <a:cs typeface="Courier New" pitchFamily="34" charset="-120"/>
              </a:rPr>
              <a:t>0.6</a:t>
            </a:r>
            <a:r>
              <a:rPr lang="en-US" sz="900" dirty="0">
                <a:solidFill>
                  <a:srgbClr val="6C759E"/>
                </a:solidFill>
                <a:latin typeface="Courier New" pitchFamily="34" charset="0"/>
                <a:ea typeface="Courier New" pitchFamily="34" charset="-122"/>
                <a:cs typeface="Courier New" pitchFamily="34" charset="-120"/>
              </a:rPr>
              <a:t>; }</a:t>
            </a:r>
            <a:endParaRPr lang="en-US" sz="900" dirty="0"/>
          </a:p>
        </p:txBody>
      </p:sp>
      <p:sp>
        <p:nvSpPr>
          <p:cNvPr id="31" name="benzetme"/>
          <p:cNvSpPr/>
          <p:nvPr/>
        </p:nvSpPr>
        <p:spPr>
          <a:xfrm>
            <a:off x="548640" y="4224528"/>
            <a:ext cx="8046720" cy="402336"/>
          </a:xfrm>
          <a:prstGeom prst="roundRect">
            <a:avLst>
              <a:gd name="adj" fmla="val 50000"/>
            </a:avLst>
          </a:prstGeom>
          <a:solidFill>
            <a:srgbClr val="232A55"/>
          </a:solidFill>
          <a:ln/>
        </p:spPr>
      </p:sp>
      <p:sp>
        <p:nvSpPr>
          <p:cNvPr id="32" name="benzetme-ikon"/>
          <p:cNvSpPr/>
          <p:nvPr/>
        </p:nvSpPr>
        <p:spPr>
          <a:xfrm>
            <a:off x="621792" y="4261104"/>
            <a:ext cx="329184" cy="329184"/>
          </a:xfrm>
          <a:prstGeom prst="ellipse">
            <a:avLst/>
          </a:prstGeom>
          <a:solidFill>
            <a:srgbClr val="FBBF24"/>
          </a:solidFill>
          <a:ln/>
        </p:spPr>
      </p:sp>
      <p:sp>
        <p:nvSpPr>
          <p:cNvPr id="33" name="Text 31"/>
          <p:cNvSpPr txBox="1"/>
          <p:nvPr/>
        </p:nvSpPr>
        <p:spPr>
          <a:xfrm>
            <a:off x="621792" y="4261104"/>
            <a:ext cx="329184" cy="329184"/>
          </a:xfrm>
          <a:prstGeom prst="rect">
            <a:avLst/>
          </a:prstGeom>
          <a:noFill/>
          <a:ln/>
        </p:spPr>
        <p:txBody>
          <a:bodyPr wrap="square" lIns="0" tIns="0" rIns="0" bIns="0" rtlCol="0" anchor="ctr"/>
          <a:lstStyle/>
          <a:p>
            <a:pPr marL="0" indent="0" algn="ctr">
              <a:buNone/>
            </a:pPr>
            <a:r>
              <a:rPr lang="en-US" sz="1600" b="1" dirty="0">
                <a:solidFill>
                  <a:srgbClr val="10142B"/>
                </a:solidFill>
                <a:latin typeface="Arial" pitchFamily="34" charset="0"/>
                <a:ea typeface="Arial" pitchFamily="34" charset="-122"/>
                <a:cs typeface="Arial" pitchFamily="34" charset="-120"/>
              </a:rPr>
              <a:t>≈</a:t>
            </a:r>
            <a:endParaRPr lang="en-US" sz="1600" dirty="0"/>
          </a:p>
        </p:txBody>
      </p:sp>
      <p:sp>
        <p:nvSpPr>
          <p:cNvPr id="34" name="Text 32"/>
          <p:cNvSpPr txBox="1"/>
          <p:nvPr/>
        </p:nvSpPr>
        <p:spPr>
          <a:xfrm>
            <a:off x="1042416" y="4224528"/>
            <a:ext cx="7452360" cy="402336"/>
          </a:xfrm>
          <a:prstGeom prst="rect">
            <a:avLst/>
          </a:prstGeom>
          <a:noFill/>
          <a:ln/>
        </p:spPr>
        <p:txBody>
          <a:bodyPr wrap="square" lIns="0" tIns="0" rIns="0" bIns="0" rtlCol="0" anchor="ctr"/>
          <a:lstStyle/>
          <a:p>
            <a:pPr marL="0" indent="0">
              <a:buNone/>
            </a:pPr>
            <a:r>
              <a:rPr lang="en-US" sz="1100" b="1" dirty="0">
                <a:solidFill>
                  <a:srgbClr val="FBBF24"/>
                </a:solidFill>
                <a:latin typeface="Arial" pitchFamily="34" charset="0"/>
                <a:ea typeface="Arial" pitchFamily="34" charset="-122"/>
                <a:cs typeface="Arial" pitchFamily="34" charset="-120"/>
              </a:rPr>
              <a:t>Gündelik hayatta: </a:t>
            </a:r>
            <a:r>
              <a:rPr lang="en-US" sz="1100" dirty="0">
                <a:solidFill>
                  <a:srgbClr val="EEF0F8"/>
                </a:solidFill>
                <a:latin typeface="Arial" pitchFamily="34" charset="0"/>
                <a:ea typeface="Arial" pitchFamily="34" charset="-122"/>
                <a:cs typeface="Arial" pitchFamily="34" charset="-120"/>
              </a:rPr>
              <a:t>em annenin ayakkabısına göre numara seçmek, rem ise herkesin aynı standart kalıba göre seçmesi gibidir.</a:t>
            </a:r>
            <a:endParaRPr lang="en-US" sz="1100" dirty="0"/>
          </a:p>
        </p:txBody>
      </p:sp>
    </p:spTree>
  </p:cSld>
  <p:clrMapOvr>
    <a:masterClrMapping/>
  </p:clrMapOvr>
  <p:transition spd="med">
    <p:pull/>
  </p:transition>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256032"/>
            <a:ext cx="4572000" cy="201168"/>
          </a:xfrm>
          <a:prstGeom prst="rect">
            <a:avLst/>
          </a:prstGeom>
          <a:noFill/>
          <a:ln/>
        </p:spPr>
        <p:txBody>
          <a:bodyPr wrap="square" lIns="0" tIns="0" rIns="0" bIns="0" rtlCol="0" anchor="t"/>
          <a:lstStyle/>
          <a:p>
            <a:pPr marL="0" indent="0">
              <a:buNone/>
            </a:pPr>
            <a:r>
              <a:rPr lang="en-US" sz="900" b="1" kern="0" spc="200" dirty="0">
                <a:solidFill>
                  <a:srgbClr val="22D3EE"/>
                </a:solidFill>
                <a:latin typeface="Arial" pitchFamily="34" charset="0"/>
                <a:ea typeface="Arial" pitchFamily="34" charset="-122"/>
                <a:cs typeface="Arial" pitchFamily="34" charset="-120"/>
              </a:rPr>
              <a:t>MODÜL 1 · CSS TEMELLERİ</a:t>
            </a:r>
            <a:endParaRPr lang="en-US" sz="900" dirty="0"/>
          </a:p>
        </p:txBody>
      </p:sp>
      <p:sp>
        <p:nvSpPr>
          <p:cNvPr id="3" name="mini-box-0"/>
          <p:cNvSpPr/>
          <p:nvPr/>
        </p:nvSpPr>
        <p:spPr>
          <a:xfrm>
            <a:off x="8229600" y="201168"/>
            <a:ext cx="384048" cy="384048"/>
          </a:xfrm>
          <a:prstGeom prst="rect">
            <a:avLst/>
          </a:prstGeom>
          <a:ln w="9525">
            <a:solidFill>
              <a:srgbClr val="22D3EE"/>
            </a:solidFill>
            <a:prstDash val="solid"/>
          </a:ln>
        </p:spPr>
      </p:sp>
      <p:sp>
        <p:nvSpPr>
          <p:cNvPr id="4" name="mini-box-1"/>
          <p:cNvSpPr/>
          <p:nvPr/>
        </p:nvSpPr>
        <p:spPr>
          <a:xfrm>
            <a:off x="8293608" y="265176"/>
            <a:ext cx="256032" cy="256032"/>
          </a:xfrm>
          <a:prstGeom prst="rect">
            <a:avLst/>
          </a:prstGeom>
          <a:ln w="9525">
            <a:solidFill>
              <a:srgbClr val="EEF0F8"/>
            </a:solidFill>
            <a:prstDash val="solid"/>
          </a:ln>
        </p:spPr>
      </p:sp>
      <p:sp>
        <p:nvSpPr>
          <p:cNvPr id="5" name="mini-box-2"/>
          <p:cNvSpPr/>
          <p:nvPr/>
        </p:nvSpPr>
        <p:spPr>
          <a:xfrm>
            <a:off x="8348472" y="320040"/>
            <a:ext cx="146304" cy="146304"/>
          </a:xfrm>
          <a:prstGeom prst="rect">
            <a:avLst/>
          </a:prstGeom>
          <a:solidFill>
            <a:srgbClr val="22D3EE"/>
          </a:solidFill>
          <a:ln w="9525">
            <a:solidFill>
              <a:srgbClr val="22D3EE"/>
            </a:solidFill>
            <a:prstDash val="solid"/>
          </a:ln>
        </p:spPr>
      </p:sp>
      <p:sp>
        <p:nvSpPr>
          <p:cNvPr id="6" name="ilerleme-zemin"/>
          <p:cNvSpPr/>
          <p:nvPr/>
        </p:nvSpPr>
        <p:spPr>
          <a:xfrm>
            <a:off x="0" y="5070348"/>
            <a:ext cx="9144000" cy="73152"/>
          </a:xfrm>
          <a:prstGeom prst="rect">
            <a:avLst/>
          </a:prstGeom>
          <a:solidFill>
            <a:srgbClr val="1A2044"/>
          </a:solidFill>
          <a:ln/>
        </p:spPr>
      </p:sp>
      <p:sp>
        <p:nvSpPr>
          <p:cNvPr id="7" name="ilerleme"/>
          <p:cNvSpPr/>
          <p:nvPr/>
        </p:nvSpPr>
        <p:spPr>
          <a:xfrm>
            <a:off x="0" y="5070348"/>
            <a:ext cx="3615070" cy="73152"/>
          </a:xfrm>
          <a:prstGeom prst="rect">
            <a:avLst/>
          </a:prstGeom>
          <a:solidFill>
            <a:srgbClr val="22D3EE"/>
          </a:solidFill>
          <a:ln/>
        </p:spPr>
      </p:sp>
      <p:sp>
        <p:nvSpPr>
          <p:cNvPr id="8" name="Text 6"/>
          <p:cNvSpPr txBox="1"/>
          <p:nvPr/>
        </p:nvSpPr>
        <p:spPr>
          <a:xfrm>
            <a:off x="548640" y="4791456"/>
            <a:ext cx="3657600" cy="201168"/>
          </a:xfrm>
          <a:prstGeom prst="rect">
            <a:avLst/>
          </a:prstGeom>
          <a:noFill/>
          <a:ln/>
        </p:spPr>
        <p:txBody>
          <a:bodyPr wrap="square" lIns="0" tIns="0" rIns="0" bIns="0" rtlCol="0" anchor="t"/>
          <a:lstStyle/>
          <a:p>
            <a:pPr marL="0" indent="0">
              <a:buNone/>
            </a:pPr>
            <a:r>
              <a:rPr lang="en-US" sz="850" dirty="0">
                <a:solidFill>
                  <a:srgbClr val="6C759E"/>
                </a:solidFill>
                <a:latin typeface="Arial" pitchFamily="34" charset="0"/>
                <a:ea typeface="Arial" pitchFamily="34" charset="-122"/>
                <a:cs typeface="Arial" pitchFamily="34" charset="-120"/>
              </a:rPr>
              <a:t>KCŞ A.Ş.  ·  CSS ile stil ve düzen</a:t>
            </a:r>
            <a:endParaRPr lang="en-US" sz="850" dirty="0"/>
          </a:p>
        </p:txBody>
      </p:sp>
      <p:sp>
        <p:nvSpPr>
          <p:cNvPr id="9" name="Text 7"/>
          <p:cNvSpPr txBox="1"/>
          <p:nvPr/>
        </p:nvSpPr>
        <p:spPr>
          <a:xfrm>
            <a:off x="4206240" y="4791456"/>
            <a:ext cx="3840480" cy="201168"/>
          </a:xfrm>
          <a:prstGeom prst="rect">
            <a:avLst/>
          </a:prstGeom>
          <a:noFill/>
          <a:ln/>
        </p:spPr>
        <p:txBody>
          <a:bodyPr wrap="square" lIns="0" tIns="0" rIns="0" bIns="0" rtlCol="0" anchor="t"/>
          <a:lstStyle/>
          <a:p>
            <a:pPr marL="0" indent="0" algn="r">
              <a:buNone/>
            </a:pPr>
            <a:r>
              <a:rPr lang="en-US" sz="850" dirty="0">
                <a:solidFill>
                  <a:srgbClr val="6C759E"/>
                </a:solidFill>
                <a:latin typeface="Arial" pitchFamily="34" charset="0"/>
                <a:ea typeface="Arial" pitchFamily="34" charset="-122"/>
                <a:cs typeface="Arial" pitchFamily="34" charset="-120"/>
              </a:rPr>
              <a:t>MDN · CSS values and units</a:t>
            </a:r>
            <a:endParaRPr lang="en-US" sz="850" dirty="0"/>
          </a:p>
        </p:txBody>
      </p:sp>
      <p:sp>
        <p:nvSpPr>
          <p:cNvPr id="10" name="Text 8"/>
          <p:cNvSpPr txBox="1"/>
          <p:nvPr/>
        </p:nvSpPr>
        <p:spPr>
          <a:xfrm>
            <a:off x="8092440" y="4791456"/>
            <a:ext cx="685800" cy="201168"/>
          </a:xfrm>
          <a:prstGeom prst="rect">
            <a:avLst/>
          </a:prstGeom>
          <a:noFill/>
          <a:ln/>
        </p:spPr>
        <p:txBody>
          <a:bodyPr wrap="square" lIns="0" tIns="0" rIns="0" bIns="0" rtlCol="0" anchor="t"/>
          <a:lstStyle/>
          <a:p>
            <a:pPr marL="0" indent="0" algn="r">
              <a:buNone/>
            </a:pPr>
            <a:r>
              <a:rPr lang="en-US" sz="850" dirty="0">
                <a:solidFill>
                  <a:srgbClr val="9AA3C7"/>
                </a:solidFill>
                <a:latin typeface="Courier New" pitchFamily="34" charset="0"/>
                <a:ea typeface="Courier New" pitchFamily="34" charset="-122"/>
                <a:cs typeface="Courier New" pitchFamily="34" charset="-120"/>
              </a:rPr>
              <a:t>17 / 43</a:t>
            </a:r>
            <a:endParaRPr lang="en-US" sz="850" dirty="0"/>
          </a:p>
        </p:txBody>
      </p:sp>
      <p:sp>
        <p:nvSpPr>
          <p:cNvPr id="11" name="Text 9"/>
          <p:cNvSpPr txBox="1"/>
          <p:nvPr/>
        </p:nvSpPr>
        <p:spPr>
          <a:xfrm>
            <a:off x="548640" y="502920"/>
            <a:ext cx="5943600" cy="237744"/>
          </a:xfrm>
          <a:prstGeom prst="rect">
            <a:avLst/>
          </a:prstGeom>
          <a:noFill/>
          <a:ln/>
        </p:spPr>
        <p:txBody>
          <a:bodyPr wrap="square" lIns="0" tIns="0" rIns="0" bIns="0" rtlCol="0" anchor="t"/>
          <a:lstStyle/>
          <a:p>
            <a:pPr marL="0" indent="0">
              <a:buNone/>
            </a:pPr>
            <a:r>
              <a:rPr lang="en-US" sz="1100" b="1" dirty="0">
                <a:solidFill>
                  <a:srgbClr val="22D3EE"/>
                </a:solidFill>
                <a:latin typeface="Courier New" pitchFamily="34" charset="0"/>
                <a:ea typeface="Courier New" pitchFamily="34" charset="-122"/>
                <a:cs typeface="Courier New" pitchFamily="34" charset="-120"/>
              </a:rPr>
              <a:t>rgb(197 93 161 / .7)</a:t>
            </a:r>
            <a:endParaRPr lang="en-US" sz="1100" dirty="0"/>
          </a:p>
        </p:txBody>
      </p:sp>
      <p:sp>
        <p:nvSpPr>
          <p:cNvPr id="12" name="Text 10"/>
          <p:cNvSpPr txBox="1"/>
          <p:nvPr/>
        </p:nvSpPr>
        <p:spPr>
          <a:xfrm>
            <a:off x="548640" y="749808"/>
            <a:ext cx="7589520" cy="502920"/>
          </a:xfrm>
          <a:prstGeom prst="rect">
            <a:avLst/>
          </a:prstGeom>
          <a:noFill/>
          <a:ln/>
        </p:spPr>
        <p:txBody>
          <a:bodyPr wrap="square" lIns="0" tIns="0" rIns="0" bIns="0" rtlCol="0" anchor="ctr"/>
          <a:lstStyle/>
          <a:p>
            <a:pPr marL="0" indent="0">
              <a:buNone/>
            </a:pPr>
            <a:r>
              <a:rPr lang="en-US" sz="2400" b="1" dirty="0">
                <a:solidFill>
                  <a:srgbClr val="EEF0F8"/>
                </a:solidFill>
                <a:latin typeface="Arial" pitchFamily="34" charset="0"/>
                <a:ea typeface="Arial" pitchFamily="34" charset="-122"/>
                <a:cs typeface="Arial" pitchFamily="34" charset="-120"/>
              </a:rPr>
              <a:t>Değerler ve birimler 2: renk ve diğerleri</a:t>
            </a:r>
            <a:endParaRPr lang="en-US" sz="2400" dirty="0"/>
          </a:p>
        </p:txBody>
      </p:sp>
      <p:sp>
        <p:nvSpPr>
          <p:cNvPr id="13" name="renk-0"/>
          <p:cNvSpPr/>
          <p:nvPr/>
        </p:nvSpPr>
        <p:spPr>
          <a:xfrm>
            <a:off x="548640" y="1371600"/>
            <a:ext cx="457200" cy="457200"/>
          </a:xfrm>
          <a:prstGeom prst="roundRect">
            <a:avLst>
              <a:gd name="adj" fmla="val 16000"/>
            </a:avLst>
          </a:prstGeom>
          <a:solidFill>
            <a:srgbClr val="FAEBD7"/>
          </a:solidFill>
          <a:ln/>
        </p:spPr>
      </p:sp>
      <p:sp>
        <p:nvSpPr>
          <p:cNvPr id="14" name="Text 12"/>
          <p:cNvSpPr txBox="1"/>
          <p:nvPr/>
        </p:nvSpPr>
        <p:spPr>
          <a:xfrm>
            <a:off x="1143000" y="1371600"/>
            <a:ext cx="2103120" cy="457200"/>
          </a:xfrm>
          <a:prstGeom prst="rect">
            <a:avLst/>
          </a:prstGeom>
          <a:noFill/>
          <a:ln/>
        </p:spPr>
        <p:txBody>
          <a:bodyPr wrap="square" lIns="0" tIns="0" rIns="0" bIns="0" rtlCol="0" anchor="ctr"/>
          <a:lstStyle/>
          <a:p>
            <a:pPr marL="0" indent="0">
              <a:buNone/>
            </a:pPr>
            <a:r>
              <a:rPr lang="en-US" sz="1100" dirty="0">
                <a:solidFill>
                  <a:srgbClr val="FBBF24"/>
                </a:solidFill>
                <a:latin typeface="Courier New" pitchFamily="34" charset="0"/>
                <a:ea typeface="Courier New" pitchFamily="34" charset="-122"/>
                <a:cs typeface="Courier New" pitchFamily="34" charset="-120"/>
              </a:rPr>
              <a:t>antiquewhite</a:t>
            </a:r>
            <a:endParaRPr lang="en-US" sz="1100" dirty="0"/>
          </a:p>
        </p:txBody>
      </p:sp>
      <p:sp>
        <p:nvSpPr>
          <p:cNvPr id="15" name="Text 13"/>
          <p:cNvSpPr txBox="1"/>
          <p:nvPr/>
        </p:nvSpPr>
        <p:spPr>
          <a:xfrm>
            <a:off x="3200400" y="1371600"/>
            <a:ext cx="1463040" cy="457200"/>
          </a:xfrm>
          <a:prstGeom prst="rect">
            <a:avLst/>
          </a:prstGeom>
          <a:noFill/>
          <a:ln/>
        </p:spPr>
        <p:txBody>
          <a:bodyPr wrap="square" lIns="0" tIns="0" rIns="0" bIns="0" rtlCol="0" anchor="ctr"/>
          <a:lstStyle/>
          <a:p>
            <a:pPr marL="0" indent="0">
              <a:buNone/>
            </a:pPr>
            <a:r>
              <a:rPr lang="en-US" sz="950" dirty="0">
                <a:solidFill>
                  <a:srgbClr val="9AA3C7"/>
                </a:solidFill>
                <a:latin typeface="Arial" pitchFamily="34" charset="0"/>
                <a:ea typeface="Arial" pitchFamily="34" charset="-122"/>
                <a:cs typeface="Arial" pitchFamily="34" charset="-120"/>
              </a:rPr>
              <a:t>anahtar kelime</a:t>
            </a:r>
            <a:endParaRPr lang="en-US" sz="950" dirty="0"/>
          </a:p>
        </p:txBody>
      </p:sp>
      <p:sp>
        <p:nvSpPr>
          <p:cNvPr id="16" name="renk-1"/>
          <p:cNvSpPr/>
          <p:nvPr/>
        </p:nvSpPr>
        <p:spPr>
          <a:xfrm>
            <a:off x="548640" y="1920240"/>
            <a:ext cx="457200" cy="457200"/>
          </a:xfrm>
          <a:prstGeom prst="roundRect">
            <a:avLst>
              <a:gd name="adj" fmla="val 16000"/>
            </a:avLst>
          </a:prstGeom>
          <a:solidFill>
            <a:srgbClr val="C55DA1"/>
          </a:solidFill>
          <a:ln/>
        </p:spPr>
      </p:sp>
      <p:sp>
        <p:nvSpPr>
          <p:cNvPr id="17" name="Text 15"/>
          <p:cNvSpPr txBox="1"/>
          <p:nvPr/>
        </p:nvSpPr>
        <p:spPr>
          <a:xfrm>
            <a:off x="1143000" y="1920240"/>
            <a:ext cx="2103120" cy="457200"/>
          </a:xfrm>
          <a:prstGeom prst="rect">
            <a:avLst/>
          </a:prstGeom>
          <a:noFill/>
          <a:ln/>
        </p:spPr>
        <p:txBody>
          <a:bodyPr wrap="square" lIns="0" tIns="0" rIns="0" bIns="0" rtlCol="0" anchor="ctr"/>
          <a:lstStyle/>
          <a:p>
            <a:pPr marL="0" indent="0">
              <a:buNone/>
            </a:pPr>
            <a:r>
              <a:rPr lang="en-US" sz="1100" dirty="0">
                <a:solidFill>
                  <a:srgbClr val="FBBF24"/>
                </a:solidFill>
                <a:latin typeface="Courier New" pitchFamily="34" charset="0"/>
                <a:ea typeface="Courier New" pitchFamily="34" charset="-122"/>
                <a:cs typeface="Courier New" pitchFamily="34" charset="-120"/>
              </a:rPr>
              <a:t>#c55da1</a:t>
            </a:r>
            <a:endParaRPr lang="en-US" sz="1100" dirty="0"/>
          </a:p>
        </p:txBody>
      </p:sp>
      <p:sp>
        <p:nvSpPr>
          <p:cNvPr id="18" name="Text 16"/>
          <p:cNvSpPr txBox="1"/>
          <p:nvPr/>
        </p:nvSpPr>
        <p:spPr>
          <a:xfrm>
            <a:off x="3200400" y="1920240"/>
            <a:ext cx="1463040" cy="457200"/>
          </a:xfrm>
          <a:prstGeom prst="rect">
            <a:avLst/>
          </a:prstGeom>
          <a:noFill/>
          <a:ln/>
        </p:spPr>
        <p:txBody>
          <a:bodyPr wrap="square" lIns="0" tIns="0" rIns="0" bIns="0" rtlCol="0" anchor="ctr"/>
          <a:lstStyle/>
          <a:p>
            <a:pPr marL="0" indent="0">
              <a:buNone/>
            </a:pPr>
            <a:r>
              <a:rPr lang="en-US" sz="950" dirty="0">
                <a:solidFill>
                  <a:srgbClr val="9AA3C7"/>
                </a:solidFill>
                <a:latin typeface="Arial" pitchFamily="34" charset="0"/>
                <a:ea typeface="Arial" pitchFamily="34" charset="-122"/>
                <a:cs typeface="Arial" pitchFamily="34" charset="-120"/>
              </a:rPr>
              <a:t>onaltılık (hex)</a:t>
            </a:r>
            <a:endParaRPr lang="en-US" sz="950" dirty="0"/>
          </a:p>
        </p:txBody>
      </p:sp>
      <p:sp>
        <p:nvSpPr>
          <p:cNvPr id="19" name="renk-2"/>
          <p:cNvSpPr/>
          <p:nvPr/>
        </p:nvSpPr>
        <p:spPr>
          <a:xfrm>
            <a:off x="548640" y="2468880"/>
            <a:ext cx="457200" cy="457200"/>
          </a:xfrm>
          <a:prstGeom prst="roundRect">
            <a:avLst>
              <a:gd name="adj" fmla="val 16000"/>
            </a:avLst>
          </a:prstGeom>
          <a:solidFill>
            <a:srgbClr val="02798B"/>
          </a:solidFill>
          <a:ln/>
        </p:spPr>
      </p:sp>
      <p:sp>
        <p:nvSpPr>
          <p:cNvPr id="20" name="Text 18"/>
          <p:cNvSpPr txBox="1"/>
          <p:nvPr/>
        </p:nvSpPr>
        <p:spPr>
          <a:xfrm>
            <a:off x="1143000" y="2468880"/>
            <a:ext cx="2103120" cy="457200"/>
          </a:xfrm>
          <a:prstGeom prst="rect">
            <a:avLst/>
          </a:prstGeom>
          <a:noFill/>
          <a:ln/>
        </p:spPr>
        <p:txBody>
          <a:bodyPr wrap="square" lIns="0" tIns="0" rIns="0" bIns="0" rtlCol="0" anchor="ctr"/>
          <a:lstStyle/>
          <a:p>
            <a:pPr marL="0" indent="0">
              <a:buNone/>
            </a:pPr>
            <a:r>
              <a:rPr lang="en-US" sz="1100" dirty="0">
                <a:solidFill>
                  <a:srgbClr val="FBBF24"/>
                </a:solidFill>
                <a:latin typeface="Courier New" pitchFamily="34" charset="0"/>
                <a:ea typeface="Courier New" pitchFamily="34" charset="-122"/>
                <a:cs typeface="Courier New" pitchFamily="34" charset="-120"/>
              </a:rPr>
              <a:t>rgb(2 121 139)</a:t>
            </a:r>
            <a:endParaRPr lang="en-US" sz="1100" dirty="0"/>
          </a:p>
        </p:txBody>
      </p:sp>
      <p:sp>
        <p:nvSpPr>
          <p:cNvPr id="21" name="Text 19"/>
          <p:cNvSpPr txBox="1"/>
          <p:nvPr/>
        </p:nvSpPr>
        <p:spPr>
          <a:xfrm>
            <a:off x="3200400" y="2468880"/>
            <a:ext cx="1463040" cy="457200"/>
          </a:xfrm>
          <a:prstGeom prst="rect">
            <a:avLst/>
          </a:prstGeom>
          <a:noFill/>
          <a:ln/>
        </p:spPr>
        <p:txBody>
          <a:bodyPr wrap="square" lIns="0" tIns="0" rIns="0" bIns="0" rtlCol="0" anchor="ctr"/>
          <a:lstStyle/>
          <a:p>
            <a:pPr marL="0" indent="0">
              <a:buNone/>
            </a:pPr>
            <a:r>
              <a:rPr lang="en-US" sz="950" dirty="0">
                <a:solidFill>
                  <a:srgbClr val="9AA3C7"/>
                </a:solidFill>
                <a:latin typeface="Arial" pitchFamily="34" charset="0"/>
                <a:ea typeface="Arial" pitchFamily="34" charset="-122"/>
                <a:cs typeface="Arial" pitchFamily="34" charset="-120"/>
              </a:rPr>
              <a:t>rgb()</a:t>
            </a:r>
            <a:endParaRPr lang="en-US" sz="950" dirty="0"/>
          </a:p>
        </p:txBody>
      </p:sp>
      <p:sp>
        <p:nvSpPr>
          <p:cNvPr id="22" name="renk-3"/>
          <p:cNvSpPr/>
          <p:nvPr/>
        </p:nvSpPr>
        <p:spPr>
          <a:xfrm>
            <a:off x="548640" y="3017520"/>
            <a:ext cx="457200" cy="457200"/>
          </a:xfrm>
          <a:prstGeom prst="roundRect">
            <a:avLst>
              <a:gd name="adj" fmla="val 16000"/>
            </a:avLst>
          </a:prstGeom>
          <a:solidFill>
            <a:srgbClr val="128A7D"/>
          </a:solidFill>
          <a:ln/>
        </p:spPr>
      </p:sp>
      <p:sp>
        <p:nvSpPr>
          <p:cNvPr id="23" name="Text 21"/>
          <p:cNvSpPr txBox="1"/>
          <p:nvPr/>
        </p:nvSpPr>
        <p:spPr>
          <a:xfrm>
            <a:off x="1143000" y="3017520"/>
            <a:ext cx="2103120" cy="457200"/>
          </a:xfrm>
          <a:prstGeom prst="rect">
            <a:avLst/>
          </a:prstGeom>
          <a:noFill/>
          <a:ln/>
        </p:spPr>
        <p:txBody>
          <a:bodyPr wrap="square" lIns="0" tIns="0" rIns="0" bIns="0" rtlCol="0" anchor="ctr"/>
          <a:lstStyle/>
          <a:p>
            <a:pPr marL="0" indent="0">
              <a:buNone/>
            </a:pPr>
            <a:r>
              <a:rPr lang="en-US" sz="1100" dirty="0">
                <a:solidFill>
                  <a:srgbClr val="FBBF24"/>
                </a:solidFill>
                <a:latin typeface="Courier New" pitchFamily="34" charset="0"/>
                <a:ea typeface="Courier New" pitchFamily="34" charset="-122"/>
                <a:cs typeface="Courier New" pitchFamily="34" charset="-120"/>
              </a:rPr>
              <a:t>hsl(174 77% 31%)</a:t>
            </a:r>
            <a:endParaRPr lang="en-US" sz="1100" dirty="0"/>
          </a:p>
        </p:txBody>
      </p:sp>
      <p:sp>
        <p:nvSpPr>
          <p:cNvPr id="24" name="Text 22"/>
          <p:cNvSpPr txBox="1"/>
          <p:nvPr/>
        </p:nvSpPr>
        <p:spPr>
          <a:xfrm>
            <a:off x="3200400" y="3017520"/>
            <a:ext cx="1463040" cy="457200"/>
          </a:xfrm>
          <a:prstGeom prst="rect">
            <a:avLst/>
          </a:prstGeom>
          <a:noFill/>
          <a:ln/>
        </p:spPr>
        <p:txBody>
          <a:bodyPr wrap="square" lIns="0" tIns="0" rIns="0" bIns="0" rtlCol="0" anchor="ctr"/>
          <a:lstStyle/>
          <a:p>
            <a:pPr marL="0" indent="0">
              <a:buNone/>
            </a:pPr>
            <a:r>
              <a:rPr lang="en-US" sz="950" dirty="0">
                <a:solidFill>
                  <a:srgbClr val="9AA3C7"/>
                </a:solidFill>
                <a:latin typeface="Arial" pitchFamily="34" charset="0"/>
                <a:ea typeface="Arial" pitchFamily="34" charset="-122"/>
                <a:cs typeface="Arial" pitchFamily="34" charset="-120"/>
              </a:rPr>
              <a:t>hsl(): ton, doygunluk, açıklık</a:t>
            </a:r>
            <a:endParaRPr lang="en-US" sz="950" dirty="0"/>
          </a:p>
        </p:txBody>
      </p:sp>
      <p:sp>
        <p:nvSpPr>
          <p:cNvPr id="25" name="Text 23"/>
          <p:cNvSpPr txBox="1"/>
          <p:nvPr/>
        </p:nvSpPr>
        <p:spPr>
          <a:xfrm>
            <a:off x="548640" y="3584448"/>
            <a:ext cx="4114800" cy="548640"/>
          </a:xfrm>
          <a:prstGeom prst="rect">
            <a:avLst/>
          </a:prstGeom>
          <a:noFill/>
          <a:ln/>
        </p:spPr>
        <p:txBody>
          <a:bodyPr wrap="square" lIns="0" tIns="0" rIns="0" bIns="0" rtlCol="0" anchor="t"/>
          <a:lstStyle/>
          <a:p>
            <a:pPr marL="0" indent="0">
              <a:buNone/>
            </a:pPr>
            <a:r>
              <a:rPr lang="en-US" sz="950" dirty="0">
                <a:solidFill>
                  <a:srgbClr val="9AA3C7"/>
                </a:solidFill>
                <a:latin typeface="Arial" pitchFamily="34" charset="0"/>
                <a:ea typeface="Arial" pitchFamily="34" charset="-122"/>
                <a:cs typeface="Arial" pitchFamily="34" charset="-120"/>
              </a:rPr>
              <a:t>Alfa (şeffaflık) / ile eklenir: rgb(2 121 139 / 0.3). Alfa sadece rengi saydamlaştırır; opacity ise öğeyi içeriğiyle birlikte. Projede tek bir renk yazımı seç.</a:t>
            </a:r>
            <a:endParaRPr lang="en-US" sz="950" dirty="0"/>
          </a:p>
        </p:txBody>
      </p:sp>
      <p:sp>
        <p:nvSpPr>
          <p:cNvPr id="26" name="kart"/>
          <p:cNvSpPr/>
          <p:nvPr/>
        </p:nvSpPr>
        <p:spPr>
          <a:xfrm>
            <a:off x="4846320" y="1371600"/>
            <a:ext cx="3749040" cy="2724912"/>
          </a:xfrm>
          <a:prstGeom prst="roundRect">
            <a:avLst>
              <a:gd name="adj" fmla="val 2685"/>
            </a:avLst>
          </a:prstGeom>
          <a:solidFill>
            <a:srgbClr val="1A2044"/>
          </a:solidFill>
          <a:ln w="9525">
            <a:solidFill>
              <a:srgbClr val="2E3768"/>
            </a:solidFill>
            <a:prstDash val="solid"/>
          </a:ln>
        </p:spPr>
      </p:sp>
      <p:sp>
        <p:nvSpPr>
          <p:cNvPr id="27" name="kart-nokta"/>
          <p:cNvSpPr/>
          <p:nvPr/>
        </p:nvSpPr>
        <p:spPr>
          <a:xfrm>
            <a:off x="4992624" y="1527048"/>
            <a:ext cx="91440" cy="91440"/>
          </a:xfrm>
          <a:prstGeom prst="ellipse">
            <a:avLst/>
          </a:prstGeom>
          <a:solidFill>
            <a:srgbClr val="F472B6"/>
          </a:solidFill>
          <a:ln/>
        </p:spPr>
      </p:sp>
      <p:sp>
        <p:nvSpPr>
          <p:cNvPr id="28" name="Text 26"/>
          <p:cNvSpPr txBox="1"/>
          <p:nvPr/>
        </p:nvSpPr>
        <p:spPr>
          <a:xfrm>
            <a:off x="5157216" y="1444752"/>
            <a:ext cx="3337560" cy="274320"/>
          </a:xfrm>
          <a:prstGeom prst="rect">
            <a:avLst/>
          </a:prstGeom>
          <a:noFill/>
          <a:ln/>
        </p:spPr>
        <p:txBody>
          <a:bodyPr wrap="square" lIns="0" tIns="0" rIns="0" bIns="0" rtlCol="0" anchor="ctr"/>
          <a:lstStyle/>
          <a:p>
            <a:pPr marL="0" indent="0">
              <a:buNone/>
            </a:pPr>
            <a:r>
              <a:rPr lang="en-US" sz="1300" b="1" dirty="0">
                <a:solidFill>
                  <a:srgbClr val="EEF0F8"/>
                </a:solidFill>
                <a:latin typeface="Arial" pitchFamily="34" charset="0"/>
                <a:ea typeface="Arial" pitchFamily="34" charset="-122"/>
                <a:cs typeface="Arial" pitchFamily="34" charset="-120"/>
              </a:rPr>
              <a:t>Diğer değer türleri</a:t>
            </a:r>
            <a:endParaRPr lang="en-US" sz="1300" dirty="0"/>
          </a:p>
        </p:txBody>
      </p:sp>
      <p:sp>
        <p:nvSpPr>
          <p:cNvPr id="29" name="Text 27"/>
          <p:cNvSpPr txBox="1"/>
          <p:nvPr/>
        </p:nvSpPr>
        <p:spPr>
          <a:xfrm>
            <a:off x="4983480" y="1737360"/>
            <a:ext cx="3520440" cy="2286000"/>
          </a:xfrm>
          <a:prstGeom prst="rect">
            <a:avLst/>
          </a:prstGeom>
          <a:noFill/>
          <a:ln/>
        </p:spPr>
        <p:txBody>
          <a:bodyPr wrap="square" lIns="0" tIns="0" rIns="0" bIns="0" rtlCol="0" anchor="t"/>
          <a:lstStyle/>
          <a:p>
            <a:pPr marL="0" indent="0">
              <a:spcAft>
                <a:spcPts val="600"/>
              </a:spcAft>
              <a:buNone/>
            </a:pPr>
            <a:r>
              <a:rPr lang="en-US" sz="1050" b="1" dirty="0">
                <a:solidFill>
                  <a:srgbClr val="F472B6"/>
                </a:solidFill>
                <a:latin typeface="Arial" pitchFamily="34" charset="0"/>
                <a:ea typeface="Arial" pitchFamily="34" charset="-122"/>
                <a:cs typeface="Arial" pitchFamily="34" charset="-120"/>
              </a:rPr>
              <a:t>&lt;image&gt;: </a:t>
            </a:r>
            <a:r>
              <a:rPr lang="en-US" sz="1050" dirty="0">
                <a:solidFill>
                  <a:srgbClr val="EEF0F8"/>
                </a:solidFill>
                <a:latin typeface="Arial" pitchFamily="34" charset="0"/>
                <a:ea typeface="Arial" pitchFamily="34" charset="-122"/>
                <a:cs typeface="Arial" pitchFamily="34" charset="-120"/>
              </a:rPr>
              <a:t>url("star.png") ya da linear-gradient(…)</a:t>
            </a:r>
            <a:endParaRPr lang="en-US" sz="1050" dirty="0"/>
          </a:p>
          <a:p>
            <a:pPr marL="0" indent="0">
              <a:spcAft>
                <a:spcPts val="600"/>
              </a:spcAft>
              <a:buNone/>
            </a:pPr>
            <a:r>
              <a:rPr lang="en-US" sz="1050" b="1" dirty="0">
                <a:solidFill>
                  <a:srgbClr val="F472B6"/>
                </a:solidFill>
                <a:latin typeface="Arial" pitchFamily="34" charset="0"/>
                <a:ea typeface="Arial" pitchFamily="34" charset="-122"/>
                <a:cs typeface="Arial" pitchFamily="34" charset="-120"/>
              </a:rPr>
              <a:t>&lt;position&gt;: </a:t>
            </a:r>
            <a:r>
              <a:rPr lang="en-US" sz="1050" dirty="0">
                <a:solidFill>
                  <a:srgbClr val="EEF0F8"/>
                </a:solidFill>
                <a:latin typeface="Arial" pitchFamily="34" charset="0"/>
                <a:ea typeface="Arial" pitchFamily="34" charset="-122"/>
                <a:cs typeface="Arial" pitchFamily="34" charset="-120"/>
              </a:rPr>
              <a:t>background-position: right 60px; (önce yatay, sonra dikey)</a:t>
            </a:r>
            <a:endParaRPr lang="en-US" sz="1050" dirty="0"/>
          </a:p>
          <a:p>
            <a:pPr marL="0" indent="0">
              <a:spcAft>
                <a:spcPts val="600"/>
              </a:spcAft>
              <a:buNone/>
            </a:pPr>
            <a:r>
              <a:rPr lang="en-US" sz="1050" b="1" dirty="0">
                <a:solidFill>
                  <a:srgbClr val="F472B6"/>
                </a:solidFill>
                <a:latin typeface="Arial" pitchFamily="34" charset="0"/>
                <a:ea typeface="Arial" pitchFamily="34" charset="-122"/>
                <a:cs typeface="Arial" pitchFamily="34" charset="-120"/>
              </a:rPr>
              <a:t>Tanımlayıcı / metin: </a:t>
            </a:r>
            <a:r>
              <a:rPr lang="en-US" sz="1050" dirty="0">
                <a:solidFill>
                  <a:srgbClr val="EEF0F8"/>
                </a:solidFill>
                <a:latin typeface="Arial" pitchFamily="34" charset="0"/>
                <a:ea typeface="Arial" pitchFamily="34" charset="-122"/>
                <a:cs typeface="Arial" pitchFamily="34" charset="-120"/>
              </a:rPr>
              <a:t>red tırnaksız anahtar kelime; content: "…" tırnaklı metin</a:t>
            </a:r>
            <a:endParaRPr lang="en-US" sz="1050" dirty="0"/>
          </a:p>
          <a:p>
            <a:pPr marL="0" indent="0">
              <a:spcAft>
                <a:spcPts val="600"/>
              </a:spcAft>
              <a:buNone/>
            </a:pPr>
            <a:r>
              <a:rPr lang="en-US" sz="1050" b="1" dirty="0">
                <a:solidFill>
                  <a:srgbClr val="F472B6"/>
                </a:solidFill>
                <a:latin typeface="Arial" pitchFamily="34" charset="0"/>
                <a:ea typeface="Arial" pitchFamily="34" charset="-122"/>
                <a:cs typeface="Arial" pitchFamily="34" charset="-120"/>
              </a:rPr>
              <a:t>Fonksiyonlar: </a:t>
            </a:r>
            <a:r>
              <a:rPr lang="en-US" sz="1050" dirty="0">
                <a:solidFill>
                  <a:srgbClr val="EEF0F8"/>
                </a:solidFill>
                <a:latin typeface="Arial" pitchFamily="34" charset="0"/>
                <a:ea typeface="Arial" pitchFamily="34" charset="-122"/>
                <a:cs typeface="Arial" pitchFamily="34" charset="-120"/>
              </a:rPr>
              <a:t>translate(), rotate(), scale(); matematik için calc(20% + 100px), min(), max(), clamp()</a:t>
            </a:r>
            <a:endParaRPr lang="en-US" sz="1050" dirty="0"/>
          </a:p>
        </p:txBody>
      </p:sp>
      <p:sp>
        <p:nvSpPr>
          <p:cNvPr id="30" name="benzetme"/>
          <p:cNvSpPr/>
          <p:nvPr/>
        </p:nvSpPr>
        <p:spPr>
          <a:xfrm>
            <a:off x="548640" y="4224528"/>
            <a:ext cx="8046720" cy="402336"/>
          </a:xfrm>
          <a:prstGeom prst="roundRect">
            <a:avLst>
              <a:gd name="adj" fmla="val 50000"/>
            </a:avLst>
          </a:prstGeom>
          <a:solidFill>
            <a:srgbClr val="232A55"/>
          </a:solidFill>
          <a:ln/>
        </p:spPr>
      </p:sp>
      <p:sp>
        <p:nvSpPr>
          <p:cNvPr id="31" name="benzetme-ikon"/>
          <p:cNvSpPr/>
          <p:nvPr/>
        </p:nvSpPr>
        <p:spPr>
          <a:xfrm>
            <a:off x="621792" y="4261104"/>
            <a:ext cx="329184" cy="329184"/>
          </a:xfrm>
          <a:prstGeom prst="ellipse">
            <a:avLst/>
          </a:prstGeom>
          <a:solidFill>
            <a:srgbClr val="FBBF24"/>
          </a:solidFill>
          <a:ln/>
        </p:spPr>
      </p:sp>
      <p:sp>
        <p:nvSpPr>
          <p:cNvPr id="32" name="Text 30"/>
          <p:cNvSpPr txBox="1"/>
          <p:nvPr/>
        </p:nvSpPr>
        <p:spPr>
          <a:xfrm>
            <a:off x="621792" y="4261104"/>
            <a:ext cx="329184" cy="329184"/>
          </a:xfrm>
          <a:prstGeom prst="rect">
            <a:avLst/>
          </a:prstGeom>
          <a:noFill/>
          <a:ln/>
        </p:spPr>
        <p:txBody>
          <a:bodyPr wrap="square" lIns="0" tIns="0" rIns="0" bIns="0" rtlCol="0" anchor="ctr"/>
          <a:lstStyle/>
          <a:p>
            <a:pPr marL="0" indent="0" algn="ctr">
              <a:buNone/>
            </a:pPr>
            <a:r>
              <a:rPr lang="en-US" sz="1600" b="1" dirty="0">
                <a:solidFill>
                  <a:srgbClr val="10142B"/>
                </a:solidFill>
                <a:latin typeface="Arial" pitchFamily="34" charset="0"/>
                <a:ea typeface="Arial" pitchFamily="34" charset="-122"/>
                <a:cs typeface="Arial" pitchFamily="34" charset="-120"/>
              </a:rPr>
              <a:t>≈</a:t>
            </a:r>
            <a:endParaRPr lang="en-US" sz="1600" dirty="0"/>
          </a:p>
        </p:txBody>
      </p:sp>
      <p:sp>
        <p:nvSpPr>
          <p:cNvPr id="33" name="Text 31"/>
          <p:cNvSpPr txBox="1"/>
          <p:nvPr/>
        </p:nvSpPr>
        <p:spPr>
          <a:xfrm>
            <a:off x="1042416" y="4224528"/>
            <a:ext cx="7452360" cy="402336"/>
          </a:xfrm>
          <a:prstGeom prst="rect">
            <a:avLst/>
          </a:prstGeom>
          <a:noFill/>
          <a:ln/>
        </p:spPr>
        <p:txBody>
          <a:bodyPr wrap="square" lIns="0" tIns="0" rIns="0" bIns="0" rtlCol="0" anchor="ctr"/>
          <a:lstStyle/>
          <a:p>
            <a:pPr marL="0" indent="0">
              <a:buNone/>
            </a:pPr>
            <a:r>
              <a:rPr lang="en-US" sz="1100" b="1" dirty="0">
                <a:solidFill>
                  <a:srgbClr val="FBBF24"/>
                </a:solidFill>
                <a:latin typeface="Arial" pitchFamily="34" charset="0"/>
                <a:ea typeface="Arial" pitchFamily="34" charset="-122"/>
                <a:cs typeface="Arial" pitchFamily="34" charset="-120"/>
              </a:rPr>
              <a:t>Gündelik hayatta: </a:t>
            </a:r>
            <a:r>
              <a:rPr lang="en-US" sz="1100" dirty="0">
                <a:solidFill>
                  <a:srgbClr val="EEF0F8"/>
                </a:solidFill>
                <a:latin typeface="Arial" pitchFamily="34" charset="0"/>
                <a:ea typeface="Arial" pitchFamily="34" charset="-122"/>
                <a:cs typeface="Arial" pitchFamily="34" charset="-120"/>
              </a:rPr>
              <a:t>boya kataloğu gibi: rengi adıyla (“bordo”), kod numarasıyla (#c55da1) ya da karışım oranıyla (rgb) isteyebilirsin.</a:t>
            </a:r>
            <a:endParaRPr lang="en-US" sz="1100" dirty="0"/>
          </a:p>
        </p:txBody>
      </p:sp>
    </p:spTree>
  </p:cSld>
  <p:clrMapOvr>
    <a:masterClrMapping/>
  </p:clrMapOvr>
  <p:transition spd="med">
    <p:pull/>
  </p:transition>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256032"/>
            <a:ext cx="4572000" cy="201168"/>
          </a:xfrm>
          <a:prstGeom prst="rect">
            <a:avLst/>
          </a:prstGeom>
          <a:noFill/>
          <a:ln/>
        </p:spPr>
        <p:txBody>
          <a:bodyPr wrap="square" lIns="0" tIns="0" rIns="0" bIns="0" rtlCol="0" anchor="t"/>
          <a:lstStyle/>
          <a:p>
            <a:pPr marL="0" indent="0">
              <a:buNone/>
            </a:pPr>
            <a:r>
              <a:rPr lang="en-US" sz="900" b="1" kern="0" spc="200" dirty="0">
                <a:solidFill>
                  <a:srgbClr val="22D3EE"/>
                </a:solidFill>
                <a:latin typeface="Arial" pitchFamily="34" charset="0"/>
                <a:ea typeface="Arial" pitchFamily="34" charset="-122"/>
                <a:cs typeface="Arial" pitchFamily="34" charset="-120"/>
              </a:rPr>
              <a:t>MODÜL 1 · CSS TEMELLERİ</a:t>
            </a:r>
            <a:endParaRPr lang="en-US" sz="900" dirty="0"/>
          </a:p>
        </p:txBody>
      </p:sp>
      <p:sp>
        <p:nvSpPr>
          <p:cNvPr id="3" name="mini-box-0"/>
          <p:cNvSpPr/>
          <p:nvPr/>
        </p:nvSpPr>
        <p:spPr>
          <a:xfrm>
            <a:off x="8229600" y="201168"/>
            <a:ext cx="384048" cy="384048"/>
          </a:xfrm>
          <a:prstGeom prst="rect">
            <a:avLst/>
          </a:prstGeom>
          <a:ln w="9525">
            <a:solidFill>
              <a:srgbClr val="22D3EE"/>
            </a:solidFill>
            <a:prstDash val="solid"/>
          </a:ln>
        </p:spPr>
      </p:sp>
      <p:sp>
        <p:nvSpPr>
          <p:cNvPr id="4" name="mini-box-1"/>
          <p:cNvSpPr/>
          <p:nvPr/>
        </p:nvSpPr>
        <p:spPr>
          <a:xfrm>
            <a:off x="8293608" y="265176"/>
            <a:ext cx="256032" cy="256032"/>
          </a:xfrm>
          <a:prstGeom prst="rect">
            <a:avLst/>
          </a:prstGeom>
          <a:ln w="9525">
            <a:solidFill>
              <a:srgbClr val="EEF0F8"/>
            </a:solidFill>
            <a:prstDash val="solid"/>
          </a:ln>
        </p:spPr>
      </p:sp>
      <p:sp>
        <p:nvSpPr>
          <p:cNvPr id="5" name="mini-box-2"/>
          <p:cNvSpPr/>
          <p:nvPr/>
        </p:nvSpPr>
        <p:spPr>
          <a:xfrm>
            <a:off x="8348472" y="320040"/>
            <a:ext cx="146304" cy="146304"/>
          </a:xfrm>
          <a:prstGeom prst="rect">
            <a:avLst/>
          </a:prstGeom>
          <a:solidFill>
            <a:srgbClr val="22D3EE"/>
          </a:solidFill>
          <a:ln w="9525">
            <a:solidFill>
              <a:srgbClr val="22D3EE"/>
            </a:solidFill>
            <a:prstDash val="solid"/>
          </a:ln>
        </p:spPr>
      </p:sp>
      <p:sp>
        <p:nvSpPr>
          <p:cNvPr id="6" name="ilerleme-zemin"/>
          <p:cNvSpPr/>
          <p:nvPr/>
        </p:nvSpPr>
        <p:spPr>
          <a:xfrm>
            <a:off x="0" y="5070348"/>
            <a:ext cx="9144000" cy="73152"/>
          </a:xfrm>
          <a:prstGeom prst="rect">
            <a:avLst/>
          </a:prstGeom>
          <a:solidFill>
            <a:srgbClr val="1A2044"/>
          </a:solidFill>
          <a:ln/>
        </p:spPr>
      </p:sp>
      <p:sp>
        <p:nvSpPr>
          <p:cNvPr id="7" name="ilerleme"/>
          <p:cNvSpPr/>
          <p:nvPr/>
        </p:nvSpPr>
        <p:spPr>
          <a:xfrm>
            <a:off x="0" y="5070348"/>
            <a:ext cx="3827721" cy="73152"/>
          </a:xfrm>
          <a:prstGeom prst="rect">
            <a:avLst/>
          </a:prstGeom>
          <a:solidFill>
            <a:srgbClr val="22D3EE"/>
          </a:solidFill>
          <a:ln/>
        </p:spPr>
      </p:sp>
      <p:sp>
        <p:nvSpPr>
          <p:cNvPr id="8" name="Text 6"/>
          <p:cNvSpPr txBox="1"/>
          <p:nvPr/>
        </p:nvSpPr>
        <p:spPr>
          <a:xfrm>
            <a:off x="548640" y="4791456"/>
            <a:ext cx="3657600" cy="201168"/>
          </a:xfrm>
          <a:prstGeom prst="rect">
            <a:avLst/>
          </a:prstGeom>
          <a:noFill/>
          <a:ln/>
        </p:spPr>
        <p:txBody>
          <a:bodyPr wrap="square" lIns="0" tIns="0" rIns="0" bIns="0" rtlCol="0" anchor="t"/>
          <a:lstStyle/>
          <a:p>
            <a:pPr marL="0" indent="0">
              <a:buNone/>
            </a:pPr>
            <a:r>
              <a:rPr lang="en-US" sz="850" dirty="0">
                <a:solidFill>
                  <a:srgbClr val="6C759E"/>
                </a:solidFill>
                <a:latin typeface="Arial" pitchFamily="34" charset="0"/>
                <a:ea typeface="Arial" pitchFamily="34" charset="-122"/>
                <a:cs typeface="Arial" pitchFamily="34" charset="-120"/>
              </a:rPr>
              <a:t>KCŞ A.Ş.  ·  CSS ile stil ve düzen</a:t>
            </a:r>
            <a:endParaRPr lang="en-US" sz="850" dirty="0"/>
          </a:p>
        </p:txBody>
      </p:sp>
      <p:sp>
        <p:nvSpPr>
          <p:cNvPr id="9" name="Text 7"/>
          <p:cNvSpPr txBox="1"/>
          <p:nvPr/>
        </p:nvSpPr>
        <p:spPr>
          <a:xfrm>
            <a:off x="4206240" y="4791456"/>
            <a:ext cx="3840480" cy="201168"/>
          </a:xfrm>
          <a:prstGeom prst="rect">
            <a:avLst/>
          </a:prstGeom>
          <a:noFill/>
          <a:ln/>
        </p:spPr>
        <p:txBody>
          <a:bodyPr wrap="square" lIns="0" tIns="0" rIns="0" bIns="0" rtlCol="0" anchor="t"/>
          <a:lstStyle/>
          <a:p>
            <a:pPr marL="0" indent="0" algn="r">
              <a:buNone/>
            </a:pPr>
            <a:r>
              <a:rPr lang="en-US" sz="850" dirty="0">
                <a:solidFill>
                  <a:srgbClr val="6C759E"/>
                </a:solidFill>
                <a:latin typeface="Arial" pitchFamily="34" charset="0"/>
                <a:ea typeface="Arial" pitchFamily="34" charset="-122"/>
                <a:cs typeface="Arial" pitchFamily="34" charset="-120"/>
              </a:rPr>
              <a:t>MDN · Sizing items in CSS</a:t>
            </a:r>
            <a:endParaRPr lang="en-US" sz="850" dirty="0"/>
          </a:p>
        </p:txBody>
      </p:sp>
      <p:sp>
        <p:nvSpPr>
          <p:cNvPr id="10" name="Text 8"/>
          <p:cNvSpPr txBox="1"/>
          <p:nvPr/>
        </p:nvSpPr>
        <p:spPr>
          <a:xfrm>
            <a:off x="8092440" y="4791456"/>
            <a:ext cx="685800" cy="201168"/>
          </a:xfrm>
          <a:prstGeom prst="rect">
            <a:avLst/>
          </a:prstGeom>
          <a:noFill/>
          <a:ln/>
        </p:spPr>
        <p:txBody>
          <a:bodyPr wrap="square" lIns="0" tIns="0" rIns="0" bIns="0" rtlCol="0" anchor="t"/>
          <a:lstStyle/>
          <a:p>
            <a:pPr marL="0" indent="0" algn="r">
              <a:buNone/>
            </a:pPr>
            <a:r>
              <a:rPr lang="en-US" sz="850" dirty="0">
                <a:solidFill>
                  <a:srgbClr val="9AA3C7"/>
                </a:solidFill>
                <a:latin typeface="Courier New" pitchFamily="34" charset="0"/>
                <a:ea typeface="Courier New" pitchFamily="34" charset="-122"/>
                <a:cs typeface="Courier New" pitchFamily="34" charset="-120"/>
              </a:rPr>
              <a:t>18 / 43</a:t>
            </a:r>
            <a:endParaRPr lang="en-US" sz="850" dirty="0"/>
          </a:p>
        </p:txBody>
      </p:sp>
      <p:sp>
        <p:nvSpPr>
          <p:cNvPr id="11" name="Text 9"/>
          <p:cNvSpPr txBox="1"/>
          <p:nvPr/>
        </p:nvSpPr>
        <p:spPr>
          <a:xfrm>
            <a:off x="548640" y="502920"/>
            <a:ext cx="5943600" cy="237744"/>
          </a:xfrm>
          <a:prstGeom prst="rect">
            <a:avLst/>
          </a:prstGeom>
          <a:noFill/>
          <a:ln/>
        </p:spPr>
        <p:txBody>
          <a:bodyPr wrap="square" lIns="0" tIns="0" rIns="0" bIns="0" rtlCol="0" anchor="t"/>
          <a:lstStyle/>
          <a:p>
            <a:pPr marL="0" indent="0">
              <a:buNone/>
            </a:pPr>
            <a:r>
              <a:rPr lang="en-US" sz="1100" b="1" dirty="0">
                <a:solidFill>
                  <a:srgbClr val="22D3EE"/>
                </a:solidFill>
                <a:latin typeface="Courier New" pitchFamily="34" charset="0"/>
                <a:ea typeface="Courier New" pitchFamily="34" charset="-122"/>
                <a:cs typeface="Courier New" pitchFamily="34" charset="-120"/>
              </a:rPr>
              <a:t>min-height  max-width  vh</a:t>
            </a:r>
            <a:endParaRPr lang="en-US" sz="1100" dirty="0"/>
          </a:p>
        </p:txBody>
      </p:sp>
      <p:sp>
        <p:nvSpPr>
          <p:cNvPr id="12" name="Text 10"/>
          <p:cNvSpPr txBox="1"/>
          <p:nvPr/>
        </p:nvSpPr>
        <p:spPr>
          <a:xfrm>
            <a:off x="548640" y="749808"/>
            <a:ext cx="7589520" cy="502920"/>
          </a:xfrm>
          <a:prstGeom prst="rect">
            <a:avLst/>
          </a:prstGeom>
          <a:noFill/>
          <a:ln/>
        </p:spPr>
        <p:txBody>
          <a:bodyPr wrap="square" lIns="0" tIns="0" rIns="0" bIns="0" rtlCol="0" anchor="ctr"/>
          <a:lstStyle/>
          <a:p>
            <a:pPr marL="0" indent="0">
              <a:buNone/>
            </a:pPr>
            <a:r>
              <a:rPr lang="en-US" sz="2400" b="1" dirty="0">
                <a:solidFill>
                  <a:srgbClr val="EEF0F8"/>
                </a:solidFill>
                <a:latin typeface="Arial" pitchFamily="34" charset="0"/>
                <a:ea typeface="Arial" pitchFamily="34" charset="-122"/>
                <a:cs typeface="Arial" pitchFamily="34" charset="-120"/>
              </a:rPr>
              <a:t>Boyutlandırma</a:t>
            </a:r>
            <a:endParaRPr lang="en-US" sz="2400" dirty="0"/>
          </a:p>
        </p:txBody>
      </p:sp>
      <p:sp>
        <p:nvSpPr>
          <p:cNvPr id="13" name="Text 11"/>
          <p:cNvSpPr txBox="1"/>
          <p:nvPr/>
        </p:nvSpPr>
        <p:spPr>
          <a:xfrm>
            <a:off x="548640" y="1371600"/>
            <a:ext cx="4572000" cy="2743200"/>
          </a:xfrm>
          <a:prstGeom prst="rect">
            <a:avLst/>
          </a:prstGeom>
          <a:noFill/>
          <a:ln/>
        </p:spPr>
        <p:txBody>
          <a:bodyPr wrap="square" lIns="0" tIns="0" rIns="0" bIns="0" rtlCol="0" anchor="t"/>
          <a:lstStyle/>
          <a:p>
            <a:pPr marL="0" indent="0">
              <a:spcAft>
                <a:spcPts val="600"/>
              </a:spcAft>
              <a:buNone/>
            </a:pPr>
            <a:r>
              <a:rPr lang="en-US" sz="1050" b="1" dirty="0">
                <a:solidFill>
                  <a:srgbClr val="22D3EE"/>
                </a:solidFill>
                <a:latin typeface="Arial" pitchFamily="34" charset="0"/>
                <a:ea typeface="Arial" pitchFamily="34" charset="-122"/>
                <a:cs typeface="Arial" pitchFamily="34" charset="-120"/>
              </a:rPr>
              <a:t>Doğal (intrinsic) boyut: </a:t>
            </a:r>
            <a:r>
              <a:rPr lang="en-US" sz="1050" dirty="0">
                <a:solidFill>
                  <a:srgbClr val="EEF0F8"/>
                </a:solidFill>
                <a:latin typeface="Arial" pitchFamily="34" charset="0"/>
                <a:ea typeface="Arial" pitchFamily="34" charset="-122"/>
                <a:cs typeface="Arial" pitchFamily="34" charset="-120"/>
              </a:rPr>
              <a:t>CSS'ten önceki boyut. Resim dosyasından gelir; boş bir div'in yüksekliği yoktur.</a:t>
            </a:r>
            <a:endParaRPr lang="en-US" sz="1050" dirty="0"/>
          </a:p>
          <a:p>
            <a:pPr marL="0" indent="0">
              <a:spcAft>
                <a:spcPts val="600"/>
              </a:spcAft>
              <a:buNone/>
            </a:pPr>
            <a:r>
              <a:rPr lang="en-US" sz="1050" b="1" dirty="0">
                <a:solidFill>
                  <a:srgbClr val="22D3EE"/>
                </a:solidFill>
                <a:latin typeface="Arial" pitchFamily="34" charset="0"/>
                <a:ea typeface="Arial" pitchFamily="34" charset="-122"/>
                <a:cs typeface="Arial" pitchFamily="34" charset="-120"/>
              </a:rPr>
              <a:t>Dış (extrinsic) boyut: </a:t>
            </a:r>
            <a:r>
              <a:rPr lang="en-US" sz="1050" dirty="0">
                <a:solidFill>
                  <a:srgbClr val="EEF0F8"/>
                </a:solidFill>
                <a:latin typeface="Arial" pitchFamily="34" charset="0"/>
                <a:ea typeface="Arial" pitchFamily="34" charset="-122"/>
                <a:cs typeface="Arial" pitchFamily="34" charset="-120"/>
              </a:rPr>
              <a:t>width/height verirsen içerik sığmak zorunda; sığmazsa taşar. Sabit yükseklik riskli.</a:t>
            </a:r>
            <a:endParaRPr lang="en-US" sz="1050" dirty="0"/>
          </a:p>
          <a:p>
            <a:pPr marL="0" indent="0">
              <a:spcAft>
                <a:spcPts val="600"/>
              </a:spcAft>
              <a:buNone/>
            </a:pPr>
            <a:r>
              <a:rPr lang="en-US" sz="1050" b="1" dirty="0">
                <a:solidFill>
                  <a:srgbClr val="22D3EE"/>
                </a:solidFill>
                <a:latin typeface="Arial" pitchFamily="34" charset="0"/>
                <a:ea typeface="Arial" pitchFamily="34" charset="-122"/>
                <a:cs typeface="Arial" pitchFamily="34" charset="-120"/>
              </a:rPr>
              <a:t>Yüzde: </a:t>
            </a:r>
            <a:r>
              <a:rPr lang="en-US" sz="1050" dirty="0">
                <a:solidFill>
                  <a:srgbClr val="EEF0F8"/>
                </a:solidFill>
                <a:latin typeface="Arial" pitchFamily="34" charset="0"/>
                <a:ea typeface="Arial" pitchFamily="34" charset="-122"/>
                <a:cs typeface="Arial" pitchFamily="34" charset="-120"/>
              </a:rPr>
              <a:t>kapsayan bloğa göredir. Dikkat: % margin ve padding hep genişliğe göre hesaplanır.</a:t>
            </a:r>
            <a:endParaRPr lang="en-US" sz="1050" dirty="0"/>
          </a:p>
          <a:p>
            <a:pPr marL="0" indent="0">
              <a:spcAft>
                <a:spcPts val="600"/>
              </a:spcAft>
              <a:buNone/>
            </a:pPr>
            <a:r>
              <a:rPr lang="en-US" sz="1050" b="1" dirty="0">
                <a:solidFill>
                  <a:srgbClr val="22D3EE"/>
                </a:solidFill>
                <a:latin typeface="Arial" pitchFamily="34" charset="0"/>
                <a:ea typeface="Arial" pitchFamily="34" charset="-122"/>
                <a:cs typeface="Arial" pitchFamily="34" charset="-120"/>
              </a:rPr>
              <a:t>min-height: </a:t>
            </a:r>
            <a:r>
              <a:rPr lang="en-US" sz="1050" dirty="0">
                <a:solidFill>
                  <a:srgbClr val="EEF0F8"/>
                </a:solidFill>
                <a:latin typeface="Arial" pitchFamily="34" charset="0"/>
                <a:ea typeface="Arial" pitchFamily="34" charset="-122"/>
                <a:cs typeface="Arial" pitchFamily="34" charset="-120"/>
              </a:rPr>
              <a:t>en az bu kadar ol, içerik artarsa büyü. Değişken içerikte height yerine kullan.</a:t>
            </a:r>
            <a:endParaRPr lang="en-US" sz="1050" dirty="0"/>
          </a:p>
          <a:p>
            <a:pPr marL="0" indent="0">
              <a:spcAft>
                <a:spcPts val="600"/>
              </a:spcAft>
              <a:buNone/>
            </a:pPr>
            <a:r>
              <a:rPr lang="en-US" sz="1050" b="1" dirty="0">
                <a:solidFill>
                  <a:srgbClr val="22D3EE"/>
                </a:solidFill>
                <a:latin typeface="Arial" pitchFamily="34" charset="0"/>
                <a:ea typeface="Arial" pitchFamily="34" charset="-122"/>
                <a:cs typeface="Arial" pitchFamily="34" charset="-120"/>
              </a:rPr>
              <a:t>max-width: 100%: </a:t>
            </a:r>
            <a:r>
              <a:rPr lang="en-US" sz="1050" dirty="0">
                <a:solidFill>
                  <a:srgbClr val="EEF0F8"/>
                </a:solidFill>
                <a:latin typeface="Arial" pitchFamily="34" charset="0"/>
                <a:ea typeface="Arial" pitchFamily="34" charset="-122"/>
                <a:cs typeface="Arial" pitchFamily="34" charset="-120"/>
              </a:rPr>
              <a:t>resim kaba sığana kadar küçülür ama doğal boyutundan büyümez.</a:t>
            </a:r>
            <a:endParaRPr lang="en-US" sz="1050" dirty="0"/>
          </a:p>
          <a:p>
            <a:pPr marL="0" indent="0">
              <a:spcAft>
                <a:spcPts val="600"/>
              </a:spcAft>
              <a:buNone/>
            </a:pPr>
            <a:r>
              <a:rPr lang="en-US" sz="1050" b="1" dirty="0">
                <a:solidFill>
                  <a:srgbClr val="22D3EE"/>
                </a:solidFill>
                <a:latin typeface="Arial" pitchFamily="34" charset="0"/>
                <a:ea typeface="Arial" pitchFamily="34" charset="-122"/>
                <a:cs typeface="Arial" pitchFamily="34" charset="-120"/>
              </a:rPr>
              <a:t>vw / vh: </a:t>
            </a:r>
            <a:r>
              <a:rPr lang="en-US" sz="1050" dirty="0">
                <a:solidFill>
                  <a:srgbClr val="EEF0F8"/>
                </a:solidFill>
                <a:latin typeface="Arial" pitchFamily="34" charset="0"/>
                <a:ea typeface="Arial" pitchFamily="34" charset="-122"/>
                <a:cs typeface="Arial" pitchFamily="34" charset="-120"/>
              </a:rPr>
              <a:t>ekranın genişlik/yüksekliğinin %1'i. 100vh tam ekran bir banner yapar.</a:t>
            </a:r>
            <a:endParaRPr lang="en-US" sz="1050" dirty="0"/>
          </a:p>
        </p:txBody>
      </p:sp>
      <p:sp>
        <p:nvSpPr>
          <p:cNvPr id="14" name="kod-paneli"/>
          <p:cNvSpPr/>
          <p:nvPr/>
        </p:nvSpPr>
        <p:spPr>
          <a:xfrm>
            <a:off x="5349240" y="1371600"/>
            <a:ext cx="3246120" cy="1600200"/>
          </a:xfrm>
          <a:prstGeom prst="roundRect">
            <a:avLst>
              <a:gd name="adj" fmla="val 4571"/>
            </a:avLst>
          </a:prstGeom>
          <a:solidFill>
            <a:srgbClr val="0A0D1F"/>
          </a:solidFill>
          <a:ln w="9525">
            <a:solidFill>
              <a:srgbClr val="2E3768"/>
            </a:solidFill>
            <a:prstDash val="solid"/>
          </a:ln>
        </p:spPr>
      </p:sp>
      <p:sp>
        <p:nvSpPr>
          <p:cNvPr id="15" name="Text 13"/>
          <p:cNvSpPr txBox="1"/>
          <p:nvPr/>
        </p:nvSpPr>
        <p:spPr>
          <a:xfrm>
            <a:off x="7132320" y="1426464"/>
            <a:ext cx="1371600" cy="182880"/>
          </a:xfrm>
          <a:prstGeom prst="rect">
            <a:avLst/>
          </a:prstGeom>
          <a:noFill/>
          <a:ln/>
        </p:spPr>
        <p:txBody>
          <a:bodyPr wrap="square" lIns="0" tIns="0" rIns="0" bIns="0" rtlCol="0" anchor="t"/>
          <a:lstStyle/>
          <a:p>
            <a:pPr marL="0" indent="0" algn="r">
              <a:buNone/>
            </a:pPr>
            <a:r>
              <a:rPr lang="en-US" sz="800" dirty="0">
                <a:solidFill>
                  <a:srgbClr val="6C759E"/>
                </a:solidFill>
                <a:latin typeface="Courier New" pitchFamily="34" charset="0"/>
                <a:ea typeface="Courier New" pitchFamily="34" charset="-122"/>
                <a:cs typeface="Courier New" pitchFamily="34" charset="-120"/>
              </a:rPr>
              <a:t>sizing.css</a:t>
            </a:r>
            <a:endParaRPr lang="en-US" sz="800" dirty="0"/>
          </a:p>
        </p:txBody>
      </p:sp>
      <p:sp>
        <p:nvSpPr>
          <p:cNvPr id="16" name="Text 14"/>
          <p:cNvSpPr txBox="1"/>
          <p:nvPr/>
        </p:nvSpPr>
        <p:spPr>
          <a:xfrm>
            <a:off x="5495544" y="1609344"/>
            <a:ext cx="2971800" cy="1289304"/>
          </a:xfrm>
          <a:prstGeom prst="rect">
            <a:avLst/>
          </a:prstGeom>
          <a:noFill/>
          <a:ln/>
        </p:spPr>
        <p:txBody>
          <a:bodyPr wrap="square" lIns="0" tIns="0" rIns="0" bIns="0" rtlCol="0" anchor="t"/>
          <a:lstStyle/>
          <a:p>
            <a:pPr marL="0" indent="0">
              <a:buNone/>
            </a:pPr>
            <a:r>
              <a:rPr lang="en-US" sz="1000" dirty="0">
                <a:solidFill>
                  <a:srgbClr val="F472B6"/>
                </a:solidFill>
                <a:latin typeface="Courier New" pitchFamily="34" charset="0"/>
                <a:ea typeface="Courier New" pitchFamily="34" charset="-122"/>
                <a:cs typeface="Courier New" pitchFamily="34" charset="-120"/>
              </a:rPr>
              <a:t>.box </a:t>
            </a:r>
            <a:r>
              <a:rPr lang="en-US" sz="1000" dirty="0">
                <a:solidFill>
                  <a:srgbClr val="6C759E"/>
                </a:solidFill>
                <a:latin typeface="Courier New" pitchFamily="34" charset="0"/>
                <a:ea typeface="Courier New" pitchFamily="34" charset="-122"/>
                <a:cs typeface="Courier New" pitchFamily="34" charset="-120"/>
              </a:rPr>
              <a:t>{</a:t>
            </a:r>
            <a:endParaRPr lang="en-US" sz="1000" dirty="0"/>
          </a:p>
          <a:p>
            <a:pPr marL="0" indent="0">
              <a:buNone/>
            </a:pPr>
            <a:r>
              <a:rPr lang="en-US" sz="1000" dirty="0">
                <a:solidFill>
                  <a:srgbClr val="EEF0F8"/>
                </a:solidFill>
                <a:latin typeface="Courier New" pitchFamily="34" charset="0"/>
                <a:ea typeface="Courier New" pitchFamily="34" charset="-122"/>
                <a:cs typeface="Courier New" pitchFamily="34" charset="-120"/>
              </a:rPr>
              <a:t>  </a:t>
            </a:r>
            <a:r>
              <a:rPr lang="en-US" sz="1000" dirty="0">
                <a:solidFill>
                  <a:srgbClr val="22D3EE"/>
                </a:solidFill>
                <a:latin typeface="Courier New" pitchFamily="34" charset="0"/>
                <a:ea typeface="Courier New" pitchFamily="34" charset="-122"/>
                <a:cs typeface="Courier New" pitchFamily="34" charset="-120"/>
              </a:rPr>
              <a:t>min-height</a:t>
            </a:r>
            <a:r>
              <a:rPr lang="en-US" sz="1000" dirty="0">
                <a:solidFill>
                  <a:srgbClr val="6C759E"/>
                </a:solidFill>
                <a:latin typeface="Courier New" pitchFamily="34" charset="0"/>
                <a:ea typeface="Courier New" pitchFamily="34" charset="-122"/>
                <a:cs typeface="Courier New" pitchFamily="34" charset="-120"/>
              </a:rPr>
              <a:t>: </a:t>
            </a:r>
            <a:r>
              <a:rPr lang="en-US" sz="1000" dirty="0">
                <a:solidFill>
                  <a:srgbClr val="FBBF24"/>
                </a:solidFill>
                <a:latin typeface="Courier New" pitchFamily="34" charset="0"/>
                <a:ea typeface="Courier New" pitchFamily="34" charset="-122"/>
                <a:cs typeface="Courier New" pitchFamily="34" charset="-120"/>
              </a:rPr>
              <a:t>100px;</a:t>
            </a:r>
            <a:endParaRPr lang="en-US" sz="1000" dirty="0"/>
          </a:p>
          <a:p>
            <a:pPr marL="0" indent="0">
              <a:buNone/>
            </a:pPr>
            <a:r>
              <a:rPr lang="en-US" sz="1000" dirty="0">
                <a:solidFill>
                  <a:srgbClr val="EEF0F8"/>
                </a:solidFill>
                <a:latin typeface="Courier New" pitchFamily="34" charset="0"/>
                <a:ea typeface="Courier New" pitchFamily="34" charset="-122"/>
                <a:cs typeface="Courier New" pitchFamily="34" charset="-120"/>
              </a:rPr>
              <a:t>  </a:t>
            </a:r>
            <a:r>
              <a:rPr lang="en-US" sz="1000" dirty="0">
                <a:solidFill>
                  <a:srgbClr val="22D3EE"/>
                </a:solidFill>
                <a:latin typeface="Courier New" pitchFamily="34" charset="0"/>
                <a:ea typeface="Courier New" pitchFamily="34" charset="-122"/>
                <a:cs typeface="Courier New" pitchFamily="34" charset="-120"/>
              </a:rPr>
              <a:t>width</a:t>
            </a:r>
            <a:r>
              <a:rPr lang="en-US" sz="1000" dirty="0">
                <a:solidFill>
                  <a:srgbClr val="6C759E"/>
                </a:solidFill>
                <a:latin typeface="Courier New" pitchFamily="34" charset="0"/>
                <a:ea typeface="Courier New" pitchFamily="34" charset="-122"/>
                <a:cs typeface="Courier New" pitchFamily="34" charset="-120"/>
              </a:rPr>
              <a:t>: </a:t>
            </a:r>
            <a:r>
              <a:rPr lang="en-US" sz="1000" dirty="0">
                <a:solidFill>
                  <a:srgbClr val="FBBF24"/>
                </a:solidFill>
                <a:latin typeface="Courier New" pitchFamily="34" charset="0"/>
                <a:ea typeface="Courier New" pitchFamily="34" charset="-122"/>
                <a:cs typeface="Courier New" pitchFamily="34" charset="-120"/>
              </a:rPr>
              <a:t>200px;</a:t>
            </a:r>
            <a:endParaRPr lang="en-US" sz="1000" dirty="0"/>
          </a:p>
          <a:p>
            <a:pPr marL="0" indent="0">
              <a:buNone/>
            </a:pPr>
            <a:r>
              <a:rPr lang="en-US" sz="1000" dirty="0">
                <a:solidFill>
                  <a:srgbClr val="6C759E"/>
                </a:solidFill>
                <a:latin typeface="Courier New" pitchFamily="34" charset="0"/>
                <a:ea typeface="Courier New" pitchFamily="34" charset="-122"/>
                <a:cs typeface="Courier New" pitchFamily="34" charset="-120"/>
              </a:rPr>
              <a:t>}</a:t>
            </a:r>
            <a:endParaRPr lang="en-US" sz="1000" dirty="0"/>
          </a:p>
          <a:p>
            <a:pPr marL="0" indent="0">
              <a:buNone/>
            </a:pPr>
            <a:r>
              <a:rPr lang="en-US" sz="1000" dirty="0">
                <a:solidFill>
                  <a:srgbClr val="F472B6"/>
                </a:solidFill>
                <a:latin typeface="Courier New" pitchFamily="34" charset="0"/>
                <a:ea typeface="Courier New" pitchFamily="34" charset="-122"/>
                <a:cs typeface="Courier New" pitchFamily="34" charset="-120"/>
              </a:rPr>
              <a:t>img </a:t>
            </a:r>
            <a:r>
              <a:rPr lang="en-US" sz="1000" dirty="0">
                <a:solidFill>
                  <a:srgbClr val="6C759E"/>
                </a:solidFill>
                <a:latin typeface="Courier New" pitchFamily="34" charset="0"/>
                <a:ea typeface="Courier New" pitchFamily="34" charset="-122"/>
                <a:cs typeface="Courier New" pitchFamily="34" charset="-120"/>
              </a:rPr>
              <a:t>{ </a:t>
            </a:r>
            <a:r>
              <a:rPr lang="en-US" sz="1000" dirty="0">
                <a:solidFill>
                  <a:srgbClr val="22D3EE"/>
                </a:solidFill>
                <a:latin typeface="Courier New" pitchFamily="34" charset="0"/>
                <a:ea typeface="Courier New" pitchFamily="34" charset="-122"/>
                <a:cs typeface="Courier New" pitchFamily="34" charset="-120"/>
              </a:rPr>
              <a:t>max-width</a:t>
            </a:r>
            <a:r>
              <a:rPr lang="en-US" sz="1000" dirty="0">
                <a:solidFill>
                  <a:srgbClr val="6C759E"/>
                </a:solidFill>
                <a:latin typeface="Courier New" pitchFamily="34" charset="0"/>
                <a:ea typeface="Courier New" pitchFamily="34" charset="-122"/>
                <a:cs typeface="Courier New" pitchFamily="34" charset="-120"/>
              </a:rPr>
              <a:t>: </a:t>
            </a:r>
            <a:r>
              <a:rPr lang="en-US" sz="1000" dirty="0">
                <a:solidFill>
                  <a:srgbClr val="FBBF24"/>
                </a:solidFill>
                <a:latin typeface="Courier New" pitchFamily="34" charset="0"/>
                <a:ea typeface="Courier New" pitchFamily="34" charset="-122"/>
                <a:cs typeface="Courier New" pitchFamily="34" charset="-120"/>
              </a:rPr>
              <a:t>100%</a:t>
            </a:r>
            <a:r>
              <a:rPr lang="en-US" sz="1000" dirty="0">
                <a:solidFill>
                  <a:srgbClr val="6C759E"/>
                </a:solidFill>
                <a:latin typeface="Courier New" pitchFamily="34" charset="0"/>
                <a:ea typeface="Courier New" pitchFamily="34" charset="-122"/>
                <a:cs typeface="Courier New" pitchFamily="34" charset="-120"/>
              </a:rPr>
              <a:t>; }</a:t>
            </a:r>
            <a:endParaRPr lang="en-US" sz="1000" dirty="0"/>
          </a:p>
          <a:p>
            <a:pPr marL="0" indent="0">
              <a:buNone/>
            </a:pPr>
            <a:r>
              <a:rPr lang="en-US" sz="1000" dirty="0">
                <a:solidFill>
                  <a:srgbClr val="F472B6"/>
                </a:solidFill>
                <a:latin typeface="Courier New" pitchFamily="34" charset="0"/>
                <a:ea typeface="Courier New" pitchFamily="34" charset="-122"/>
                <a:cs typeface="Courier New" pitchFamily="34" charset="-120"/>
              </a:rPr>
              <a:t>.tam </a:t>
            </a:r>
            <a:r>
              <a:rPr lang="en-US" sz="1000" dirty="0">
                <a:solidFill>
                  <a:srgbClr val="6C759E"/>
                </a:solidFill>
                <a:latin typeface="Courier New" pitchFamily="34" charset="0"/>
                <a:ea typeface="Courier New" pitchFamily="34" charset="-122"/>
                <a:cs typeface="Courier New" pitchFamily="34" charset="-120"/>
              </a:rPr>
              <a:t>{ </a:t>
            </a:r>
            <a:r>
              <a:rPr lang="en-US" sz="1000" dirty="0">
                <a:solidFill>
                  <a:srgbClr val="22D3EE"/>
                </a:solidFill>
                <a:latin typeface="Courier New" pitchFamily="34" charset="0"/>
                <a:ea typeface="Courier New" pitchFamily="34" charset="-122"/>
                <a:cs typeface="Courier New" pitchFamily="34" charset="-120"/>
              </a:rPr>
              <a:t>height</a:t>
            </a:r>
            <a:r>
              <a:rPr lang="en-US" sz="1000" dirty="0">
                <a:solidFill>
                  <a:srgbClr val="6C759E"/>
                </a:solidFill>
                <a:latin typeface="Courier New" pitchFamily="34" charset="0"/>
                <a:ea typeface="Courier New" pitchFamily="34" charset="-122"/>
                <a:cs typeface="Courier New" pitchFamily="34" charset="-120"/>
              </a:rPr>
              <a:t>: </a:t>
            </a:r>
            <a:r>
              <a:rPr lang="en-US" sz="1000" dirty="0">
                <a:solidFill>
                  <a:srgbClr val="FBBF24"/>
                </a:solidFill>
                <a:latin typeface="Courier New" pitchFamily="34" charset="0"/>
                <a:ea typeface="Courier New" pitchFamily="34" charset="-122"/>
                <a:cs typeface="Courier New" pitchFamily="34" charset="-120"/>
              </a:rPr>
              <a:t>100vh</a:t>
            </a:r>
            <a:r>
              <a:rPr lang="en-US" sz="1000" dirty="0">
                <a:solidFill>
                  <a:srgbClr val="6C759E"/>
                </a:solidFill>
                <a:latin typeface="Courier New" pitchFamily="34" charset="0"/>
                <a:ea typeface="Courier New" pitchFamily="34" charset="-122"/>
                <a:cs typeface="Courier New" pitchFamily="34" charset="-120"/>
              </a:rPr>
              <a:t>; }</a:t>
            </a:r>
            <a:endParaRPr lang="en-US" sz="1000" dirty="0"/>
          </a:p>
        </p:txBody>
      </p:sp>
      <p:sp>
        <p:nvSpPr>
          <p:cNvPr id="17" name="kart"/>
          <p:cNvSpPr/>
          <p:nvPr/>
        </p:nvSpPr>
        <p:spPr>
          <a:xfrm>
            <a:off x="5349240" y="3090672"/>
            <a:ext cx="3246120" cy="1005840"/>
          </a:xfrm>
          <a:prstGeom prst="roundRect">
            <a:avLst>
              <a:gd name="adj" fmla="val 7273"/>
            </a:avLst>
          </a:prstGeom>
          <a:solidFill>
            <a:srgbClr val="1A2044"/>
          </a:solidFill>
          <a:ln w="9525">
            <a:solidFill>
              <a:srgbClr val="2E3768"/>
            </a:solidFill>
            <a:prstDash val="solid"/>
          </a:ln>
        </p:spPr>
      </p:sp>
      <p:sp>
        <p:nvSpPr>
          <p:cNvPr id="18" name="kart-nokta"/>
          <p:cNvSpPr/>
          <p:nvPr/>
        </p:nvSpPr>
        <p:spPr>
          <a:xfrm>
            <a:off x="5495544" y="3246120"/>
            <a:ext cx="91440" cy="91440"/>
          </a:xfrm>
          <a:prstGeom prst="ellipse">
            <a:avLst/>
          </a:prstGeom>
          <a:solidFill>
            <a:srgbClr val="FB7185"/>
          </a:solidFill>
          <a:ln/>
        </p:spPr>
      </p:sp>
      <p:sp>
        <p:nvSpPr>
          <p:cNvPr id="19" name="Text 17"/>
          <p:cNvSpPr txBox="1"/>
          <p:nvPr/>
        </p:nvSpPr>
        <p:spPr>
          <a:xfrm>
            <a:off x="5660136" y="3163824"/>
            <a:ext cx="2834640" cy="274320"/>
          </a:xfrm>
          <a:prstGeom prst="rect">
            <a:avLst/>
          </a:prstGeom>
          <a:noFill/>
          <a:ln/>
        </p:spPr>
        <p:txBody>
          <a:bodyPr wrap="square" lIns="0" tIns="0" rIns="0" bIns="0" rtlCol="0" anchor="ctr"/>
          <a:lstStyle/>
          <a:p>
            <a:pPr marL="0" indent="0">
              <a:buNone/>
            </a:pPr>
            <a:r>
              <a:rPr lang="en-US" sz="1150" b="1" dirty="0">
                <a:solidFill>
                  <a:srgbClr val="EEF0F8"/>
                </a:solidFill>
                <a:latin typeface="Arial" pitchFamily="34" charset="0"/>
                <a:ea typeface="Arial" pitchFamily="34" charset="-122"/>
                <a:cs typeface="Arial" pitchFamily="34" charset="-120"/>
              </a:rPr>
              <a:t>Uyarı</a:t>
            </a:r>
            <a:endParaRPr lang="en-US" sz="1150" dirty="0"/>
          </a:p>
        </p:txBody>
      </p:sp>
      <p:sp>
        <p:nvSpPr>
          <p:cNvPr id="20" name="Text 18"/>
          <p:cNvSpPr txBox="1"/>
          <p:nvPr/>
        </p:nvSpPr>
        <p:spPr>
          <a:xfrm>
            <a:off x="5486400" y="3401568"/>
            <a:ext cx="3017520" cy="658368"/>
          </a:xfrm>
          <a:prstGeom prst="rect">
            <a:avLst/>
          </a:prstGeom>
          <a:noFill/>
          <a:ln/>
        </p:spPr>
        <p:txBody>
          <a:bodyPr wrap="square" lIns="0" tIns="0" rIns="0" bIns="0" rtlCol="0" anchor="t"/>
          <a:lstStyle/>
          <a:p>
            <a:pPr marL="0" indent="0">
              <a:buNone/>
            </a:pPr>
            <a:r>
              <a:rPr lang="en-US" sz="950" dirty="0">
                <a:solidFill>
                  <a:srgbClr val="9AA3C7"/>
                </a:solidFill>
                <a:latin typeface="Arial" pitchFamily="34" charset="0"/>
                <a:ea typeface="Arial" pitchFamily="34" charset="-122"/>
                <a:cs typeface="Arial" pitchFamily="34" charset="-120"/>
              </a:rPr>
              <a:t>Büyük resmi max-width ile tarayıcıda küçültme: indirme yine büyük olur. Uygun boyutta resim sun.</a:t>
            </a:r>
            <a:endParaRPr lang="en-US" sz="950" dirty="0"/>
          </a:p>
        </p:txBody>
      </p:sp>
      <p:sp>
        <p:nvSpPr>
          <p:cNvPr id="21" name="benzetme"/>
          <p:cNvSpPr/>
          <p:nvPr/>
        </p:nvSpPr>
        <p:spPr>
          <a:xfrm>
            <a:off x="548640" y="4224528"/>
            <a:ext cx="8046720" cy="402336"/>
          </a:xfrm>
          <a:prstGeom prst="roundRect">
            <a:avLst>
              <a:gd name="adj" fmla="val 50000"/>
            </a:avLst>
          </a:prstGeom>
          <a:solidFill>
            <a:srgbClr val="232A55"/>
          </a:solidFill>
          <a:ln/>
        </p:spPr>
      </p:sp>
      <p:sp>
        <p:nvSpPr>
          <p:cNvPr id="22" name="benzetme-ikon"/>
          <p:cNvSpPr/>
          <p:nvPr/>
        </p:nvSpPr>
        <p:spPr>
          <a:xfrm>
            <a:off x="621792" y="4261104"/>
            <a:ext cx="329184" cy="329184"/>
          </a:xfrm>
          <a:prstGeom prst="ellipse">
            <a:avLst/>
          </a:prstGeom>
          <a:solidFill>
            <a:srgbClr val="FBBF24"/>
          </a:solidFill>
          <a:ln/>
        </p:spPr>
      </p:sp>
      <p:sp>
        <p:nvSpPr>
          <p:cNvPr id="23" name="Text 21"/>
          <p:cNvSpPr txBox="1"/>
          <p:nvPr/>
        </p:nvSpPr>
        <p:spPr>
          <a:xfrm>
            <a:off x="621792" y="4261104"/>
            <a:ext cx="329184" cy="329184"/>
          </a:xfrm>
          <a:prstGeom prst="rect">
            <a:avLst/>
          </a:prstGeom>
          <a:noFill/>
          <a:ln/>
        </p:spPr>
        <p:txBody>
          <a:bodyPr wrap="square" lIns="0" tIns="0" rIns="0" bIns="0" rtlCol="0" anchor="ctr"/>
          <a:lstStyle/>
          <a:p>
            <a:pPr marL="0" indent="0" algn="ctr">
              <a:buNone/>
            </a:pPr>
            <a:r>
              <a:rPr lang="en-US" sz="1600" b="1" dirty="0">
                <a:solidFill>
                  <a:srgbClr val="10142B"/>
                </a:solidFill>
                <a:latin typeface="Arial" pitchFamily="34" charset="0"/>
                <a:ea typeface="Arial" pitchFamily="34" charset="-122"/>
                <a:cs typeface="Arial" pitchFamily="34" charset="-120"/>
              </a:rPr>
              <a:t>≈</a:t>
            </a:r>
            <a:endParaRPr lang="en-US" sz="1600" dirty="0"/>
          </a:p>
        </p:txBody>
      </p:sp>
      <p:sp>
        <p:nvSpPr>
          <p:cNvPr id="24" name="Text 22"/>
          <p:cNvSpPr txBox="1"/>
          <p:nvPr/>
        </p:nvSpPr>
        <p:spPr>
          <a:xfrm>
            <a:off x="1042416" y="4224528"/>
            <a:ext cx="7452360" cy="402336"/>
          </a:xfrm>
          <a:prstGeom prst="rect">
            <a:avLst/>
          </a:prstGeom>
          <a:noFill/>
          <a:ln/>
        </p:spPr>
        <p:txBody>
          <a:bodyPr wrap="square" lIns="0" tIns="0" rIns="0" bIns="0" rtlCol="0" anchor="ctr"/>
          <a:lstStyle/>
          <a:p>
            <a:pPr marL="0" indent="0">
              <a:buNone/>
            </a:pPr>
            <a:r>
              <a:rPr lang="en-US" sz="1100" b="1" dirty="0">
                <a:solidFill>
                  <a:srgbClr val="FBBF24"/>
                </a:solidFill>
                <a:latin typeface="Arial" pitchFamily="34" charset="0"/>
                <a:ea typeface="Arial" pitchFamily="34" charset="-122"/>
                <a:cs typeface="Arial" pitchFamily="34" charset="-120"/>
              </a:rPr>
              <a:t>Gündelik hayatta: </a:t>
            </a:r>
            <a:r>
              <a:rPr lang="en-US" sz="1100" dirty="0">
                <a:solidFill>
                  <a:srgbClr val="EEF0F8"/>
                </a:solidFill>
                <a:latin typeface="Arial" pitchFamily="34" charset="0"/>
                <a:ea typeface="Arial" pitchFamily="34" charset="-122"/>
                <a:cs typeface="Arial" pitchFamily="34" charset="-120"/>
              </a:rPr>
              <a:t>min-height esnek pantolon kemeri gibi: en az bu bel ölçüsü, gerekirse genişler. Sabit height ise dar bir kot.</a:t>
            </a:r>
            <a:endParaRPr lang="en-US" sz="1100" dirty="0"/>
          </a:p>
        </p:txBody>
      </p:sp>
    </p:spTree>
  </p:cSld>
  <p:clrMapOvr>
    <a:masterClrMapping/>
  </p:clrMapOvr>
  <p:transition spd="med">
    <p:pull/>
  </p:transition>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256032"/>
            <a:ext cx="4572000" cy="201168"/>
          </a:xfrm>
          <a:prstGeom prst="rect">
            <a:avLst/>
          </a:prstGeom>
          <a:noFill/>
          <a:ln/>
        </p:spPr>
        <p:txBody>
          <a:bodyPr wrap="square" lIns="0" tIns="0" rIns="0" bIns="0" rtlCol="0" anchor="t"/>
          <a:lstStyle/>
          <a:p>
            <a:pPr marL="0" indent="0">
              <a:buNone/>
            </a:pPr>
            <a:r>
              <a:rPr lang="en-US" sz="900" b="1" kern="0" spc="200" dirty="0">
                <a:solidFill>
                  <a:srgbClr val="22D3EE"/>
                </a:solidFill>
                <a:latin typeface="Arial" pitchFamily="34" charset="0"/>
                <a:ea typeface="Arial" pitchFamily="34" charset="-122"/>
                <a:cs typeface="Arial" pitchFamily="34" charset="-120"/>
              </a:rPr>
              <a:t>MODÜL 1 · CSS TEMELLERİ</a:t>
            </a:r>
            <a:endParaRPr lang="en-US" sz="900" dirty="0"/>
          </a:p>
        </p:txBody>
      </p:sp>
      <p:sp>
        <p:nvSpPr>
          <p:cNvPr id="3" name="mini-box-0"/>
          <p:cNvSpPr/>
          <p:nvPr/>
        </p:nvSpPr>
        <p:spPr>
          <a:xfrm>
            <a:off x="8229600" y="201168"/>
            <a:ext cx="384048" cy="384048"/>
          </a:xfrm>
          <a:prstGeom prst="rect">
            <a:avLst/>
          </a:prstGeom>
          <a:ln w="9525">
            <a:solidFill>
              <a:srgbClr val="22D3EE"/>
            </a:solidFill>
            <a:prstDash val="solid"/>
          </a:ln>
        </p:spPr>
      </p:sp>
      <p:sp>
        <p:nvSpPr>
          <p:cNvPr id="4" name="mini-box-1"/>
          <p:cNvSpPr/>
          <p:nvPr/>
        </p:nvSpPr>
        <p:spPr>
          <a:xfrm>
            <a:off x="8293608" y="265176"/>
            <a:ext cx="256032" cy="256032"/>
          </a:xfrm>
          <a:prstGeom prst="rect">
            <a:avLst/>
          </a:prstGeom>
          <a:ln w="9525">
            <a:solidFill>
              <a:srgbClr val="EEF0F8"/>
            </a:solidFill>
            <a:prstDash val="solid"/>
          </a:ln>
        </p:spPr>
      </p:sp>
      <p:sp>
        <p:nvSpPr>
          <p:cNvPr id="5" name="mini-box-2"/>
          <p:cNvSpPr/>
          <p:nvPr/>
        </p:nvSpPr>
        <p:spPr>
          <a:xfrm>
            <a:off x="8348472" y="320040"/>
            <a:ext cx="146304" cy="146304"/>
          </a:xfrm>
          <a:prstGeom prst="rect">
            <a:avLst/>
          </a:prstGeom>
          <a:solidFill>
            <a:srgbClr val="22D3EE"/>
          </a:solidFill>
          <a:ln w="9525">
            <a:solidFill>
              <a:srgbClr val="22D3EE"/>
            </a:solidFill>
            <a:prstDash val="solid"/>
          </a:ln>
        </p:spPr>
      </p:sp>
      <p:sp>
        <p:nvSpPr>
          <p:cNvPr id="6" name="ilerleme-zemin"/>
          <p:cNvSpPr/>
          <p:nvPr/>
        </p:nvSpPr>
        <p:spPr>
          <a:xfrm>
            <a:off x="0" y="5070348"/>
            <a:ext cx="9144000" cy="73152"/>
          </a:xfrm>
          <a:prstGeom prst="rect">
            <a:avLst/>
          </a:prstGeom>
          <a:solidFill>
            <a:srgbClr val="1A2044"/>
          </a:solidFill>
          <a:ln/>
        </p:spPr>
      </p:sp>
      <p:sp>
        <p:nvSpPr>
          <p:cNvPr id="7" name="ilerleme"/>
          <p:cNvSpPr/>
          <p:nvPr/>
        </p:nvSpPr>
        <p:spPr>
          <a:xfrm>
            <a:off x="0" y="5070348"/>
            <a:ext cx="4040372" cy="73152"/>
          </a:xfrm>
          <a:prstGeom prst="rect">
            <a:avLst/>
          </a:prstGeom>
          <a:solidFill>
            <a:srgbClr val="22D3EE"/>
          </a:solidFill>
          <a:ln/>
        </p:spPr>
      </p:sp>
      <p:sp>
        <p:nvSpPr>
          <p:cNvPr id="8" name="Text 6"/>
          <p:cNvSpPr txBox="1"/>
          <p:nvPr/>
        </p:nvSpPr>
        <p:spPr>
          <a:xfrm>
            <a:off x="548640" y="4791456"/>
            <a:ext cx="3657600" cy="201168"/>
          </a:xfrm>
          <a:prstGeom prst="rect">
            <a:avLst/>
          </a:prstGeom>
          <a:noFill/>
          <a:ln/>
        </p:spPr>
        <p:txBody>
          <a:bodyPr wrap="square" lIns="0" tIns="0" rIns="0" bIns="0" rtlCol="0" anchor="t"/>
          <a:lstStyle/>
          <a:p>
            <a:pPr marL="0" indent="0">
              <a:buNone/>
            </a:pPr>
            <a:r>
              <a:rPr lang="en-US" sz="850" dirty="0">
                <a:solidFill>
                  <a:srgbClr val="6C759E"/>
                </a:solidFill>
                <a:latin typeface="Arial" pitchFamily="34" charset="0"/>
                <a:ea typeface="Arial" pitchFamily="34" charset="-122"/>
                <a:cs typeface="Arial" pitchFamily="34" charset="-120"/>
              </a:rPr>
              <a:t>KCŞ A.Ş.  ·  CSS ile stil ve düzen</a:t>
            </a:r>
            <a:endParaRPr lang="en-US" sz="850" dirty="0"/>
          </a:p>
        </p:txBody>
      </p:sp>
      <p:sp>
        <p:nvSpPr>
          <p:cNvPr id="9" name="Text 7"/>
          <p:cNvSpPr txBox="1"/>
          <p:nvPr/>
        </p:nvSpPr>
        <p:spPr>
          <a:xfrm>
            <a:off x="4206240" y="4791456"/>
            <a:ext cx="3840480" cy="201168"/>
          </a:xfrm>
          <a:prstGeom prst="rect">
            <a:avLst/>
          </a:prstGeom>
          <a:noFill/>
          <a:ln/>
        </p:spPr>
        <p:txBody>
          <a:bodyPr wrap="square" lIns="0" tIns="0" rIns="0" bIns="0" rtlCol="0" anchor="t"/>
          <a:lstStyle/>
          <a:p>
            <a:pPr marL="0" indent="0" algn="r">
              <a:buNone/>
            </a:pPr>
            <a:r>
              <a:rPr lang="en-US" sz="850" dirty="0">
                <a:solidFill>
                  <a:srgbClr val="6C759E"/>
                </a:solidFill>
                <a:latin typeface="Arial" pitchFamily="34" charset="0"/>
                <a:ea typeface="Arial" pitchFamily="34" charset="-122"/>
                <a:cs typeface="Arial" pitchFamily="34" charset="-120"/>
              </a:rPr>
              <a:t>MDN · Backgrounds and borders</a:t>
            </a:r>
            <a:endParaRPr lang="en-US" sz="850" dirty="0"/>
          </a:p>
        </p:txBody>
      </p:sp>
      <p:sp>
        <p:nvSpPr>
          <p:cNvPr id="10" name="Text 8"/>
          <p:cNvSpPr txBox="1"/>
          <p:nvPr/>
        </p:nvSpPr>
        <p:spPr>
          <a:xfrm>
            <a:off x="8092440" y="4791456"/>
            <a:ext cx="685800" cy="201168"/>
          </a:xfrm>
          <a:prstGeom prst="rect">
            <a:avLst/>
          </a:prstGeom>
          <a:noFill/>
          <a:ln/>
        </p:spPr>
        <p:txBody>
          <a:bodyPr wrap="square" lIns="0" tIns="0" rIns="0" bIns="0" rtlCol="0" anchor="t"/>
          <a:lstStyle/>
          <a:p>
            <a:pPr marL="0" indent="0" algn="r">
              <a:buNone/>
            </a:pPr>
            <a:r>
              <a:rPr lang="en-US" sz="850" dirty="0">
                <a:solidFill>
                  <a:srgbClr val="9AA3C7"/>
                </a:solidFill>
                <a:latin typeface="Courier New" pitchFamily="34" charset="0"/>
                <a:ea typeface="Courier New" pitchFamily="34" charset="-122"/>
                <a:cs typeface="Courier New" pitchFamily="34" charset="-120"/>
              </a:rPr>
              <a:t>19 / 43</a:t>
            </a:r>
            <a:endParaRPr lang="en-US" sz="850" dirty="0"/>
          </a:p>
        </p:txBody>
      </p:sp>
      <p:sp>
        <p:nvSpPr>
          <p:cNvPr id="11" name="Text 9"/>
          <p:cNvSpPr txBox="1"/>
          <p:nvPr/>
        </p:nvSpPr>
        <p:spPr>
          <a:xfrm>
            <a:off x="548640" y="502920"/>
            <a:ext cx="5943600" cy="237744"/>
          </a:xfrm>
          <a:prstGeom prst="rect">
            <a:avLst/>
          </a:prstGeom>
          <a:noFill/>
          <a:ln/>
        </p:spPr>
        <p:txBody>
          <a:bodyPr wrap="square" lIns="0" tIns="0" rIns="0" bIns="0" rtlCol="0" anchor="t"/>
          <a:lstStyle/>
          <a:p>
            <a:pPr marL="0" indent="0">
              <a:buNone/>
            </a:pPr>
            <a:r>
              <a:rPr lang="en-US" sz="1100" b="1" dirty="0">
                <a:solidFill>
                  <a:srgbClr val="22D3EE"/>
                </a:solidFill>
                <a:latin typeface="Courier New" pitchFamily="34" charset="0"/>
                <a:ea typeface="Courier New" pitchFamily="34" charset="-122"/>
                <a:cs typeface="Courier New" pitchFamily="34" charset="-120"/>
              </a:rPr>
              <a:t>background: … / cover no-repeat</a:t>
            </a:r>
            <a:endParaRPr lang="en-US" sz="1100" dirty="0"/>
          </a:p>
        </p:txBody>
      </p:sp>
      <p:sp>
        <p:nvSpPr>
          <p:cNvPr id="12" name="Text 10"/>
          <p:cNvSpPr txBox="1"/>
          <p:nvPr/>
        </p:nvSpPr>
        <p:spPr>
          <a:xfrm>
            <a:off x="548640" y="749808"/>
            <a:ext cx="7589520" cy="502920"/>
          </a:xfrm>
          <a:prstGeom prst="rect">
            <a:avLst/>
          </a:prstGeom>
          <a:noFill/>
          <a:ln/>
        </p:spPr>
        <p:txBody>
          <a:bodyPr wrap="square" lIns="0" tIns="0" rIns="0" bIns="0" rtlCol="0" anchor="ctr"/>
          <a:lstStyle/>
          <a:p>
            <a:pPr marL="0" indent="0">
              <a:buNone/>
            </a:pPr>
            <a:r>
              <a:rPr lang="en-US" sz="2400" b="1" dirty="0">
                <a:solidFill>
                  <a:srgbClr val="EEF0F8"/>
                </a:solidFill>
                <a:latin typeface="Arial" pitchFamily="34" charset="0"/>
                <a:ea typeface="Arial" pitchFamily="34" charset="-122"/>
                <a:cs typeface="Arial" pitchFamily="34" charset="-120"/>
              </a:rPr>
              <a:t>Arka planlar ve kenarlıklar</a:t>
            </a:r>
            <a:endParaRPr lang="en-US" sz="2400" dirty="0"/>
          </a:p>
        </p:txBody>
      </p:sp>
      <p:sp>
        <p:nvSpPr>
          <p:cNvPr id="13" name="kod-paneli"/>
          <p:cNvSpPr/>
          <p:nvPr/>
        </p:nvSpPr>
        <p:spPr>
          <a:xfrm>
            <a:off x="548640" y="1371600"/>
            <a:ext cx="3931920" cy="1828800"/>
          </a:xfrm>
          <a:prstGeom prst="roundRect">
            <a:avLst>
              <a:gd name="adj" fmla="val 4000"/>
            </a:avLst>
          </a:prstGeom>
          <a:solidFill>
            <a:srgbClr val="0A0D1F"/>
          </a:solidFill>
          <a:ln w="9525">
            <a:solidFill>
              <a:srgbClr val="2E3768"/>
            </a:solidFill>
            <a:prstDash val="solid"/>
          </a:ln>
        </p:spPr>
      </p:sp>
      <p:sp>
        <p:nvSpPr>
          <p:cNvPr id="14" name="Text 12"/>
          <p:cNvSpPr txBox="1"/>
          <p:nvPr/>
        </p:nvSpPr>
        <p:spPr>
          <a:xfrm>
            <a:off x="3017520" y="1426464"/>
            <a:ext cx="1371600" cy="182880"/>
          </a:xfrm>
          <a:prstGeom prst="rect">
            <a:avLst/>
          </a:prstGeom>
          <a:noFill/>
          <a:ln/>
        </p:spPr>
        <p:txBody>
          <a:bodyPr wrap="square" lIns="0" tIns="0" rIns="0" bIns="0" rtlCol="0" anchor="t"/>
          <a:lstStyle/>
          <a:p>
            <a:pPr marL="0" indent="0" algn="r">
              <a:buNone/>
            </a:pPr>
            <a:r>
              <a:rPr lang="en-US" sz="800" dirty="0">
                <a:solidFill>
                  <a:srgbClr val="6C759E"/>
                </a:solidFill>
                <a:latin typeface="Courier New" pitchFamily="34" charset="0"/>
                <a:ea typeface="Courier New" pitchFamily="34" charset="-122"/>
                <a:cs typeface="Courier New" pitchFamily="34" charset="-120"/>
              </a:rPr>
              <a:t>backgrounds.css</a:t>
            </a:r>
            <a:endParaRPr lang="en-US" sz="800" dirty="0"/>
          </a:p>
        </p:txBody>
      </p:sp>
      <p:sp>
        <p:nvSpPr>
          <p:cNvPr id="15" name="Text 13"/>
          <p:cNvSpPr txBox="1"/>
          <p:nvPr/>
        </p:nvSpPr>
        <p:spPr>
          <a:xfrm>
            <a:off x="694944" y="1609344"/>
            <a:ext cx="3657600" cy="1517904"/>
          </a:xfrm>
          <a:prstGeom prst="rect">
            <a:avLst/>
          </a:prstGeom>
          <a:noFill/>
          <a:ln/>
        </p:spPr>
        <p:txBody>
          <a:bodyPr wrap="square" lIns="0" tIns="0" rIns="0" bIns="0" rtlCol="0" anchor="t"/>
          <a:lstStyle/>
          <a:p>
            <a:pPr marL="0" indent="0">
              <a:buNone/>
            </a:pPr>
            <a:r>
              <a:rPr lang="en-US" sz="900" dirty="0">
                <a:solidFill>
                  <a:srgbClr val="F472B6"/>
                </a:solidFill>
                <a:latin typeface="Courier New" pitchFamily="34" charset="0"/>
                <a:ea typeface="Courier New" pitchFamily="34" charset="-122"/>
                <a:cs typeface="Courier New" pitchFamily="34" charset="-120"/>
              </a:rPr>
              <a:t>.box </a:t>
            </a:r>
            <a:r>
              <a:rPr lang="en-US" sz="900" dirty="0">
                <a:solidFill>
                  <a:srgbClr val="6C759E"/>
                </a:solidFill>
                <a:latin typeface="Courier New" pitchFamily="34" charset="0"/>
                <a:ea typeface="Courier New" pitchFamily="34" charset="-122"/>
                <a:cs typeface="Courier New" pitchFamily="34" charset="-120"/>
              </a:rPr>
              <a:t>{</a:t>
            </a:r>
            <a:endParaRPr lang="en-US" sz="900" dirty="0"/>
          </a:p>
          <a:p>
            <a:pPr marL="0" indent="0">
              <a:buNone/>
            </a:pPr>
            <a:r>
              <a:rPr lang="en-US" sz="900" dirty="0">
                <a:solidFill>
                  <a:srgbClr val="EEF0F8"/>
                </a:solidFill>
                <a:latin typeface="Courier New" pitchFamily="34" charset="0"/>
                <a:ea typeface="Courier New" pitchFamily="34" charset="-122"/>
                <a:cs typeface="Courier New" pitchFamily="34" charset="-120"/>
              </a:rPr>
              <a:t>  </a:t>
            </a:r>
            <a:r>
              <a:rPr lang="en-US" sz="900" dirty="0">
                <a:solidFill>
                  <a:srgbClr val="22D3EE"/>
                </a:solidFill>
                <a:latin typeface="Courier New" pitchFamily="34" charset="0"/>
                <a:ea typeface="Courier New" pitchFamily="34" charset="-122"/>
                <a:cs typeface="Courier New" pitchFamily="34" charset="-120"/>
              </a:rPr>
              <a:t>background-image</a:t>
            </a:r>
            <a:r>
              <a:rPr lang="en-US" sz="900" dirty="0">
                <a:solidFill>
                  <a:srgbClr val="6C759E"/>
                </a:solidFill>
                <a:latin typeface="Courier New" pitchFamily="34" charset="0"/>
                <a:ea typeface="Courier New" pitchFamily="34" charset="-122"/>
                <a:cs typeface="Courier New" pitchFamily="34" charset="-120"/>
              </a:rPr>
              <a:t>: </a:t>
            </a:r>
            <a:r>
              <a:rPr lang="en-US" sz="900" dirty="0">
                <a:solidFill>
                  <a:srgbClr val="FBBF24"/>
                </a:solidFill>
                <a:latin typeface="Courier New" pitchFamily="34" charset="0"/>
                <a:ea typeface="Courier New" pitchFamily="34" charset="-122"/>
                <a:cs typeface="Courier New" pitchFamily="34" charset="-120"/>
              </a:rPr>
              <a:t>url(</a:t>
            </a:r>
            <a:r>
              <a:rPr lang="en-US" sz="900" dirty="0">
                <a:solidFill>
                  <a:srgbClr val="A3E635"/>
                </a:solidFill>
                <a:latin typeface="Courier New" pitchFamily="34" charset="0"/>
                <a:ea typeface="Courier New" pitchFamily="34" charset="-122"/>
                <a:cs typeface="Courier New" pitchFamily="34" charset="-120"/>
              </a:rPr>
              <a:t>"star.png"</a:t>
            </a:r>
            <a:r>
              <a:rPr lang="en-US" sz="900" dirty="0">
                <a:solidFill>
                  <a:srgbClr val="FBBF24"/>
                </a:solidFill>
                <a:latin typeface="Courier New" pitchFamily="34" charset="0"/>
                <a:ea typeface="Courier New" pitchFamily="34" charset="-122"/>
                <a:cs typeface="Courier New" pitchFamily="34" charset="-120"/>
              </a:rPr>
              <a:t>);</a:t>
            </a:r>
            <a:endParaRPr lang="en-US" sz="900" dirty="0"/>
          </a:p>
          <a:p>
            <a:pPr marL="0" indent="0">
              <a:buNone/>
            </a:pPr>
            <a:r>
              <a:rPr lang="en-US" sz="900" dirty="0">
                <a:solidFill>
                  <a:srgbClr val="EEF0F8"/>
                </a:solidFill>
                <a:latin typeface="Courier New" pitchFamily="34" charset="0"/>
                <a:ea typeface="Courier New" pitchFamily="34" charset="-122"/>
                <a:cs typeface="Courier New" pitchFamily="34" charset="-120"/>
              </a:rPr>
              <a:t>  </a:t>
            </a:r>
            <a:r>
              <a:rPr lang="en-US" sz="900" dirty="0">
                <a:solidFill>
                  <a:srgbClr val="22D3EE"/>
                </a:solidFill>
                <a:latin typeface="Courier New" pitchFamily="34" charset="0"/>
                <a:ea typeface="Courier New" pitchFamily="34" charset="-122"/>
                <a:cs typeface="Courier New" pitchFamily="34" charset="-120"/>
              </a:rPr>
              <a:t>background-repeat</a:t>
            </a:r>
            <a:r>
              <a:rPr lang="en-US" sz="900" dirty="0">
                <a:solidFill>
                  <a:srgbClr val="6C759E"/>
                </a:solidFill>
                <a:latin typeface="Courier New" pitchFamily="34" charset="0"/>
                <a:ea typeface="Courier New" pitchFamily="34" charset="-122"/>
                <a:cs typeface="Courier New" pitchFamily="34" charset="-120"/>
              </a:rPr>
              <a:t>: </a:t>
            </a:r>
            <a:r>
              <a:rPr lang="en-US" sz="900" dirty="0">
                <a:solidFill>
                  <a:srgbClr val="FBBF24"/>
                </a:solidFill>
                <a:latin typeface="Courier New" pitchFamily="34" charset="0"/>
                <a:ea typeface="Courier New" pitchFamily="34" charset="-122"/>
                <a:cs typeface="Courier New" pitchFamily="34" charset="-120"/>
              </a:rPr>
              <a:t>no-repeat;</a:t>
            </a:r>
            <a:endParaRPr lang="en-US" sz="900" dirty="0"/>
          </a:p>
          <a:p>
            <a:pPr marL="0" indent="0">
              <a:buNone/>
            </a:pPr>
            <a:r>
              <a:rPr lang="en-US" sz="900" dirty="0">
                <a:solidFill>
                  <a:srgbClr val="EEF0F8"/>
                </a:solidFill>
                <a:latin typeface="Courier New" pitchFamily="34" charset="0"/>
                <a:ea typeface="Courier New" pitchFamily="34" charset="-122"/>
                <a:cs typeface="Courier New" pitchFamily="34" charset="-120"/>
              </a:rPr>
              <a:t>  </a:t>
            </a:r>
            <a:r>
              <a:rPr lang="en-US" sz="900" dirty="0">
                <a:solidFill>
                  <a:srgbClr val="22D3EE"/>
                </a:solidFill>
                <a:latin typeface="Courier New" pitchFamily="34" charset="0"/>
                <a:ea typeface="Courier New" pitchFamily="34" charset="-122"/>
                <a:cs typeface="Courier New" pitchFamily="34" charset="-120"/>
              </a:rPr>
              <a:t>background-size</a:t>
            </a:r>
            <a:r>
              <a:rPr lang="en-US" sz="900" dirty="0">
                <a:solidFill>
                  <a:srgbClr val="6C759E"/>
                </a:solidFill>
                <a:latin typeface="Courier New" pitchFamily="34" charset="0"/>
                <a:ea typeface="Courier New" pitchFamily="34" charset="-122"/>
                <a:cs typeface="Courier New" pitchFamily="34" charset="-120"/>
              </a:rPr>
              <a:t>: </a:t>
            </a:r>
            <a:r>
              <a:rPr lang="en-US" sz="900" dirty="0">
                <a:solidFill>
                  <a:srgbClr val="FBBF24"/>
                </a:solidFill>
                <a:latin typeface="Courier New" pitchFamily="34" charset="0"/>
                <a:ea typeface="Courier New" pitchFamily="34" charset="-122"/>
                <a:cs typeface="Courier New" pitchFamily="34" charset="-120"/>
              </a:rPr>
              <a:t>cover;</a:t>
            </a:r>
            <a:endParaRPr lang="en-US" sz="900" dirty="0"/>
          </a:p>
          <a:p>
            <a:pPr marL="0" indent="0">
              <a:buNone/>
            </a:pPr>
            <a:r>
              <a:rPr lang="en-US" sz="900" dirty="0">
                <a:solidFill>
                  <a:srgbClr val="EEF0F8"/>
                </a:solidFill>
                <a:latin typeface="Courier New" pitchFamily="34" charset="0"/>
                <a:ea typeface="Courier New" pitchFamily="34" charset="-122"/>
                <a:cs typeface="Courier New" pitchFamily="34" charset="-120"/>
              </a:rPr>
              <a:t>  </a:t>
            </a:r>
            <a:r>
              <a:rPr lang="en-US" sz="900" dirty="0">
                <a:solidFill>
                  <a:srgbClr val="22D3EE"/>
                </a:solidFill>
                <a:latin typeface="Courier New" pitchFamily="34" charset="0"/>
                <a:ea typeface="Courier New" pitchFamily="34" charset="-122"/>
                <a:cs typeface="Courier New" pitchFamily="34" charset="-120"/>
              </a:rPr>
              <a:t>background-position</a:t>
            </a:r>
            <a:r>
              <a:rPr lang="en-US" sz="900" dirty="0">
                <a:solidFill>
                  <a:srgbClr val="6C759E"/>
                </a:solidFill>
                <a:latin typeface="Courier New" pitchFamily="34" charset="0"/>
                <a:ea typeface="Courier New" pitchFamily="34" charset="-122"/>
                <a:cs typeface="Courier New" pitchFamily="34" charset="-120"/>
              </a:rPr>
              <a:t>: </a:t>
            </a:r>
            <a:r>
              <a:rPr lang="en-US" sz="900" dirty="0">
                <a:solidFill>
                  <a:srgbClr val="FBBF24"/>
                </a:solidFill>
                <a:latin typeface="Courier New" pitchFamily="34" charset="0"/>
                <a:ea typeface="Courier New" pitchFamily="34" charset="-122"/>
                <a:cs typeface="Courier New" pitchFamily="34" charset="-120"/>
              </a:rPr>
              <a:t>top 20px right 10px;</a:t>
            </a:r>
            <a:endParaRPr lang="en-US" sz="900" dirty="0"/>
          </a:p>
          <a:p>
            <a:pPr marL="0" indent="0">
              <a:buNone/>
            </a:pPr>
            <a:r>
              <a:rPr lang="en-US" sz="900" dirty="0">
                <a:solidFill>
                  <a:srgbClr val="EEF0F8"/>
                </a:solidFill>
                <a:latin typeface="Courier New" pitchFamily="34" charset="0"/>
                <a:ea typeface="Courier New" pitchFamily="34" charset="-122"/>
                <a:cs typeface="Courier New" pitchFamily="34" charset="-120"/>
              </a:rPr>
              <a:t>  </a:t>
            </a:r>
            <a:r>
              <a:rPr lang="en-US" sz="900" dirty="0">
                <a:solidFill>
                  <a:srgbClr val="22D3EE"/>
                </a:solidFill>
                <a:latin typeface="Courier New" pitchFamily="34" charset="0"/>
                <a:ea typeface="Courier New" pitchFamily="34" charset="-122"/>
                <a:cs typeface="Courier New" pitchFamily="34" charset="-120"/>
              </a:rPr>
              <a:t>border</a:t>
            </a:r>
            <a:r>
              <a:rPr lang="en-US" sz="900" dirty="0">
                <a:solidFill>
                  <a:srgbClr val="6C759E"/>
                </a:solidFill>
                <a:latin typeface="Courier New" pitchFamily="34" charset="0"/>
                <a:ea typeface="Courier New" pitchFamily="34" charset="-122"/>
                <a:cs typeface="Courier New" pitchFamily="34" charset="-120"/>
              </a:rPr>
              <a:t>: </a:t>
            </a:r>
            <a:r>
              <a:rPr lang="en-US" sz="900" dirty="0">
                <a:solidFill>
                  <a:srgbClr val="FBBF24"/>
                </a:solidFill>
                <a:latin typeface="Courier New" pitchFamily="34" charset="0"/>
                <a:ea typeface="Courier New" pitchFamily="34" charset="-122"/>
                <a:cs typeface="Courier New" pitchFamily="34" charset="-120"/>
              </a:rPr>
              <a:t>5px solid #0b385f;</a:t>
            </a:r>
            <a:endParaRPr lang="en-US" sz="900" dirty="0"/>
          </a:p>
          <a:p>
            <a:pPr marL="0" indent="0">
              <a:buNone/>
            </a:pPr>
            <a:r>
              <a:rPr lang="en-US" sz="900" dirty="0">
                <a:solidFill>
                  <a:srgbClr val="EEF0F8"/>
                </a:solidFill>
                <a:latin typeface="Courier New" pitchFamily="34" charset="0"/>
                <a:ea typeface="Courier New" pitchFamily="34" charset="-122"/>
                <a:cs typeface="Courier New" pitchFamily="34" charset="-120"/>
              </a:rPr>
              <a:t>  </a:t>
            </a:r>
            <a:r>
              <a:rPr lang="en-US" sz="900" dirty="0">
                <a:solidFill>
                  <a:srgbClr val="22D3EE"/>
                </a:solidFill>
                <a:latin typeface="Courier New" pitchFamily="34" charset="0"/>
                <a:ea typeface="Courier New" pitchFamily="34" charset="-122"/>
                <a:cs typeface="Courier New" pitchFamily="34" charset="-120"/>
              </a:rPr>
              <a:t>border-radius</a:t>
            </a:r>
            <a:r>
              <a:rPr lang="en-US" sz="900" dirty="0">
                <a:solidFill>
                  <a:srgbClr val="6C759E"/>
                </a:solidFill>
                <a:latin typeface="Courier New" pitchFamily="34" charset="0"/>
                <a:ea typeface="Courier New" pitchFamily="34" charset="-122"/>
                <a:cs typeface="Courier New" pitchFamily="34" charset="-120"/>
              </a:rPr>
              <a:t>: </a:t>
            </a:r>
            <a:r>
              <a:rPr lang="en-US" sz="900" dirty="0">
                <a:solidFill>
                  <a:srgbClr val="FBBF24"/>
                </a:solidFill>
                <a:latin typeface="Courier New" pitchFamily="34" charset="0"/>
                <a:ea typeface="Courier New" pitchFamily="34" charset="-122"/>
                <a:cs typeface="Courier New" pitchFamily="34" charset="-120"/>
              </a:rPr>
              <a:t>1em;</a:t>
            </a:r>
            <a:endParaRPr lang="en-US" sz="900" dirty="0"/>
          </a:p>
          <a:p>
            <a:pPr marL="0" indent="0">
              <a:buNone/>
            </a:pPr>
            <a:r>
              <a:rPr lang="en-US" sz="900" dirty="0">
                <a:solidFill>
                  <a:srgbClr val="6C759E"/>
                </a:solidFill>
                <a:latin typeface="Courier New" pitchFamily="34" charset="0"/>
                <a:ea typeface="Courier New" pitchFamily="34" charset="-122"/>
                <a:cs typeface="Courier New" pitchFamily="34" charset="-120"/>
              </a:rPr>
              <a:t>}</a:t>
            </a:r>
            <a:endParaRPr lang="en-US" sz="900" dirty="0"/>
          </a:p>
        </p:txBody>
      </p:sp>
      <p:sp>
        <p:nvSpPr>
          <p:cNvPr id="16" name="Text 14"/>
          <p:cNvSpPr txBox="1"/>
          <p:nvPr/>
        </p:nvSpPr>
        <p:spPr>
          <a:xfrm>
            <a:off x="548640" y="3291840"/>
            <a:ext cx="3931920" cy="822960"/>
          </a:xfrm>
          <a:prstGeom prst="rect">
            <a:avLst/>
          </a:prstGeom>
          <a:noFill/>
          <a:ln/>
        </p:spPr>
        <p:txBody>
          <a:bodyPr wrap="square" lIns="0" tIns="0" rIns="0" bIns="0" rtlCol="0" anchor="t"/>
          <a:lstStyle/>
          <a:p>
            <a:pPr marL="0" indent="0">
              <a:buNone/>
            </a:pPr>
            <a:r>
              <a:rPr lang="en-US" sz="950" dirty="0">
                <a:solidFill>
                  <a:srgbClr val="9AA3C7"/>
                </a:solidFill>
                <a:latin typeface="Arial" pitchFamily="34" charset="0"/>
                <a:ea typeface="Arial" pitchFamily="34" charset="-122"/>
                <a:cs typeface="Arial" pitchFamily="34" charset="-120"/>
              </a:rPr>
              <a:t>Birden çok resim virgülle verilir; listedeki son resim en altta kalır. background kısayolunda renk sadece son virgülden sonra, size ise position'dan hemen sonra / ile yazılır: center/80%.</a:t>
            </a:r>
            <a:endParaRPr lang="en-US" sz="950" dirty="0"/>
          </a:p>
        </p:txBody>
      </p:sp>
      <p:sp>
        <p:nvSpPr>
          <p:cNvPr id="17" name="Text 15"/>
          <p:cNvSpPr txBox="1"/>
          <p:nvPr/>
        </p:nvSpPr>
        <p:spPr>
          <a:xfrm>
            <a:off x="4709160" y="1371600"/>
            <a:ext cx="3886200" cy="2743200"/>
          </a:xfrm>
          <a:prstGeom prst="rect">
            <a:avLst/>
          </a:prstGeom>
          <a:noFill/>
          <a:ln/>
        </p:spPr>
        <p:txBody>
          <a:bodyPr wrap="square" lIns="0" tIns="0" rIns="0" bIns="0" rtlCol="0" anchor="t"/>
          <a:lstStyle/>
          <a:p>
            <a:pPr marL="0" indent="0">
              <a:spcAft>
                <a:spcPts val="600"/>
              </a:spcAft>
              <a:buNone/>
            </a:pPr>
            <a:r>
              <a:rPr lang="en-US" sz="1000" b="1" dirty="0">
                <a:solidFill>
                  <a:srgbClr val="F472B6"/>
                </a:solidFill>
                <a:latin typeface="Arial" pitchFamily="34" charset="0"/>
                <a:ea typeface="Arial" pitchFamily="34" charset="-122"/>
                <a:cs typeface="Arial" pitchFamily="34" charset="-120"/>
              </a:rPr>
              <a:t>background-repeat: </a:t>
            </a:r>
            <a:r>
              <a:rPr lang="en-US" sz="1000" dirty="0">
                <a:solidFill>
                  <a:srgbClr val="EEF0F8"/>
                </a:solidFill>
                <a:latin typeface="Arial" pitchFamily="34" charset="0"/>
                <a:ea typeface="Arial" pitchFamily="34" charset="-122"/>
                <a:cs typeface="Arial" pitchFamily="34" charset="-120"/>
              </a:rPr>
              <a:t>no-repeat, repeat-x, repeat-y, space, round</a:t>
            </a:r>
            <a:endParaRPr lang="en-US" sz="1000" dirty="0"/>
          </a:p>
          <a:p>
            <a:pPr marL="0" indent="0">
              <a:spcAft>
                <a:spcPts val="600"/>
              </a:spcAft>
              <a:buNone/>
            </a:pPr>
            <a:r>
              <a:rPr lang="en-US" sz="1000" b="1" dirty="0">
                <a:solidFill>
                  <a:srgbClr val="F472B6"/>
                </a:solidFill>
                <a:latin typeface="Arial" pitchFamily="34" charset="0"/>
                <a:ea typeface="Arial" pitchFamily="34" charset="-122"/>
                <a:cs typeface="Arial" pitchFamily="34" charset="-120"/>
              </a:rPr>
              <a:t>background-size: </a:t>
            </a:r>
            <a:r>
              <a:rPr lang="en-US" sz="1000" dirty="0">
                <a:solidFill>
                  <a:srgbClr val="EEF0F8"/>
                </a:solidFill>
                <a:latin typeface="Arial" pitchFamily="34" charset="0"/>
                <a:ea typeface="Arial" pitchFamily="34" charset="-122"/>
                <a:cs typeface="Arial" pitchFamily="34" charset="-120"/>
              </a:rPr>
              <a:t>cover kutuyu doldurur (taşan kırpılır), contain sığdırır (boşluk kalabilir)</a:t>
            </a:r>
            <a:endParaRPr lang="en-US" sz="1000" dirty="0"/>
          </a:p>
          <a:p>
            <a:pPr marL="0" indent="0">
              <a:spcAft>
                <a:spcPts val="600"/>
              </a:spcAft>
              <a:buNone/>
            </a:pPr>
            <a:r>
              <a:rPr lang="en-US" sz="1000" b="1" dirty="0">
                <a:solidFill>
                  <a:srgbClr val="F472B6"/>
                </a:solidFill>
                <a:latin typeface="Arial" pitchFamily="34" charset="0"/>
                <a:ea typeface="Arial" pitchFamily="34" charset="-122"/>
                <a:cs typeface="Arial" pitchFamily="34" charset="-120"/>
              </a:rPr>
              <a:t>background-attachment: </a:t>
            </a:r>
            <a:r>
              <a:rPr lang="en-US" sz="1000" dirty="0">
                <a:solidFill>
                  <a:srgbClr val="EEF0F8"/>
                </a:solidFill>
                <a:latin typeface="Arial" pitchFamily="34" charset="0"/>
                <a:ea typeface="Arial" pitchFamily="34" charset="-122"/>
                <a:cs typeface="Arial" pitchFamily="34" charset="-120"/>
              </a:rPr>
              <a:t>scroll, fixed (ekrana sabit), local (içerikle kayar)</a:t>
            </a:r>
            <a:endParaRPr lang="en-US" sz="1000" dirty="0"/>
          </a:p>
          <a:p>
            <a:pPr marL="0" indent="0">
              <a:spcAft>
                <a:spcPts val="600"/>
              </a:spcAft>
              <a:buNone/>
            </a:pPr>
            <a:r>
              <a:rPr lang="en-US" sz="1000" b="1" dirty="0">
                <a:solidFill>
                  <a:srgbClr val="F472B6"/>
                </a:solidFill>
                <a:latin typeface="Arial" pitchFamily="34" charset="0"/>
                <a:ea typeface="Arial" pitchFamily="34" charset="-122"/>
                <a:cs typeface="Arial" pitchFamily="34" charset="-120"/>
              </a:rPr>
              <a:t>Gradyan: </a:t>
            </a:r>
            <a:r>
              <a:rPr lang="en-US" sz="1000" dirty="0">
                <a:solidFill>
                  <a:srgbClr val="EEF0F8"/>
                </a:solidFill>
                <a:latin typeface="Arial" pitchFamily="34" charset="0"/>
                <a:ea typeface="Arial" pitchFamily="34" charset="-122"/>
                <a:cs typeface="Arial" pitchFamily="34" charset="-120"/>
              </a:rPr>
              <a:t>linear-gradient(105deg, …) bir resim gibi background-image'a verilir</a:t>
            </a:r>
            <a:endParaRPr lang="en-US" sz="1000" dirty="0"/>
          </a:p>
          <a:p>
            <a:pPr marL="0" indent="0">
              <a:spcAft>
                <a:spcPts val="600"/>
              </a:spcAft>
              <a:buNone/>
            </a:pPr>
            <a:r>
              <a:rPr lang="en-US" sz="1000" b="1" dirty="0">
                <a:solidFill>
                  <a:srgbClr val="F472B6"/>
                </a:solidFill>
                <a:latin typeface="Arial" pitchFamily="34" charset="0"/>
                <a:ea typeface="Arial" pitchFamily="34" charset="-122"/>
                <a:cs typeface="Arial" pitchFamily="34" charset="-120"/>
              </a:rPr>
              <a:t>Kenarlık: </a:t>
            </a:r>
            <a:r>
              <a:rPr lang="en-US" sz="1000" dirty="0">
                <a:solidFill>
                  <a:srgbClr val="EEF0F8"/>
                </a:solidFill>
                <a:latin typeface="Arial" pitchFamily="34" charset="0"/>
                <a:ea typeface="Arial" pitchFamily="34" charset="-122"/>
                <a:cs typeface="Arial" pitchFamily="34" charset="-120"/>
              </a:rPr>
              <a:t>border kısayolu ya da border-top, border-width… ; border-radius ile köşe yuvarlat</a:t>
            </a:r>
            <a:endParaRPr lang="en-US" sz="1000" dirty="0"/>
          </a:p>
          <a:p>
            <a:pPr marL="0" indent="0">
              <a:spcAft>
                <a:spcPts val="600"/>
              </a:spcAft>
              <a:buNone/>
            </a:pPr>
            <a:r>
              <a:rPr lang="en-US" sz="1000" b="1" dirty="0">
                <a:solidFill>
                  <a:srgbClr val="F472B6"/>
                </a:solidFill>
                <a:latin typeface="Arial" pitchFamily="34" charset="0"/>
                <a:ea typeface="Arial" pitchFamily="34" charset="-122"/>
                <a:cs typeface="Arial" pitchFamily="34" charset="-120"/>
              </a:rPr>
              <a:t>Erişilebilirlik: </a:t>
            </a:r>
            <a:r>
              <a:rPr lang="en-US" sz="1000" dirty="0">
                <a:solidFill>
                  <a:srgbClr val="EEF0F8"/>
                </a:solidFill>
                <a:latin typeface="Arial" pitchFamily="34" charset="0"/>
                <a:ea typeface="Arial" pitchFamily="34" charset="-122"/>
                <a:cs typeface="Arial" pitchFamily="34" charset="-120"/>
              </a:rPr>
              <a:t>metinle zemin arasında kontrast olsun; resim yüklenmezse diye background-color da ver</a:t>
            </a:r>
            <a:endParaRPr lang="en-US" sz="1000" dirty="0"/>
          </a:p>
        </p:txBody>
      </p:sp>
      <p:sp>
        <p:nvSpPr>
          <p:cNvPr id="18" name="benzetme"/>
          <p:cNvSpPr/>
          <p:nvPr/>
        </p:nvSpPr>
        <p:spPr>
          <a:xfrm>
            <a:off x="548640" y="4224528"/>
            <a:ext cx="8046720" cy="402336"/>
          </a:xfrm>
          <a:prstGeom prst="roundRect">
            <a:avLst>
              <a:gd name="adj" fmla="val 50000"/>
            </a:avLst>
          </a:prstGeom>
          <a:solidFill>
            <a:srgbClr val="232A55"/>
          </a:solidFill>
          <a:ln/>
        </p:spPr>
      </p:sp>
      <p:sp>
        <p:nvSpPr>
          <p:cNvPr id="19" name="benzetme-ikon"/>
          <p:cNvSpPr/>
          <p:nvPr/>
        </p:nvSpPr>
        <p:spPr>
          <a:xfrm>
            <a:off x="621792" y="4261104"/>
            <a:ext cx="329184" cy="329184"/>
          </a:xfrm>
          <a:prstGeom prst="ellipse">
            <a:avLst/>
          </a:prstGeom>
          <a:solidFill>
            <a:srgbClr val="FBBF24"/>
          </a:solidFill>
          <a:ln/>
        </p:spPr>
      </p:sp>
      <p:sp>
        <p:nvSpPr>
          <p:cNvPr id="20" name="Text 18"/>
          <p:cNvSpPr txBox="1"/>
          <p:nvPr/>
        </p:nvSpPr>
        <p:spPr>
          <a:xfrm>
            <a:off x="621792" y="4261104"/>
            <a:ext cx="329184" cy="329184"/>
          </a:xfrm>
          <a:prstGeom prst="rect">
            <a:avLst/>
          </a:prstGeom>
          <a:noFill/>
          <a:ln/>
        </p:spPr>
        <p:txBody>
          <a:bodyPr wrap="square" lIns="0" tIns="0" rIns="0" bIns="0" rtlCol="0" anchor="ctr"/>
          <a:lstStyle/>
          <a:p>
            <a:pPr marL="0" indent="0" algn="ctr">
              <a:buNone/>
            </a:pPr>
            <a:r>
              <a:rPr lang="en-US" sz="1600" b="1" dirty="0">
                <a:solidFill>
                  <a:srgbClr val="10142B"/>
                </a:solidFill>
                <a:latin typeface="Arial" pitchFamily="34" charset="0"/>
                <a:ea typeface="Arial" pitchFamily="34" charset="-122"/>
                <a:cs typeface="Arial" pitchFamily="34" charset="-120"/>
              </a:rPr>
              <a:t>≈</a:t>
            </a:r>
            <a:endParaRPr lang="en-US" sz="1600" dirty="0"/>
          </a:p>
        </p:txBody>
      </p:sp>
      <p:sp>
        <p:nvSpPr>
          <p:cNvPr id="21" name="Text 19"/>
          <p:cNvSpPr txBox="1"/>
          <p:nvPr/>
        </p:nvSpPr>
        <p:spPr>
          <a:xfrm>
            <a:off x="1042416" y="4224528"/>
            <a:ext cx="7452360" cy="402336"/>
          </a:xfrm>
          <a:prstGeom prst="rect">
            <a:avLst/>
          </a:prstGeom>
          <a:noFill/>
          <a:ln/>
        </p:spPr>
        <p:txBody>
          <a:bodyPr wrap="square" lIns="0" tIns="0" rIns="0" bIns="0" rtlCol="0" anchor="ctr"/>
          <a:lstStyle/>
          <a:p>
            <a:pPr marL="0" indent="0">
              <a:buNone/>
            </a:pPr>
            <a:r>
              <a:rPr lang="en-US" sz="1100" b="1" dirty="0">
                <a:solidFill>
                  <a:srgbClr val="FBBF24"/>
                </a:solidFill>
                <a:latin typeface="Arial" pitchFamily="34" charset="0"/>
                <a:ea typeface="Arial" pitchFamily="34" charset="-122"/>
                <a:cs typeface="Arial" pitchFamily="34" charset="-120"/>
              </a:rPr>
              <a:t>Gündelik hayatta: </a:t>
            </a:r>
            <a:r>
              <a:rPr lang="en-US" sz="1100" dirty="0">
                <a:solidFill>
                  <a:srgbClr val="EEF0F8"/>
                </a:solidFill>
                <a:latin typeface="Arial" pitchFamily="34" charset="0"/>
                <a:ea typeface="Arial" pitchFamily="34" charset="-122"/>
                <a:cs typeface="Arial" pitchFamily="34" charset="-120"/>
              </a:rPr>
              <a:t>duvar kağıdı döşemek: tekrar mı etsin (repeat), tüm duvarı mı kaplasın (cover), çerçeve kalın mı ince mi (border).</a:t>
            </a:r>
            <a:endParaRPr lang="en-US" sz="1100" dirty="0"/>
          </a:p>
        </p:txBody>
      </p:sp>
    </p:spTree>
  </p:cSld>
  <p:clrMapOvr>
    <a:masterClrMapping/>
  </p:clrMapOvr>
  <p:transition spd="med">
    <p:pull/>
  </p:transition>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256032"/>
            <a:ext cx="4572000" cy="201168"/>
          </a:xfrm>
          <a:prstGeom prst="rect">
            <a:avLst/>
          </a:prstGeom>
          <a:noFill/>
          <a:ln/>
        </p:spPr>
        <p:txBody>
          <a:bodyPr wrap="square" lIns="0" tIns="0" rIns="0" bIns="0" rtlCol="0" anchor="t"/>
          <a:lstStyle/>
          <a:p>
            <a:pPr marL="0" indent="0">
              <a:buNone/>
            </a:pPr>
            <a:r>
              <a:rPr lang="en-US" sz="900" b="1" kern="0" spc="200" dirty="0">
                <a:solidFill>
                  <a:srgbClr val="22D3EE"/>
                </a:solidFill>
                <a:latin typeface="Arial" pitchFamily="34" charset="0"/>
                <a:ea typeface="Arial" pitchFamily="34" charset="-122"/>
                <a:cs typeface="Arial" pitchFamily="34" charset="-120"/>
              </a:rPr>
              <a:t>MODÜL 1 · CSS TEMELLERİ</a:t>
            </a:r>
            <a:endParaRPr lang="en-US" sz="900" dirty="0"/>
          </a:p>
        </p:txBody>
      </p:sp>
      <p:sp>
        <p:nvSpPr>
          <p:cNvPr id="3" name="mini-box-0"/>
          <p:cNvSpPr/>
          <p:nvPr/>
        </p:nvSpPr>
        <p:spPr>
          <a:xfrm>
            <a:off x="8229600" y="201168"/>
            <a:ext cx="384048" cy="384048"/>
          </a:xfrm>
          <a:prstGeom prst="rect">
            <a:avLst/>
          </a:prstGeom>
          <a:ln w="9525">
            <a:solidFill>
              <a:srgbClr val="22D3EE"/>
            </a:solidFill>
            <a:prstDash val="solid"/>
          </a:ln>
        </p:spPr>
      </p:sp>
      <p:sp>
        <p:nvSpPr>
          <p:cNvPr id="4" name="mini-box-1"/>
          <p:cNvSpPr/>
          <p:nvPr/>
        </p:nvSpPr>
        <p:spPr>
          <a:xfrm>
            <a:off x="8293608" y="265176"/>
            <a:ext cx="256032" cy="256032"/>
          </a:xfrm>
          <a:prstGeom prst="rect">
            <a:avLst/>
          </a:prstGeom>
          <a:ln w="9525">
            <a:solidFill>
              <a:srgbClr val="EEF0F8"/>
            </a:solidFill>
            <a:prstDash val="solid"/>
          </a:ln>
        </p:spPr>
      </p:sp>
      <p:sp>
        <p:nvSpPr>
          <p:cNvPr id="5" name="mini-box-2"/>
          <p:cNvSpPr/>
          <p:nvPr/>
        </p:nvSpPr>
        <p:spPr>
          <a:xfrm>
            <a:off x="8348472" y="320040"/>
            <a:ext cx="146304" cy="146304"/>
          </a:xfrm>
          <a:prstGeom prst="rect">
            <a:avLst/>
          </a:prstGeom>
          <a:solidFill>
            <a:srgbClr val="22D3EE"/>
          </a:solidFill>
          <a:ln w="9525">
            <a:solidFill>
              <a:srgbClr val="22D3EE"/>
            </a:solidFill>
            <a:prstDash val="solid"/>
          </a:ln>
        </p:spPr>
      </p:sp>
      <p:sp>
        <p:nvSpPr>
          <p:cNvPr id="6" name="ilerleme-zemin"/>
          <p:cNvSpPr/>
          <p:nvPr/>
        </p:nvSpPr>
        <p:spPr>
          <a:xfrm>
            <a:off x="0" y="5070348"/>
            <a:ext cx="9144000" cy="73152"/>
          </a:xfrm>
          <a:prstGeom prst="rect">
            <a:avLst/>
          </a:prstGeom>
          <a:solidFill>
            <a:srgbClr val="1A2044"/>
          </a:solidFill>
          <a:ln/>
        </p:spPr>
      </p:sp>
      <p:sp>
        <p:nvSpPr>
          <p:cNvPr id="7" name="ilerleme"/>
          <p:cNvSpPr/>
          <p:nvPr/>
        </p:nvSpPr>
        <p:spPr>
          <a:xfrm>
            <a:off x="0" y="5070348"/>
            <a:ext cx="4253023" cy="73152"/>
          </a:xfrm>
          <a:prstGeom prst="rect">
            <a:avLst/>
          </a:prstGeom>
          <a:solidFill>
            <a:srgbClr val="22D3EE"/>
          </a:solidFill>
          <a:ln/>
        </p:spPr>
      </p:sp>
      <p:sp>
        <p:nvSpPr>
          <p:cNvPr id="8" name="Text 6"/>
          <p:cNvSpPr txBox="1"/>
          <p:nvPr/>
        </p:nvSpPr>
        <p:spPr>
          <a:xfrm>
            <a:off x="548640" y="4791456"/>
            <a:ext cx="3657600" cy="201168"/>
          </a:xfrm>
          <a:prstGeom prst="rect">
            <a:avLst/>
          </a:prstGeom>
          <a:noFill/>
          <a:ln/>
        </p:spPr>
        <p:txBody>
          <a:bodyPr wrap="square" lIns="0" tIns="0" rIns="0" bIns="0" rtlCol="0" anchor="t"/>
          <a:lstStyle/>
          <a:p>
            <a:pPr marL="0" indent="0">
              <a:buNone/>
            </a:pPr>
            <a:r>
              <a:rPr lang="en-US" sz="850" dirty="0">
                <a:solidFill>
                  <a:srgbClr val="6C759E"/>
                </a:solidFill>
                <a:latin typeface="Arial" pitchFamily="34" charset="0"/>
                <a:ea typeface="Arial" pitchFamily="34" charset="-122"/>
                <a:cs typeface="Arial" pitchFamily="34" charset="-120"/>
              </a:rPr>
              <a:t>KCŞ A.Ş.  ·  CSS ile stil ve düzen</a:t>
            </a:r>
            <a:endParaRPr lang="en-US" sz="850" dirty="0"/>
          </a:p>
        </p:txBody>
      </p:sp>
      <p:sp>
        <p:nvSpPr>
          <p:cNvPr id="9" name="Text 7"/>
          <p:cNvSpPr txBox="1"/>
          <p:nvPr/>
        </p:nvSpPr>
        <p:spPr>
          <a:xfrm>
            <a:off x="4206240" y="4791456"/>
            <a:ext cx="3840480" cy="201168"/>
          </a:xfrm>
          <a:prstGeom prst="rect">
            <a:avLst/>
          </a:prstGeom>
          <a:noFill/>
          <a:ln/>
        </p:spPr>
        <p:txBody>
          <a:bodyPr wrap="square" lIns="0" tIns="0" rIns="0" bIns="0" rtlCol="0" anchor="t"/>
          <a:lstStyle/>
          <a:p>
            <a:pPr marL="0" indent="0" algn="r">
              <a:buNone/>
            </a:pPr>
            <a:r>
              <a:rPr lang="en-US" sz="850" dirty="0">
                <a:solidFill>
                  <a:srgbClr val="6C759E"/>
                </a:solidFill>
                <a:latin typeface="Arial" pitchFamily="34" charset="0"/>
                <a:ea typeface="Arial" pitchFamily="34" charset="-122"/>
                <a:cs typeface="Arial" pitchFamily="34" charset="-120"/>
              </a:rPr>
              <a:t>MDN · Overflowing content</a:t>
            </a:r>
            <a:endParaRPr lang="en-US" sz="850" dirty="0"/>
          </a:p>
        </p:txBody>
      </p:sp>
      <p:sp>
        <p:nvSpPr>
          <p:cNvPr id="10" name="Text 8"/>
          <p:cNvSpPr txBox="1"/>
          <p:nvPr/>
        </p:nvSpPr>
        <p:spPr>
          <a:xfrm>
            <a:off x="8092440" y="4791456"/>
            <a:ext cx="685800" cy="201168"/>
          </a:xfrm>
          <a:prstGeom prst="rect">
            <a:avLst/>
          </a:prstGeom>
          <a:noFill/>
          <a:ln/>
        </p:spPr>
        <p:txBody>
          <a:bodyPr wrap="square" lIns="0" tIns="0" rIns="0" bIns="0" rtlCol="0" anchor="t"/>
          <a:lstStyle/>
          <a:p>
            <a:pPr marL="0" indent="0" algn="r">
              <a:buNone/>
            </a:pPr>
            <a:r>
              <a:rPr lang="en-US" sz="850" dirty="0">
                <a:solidFill>
                  <a:srgbClr val="9AA3C7"/>
                </a:solidFill>
                <a:latin typeface="Courier New" pitchFamily="34" charset="0"/>
                <a:ea typeface="Courier New" pitchFamily="34" charset="-122"/>
                <a:cs typeface="Courier New" pitchFamily="34" charset="-120"/>
              </a:rPr>
              <a:t>20 / 43</a:t>
            </a:r>
            <a:endParaRPr lang="en-US" sz="850" dirty="0"/>
          </a:p>
        </p:txBody>
      </p:sp>
      <p:sp>
        <p:nvSpPr>
          <p:cNvPr id="11" name="Text 9"/>
          <p:cNvSpPr txBox="1"/>
          <p:nvPr/>
        </p:nvSpPr>
        <p:spPr>
          <a:xfrm>
            <a:off x="548640" y="502920"/>
            <a:ext cx="5943600" cy="237744"/>
          </a:xfrm>
          <a:prstGeom prst="rect">
            <a:avLst/>
          </a:prstGeom>
          <a:noFill/>
          <a:ln/>
        </p:spPr>
        <p:txBody>
          <a:bodyPr wrap="square" lIns="0" tIns="0" rIns="0" bIns="0" rtlCol="0" anchor="t"/>
          <a:lstStyle/>
          <a:p>
            <a:pPr marL="0" indent="0">
              <a:buNone/>
            </a:pPr>
            <a:r>
              <a:rPr lang="en-US" sz="1100" b="1" dirty="0">
                <a:solidFill>
                  <a:srgbClr val="22D3EE"/>
                </a:solidFill>
                <a:latin typeface="Courier New" pitchFamily="34" charset="0"/>
                <a:ea typeface="Courier New" pitchFamily="34" charset="-122"/>
                <a:cs typeface="Courier New" pitchFamily="34" charset="-120"/>
              </a:rPr>
              <a:t>overflow: clip | auto | scroll | hidden</a:t>
            </a:r>
            <a:endParaRPr lang="en-US" sz="1100" dirty="0"/>
          </a:p>
        </p:txBody>
      </p:sp>
      <p:sp>
        <p:nvSpPr>
          <p:cNvPr id="12" name="Text 10"/>
          <p:cNvSpPr txBox="1"/>
          <p:nvPr/>
        </p:nvSpPr>
        <p:spPr>
          <a:xfrm>
            <a:off x="548640" y="749808"/>
            <a:ext cx="7589520" cy="502920"/>
          </a:xfrm>
          <a:prstGeom prst="rect">
            <a:avLst/>
          </a:prstGeom>
          <a:noFill/>
          <a:ln/>
        </p:spPr>
        <p:txBody>
          <a:bodyPr wrap="square" lIns="0" tIns="0" rIns="0" bIns="0" rtlCol="0" anchor="ctr"/>
          <a:lstStyle/>
          <a:p>
            <a:pPr marL="0" indent="0">
              <a:buNone/>
            </a:pPr>
            <a:r>
              <a:rPr lang="en-US" sz="2400" b="1" dirty="0">
                <a:solidFill>
                  <a:srgbClr val="EEF0F8"/>
                </a:solidFill>
                <a:latin typeface="Arial" pitchFamily="34" charset="0"/>
                <a:ea typeface="Arial" pitchFamily="34" charset="-122"/>
                <a:cs typeface="Arial" pitchFamily="34" charset="-120"/>
              </a:rPr>
              <a:t>Taşma (overflow)</a:t>
            </a:r>
            <a:endParaRPr lang="en-US" sz="2400" dirty="0"/>
          </a:p>
        </p:txBody>
      </p:sp>
      <p:sp>
        <p:nvSpPr>
          <p:cNvPr id="13" name="kart"/>
          <p:cNvSpPr/>
          <p:nvPr/>
        </p:nvSpPr>
        <p:spPr>
          <a:xfrm>
            <a:off x="548640" y="1371600"/>
            <a:ext cx="3931920" cy="2724912"/>
          </a:xfrm>
          <a:prstGeom prst="roundRect">
            <a:avLst>
              <a:gd name="adj" fmla="val 2685"/>
            </a:avLst>
          </a:prstGeom>
          <a:solidFill>
            <a:srgbClr val="1A2044"/>
          </a:solidFill>
          <a:ln w="9525">
            <a:solidFill>
              <a:srgbClr val="2E3768"/>
            </a:solidFill>
            <a:prstDash val="solid"/>
          </a:ln>
        </p:spPr>
      </p:sp>
      <p:sp>
        <p:nvSpPr>
          <p:cNvPr id="14" name="kart-nokta"/>
          <p:cNvSpPr/>
          <p:nvPr/>
        </p:nvSpPr>
        <p:spPr>
          <a:xfrm>
            <a:off x="694944" y="1527048"/>
            <a:ext cx="91440" cy="91440"/>
          </a:xfrm>
          <a:prstGeom prst="ellipse">
            <a:avLst/>
          </a:prstGeom>
          <a:solidFill>
            <a:srgbClr val="22D3EE"/>
          </a:solidFill>
          <a:ln/>
        </p:spPr>
      </p:sp>
      <p:sp>
        <p:nvSpPr>
          <p:cNvPr id="15" name="Text 13"/>
          <p:cNvSpPr txBox="1"/>
          <p:nvPr/>
        </p:nvSpPr>
        <p:spPr>
          <a:xfrm>
            <a:off x="859536" y="1444752"/>
            <a:ext cx="3520440" cy="274320"/>
          </a:xfrm>
          <a:prstGeom prst="rect">
            <a:avLst/>
          </a:prstGeom>
          <a:noFill/>
          <a:ln/>
        </p:spPr>
        <p:txBody>
          <a:bodyPr wrap="square" lIns="0" tIns="0" rIns="0" bIns="0" rtlCol="0" anchor="ctr"/>
          <a:lstStyle/>
          <a:p>
            <a:pPr marL="0" indent="0">
              <a:buNone/>
            </a:pPr>
            <a:r>
              <a:rPr lang="en-US" sz="1300" b="1" dirty="0">
                <a:solidFill>
                  <a:srgbClr val="EEF0F8"/>
                </a:solidFill>
                <a:latin typeface="Arial" pitchFamily="34" charset="0"/>
                <a:ea typeface="Arial" pitchFamily="34" charset="-122"/>
                <a:cs typeface="Arial" pitchFamily="34" charset="-120"/>
              </a:rPr>
              <a:t>CSS veri kaybından kaçınır</a:t>
            </a:r>
            <a:endParaRPr lang="en-US" sz="1300" dirty="0"/>
          </a:p>
        </p:txBody>
      </p:sp>
      <p:sp>
        <p:nvSpPr>
          <p:cNvPr id="16" name="Text 14"/>
          <p:cNvSpPr txBox="1"/>
          <p:nvPr/>
        </p:nvSpPr>
        <p:spPr>
          <a:xfrm>
            <a:off x="694944" y="1737360"/>
            <a:ext cx="3657600" cy="1280160"/>
          </a:xfrm>
          <a:prstGeom prst="rect">
            <a:avLst/>
          </a:prstGeom>
          <a:noFill/>
          <a:ln/>
        </p:spPr>
        <p:txBody>
          <a:bodyPr wrap="square" lIns="0" tIns="0" rIns="0" bIns="0" rtlCol="0" anchor="t"/>
          <a:lstStyle/>
          <a:p>
            <a:pPr marL="0" indent="0">
              <a:buNone/>
            </a:pPr>
            <a:r>
              <a:rPr lang="en-US" sz="1050" dirty="0">
                <a:solidFill>
                  <a:srgbClr val="EEF0F8"/>
                </a:solidFill>
                <a:latin typeface="Arial" pitchFamily="34" charset="0"/>
                <a:ea typeface="Arial" pitchFamily="34" charset="-122"/>
                <a:cs typeface="Arial" pitchFamily="34" charset="-120"/>
              </a:rPr>
              <a:t>Kutu içeriğe dar gelirse CSS içeriği gizlemez, taşırır. Gizlenen içerik fark edilmeyebilir (ör. formun gönder butonu kaybolur); görünen taşma ise sorunu hemen gösterir. width/height verdiysen taşmayı yönetmek senin sorumluluğun.</a:t>
            </a:r>
            <a:endParaRPr lang="en-US" sz="1050" dirty="0"/>
          </a:p>
        </p:txBody>
      </p:sp>
      <p:sp>
        <p:nvSpPr>
          <p:cNvPr id="17" name="kod-paneli"/>
          <p:cNvSpPr/>
          <p:nvPr/>
        </p:nvSpPr>
        <p:spPr>
          <a:xfrm>
            <a:off x="694944" y="3063240"/>
            <a:ext cx="3657600" cy="914400"/>
          </a:xfrm>
          <a:prstGeom prst="roundRect">
            <a:avLst>
              <a:gd name="adj" fmla="val 8000"/>
            </a:avLst>
          </a:prstGeom>
          <a:solidFill>
            <a:srgbClr val="0A0D1F"/>
          </a:solidFill>
          <a:ln w="9525">
            <a:solidFill>
              <a:srgbClr val="2E3768"/>
            </a:solidFill>
            <a:prstDash val="solid"/>
          </a:ln>
        </p:spPr>
      </p:sp>
      <p:sp>
        <p:nvSpPr>
          <p:cNvPr id="18" name="Text 16"/>
          <p:cNvSpPr txBox="1"/>
          <p:nvPr/>
        </p:nvSpPr>
        <p:spPr>
          <a:xfrm>
            <a:off x="841248" y="3172968"/>
            <a:ext cx="3383280" cy="713232"/>
          </a:xfrm>
          <a:prstGeom prst="rect">
            <a:avLst/>
          </a:prstGeom>
          <a:noFill/>
          <a:ln/>
        </p:spPr>
        <p:txBody>
          <a:bodyPr wrap="square" lIns="0" tIns="0" rIns="0" bIns="0" rtlCol="0" anchor="ctr"/>
          <a:lstStyle/>
          <a:p>
            <a:pPr marL="0" indent="0">
              <a:buNone/>
            </a:pPr>
            <a:r>
              <a:rPr lang="en-US" sz="950" dirty="0">
                <a:solidFill>
                  <a:srgbClr val="F472B6"/>
                </a:solidFill>
                <a:latin typeface="Courier New" pitchFamily="34" charset="0"/>
                <a:ea typeface="Courier New" pitchFamily="34" charset="-122"/>
                <a:cs typeface="Courier New" pitchFamily="34" charset="-120"/>
              </a:rPr>
              <a:t>.box </a:t>
            </a:r>
            <a:r>
              <a:rPr lang="en-US" sz="950" dirty="0">
                <a:solidFill>
                  <a:srgbClr val="6C759E"/>
                </a:solidFill>
                <a:latin typeface="Courier New" pitchFamily="34" charset="0"/>
                <a:ea typeface="Courier New" pitchFamily="34" charset="-122"/>
                <a:cs typeface="Courier New" pitchFamily="34" charset="-120"/>
              </a:rPr>
              <a:t>{</a:t>
            </a:r>
            <a:endParaRPr lang="en-US" sz="950" dirty="0"/>
          </a:p>
          <a:p>
            <a:pPr marL="0" indent="0">
              <a:buNone/>
            </a:pPr>
            <a:r>
              <a:rPr lang="en-US" sz="950" dirty="0">
                <a:solidFill>
                  <a:srgbClr val="EEF0F8"/>
                </a:solidFill>
                <a:latin typeface="Courier New" pitchFamily="34" charset="0"/>
                <a:ea typeface="Courier New" pitchFamily="34" charset="-122"/>
                <a:cs typeface="Courier New" pitchFamily="34" charset="-120"/>
              </a:rPr>
              <a:t>  </a:t>
            </a:r>
            <a:r>
              <a:rPr lang="en-US" sz="950" dirty="0">
                <a:solidFill>
                  <a:srgbClr val="22D3EE"/>
                </a:solidFill>
                <a:latin typeface="Courier New" pitchFamily="34" charset="0"/>
                <a:ea typeface="Courier New" pitchFamily="34" charset="-122"/>
                <a:cs typeface="Courier New" pitchFamily="34" charset="-120"/>
              </a:rPr>
              <a:t>height</a:t>
            </a:r>
            <a:r>
              <a:rPr lang="en-US" sz="950" dirty="0">
                <a:solidFill>
                  <a:srgbClr val="6C759E"/>
                </a:solidFill>
                <a:latin typeface="Courier New" pitchFamily="34" charset="0"/>
                <a:ea typeface="Courier New" pitchFamily="34" charset="-122"/>
                <a:cs typeface="Courier New" pitchFamily="34" charset="-120"/>
              </a:rPr>
              <a:t>: </a:t>
            </a:r>
            <a:r>
              <a:rPr lang="en-US" sz="950" dirty="0">
                <a:solidFill>
                  <a:srgbClr val="FBBF24"/>
                </a:solidFill>
                <a:latin typeface="Courier New" pitchFamily="34" charset="0"/>
                <a:ea typeface="Courier New" pitchFamily="34" charset="-122"/>
                <a:cs typeface="Courier New" pitchFamily="34" charset="-120"/>
              </a:rPr>
              <a:t>100px;</a:t>
            </a:r>
            <a:endParaRPr lang="en-US" sz="950" dirty="0"/>
          </a:p>
          <a:p>
            <a:pPr marL="0" indent="0">
              <a:buNone/>
            </a:pPr>
            <a:r>
              <a:rPr lang="en-US" sz="950" dirty="0">
                <a:solidFill>
                  <a:srgbClr val="EEF0F8"/>
                </a:solidFill>
                <a:latin typeface="Courier New" pitchFamily="34" charset="0"/>
                <a:ea typeface="Courier New" pitchFamily="34" charset="-122"/>
                <a:cs typeface="Courier New" pitchFamily="34" charset="-120"/>
              </a:rPr>
              <a:t>  </a:t>
            </a:r>
            <a:r>
              <a:rPr lang="en-US" sz="950" dirty="0">
                <a:solidFill>
                  <a:srgbClr val="22D3EE"/>
                </a:solidFill>
                <a:latin typeface="Courier New" pitchFamily="34" charset="0"/>
                <a:ea typeface="Courier New" pitchFamily="34" charset="-122"/>
                <a:cs typeface="Courier New" pitchFamily="34" charset="-120"/>
              </a:rPr>
              <a:t>overflow</a:t>
            </a:r>
            <a:r>
              <a:rPr lang="en-US" sz="950" dirty="0">
                <a:solidFill>
                  <a:srgbClr val="6C759E"/>
                </a:solidFill>
                <a:latin typeface="Courier New" pitchFamily="34" charset="0"/>
                <a:ea typeface="Courier New" pitchFamily="34" charset="-122"/>
                <a:cs typeface="Courier New" pitchFamily="34" charset="-120"/>
              </a:rPr>
              <a:t>: </a:t>
            </a:r>
            <a:r>
              <a:rPr lang="en-US" sz="950" dirty="0">
                <a:solidFill>
                  <a:srgbClr val="FBBF24"/>
                </a:solidFill>
                <a:latin typeface="Courier New" pitchFamily="34" charset="0"/>
                <a:ea typeface="Courier New" pitchFamily="34" charset="-122"/>
                <a:cs typeface="Courier New" pitchFamily="34" charset="-120"/>
              </a:rPr>
              <a:t>auto; }</a:t>
            </a:r>
            <a:endParaRPr lang="en-US" sz="950" dirty="0"/>
          </a:p>
        </p:txBody>
      </p:sp>
      <p:graphicFrame>
        <p:nvGraphicFramePr>
          <p:cNvPr id="21" name="tablo"/>
          <p:cNvGraphicFramePr>
            <a:graphicFrameLocks noGrp="1"/>
          </p:cNvGraphicFramePr>
          <p:nvPr>
            <p:extLst>
              <p:ext uri="{D42A27DB-BD31-4B8C-83A1-F6EECF244321}">
                <p14:modId xmlns:p14="http://schemas.microsoft.com/office/powerpoint/2010/main" val="1579011935"/>
              </p:ext>
            </p:extLst>
          </p:nvPr>
        </p:nvGraphicFramePr>
        <p:xfrm>
          <a:off x="4709160" y="1371600"/>
          <a:ext cx="3886200" cy="1975104"/>
        </p:xfrm>
        <a:graphic>
          <a:graphicData uri="http://schemas.openxmlformats.org/drawingml/2006/table">
            <a:tbl>
              <a:tblPr/>
              <a:tblGrid>
                <a:gridCol w="1005840">
                  <a:extLst>
                    <a:ext uri="{9D8B030D-6E8A-4147-A177-3AD203B41FA5}">
                      <a16:colId xmlns:a16="http://schemas.microsoft.com/office/drawing/2014/main" val="20000"/>
                    </a:ext>
                  </a:extLst>
                </a:gridCol>
                <a:gridCol w="2880360">
                  <a:extLst>
                    <a:ext uri="{9D8B030D-6E8A-4147-A177-3AD203B41FA5}">
                      <a16:colId xmlns:a16="http://schemas.microsoft.com/office/drawing/2014/main" val="20001"/>
                    </a:ext>
                  </a:extLst>
                </a:gridCol>
              </a:tblGrid>
              <a:tr h="329184">
                <a:tc>
                  <a:txBody>
                    <a:bodyPr/>
                    <a:lstStyle/>
                    <a:p>
                      <a:pPr marL="0" indent="0">
                        <a:buNone/>
                      </a:pPr>
                      <a:r>
                        <a:rPr lang="en-US" sz="1000" b="1" dirty="0">
                          <a:solidFill>
                            <a:srgbClr val="10142B"/>
                          </a:solidFill>
                          <a:latin typeface="Arial" pitchFamily="34" charset="0"/>
                          <a:ea typeface="Arial" pitchFamily="34" charset="-122"/>
                          <a:cs typeface="Arial" pitchFamily="34" charset="-120"/>
                        </a:rPr>
                        <a:t>Değer</a:t>
                      </a:r>
                      <a:endParaRPr lang="en-US" sz="1000" dirty="0">
                        <a:latin typeface="Arial" charset="0"/>
                        <a:ea typeface="Arial" charset="0"/>
                        <a:cs typeface="Arial" charset="0"/>
                      </a:endParaRPr>
                    </a:p>
                  </a:txBody>
                  <a:tcPr marL="64008" marR="64008" marT="0" marB="0" anchor="ctr">
                    <a:lnL w="9525" cap="flat" cmpd="sng" algn="ctr">
                      <a:solidFill>
                        <a:srgbClr val="2E3768"/>
                      </a:solidFill>
                      <a:prstDash val="solid"/>
                      <a:round/>
                      <a:headEnd type="none" w="med" len="med"/>
                      <a:tailEnd type="none" w="med" len="med"/>
                    </a:lnL>
                    <a:lnR w="9525" cap="flat" cmpd="sng" algn="ctr">
                      <a:solidFill>
                        <a:srgbClr val="2E3768"/>
                      </a:solidFill>
                      <a:prstDash val="solid"/>
                      <a:round/>
                      <a:headEnd type="none" w="med" len="med"/>
                      <a:tailEnd type="none" w="med" len="med"/>
                    </a:lnR>
                    <a:lnT w="9525" cap="flat" cmpd="sng" algn="ctr">
                      <a:solidFill>
                        <a:srgbClr val="2E3768"/>
                      </a:solidFill>
                      <a:prstDash val="solid"/>
                      <a:round/>
                      <a:headEnd type="none" w="med" len="med"/>
                      <a:tailEnd type="none" w="med" len="med"/>
                    </a:lnT>
                    <a:lnB w="9525" cap="flat" cmpd="sng" algn="ctr">
                      <a:solidFill>
                        <a:srgbClr val="2E3768"/>
                      </a:solidFill>
                      <a:prstDash val="solid"/>
                      <a:round/>
                      <a:headEnd type="none" w="med" len="med"/>
                      <a:tailEnd type="none" w="med" len="med"/>
                    </a:lnB>
                    <a:solidFill>
                      <a:srgbClr val="22D3EE"/>
                    </a:solidFill>
                  </a:tcPr>
                </a:tc>
                <a:tc>
                  <a:txBody>
                    <a:bodyPr/>
                    <a:lstStyle/>
                    <a:p>
                      <a:pPr marL="0" indent="0">
                        <a:buNone/>
                      </a:pPr>
                      <a:r>
                        <a:rPr lang="en-US" sz="1000" b="1" dirty="0">
                          <a:solidFill>
                            <a:srgbClr val="10142B"/>
                          </a:solidFill>
                          <a:latin typeface="Arial" pitchFamily="34" charset="0"/>
                          <a:ea typeface="Arial" pitchFamily="34" charset="-122"/>
                          <a:cs typeface="Arial" pitchFamily="34" charset="-120"/>
                        </a:rPr>
                        <a:t>Davranış</a:t>
                      </a:r>
                      <a:endParaRPr lang="en-US" sz="1000" dirty="0">
                        <a:latin typeface="Arial" charset="0"/>
                        <a:ea typeface="Arial" charset="0"/>
                        <a:cs typeface="Arial" charset="0"/>
                      </a:endParaRPr>
                    </a:p>
                  </a:txBody>
                  <a:tcPr marL="64008" marR="64008" marT="0" marB="0" anchor="ctr">
                    <a:lnL w="9525" cap="flat" cmpd="sng" algn="ctr">
                      <a:solidFill>
                        <a:srgbClr val="2E3768"/>
                      </a:solidFill>
                      <a:prstDash val="solid"/>
                      <a:round/>
                      <a:headEnd type="none" w="med" len="med"/>
                      <a:tailEnd type="none" w="med" len="med"/>
                    </a:lnL>
                    <a:lnR w="9525" cap="flat" cmpd="sng" algn="ctr">
                      <a:solidFill>
                        <a:srgbClr val="2E3768"/>
                      </a:solidFill>
                      <a:prstDash val="solid"/>
                      <a:round/>
                      <a:headEnd type="none" w="med" len="med"/>
                      <a:tailEnd type="none" w="med" len="med"/>
                    </a:lnR>
                    <a:lnT w="9525" cap="flat" cmpd="sng" algn="ctr">
                      <a:solidFill>
                        <a:srgbClr val="2E3768"/>
                      </a:solidFill>
                      <a:prstDash val="solid"/>
                      <a:round/>
                      <a:headEnd type="none" w="med" len="med"/>
                      <a:tailEnd type="none" w="med" len="med"/>
                    </a:lnT>
                    <a:lnB w="9525" cap="flat" cmpd="sng" algn="ctr">
                      <a:solidFill>
                        <a:srgbClr val="2E3768"/>
                      </a:solidFill>
                      <a:prstDash val="solid"/>
                      <a:round/>
                      <a:headEnd type="none" w="med" len="med"/>
                      <a:tailEnd type="none" w="med" len="med"/>
                    </a:lnB>
                    <a:solidFill>
                      <a:srgbClr val="22D3EE"/>
                    </a:solidFill>
                  </a:tcPr>
                </a:tc>
                <a:extLst>
                  <a:ext uri="{0D108BD9-81ED-4DB2-BD59-A6C34878D82A}">
                    <a16:rowId xmlns:a16="http://schemas.microsoft.com/office/drawing/2014/main" val="10000"/>
                  </a:ext>
                </a:extLst>
              </a:tr>
              <a:tr h="329184">
                <a:tc>
                  <a:txBody>
                    <a:bodyPr/>
                    <a:lstStyle/>
                    <a:p>
                      <a:pPr marL="0" indent="0">
                        <a:buNone/>
                      </a:pPr>
                      <a:r>
                        <a:rPr lang="en-US" sz="1000" dirty="0">
                          <a:solidFill>
                            <a:srgbClr val="EEF0F8"/>
                          </a:solidFill>
                          <a:latin typeface="Courier New" pitchFamily="34" charset="0"/>
                          <a:ea typeface="Courier New" pitchFamily="34" charset="-122"/>
                          <a:cs typeface="Courier New" pitchFamily="34" charset="-120"/>
                        </a:rPr>
                        <a:t>visible</a:t>
                      </a:r>
                      <a:endParaRPr lang="en-US" sz="1000" dirty="0">
                        <a:latin typeface="Courier New" charset="0"/>
                        <a:ea typeface="Courier New" charset="0"/>
                        <a:cs typeface="Courier New" charset="0"/>
                      </a:endParaRPr>
                    </a:p>
                  </a:txBody>
                  <a:tcPr marL="64008" marR="64008" marT="0" marB="0" anchor="ctr">
                    <a:lnL w="9525" cap="flat" cmpd="sng" algn="ctr">
                      <a:solidFill>
                        <a:srgbClr val="2E3768"/>
                      </a:solidFill>
                      <a:prstDash val="solid"/>
                      <a:round/>
                      <a:headEnd type="none" w="med" len="med"/>
                      <a:tailEnd type="none" w="med" len="med"/>
                    </a:lnL>
                    <a:lnR w="9525" cap="flat" cmpd="sng" algn="ctr">
                      <a:solidFill>
                        <a:srgbClr val="2E3768"/>
                      </a:solidFill>
                      <a:prstDash val="solid"/>
                      <a:round/>
                      <a:headEnd type="none" w="med" len="med"/>
                      <a:tailEnd type="none" w="med" len="med"/>
                    </a:lnR>
                    <a:lnT w="9525" cap="flat" cmpd="sng" algn="ctr">
                      <a:solidFill>
                        <a:srgbClr val="2E3768"/>
                      </a:solidFill>
                      <a:prstDash val="solid"/>
                      <a:round/>
                      <a:headEnd type="none" w="med" len="med"/>
                      <a:tailEnd type="none" w="med" len="med"/>
                    </a:lnT>
                    <a:lnB w="9525" cap="flat" cmpd="sng" algn="ctr">
                      <a:solidFill>
                        <a:srgbClr val="2E3768"/>
                      </a:solidFill>
                      <a:prstDash val="solid"/>
                      <a:round/>
                      <a:headEnd type="none" w="med" len="med"/>
                      <a:tailEnd type="none" w="med" len="med"/>
                    </a:lnB>
                    <a:solidFill>
                      <a:srgbClr val="1A2044"/>
                    </a:solidFill>
                  </a:tcPr>
                </a:tc>
                <a:tc>
                  <a:txBody>
                    <a:bodyPr/>
                    <a:lstStyle/>
                    <a:p>
                      <a:pPr marL="0" indent="0">
                        <a:buNone/>
                      </a:pPr>
                      <a:r>
                        <a:rPr lang="en-US" sz="1000" dirty="0">
                          <a:solidFill>
                            <a:srgbClr val="EEF0F8"/>
                          </a:solidFill>
                          <a:latin typeface="Arial" pitchFamily="34" charset="0"/>
                          <a:ea typeface="Arial" pitchFamily="34" charset="-122"/>
                          <a:cs typeface="Arial" pitchFamily="34" charset="-120"/>
                        </a:rPr>
                        <a:t>varsayılan: taşan görünür</a:t>
                      </a:r>
                      <a:endParaRPr lang="en-US" sz="1000" dirty="0">
                        <a:latin typeface="Arial" charset="0"/>
                        <a:ea typeface="Arial" charset="0"/>
                        <a:cs typeface="Arial" charset="0"/>
                      </a:endParaRPr>
                    </a:p>
                  </a:txBody>
                  <a:tcPr marL="64008" marR="64008" marT="0" marB="0" anchor="ctr">
                    <a:lnL w="9525" cap="flat" cmpd="sng" algn="ctr">
                      <a:solidFill>
                        <a:srgbClr val="2E3768"/>
                      </a:solidFill>
                      <a:prstDash val="solid"/>
                      <a:round/>
                      <a:headEnd type="none" w="med" len="med"/>
                      <a:tailEnd type="none" w="med" len="med"/>
                    </a:lnL>
                    <a:lnR w="9525" cap="flat" cmpd="sng" algn="ctr">
                      <a:solidFill>
                        <a:srgbClr val="2E3768"/>
                      </a:solidFill>
                      <a:prstDash val="solid"/>
                      <a:round/>
                      <a:headEnd type="none" w="med" len="med"/>
                      <a:tailEnd type="none" w="med" len="med"/>
                    </a:lnR>
                    <a:lnT w="9525" cap="flat" cmpd="sng" algn="ctr">
                      <a:solidFill>
                        <a:srgbClr val="2E3768"/>
                      </a:solidFill>
                      <a:prstDash val="solid"/>
                      <a:round/>
                      <a:headEnd type="none" w="med" len="med"/>
                      <a:tailEnd type="none" w="med" len="med"/>
                    </a:lnT>
                    <a:lnB w="9525" cap="flat" cmpd="sng" algn="ctr">
                      <a:solidFill>
                        <a:srgbClr val="2E3768"/>
                      </a:solidFill>
                      <a:prstDash val="solid"/>
                      <a:round/>
                      <a:headEnd type="none" w="med" len="med"/>
                      <a:tailEnd type="none" w="med" len="med"/>
                    </a:lnB>
                    <a:solidFill>
                      <a:srgbClr val="1A2044"/>
                    </a:solidFill>
                  </a:tcPr>
                </a:tc>
                <a:extLst>
                  <a:ext uri="{0D108BD9-81ED-4DB2-BD59-A6C34878D82A}">
                    <a16:rowId xmlns:a16="http://schemas.microsoft.com/office/drawing/2014/main" val="10001"/>
                  </a:ext>
                </a:extLst>
              </a:tr>
              <a:tr h="329184">
                <a:tc>
                  <a:txBody>
                    <a:bodyPr/>
                    <a:lstStyle/>
                    <a:p>
                      <a:pPr marL="0" indent="0">
                        <a:buNone/>
                      </a:pPr>
                      <a:r>
                        <a:rPr lang="en-US" sz="1000" dirty="0">
                          <a:solidFill>
                            <a:srgbClr val="EEF0F8"/>
                          </a:solidFill>
                          <a:latin typeface="Courier New" pitchFamily="34" charset="0"/>
                          <a:ea typeface="Courier New" pitchFamily="34" charset="-122"/>
                          <a:cs typeface="Courier New" pitchFamily="34" charset="-120"/>
                        </a:rPr>
                        <a:t>clip</a:t>
                      </a:r>
                      <a:endParaRPr lang="en-US" sz="1000" dirty="0">
                        <a:latin typeface="Courier New" charset="0"/>
                        <a:ea typeface="Courier New" charset="0"/>
                        <a:cs typeface="Courier New" charset="0"/>
                      </a:endParaRPr>
                    </a:p>
                  </a:txBody>
                  <a:tcPr marL="64008" marR="64008" marT="0" marB="0" anchor="ctr">
                    <a:lnL w="9525" cap="flat" cmpd="sng" algn="ctr">
                      <a:solidFill>
                        <a:srgbClr val="2E3768"/>
                      </a:solidFill>
                      <a:prstDash val="solid"/>
                      <a:round/>
                      <a:headEnd type="none" w="med" len="med"/>
                      <a:tailEnd type="none" w="med" len="med"/>
                    </a:lnL>
                    <a:lnR w="9525" cap="flat" cmpd="sng" algn="ctr">
                      <a:solidFill>
                        <a:srgbClr val="2E3768"/>
                      </a:solidFill>
                      <a:prstDash val="solid"/>
                      <a:round/>
                      <a:headEnd type="none" w="med" len="med"/>
                      <a:tailEnd type="none" w="med" len="med"/>
                    </a:lnR>
                    <a:lnT w="9525" cap="flat" cmpd="sng" algn="ctr">
                      <a:solidFill>
                        <a:srgbClr val="2E3768"/>
                      </a:solidFill>
                      <a:prstDash val="solid"/>
                      <a:round/>
                      <a:headEnd type="none" w="med" len="med"/>
                      <a:tailEnd type="none" w="med" len="med"/>
                    </a:lnT>
                    <a:lnB w="9525" cap="flat" cmpd="sng" algn="ctr">
                      <a:solidFill>
                        <a:srgbClr val="2E3768"/>
                      </a:solidFill>
                      <a:prstDash val="solid"/>
                      <a:round/>
                      <a:headEnd type="none" w="med" len="med"/>
                      <a:tailEnd type="none" w="med" len="med"/>
                    </a:lnB>
                    <a:solidFill>
                      <a:srgbClr val="1A2044"/>
                    </a:solidFill>
                  </a:tcPr>
                </a:tc>
                <a:tc>
                  <a:txBody>
                    <a:bodyPr/>
                    <a:lstStyle/>
                    <a:p>
                      <a:pPr marL="0" indent="0">
                        <a:buNone/>
                      </a:pPr>
                      <a:r>
                        <a:rPr lang="en-US" sz="1000" dirty="0">
                          <a:solidFill>
                            <a:srgbClr val="EEF0F8"/>
                          </a:solidFill>
                          <a:latin typeface="Arial" pitchFamily="34" charset="0"/>
                          <a:ea typeface="Arial" pitchFamily="34" charset="-122"/>
                          <a:cs typeface="Arial" pitchFamily="34" charset="-120"/>
                        </a:rPr>
                        <a:t>keser, asla görünmez</a:t>
                      </a:r>
                      <a:endParaRPr lang="en-US" sz="1000" dirty="0">
                        <a:latin typeface="Arial" charset="0"/>
                        <a:ea typeface="Arial" charset="0"/>
                        <a:cs typeface="Arial" charset="0"/>
                      </a:endParaRPr>
                    </a:p>
                  </a:txBody>
                  <a:tcPr marL="64008" marR="64008" marT="0" marB="0" anchor="ctr">
                    <a:lnL w="9525" cap="flat" cmpd="sng" algn="ctr">
                      <a:solidFill>
                        <a:srgbClr val="2E3768"/>
                      </a:solidFill>
                      <a:prstDash val="solid"/>
                      <a:round/>
                      <a:headEnd type="none" w="med" len="med"/>
                      <a:tailEnd type="none" w="med" len="med"/>
                    </a:lnL>
                    <a:lnR w="9525" cap="flat" cmpd="sng" algn="ctr">
                      <a:solidFill>
                        <a:srgbClr val="2E3768"/>
                      </a:solidFill>
                      <a:prstDash val="solid"/>
                      <a:round/>
                      <a:headEnd type="none" w="med" len="med"/>
                      <a:tailEnd type="none" w="med" len="med"/>
                    </a:lnR>
                    <a:lnT w="9525" cap="flat" cmpd="sng" algn="ctr">
                      <a:solidFill>
                        <a:srgbClr val="2E3768"/>
                      </a:solidFill>
                      <a:prstDash val="solid"/>
                      <a:round/>
                      <a:headEnd type="none" w="med" len="med"/>
                      <a:tailEnd type="none" w="med" len="med"/>
                    </a:lnT>
                    <a:lnB w="9525" cap="flat" cmpd="sng" algn="ctr">
                      <a:solidFill>
                        <a:srgbClr val="2E3768"/>
                      </a:solidFill>
                      <a:prstDash val="solid"/>
                      <a:round/>
                      <a:headEnd type="none" w="med" len="med"/>
                      <a:tailEnd type="none" w="med" len="med"/>
                    </a:lnB>
                    <a:solidFill>
                      <a:srgbClr val="1A2044"/>
                    </a:solidFill>
                  </a:tcPr>
                </a:tc>
                <a:extLst>
                  <a:ext uri="{0D108BD9-81ED-4DB2-BD59-A6C34878D82A}">
                    <a16:rowId xmlns:a16="http://schemas.microsoft.com/office/drawing/2014/main" val="10002"/>
                  </a:ext>
                </a:extLst>
              </a:tr>
              <a:tr h="329184">
                <a:tc>
                  <a:txBody>
                    <a:bodyPr/>
                    <a:lstStyle/>
                    <a:p>
                      <a:pPr marL="0" indent="0">
                        <a:buNone/>
                      </a:pPr>
                      <a:r>
                        <a:rPr lang="en-US" sz="1000" dirty="0">
                          <a:solidFill>
                            <a:srgbClr val="EEF0F8"/>
                          </a:solidFill>
                          <a:latin typeface="Courier New" pitchFamily="34" charset="0"/>
                          <a:ea typeface="Courier New" pitchFamily="34" charset="-122"/>
                          <a:cs typeface="Courier New" pitchFamily="34" charset="-120"/>
                        </a:rPr>
                        <a:t>auto</a:t>
                      </a:r>
                      <a:endParaRPr lang="en-US" sz="1000" dirty="0">
                        <a:latin typeface="Courier New" charset="0"/>
                        <a:ea typeface="Courier New" charset="0"/>
                        <a:cs typeface="Courier New" charset="0"/>
                      </a:endParaRPr>
                    </a:p>
                  </a:txBody>
                  <a:tcPr marL="64008" marR="64008" marT="0" marB="0" anchor="ctr">
                    <a:lnL w="9525" cap="flat" cmpd="sng" algn="ctr">
                      <a:solidFill>
                        <a:srgbClr val="2E3768"/>
                      </a:solidFill>
                      <a:prstDash val="solid"/>
                      <a:round/>
                      <a:headEnd type="none" w="med" len="med"/>
                      <a:tailEnd type="none" w="med" len="med"/>
                    </a:lnL>
                    <a:lnR w="9525" cap="flat" cmpd="sng" algn="ctr">
                      <a:solidFill>
                        <a:srgbClr val="2E3768"/>
                      </a:solidFill>
                      <a:prstDash val="solid"/>
                      <a:round/>
                      <a:headEnd type="none" w="med" len="med"/>
                      <a:tailEnd type="none" w="med" len="med"/>
                    </a:lnR>
                    <a:lnT w="9525" cap="flat" cmpd="sng" algn="ctr">
                      <a:solidFill>
                        <a:srgbClr val="2E3768"/>
                      </a:solidFill>
                      <a:prstDash val="solid"/>
                      <a:round/>
                      <a:headEnd type="none" w="med" len="med"/>
                      <a:tailEnd type="none" w="med" len="med"/>
                    </a:lnT>
                    <a:lnB w="9525" cap="flat" cmpd="sng" algn="ctr">
                      <a:solidFill>
                        <a:srgbClr val="2E3768"/>
                      </a:solidFill>
                      <a:prstDash val="solid"/>
                      <a:round/>
                      <a:headEnd type="none" w="med" len="med"/>
                      <a:tailEnd type="none" w="med" len="med"/>
                    </a:lnB>
                    <a:solidFill>
                      <a:srgbClr val="1A2044"/>
                    </a:solidFill>
                  </a:tcPr>
                </a:tc>
                <a:tc>
                  <a:txBody>
                    <a:bodyPr/>
                    <a:lstStyle/>
                    <a:p>
                      <a:pPr marL="0" indent="0">
                        <a:buNone/>
                      </a:pPr>
                      <a:r>
                        <a:rPr lang="en-US" sz="1000" dirty="0">
                          <a:solidFill>
                            <a:srgbClr val="EEF0F8"/>
                          </a:solidFill>
                          <a:latin typeface="Arial" pitchFamily="34" charset="0"/>
                          <a:ea typeface="Arial" pitchFamily="34" charset="-122"/>
                          <a:cs typeface="Arial" pitchFamily="34" charset="-120"/>
                        </a:rPr>
                        <a:t>gerekirse kaydırma çubuğu</a:t>
                      </a:r>
                      <a:endParaRPr lang="en-US" sz="1000" dirty="0">
                        <a:latin typeface="Arial" charset="0"/>
                        <a:ea typeface="Arial" charset="0"/>
                        <a:cs typeface="Arial" charset="0"/>
                      </a:endParaRPr>
                    </a:p>
                  </a:txBody>
                  <a:tcPr marL="64008" marR="64008" marT="0" marB="0" anchor="ctr">
                    <a:lnL w="9525" cap="flat" cmpd="sng" algn="ctr">
                      <a:solidFill>
                        <a:srgbClr val="2E3768"/>
                      </a:solidFill>
                      <a:prstDash val="solid"/>
                      <a:round/>
                      <a:headEnd type="none" w="med" len="med"/>
                      <a:tailEnd type="none" w="med" len="med"/>
                    </a:lnL>
                    <a:lnR w="9525" cap="flat" cmpd="sng" algn="ctr">
                      <a:solidFill>
                        <a:srgbClr val="2E3768"/>
                      </a:solidFill>
                      <a:prstDash val="solid"/>
                      <a:round/>
                      <a:headEnd type="none" w="med" len="med"/>
                      <a:tailEnd type="none" w="med" len="med"/>
                    </a:lnR>
                    <a:lnT w="9525" cap="flat" cmpd="sng" algn="ctr">
                      <a:solidFill>
                        <a:srgbClr val="2E3768"/>
                      </a:solidFill>
                      <a:prstDash val="solid"/>
                      <a:round/>
                      <a:headEnd type="none" w="med" len="med"/>
                      <a:tailEnd type="none" w="med" len="med"/>
                    </a:lnT>
                    <a:lnB w="9525" cap="flat" cmpd="sng" algn="ctr">
                      <a:solidFill>
                        <a:srgbClr val="2E3768"/>
                      </a:solidFill>
                      <a:prstDash val="solid"/>
                      <a:round/>
                      <a:headEnd type="none" w="med" len="med"/>
                      <a:tailEnd type="none" w="med" len="med"/>
                    </a:lnB>
                    <a:solidFill>
                      <a:srgbClr val="1A2044"/>
                    </a:solidFill>
                  </a:tcPr>
                </a:tc>
                <a:extLst>
                  <a:ext uri="{0D108BD9-81ED-4DB2-BD59-A6C34878D82A}">
                    <a16:rowId xmlns:a16="http://schemas.microsoft.com/office/drawing/2014/main" val="10003"/>
                  </a:ext>
                </a:extLst>
              </a:tr>
              <a:tr h="329184">
                <a:tc>
                  <a:txBody>
                    <a:bodyPr/>
                    <a:lstStyle/>
                    <a:p>
                      <a:pPr marL="0" indent="0">
                        <a:buNone/>
                      </a:pPr>
                      <a:r>
                        <a:rPr lang="en-US" sz="1000" dirty="0">
                          <a:solidFill>
                            <a:srgbClr val="EEF0F8"/>
                          </a:solidFill>
                          <a:latin typeface="Courier New" pitchFamily="34" charset="0"/>
                          <a:ea typeface="Courier New" pitchFamily="34" charset="-122"/>
                          <a:cs typeface="Courier New" pitchFamily="34" charset="-120"/>
                        </a:rPr>
                        <a:t>scroll</a:t>
                      </a:r>
                      <a:endParaRPr lang="en-US" sz="1000" dirty="0">
                        <a:latin typeface="Courier New" charset="0"/>
                        <a:ea typeface="Courier New" charset="0"/>
                        <a:cs typeface="Courier New" charset="0"/>
                      </a:endParaRPr>
                    </a:p>
                  </a:txBody>
                  <a:tcPr marL="64008" marR="64008" marT="0" marB="0" anchor="ctr">
                    <a:lnL w="9525" cap="flat" cmpd="sng" algn="ctr">
                      <a:solidFill>
                        <a:srgbClr val="2E3768"/>
                      </a:solidFill>
                      <a:prstDash val="solid"/>
                      <a:round/>
                      <a:headEnd type="none" w="med" len="med"/>
                      <a:tailEnd type="none" w="med" len="med"/>
                    </a:lnL>
                    <a:lnR w="9525" cap="flat" cmpd="sng" algn="ctr">
                      <a:solidFill>
                        <a:srgbClr val="2E3768"/>
                      </a:solidFill>
                      <a:prstDash val="solid"/>
                      <a:round/>
                      <a:headEnd type="none" w="med" len="med"/>
                      <a:tailEnd type="none" w="med" len="med"/>
                    </a:lnR>
                    <a:lnT w="9525" cap="flat" cmpd="sng" algn="ctr">
                      <a:solidFill>
                        <a:srgbClr val="2E3768"/>
                      </a:solidFill>
                      <a:prstDash val="solid"/>
                      <a:round/>
                      <a:headEnd type="none" w="med" len="med"/>
                      <a:tailEnd type="none" w="med" len="med"/>
                    </a:lnT>
                    <a:lnB w="9525" cap="flat" cmpd="sng" algn="ctr">
                      <a:solidFill>
                        <a:srgbClr val="2E3768"/>
                      </a:solidFill>
                      <a:prstDash val="solid"/>
                      <a:round/>
                      <a:headEnd type="none" w="med" len="med"/>
                      <a:tailEnd type="none" w="med" len="med"/>
                    </a:lnB>
                    <a:solidFill>
                      <a:srgbClr val="1A2044"/>
                    </a:solidFill>
                  </a:tcPr>
                </a:tc>
                <a:tc>
                  <a:txBody>
                    <a:bodyPr/>
                    <a:lstStyle/>
                    <a:p>
                      <a:pPr marL="0" indent="0">
                        <a:buNone/>
                      </a:pPr>
                      <a:r>
                        <a:rPr lang="en-US" sz="1000" dirty="0">
                          <a:solidFill>
                            <a:srgbClr val="EEF0F8"/>
                          </a:solidFill>
                          <a:latin typeface="Arial" pitchFamily="34" charset="0"/>
                          <a:ea typeface="Arial" pitchFamily="34" charset="-122"/>
                          <a:cs typeface="Arial" pitchFamily="34" charset="-120"/>
                        </a:rPr>
                        <a:t>her zaman kaydırma çubuğu</a:t>
                      </a:r>
                      <a:endParaRPr lang="en-US" sz="1000" dirty="0">
                        <a:latin typeface="Arial" charset="0"/>
                        <a:ea typeface="Arial" charset="0"/>
                        <a:cs typeface="Arial" charset="0"/>
                      </a:endParaRPr>
                    </a:p>
                  </a:txBody>
                  <a:tcPr marL="64008" marR="64008" marT="0" marB="0" anchor="ctr">
                    <a:lnL w="9525" cap="flat" cmpd="sng" algn="ctr">
                      <a:solidFill>
                        <a:srgbClr val="2E3768"/>
                      </a:solidFill>
                      <a:prstDash val="solid"/>
                      <a:round/>
                      <a:headEnd type="none" w="med" len="med"/>
                      <a:tailEnd type="none" w="med" len="med"/>
                    </a:lnL>
                    <a:lnR w="9525" cap="flat" cmpd="sng" algn="ctr">
                      <a:solidFill>
                        <a:srgbClr val="2E3768"/>
                      </a:solidFill>
                      <a:prstDash val="solid"/>
                      <a:round/>
                      <a:headEnd type="none" w="med" len="med"/>
                      <a:tailEnd type="none" w="med" len="med"/>
                    </a:lnR>
                    <a:lnT w="9525" cap="flat" cmpd="sng" algn="ctr">
                      <a:solidFill>
                        <a:srgbClr val="2E3768"/>
                      </a:solidFill>
                      <a:prstDash val="solid"/>
                      <a:round/>
                      <a:headEnd type="none" w="med" len="med"/>
                      <a:tailEnd type="none" w="med" len="med"/>
                    </a:lnT>
                    <a:lnB w="9525" cap="flat" cmpd="sng" algn="ctr">
                      <a:solidFill>
                        <a:srgbClr val="2E3768"/>
                      </a:solidFill>
                      <a:prstDash val="solid"/>
                      <a:round/>
                      <a:headEnd type="none" w="med" len="med"/>
                      <a:tailEnd type="none" w="med" len="med"/>
                    </a:lnB>
                    <a:solidFill>
                      <a:srgbClr val="1A2044"/>
                    </a:solidFill>
                  </a:tcPr>
                </a:tc>
                <a:extLst>
                  <a:ext uri="{0D108BD9-81ED-4DB2-BD59-A6C34878D82A}">
                    <a16:rowId xmlns:a16="http://schemas.microsoft.com/office/drawing/2014/main" val="10004"/>
                  </a:ext>
                </a:extLst>
              </a:tr>
              <a:tr h="329184">
                <a:tc>
                  <a:txBody>
                    <a:bodyPr/>
                    <a:lstStyle/>
                    <a:p>
                      <a:pPr marL="0" indent="0">
                        <a:buNone/>
                      </a:pPr>
                      <a:r>
                        <a:rPr lang="en-US" sz="1000" dirty="0">
                          <a:solidFill>
                            <a:srgbClr val="EEF0F8"/>
                          </a:solidFill>
                          <a:latin typeface="Courier New" pitchFamily="34" charset="0"/>
                          <a:ea typeface="Courier New" pitchFamily="34" charset="-122"/>
                          <a:cs typeface="Courier New" pitchFamily="34" charset="-120"/>
                        </a:rPr>
                        <a:t>hidden</a:t>
                      </a:r>
                      <a:endParaRPr lang="en-US" sz="1000" dirty="0">
                        <a:latin typeface="Courier New" charset="0"/>
                        <a:ea typeface="Courier New" charset="0"/>
                        <a:cs typeface="Courier New" charset="0"/>
                      </a:endParaRPr>
                    </a:p>
                  </a:txBody>
                  <a:tcPr marL="64008" marR="64008" marT="0" marB="0" anchor="ctr">
                    <a:lnL w="9525" cap="flat" cmpd="sng" algn="ctr">
                      <a:solidFill>
                        <a:srgbClr val="2E3768"/>
                      </a:solidFill>
                      <a:prstDash val="solid"/>
                      <a:round/>
                      <a:headEnd type="none" w="med" len="med"/>
                      <a:tailEnd type="none" w="med" len="med"/>
                    </a:lnL>
                    <a:lnR w="9525" cap="flat" cmpd="sng" algn="ctr">
                      <a:solidFill>
                        <a:srgbClr val="2E3768"/>
                      </a:solidFill>
                      <a:prstDash val="solid"/>
                      <a:round/>
                      <a:headEnd type="none" w="med" len="med"/>
                      <a:tailEnd type="none" w="med" len="med"/>
                    </a:lnR>
                    <a:lnT w="9525" cap="flat" cmpd="sng" algn="ctr">
                      <a:solidFill>
                        <a:srgbClr val="2E3768"/>
                      </a:solidFill>
                      <a:prstDash val="solid"/>
                      <a:round/>
                      <a:headEnd type="none" w="med" len="med"/>
                      <a:tailEnd type="none" w="med" len="med"/>
                    </a:lnT>
                    <a:lnB w="9525" cap="flat" cmpd="sng" algn="ctr">
                      <a:solidFill>
                        <a:srgbClr val="2E3768"/>
                      </a:solidFill>
                      <a:prstDash val="solid"/>
                      <a:round/>
                      <a:headEnd type="none" w="med" len="med"/>
                      <a:tailEnd type="none" w="med" len="med"/>
                    </a:lnB>
                    <a:solidFill>
                      <a:srgbClr val="1A2044"/>
                    </a:solidFill>
                  </a:tcPr>
                </a:tc>
                <a:tc>
                  <a:txBody>
                    <a:bodyPr/>
                    <a:lstStyle/>
                    <a:p>
                      <a:pPr marL="0" indent="0">
                        <a:buNone/>
                      </a:pPr>
                      <a:r>
                        <a:rPr lang="en-US" sz="1000" dirty="0">
                          <a:solidFill>
                            <a:srgbClr val="EEF0F8"/>
                          </a:solidFill>
                          <a:latin typeface="Arial" pitchFamily="34" charset="0"/>
                          <a:ea typeface="Arial" pitchFamily="34" charset="-122"/>
                          <a:cs typeface="Arial" pitchFamily="34" charset="-120"/>
                        </a:rPr>
                        <a:t>keser ama kod/Tab ile kaydırılabilir</a:t>
                      </a:r>
                      <a:endParaRPr lang="en-US" sz="1000" dirty="0">
                        <a:latin typeface="Arial" charset="0"/>
                        <a:ea typeface="Arial" charset="0"/>
                        <a:cs typeface="Arial" charset="0"/>
                      </a:endParaRPr>
                    </a:p>
                  </a:txBody>
                  <a:tcPr marL="64008" marR="64008" marT="0" marB="0" anchor="ctr">
                    <a:lnL w="9525" cap="flat" cmpd="sng" algn="ctr">
                      <a:solidFill>
                        <a:srgbClr val="2E3768"/>
                      </a:solidFill>
                      <a:prstDash val="solid"/>
                      <a:round/>
                      <a:headEnd type="none" w="med" len="med"/>
                      <a:tailEnd type="none" w="med" len="med"/>
                    </a:lnL>
                    <a:lnR w="9525" cap="flat" cmpd="sng" algn="ctr">
                      <a:solidFill>
                        <a:srgbClr val="2E3768"/>
                      </a:solidFill>
                      <a:prstDash val="solid"/>
                      <a:round/>
                      <a:headEnd type="none" w="med" len="med"/>
                      <a:tailEnd type="none" w="med" len="med"/>
                    </a:lnR>
                    <a:lnT w="9525" cap="flat" cmpd="sng" algn="ctr">
                      <a:solidFill>
                        <a:srgbClr val="2E3768"/>
                      </a:solidFill>
                      <a:prstDash val="solid"/>
                      <a:round/>
                      <a:headEnd type="none" w="med" len="med"/>
                      <a:tailEnd type="none" w="med" len="med"/>
                    </a:lnT>
                    <a:lnB w="9525" cap="flat" cmpd="sng" algn="ctr">
                      <a:solidFill>
                        <a:srgbClr val="2E3768"/>
                      </a:solidFill>
                      <a:prstDash val="solid"/>
                      <a:round/>
                      <a:headEnd type="none" w="med" len="med"/>
                      <a:tailEnd type="none" w="med" len="med"/>
                    </a:lnB>
                    <a:solidFill>
                      <a:srgbClr val="1A2044"/>
                    </a:solidFill>
                  </a:tcPr>
                </a:tc>
                <a:extLst>
                  <a:ext uri="{0D108BD9-81ED-4DB2-BD59-A6C34878D82A}">
                    <a16:rowId xmlns:a16="http://schemas.microsoft.com/office/drawing/2014/main" val="10005"/>
                  </a:ext>
                </a:extLst>
              </a:tr>
            </a:tbl>
          </a:graphicData>
        </a:graphic>
      </p:graphicFrame>
      <p:sp>
        <p:nvSpPr>
          <p:cNvPr id="20" name="Text 17"/>
          <p:cNvSpPr txBox="1"/>
          <p:nvPr/>
        </p:nvSpPr>
        <p:spPr>
          <a:xfrm>
            <a:off x="4709160" y="3429000"/>
            <a:ext cx="3886200" cy="658368"/>
          </a:xfrm>
          <a:prstGeom prst="rect">
            <a:avLst/>
          </a:prstGeom>
          <a:noFill/>
          <a:ln/>
        </p:spPr>
        <p:txBody>
          <a:bodyPr wrap="square" lIns="0" tIns="0" rIns="0" bIns="0" rtlCol="0" anchor="t"/>
          <a:lstStyle/>
          <a:p>
            <a:pPr marL="0" indent="0">
              <a:buNone/>
            </a:pPr>
            <a:r>
              <a:rPr lang="en-US" sz="950" dirty="0">
                <a:solidFill>
                  <a:srgbClr val="9AA3C7"/>
                </a:solidFill>
                <a:latin typeface="Arial" pitchFamily="34" charset="0"/>
                <a:ea typeface="Arial" pitchFamily="34" charset="-122"/>
                <a:cs typeface="Arial" pitchFamily="34" charset="-120"/>
              </a:rPr>
              <a:t>overflow-x / overflow-y eksenleri ayrı ayarlar. En sağlam yol: sabit yükseklikten kaçınmak, az ve çok içerikle test etmek.</a:t>
            </a:r>
            <a:endParaRPr lang="en-US" sz="950" dirty="0"/>
          </a:p>
        </p:txBody>
      </p:sp>
      <p:sp>
        <p:nvSpPr>
          <p:cNvPr id="19" name="benzetme"/>
          <p:cNvSpPr/>
          <p:nvPr/>
        </p:nvSpPr>
        <p:spPr>
          <a:xfrm>
            <a:off x="548640" y="4224528"/>
            <a:ext cx="8046720" cy="402336"/>
          </a:xfrm>
          <a:prstGeom prst="roundRect">
            <a:avLst>
              <a:gd name="adj" fmla="val 50000"/>
            </a:avLst>
          </a:prstGeom>
          <a:solidFill>
            <a:srgbClr val="232A55"/>
          </a:solidFill>
          <a:ln/>
        </p:spPr>
      </p:sp>
      <p:sp>
        <p:nvSpPr>
          <p:cNvPr id="22" name="benzetme-ikon"/>
          <p:cNvSpPr/>
          <p:nvPr/>
        </p:nvSpPr>
        <p:spPr>
          <a:xfrm>
            <a:off x="621792" y="4261104"/>
            <a:ext cx="329184" cy="329184"/>
          </a:xfrm>
          <a:prstGeom prst="ellipse">
            <a:avLst/>
          </a:prstGeom>
          <a:solidFill>
            <a:srgbClr val="FBBF24"/>
          </a:solidFill>
          <a:ln/>
        </p:spPr>
      </p:sp>
      <p:sp>
        <p:nvSpPr>
          <p:cNvPr id="23" name="Text 20"/>
          <p:cNvSpPr txBox="1"/>
          <p:nvPr/>
        </p:nvSpPr>
        <p:spPr>
          <a:xfrm>
            <a:off x="621792" y="4261104"/>
            <a:ext cx="329184" cy="329184"/>
          </a:xfrm>
          <a:prstGeom prst="rect">
            <a:avLst/>
          </a:prstGeom>
          <a:noFill/>
          <a:ln/>
        </p:spPr>
        <p:txBody>
          <a:bodyPr wrap="square" lIns="0" tIns="0" rIns="0" bIns="0" rtlCol="0" anchor="ctr"/>
          <a:lstStyle/>
          <a:p>
            <a:pPr marL="0" indent="0" algn="ctr">
              <a:buNone/>
            </a:pPr>
            <a:r>
              <a:rPr lang="en-US" sz="1600" b="1" dirty="0">
                <a:solidFill>
                  <a:srgbClr val="10142B"/>
                </a:solidFill>
                <a:latin typeface="Arial" pitchFamily="34" charset="0"/>
                <a:ea typeface="Arial" pitchFamily="34" charset="-122"/>
                <a:cs typeface="Arial" pitchFamily="34" charset="-120"/>
              </a:rPr>
              <a:t>≈</a:t>
            </a:r>
            <a:endParaRPr lang="en-US" sz="1600" dirty="0"/>
          </a:p>
        </p:txBody>
      </p:sp>
      <p:sp>
        <p:nvSpPr>
          <p:cNvPr id="24" name="Text 21"/>
          <p:cNvSpPr txBox="1"/>
          <p:nvPr/>
        </p:nvSpPr>
        <p:spPr>
          <a:xfrm>
            <a:off x="1042416" y="4224528"/>
            <a:ext cx="7452360" cy="402336"/>
          </a:xfrm>
          <a:prstGeom prst="rect">
            <a:avLst/>
          </a:prstGeom>
          <a:noFill/>
          <a:ln/>
        </p:spPr>
        <p:txBody>
          <a:bodyPr wrap="square" lIns="0" tIns="0" rIns="0" bIns="0" rtlCol="0" anchor="ctr"/>
          <a:lstStyle/>
          <a:p>
            <a:pPr marL="0" indent="0">
              <a:buNone/>
            </a:pPr>
            <a:r>
              <a:rPr lang="en-US" sz="1100" b="1" dirty="0">
                <a:solidFill>
                  <a:srgbClr val="FBBF24"/>
                </a:solidFill>
                <a:latin typeface="Arial" pitchFamily="34" charset="0"/>
                <a:ea typeface="Arial" pitchFamily="34" charset="-122"/>
                <a:cs typeface="Arial" pitchFamily="34" charset="-120"/>
              </a:rPr>
              <a:t>Gündelik hayatta: </a:t>
            </a:r>
            <a:r>
              <a:rPr lang="en-US" sz="1100" dirty="0">
                <a:solidFill>
                  <a:srgbClr val="EEF0F8"/>
                </a:solidFill>
                <a:latin typeface="Arial" pitchFamily="34" charset="0"/>
                <a:ea typeface="Arial" pitchFamily="34" charset="-122"/>
                <a:cs typeface="Arial" pitchFamily="34" charset="-120"/>
              </a:rPr>
              <a:t>ağzına kadar dolu bavul: fermuarı zorla kapatıp eşyaları ezebilirsin (clip) ya da yanına küçük bir çanta eklersin (auto).</a:t>
            </a:r>
            <a:endParaRPr lang="en-US" sz="1100" dirty="0"/>
          </a:p>
        </p:txBody>
      </p:sp>
    </p:spTree>
  </p:cSld>
  <p:clrMapOvr>
    <a:masterClrMapping/>
  </p:clrMapOvr>
  <p:transition spd="med">
    <p:pull/>
  </p:transition>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256032"/>
            <a:ext cx="4572000" cy="201168"/>
          </a:xfrm>
          <a:prstGeom prst="rect">
            <a:avLst/>
          </a:prstGeom>
          <a:noFill/>
          <a:ln/>
        </p:spPr>
        <p:txBody>
          <a:bodyPr wrap="square" lIns="0" tIns="0" rIns="0" bIns="0" rtlCol="0" anchor="t"/>
          <a:lstStyle/>
          <a:p>
            <a:pPr marL="0" indent="0">
              <a:buNone/>
            </a:pPr>
            <a:r>
              <a:rPr lang="en-US" sz="900" b="1" kern="0" spc="200" dirty="0">
                <a:solidFill>
                  <a:srgbClr val="22D3EE"/>
                </a:solidFill>
                <a:latin typeface="Arial" pitchFamily="34" charset="0"/>
                <a:ea typeface="Arial" pitchFamily="34" charset="-122"/>
                <a:cs typeface="Arial" pitchFamily="34" charset="-120"/>
              </a:rPr>
              <a:t>MODÜL 1 · CSS TEMELLERİ</a:t>
            </a:r>
            <a:endParaRPr lang="en-US" sz="900" dirty="0"/>
          </a:p>
        </p:txBody>
      </p:sp>
      <p:sp>
        <p:nvSpPr>
          <p:cNvPr id="3" name="mini-box-0"/>
          <p:cNvSpPr/>
          <p:nvPr/>
        </p:nvSpPr>
        <p:spPr>
          <a:xfrm>
            <a:off x="8229600" y="201168"/>
            <a:ext cx="384048" cy="384048"/>
          </a:xfrm>
          <a:prstGeom prst="rect">
            <a:avLst/>
          </a:prstGeom>
          <a:ln w="9525">
            <a:solidFill>
              <a:srgbClr val="22D3EE"/>
            </a:solidFill>
            <a:prstDash val="solid"/>
          </a:ln>
        </p:spPr>
      </p:sp>
      <p:sp>
        <p:nvSpPr>
          <p:cNvPr id="4" name="mini-box-1"/>
          <p:cNvSpPr/>
          <p:nvPr/>
        </p:nvSpPr>
        <p:spPr>
          <a:xfrm>
            <a:off x="8293608" y="265176"/>
            <a:ext cx="256032" cy="256032"/>
          </a:xfrm>
          <a:prstGeom prst="rect">
            <a:avLst/>
          </a:prstGeom>
          <a:ln w="9525">
            <a:solidFill>
              <a:srgbClr val="EEF0F8"/>
            </a:solidFill>
            <a:prstDash val="solid"/>
          </a:ln>
        </p:spPr>
      </p:sp>
      <p:sp>
        <p:nvSpPr>
          <p:cNvPr id="5" name="mini-box-2"/>
          <p:cNvSpPr/>
          <p:nvPr/>
        </p:nvSpPr>
        <p:spPr>
          <a:xfrm>
            <a:off x="8348472" y="320040"/>
            <a:ext cx="146304" cy="146304"/>
          </a:xfrm>
          <a:prstGeom prst="rect">
            <a:avLst/>
          </a:prstGeom>
          <a:solidFill>
            <a:srgbClr val="22D3EE"/>
          </a:solidFill>
          <a:ln w="9525">
            <a:solidFill>
              <a:srgbClr val="22D3EE"/>
            </a:solidFill>
            <a:prstDash val="solid"/>
          </a:ln>
        </p:spPr>
      </p:sp>
      <p:sp>
        <p:nvSpPr>
          <p:cNvPr id="6" name="ilerleme-zemin"/>
          <p:cNvSpPr/>
          <p:nvPr/>
        </p:nvSpPr>
        <p:spPr>
          <a:xfrm>
            <a:off x="0" y="5070348"/>
            <a:ext cx="9144000" cy="73152"/>
          </a:xfrm>
          <a:prstGeom prst="rect">
            <a:avLst/>
          </a:prstGeom>
          <a:solidFill>
            <a:srgbClr val="1A2044"/>
          </a:solidFill>
          <a:ln/>
        </p:spPr>
      </p:sp>
      <p:sp>
        <p:nvSpPr>
          <p:cNvPr id="7" name="ilerleme"/>
          <p:cNvSpPr/>
          <p:nvPr/>
        </p:nvSpPr>
        <p:spPr>
          <a:xfrm>
            <a:off x="0" y="5070348"/>
            <a:ext cx="4465674" cy="73152"/>
          </a:xfrm>
          <a:prstGeom prst="rect">
            <a:avLst/>
          </a:prstGeom>
          <a:solidFill>
            <a:srgbClr val="22D3EE"/>
          </a:solidFill>
          <a:ln/>
        </p:spPr>
      </p:sp>
      <p:sp>
        <p:nvSpPr>
          <p:cNvPr id="8" name="Text 6"/>
          <p:cNvSpPr txBox="1"/>
          <p:nvPr/>
        </p:nvSpPr>
        <p:spPr>
          <a:xfrm>
            <a:off x="548640" y="4791456"/>
            <a:ext cx="3657600" cy="201168"/>
          </a:xfrm>
          <a:prstGeom prst="rect">
            <a:avLst/>
          </a:prstGeom>
          <a:noFill/>
          <a:ln/>
        </p:spPr>
        <p:txBody>
          <a:bodyPr wrap="square" lIns="0" tIns="0" rIns="0" bIns="0" rtlCol="0" anchor="t"/>
          <a:lstStyle/>
          <a:p>
            <a:pPr marL="0" indent="0">
              <a:buNone/>
            </a:pPr>
            <a:r>
              <a:rPr lang="en-US" sz="850" dirty="0">
                <a:solidFill>
                  <a:srgbClr val="6C759E"/>
                </a:solidFill>
                <a:latin typeface="Arial" pitchFamily="34" charset="0"/>
                <a:ea typeface="Arial" pitchFamily="34" charset="-122"/>
                <a:cs typeface="Arial" pitchFamily="34" charset="-120"/>
              </a:rPr>
              <a:t>KCŞ A.Ş.  ·  CSS ile stil ve düzen</a:t>
            </a:r>
            <a:endParaRPr lang="en-US" sz="850" dirty="0"/>
          </a:p>
        </p:txBody>
      </p:sp>
      <p:sp>
        <p:nvSpPr>
          <p:cNvPr id="9" name="Text 7"/>
          <p:cNvSpPr txBox="1"/>
          <p:nvPr/>
        </p:nvSpPr>
        <p:spPr>
          <a:xfrm>
            <a:off x="4206240" y="4791456"/>
            <a:ext cx="3840480" cy="201168"/>
          </a:xfrm>
          <a:prstGeom prst="rect">
            <a:avLst/>
          </a:prstGeom>
          <a:noFill/>
          <a:ln/>
        </p:spPr>
        <p:txBody>
          <a:bodyPr wrap="square" lIns="0" tIns="0" rIns="0" bIns="0" rtlCol="0" anchor="t"/>
          <a:lstStyle/>
          <a:p>
            <a:pPr marL="0" indent="0" algn="r">
              <a:buNone/>
            </a:pPr>
            <a:r>
              <a:rPr lang="en-US" sz="850" dirty="0">
                <a:solidFill>
                  <a:srgbClr val="6C759E"/>
                </a:solidFill>
                <a:latin typeface="Arial" pitchFamily="34" charset="0"/>
                <a:ea typeface="Arial" pitchFamily="34" charset="-122"/>
                <a:cs typeface="Arial" pitchFamily="34" charset="-120"/>
              </a:rPr>
              <a:t>MDN · Images, media, and form elements</a:t>
            </a:r>
            <a:endParaRPr lang="en-US" sz="850" dirty="0"/>
          </a:p>
        </p:txBody>
      </p:sp>
      <p:sp>
        <p:nvSpPr>
          <p:cNvPr id="10" name="Text 8"/>
          <p:cNvSpPr txBox="1"/>
          <p:nvPr/>
        </p:nvSpPr>
        <p:spPr>
          <a:xfrm>
            <a:off x="8092440" y="4791456"/>
            <a:ext cx="685800" cy="201168"/>
          </a:xfrm>
          <a:prstGeom prst="rect">
            <a:avLst/>
          </a:prstGeom>
          <a:noFill/>
          <a:ln/>
        </p:spPr>
        <p:txBody>
          <a:bodyPr wrap="square" lIns="0" tIns="0" rIns="0" bIns="0" rtlCol="0" anchor="t"/>
          <a:lstStyle/>
          <a:p>
            <a:pPr marL="0" indent="0" algn="r">
              <a:buNone/>
            </a:pPr>
            <a:r>
              <a:rPr lang="en-US" sz="850" dirty="0">
                <a:solidFill>
                  <a:srgbClr val="9AA3C7"/>
                </a:solidFill>
                <a:latin typeface="Courier New" pitchFamily="34" charset="0"/>
                <a:ea typeface="Courier New" pitchFamily="34" charset="-122"/>
                <a:cs typeface="Courier New" pitchFamily="34" charset="-120"/>
              </a:rPr>
              <a:t>21 / 43</a:t>
            </a:r>
            <a:endParaRPr lang="en-US" sz="850" dirty="0"/>
          </a:p>
        </p:txBody>
      </p:sp>
      <p:sp>
        <p:nvSpPr>
          <p:cNvPr id="11" name="Text 9"/>
          <p:cNvSpPr txBox="1"/>
          <p:nvPr/>
        </p:nvSpPr>
        <p:spPr>
          <a:xfrm>
            <a:off x="548640" y="502920"/>
            <a:ext cx="5943600" cy="237744"/>
          </a:xfrm>
          <a:prstGeom prst="rect">
            <a:avLst/>
          </a:prstGeom>
          <a:noFill/>
          <a:ln/>
        </p:spPr>
        <p:txBody>
          <a:bodyPr wrap="square" lIns="0" tIns="0" rIns="0" bIns="0" rtlCol="0" anchor="t"/>
          <a:lstStyle/>
          <a:p>
            <a:pPr marL="0" indent="0">
              <a:buNone/>
            </a:pPr>
            <a:r>
              <a:rPr lang="en-US" sz="1100" b="1" dirty="0">
                <a:solidFill>
                  <a:srgbClr val="22D3EE"/>
                </a:solidFill>
                <a:latin typeface="Courier New" pitchFamily="34" charset="0"/>
                <a:ea typeface="Courier New" pitchFamily="34" charset="-122"/>
                <a:cs typeface="Courier New" pitchFamily="34" charset="-120"/>
              </a:rPr>
              <a:t>object-fit: cover;</a:t>
            </a:r>
            <a:endParaRPr lang="en-US" sz="1100" dirty="0"/>
          </a:p>
        </p:txBody>
      </p:sp>
      <p:sp>
        <p:nvSpPr>
          <p:cNvPr id="12" name="Text 10"/>
          <p:cNvSpPr txBox="1"/>
          <p:nvPr/>
        </p:nvSpPr>
        <p:spPr>
          <a:xfrm>
            <a:off x="548640" y="749808"/>
            <a:ext cx="7589520" cy="502920"/>
          </a:xfrm>
          <a:prstGeom prst="rect">
            <a:avLst/>
          </a:prstGeom>
          <a:noFill/>
          <a:ln/>
        </p:spPr>
        <p:txBody>
          <a:bodyPr wrap="square" lIns="0" tIns="0" rIns="0" bIns="0" rtlCol="0" anchor="ctr"/>
          <a:lstStyle/>
          <a:p>
            <a:pPr marL="0" indent="0">
              <a:buNone/>
            </a:pPr>
            <a:r>
              <a:rPr lang="en-US" sz="2400" b="1" dirty="0">
                <a:solidFill>
                  <a:srgbClr val="EEF0F8"/>
                </a:solidFill>
                <a:latin typeface="Arial" pitchFamily="34" charset="0"/>
                <a:ea typeface="Arial" pitchFamily="34" charset="-122"/>
                <a:cs typeface="Arial" pitchFamily="34" charset="-120"/>
              </a:rPr>
              <a:t>Resimler, medya ve form öğeleri</a:t>
            </a:r>
            <a:endParaRPr lang="en-US" sz="2400" dirty="0"/>
          </a:p>
        </p:txBody>
      </p:sp>
      <p:sp>
        <p:nvSpPr>
          <p:cNvPr id="13" name="kart"/>
          <p:cNvSpPr/>
          <p:nvPr/>
        </p:nvSpPr>
        <p:spPr>
          <a:xfrm>
            <a:off x="548640" y="1371600"/>
            <a:ext cx="3931920" cy="2724912"/>
          </a:xfrm>
          <a:prstGeom prst="roundRect">
            <a:avLst>
              <a:gd name="adj" fmla="val 2685"/>
            </a:avLst>
          </a:prstGeom>
          <a:solidFill>
            <a:srgbClr val="1A2044"/>
          </a:solidFill>
          <a:ln w="9525">
            <a:solidFill>
              <a:srgbClr val="2E3768"/>
            </a:solidFill>
            <a:prstDash val="solid"/>
          </a:ln>
        </p:spPr>
      </p:sp>
      <p:sp>
        <p:nvSpPr>
          <p:cNvPr id="14" name="kart-nokta"/>
          <p:cNvSpPr/>
          <p:nvPr/>
        </p:nvSpPr>
        <p:spPr>
          <a:xfrm>
            <a:off x="694944" y="1527048"/>
            <a:ext cx="91440" cy="91440"/>
          </a:xfrm>
          <a:prstGeom prst="ellipse">
            <a:avLst/>
          </a:prstGeom>
          <a:solidFill>
            <a:srgbClr val="22D3EE"/>
          </a:solidFill>
          <a:ln/>
        </p:spPr>
      </p:sp>
      <p:sp>
        <p:nvSpPr>
          <p:cNvPr id="15" name="Text 13"/>
          <p:cNvSpPr txBox="1"/>
          <p:nvPr/>
        </p:nvSpPr>
        <p:spPr>
          <a:xfrm>
            <a:off x="859536" y="1444752"/>
            <a:ext cx="3520440" cy="274320"/>
          </a:xfrm>
          <a:prstGeom prst="rect">
            <a:avLst/>
          </a:prstGeom>
          <a:noFill/>
          <a:ln/>
        </p:spPr>
        <p:txBody>
          <a:bodyPr wrap="square" lIns="0" tIns="0" rIns="0" bIns="0" rtlCol="0" anchor="ctr"/>
          <a:lstStyle/>
          <a:p>
            <a:pPr marL="0" indent="0">
              <a:buNone/>
            </a:pPr>
            <a:r>
              <a:rPr lang="en-US" sz="1300" b="1" dirty="0">
                <a:solidFill>
                  <a:srgbClr val="EEF0F8"/>
                </a:solidFill>
                <a:latin typeface="Arial" pitchFamily="34" charset="0"/>
                <a:ea typeface="Arial" pitchFamily="34" charset="-122"/>
                <a:cs typeface="Arial" pitchFamily="34" charset="-120"/>
              </a:rPr>
              <a:t>Yerine geçen (replaced) öğeler</a:t>
            </a:r>
            <a:endParaRPr lang="en-US" sz="1300" dirty="0"/>
          </a:p>
        </p:txBody>
      </p:sp>
      <p:sp>
        <p:nvSpPr>
          <p:cNvPr id="16" name="Text 14"/>
          <p:cNvSpPr txBox="1"/>
          <p:nvPr/>
        </p:nvSpPr>
        <p:spPr>
          <a:xfrm>
            <a:off x="694944" y="1737360"/>
            <a:ext cx="3657600" cy="685800"/>
          </a:xfrm>
          <a:prstGeom prst="rect">
            <a:avLst/>
          </a:prstGeom>
          <a:noFill/>
          <a:ln/>
        </p:spPr>
        <p:txBody>
          <a:bodyPr wrap="square" lIns="0" tIns="0" rIns="0" bIns="0" rtlCol="0" anchor="t"/>
          <a:lstStyle/>
          <a:p>
            <a:pPr marL="0" indent="0">
              <a:buNone/>
            </a:pPr>
            <a:r>
              <a:rPr lang="en-US" sz="1050" dirty="0">
                <a:solidFill>
                  <a:srgbClr val="EEF0F8"/>
                </a:solidFill>
                <a:latin typeface="Arial" pitchFamily="34" charset="0"/>
                <a:ea typeface="Arial" pitchFamily="34" charset="-122"/>
                <a:cs typeface="Arial" pitchFamily="34" charset="-120"/>
              </a:rPr>
              <a:t>img ve video'nun iç düzenini CSS değiştiremez; doğal boyut ve en-boy oranları vardır. max-width: 100% onları kaba sığdırır.</a:t>
            </a:r>
            <a:endParaRPr lang="en-US" sz="1050" dirty="0"/>
          </a:p>
        </p:txBody>
      </p:sp>
      <p:sp>
        <p:nvSpPr>
          <p:cNvPr id="17" name="kod-paneli"/>
          <p:cNvSpPr/>
          <p:nvPr/>
        </p:nvSpPr>
        <p:spPr>
          <a:xfrm>
            <a:off x="694944" y="2450592"/>
            <a:ext cx="3657600" cy="777240"/>
          </a:xfrm>
          <a:prstGeom prst="roundRect">
            <a:avLst>
              <a:gd name="adj" fmla="val 9412"/>
            </a:avLst>
          </a:prstGeom>
          <a:solidFill>
            <a:srgbClr val="0A0D1F"/>
          </a:solidFill>
          <a:ln w="9525">
            <a:solidFill>
              <a:srgbClr val="2E3768"/>
            </a:solidFill>
            <a:prstDash val="solid"/>
          </a:ln>
        </p:spPr>
      </p:sp>
      <p:sp>
        <p:nvSpPr>
          <p:cNvPr id="18" name="Text 16"/>
          <p:cNvSpPr txBox="1"/>
          <p:nvPr/>
        </p:nvSpPr>
        <p:spPr>
          <a:xfrm>
            <a:off x="841248" y="2560320"/>
            <a:ext cx="3383280" cy="576072"/>
          </a:xfrm>
          <a:prstGeom prst="rect">
            <a:avLst/>
          </a:prstGeom>
          <a:noFill/>
          <a:ln/>
        </p:spPr>
        <p:txBody>
          <a:bodyPr wrap="square" lIns="0" tIns="0" rIns="0" bIns="0" rtlCol="0" anchor="ctr"/>
          <a:lstStyle/>
          <a:p>
            <a:pPr marL="0" indent="0">
              <a:buNone/>
            </a:pPr>
            <a:r>
              <a:rPr lang="en-US" sz="900" dirty="0">
                <a:solidFill>
                  <a:srgbClr val="F472B6"/>
                </a:solidFill>
                <a:latin typeface="Courier New" pitchFamily="34" charset="0"/>
                <a:ea typeface="Courier New" pitchFamily="34" charset="-122"/>
                <a:cs typeface="Courier New" pitchFamily="34" charset="-120"/>
              </a:rPr>
              <a:t>img </a:t>
            </a:r>
            <a:r>
              <a:rPr lang="en-US" sz="900" dirty="0">
                <a:solidFill>
                  <a:srgbClr val="6C759E"/>
                </a:solidFill>
                <a:latin typeface="Courier New" pitchFamily="34" charset="0"/>
                <a:ea typeface="Courier New" pitchFamily="34" charset="-122"/>
                <a:cs typeface="Courier New" pitchFamily="34" charset="-120"/>
              </a:rPr>
              <a:t>{ </a:t>
            </a:r>
            <a:r>
              <a:rPr lang="en-US" sz="900" dirty="0">
                <a:solidFill>
                  <a:srgbClr val="22D3EE"/>
                </a:solidFill>
                <a:latin typeface="Courier New" pitchFamily="34" charset="0"/>
                <a:ea typeface="Courier New" pitchFamily="34" charset="-122"/>
                <a:cs typeface="Courier New" pitchFamily="34" charset="-120"/>
              </a:rPr>
              <a:t>width</a:t>
            </a:r>
            <a:r>
              <a:rPr lang="en-US" sz="900" dirty="0">
                <a:solidFill>
                  <a:srgbClr val="6C759E"/>
                </a:solidFill>
                <a:latin typeface="Courier New" pitchFamily="34" charset="0"/>
                <a:ea typeface="Courier New" pitchFamily="34" charset="-122"/>
                <a:cs typeface="Courier New" pitchFamily="34" charset="-120"/>
              </a:rPr>
              <a:t>: </a:t>
            </a:r>
            <a:r>
              <a:rPr lang="en-US" sz="900" dirty="0">
                <a:solidFill>
                  <a:srgbClr val="FBBF24"/>
                </a:solidFill>
                <a:latin typeface="Courier New" pitchFamily="34" charset="0"/>
                <a:ea typeface="Courier New" pitchFamily="34" charset="-122"/>
                <a:cs typeface="Courier New" pitchFamily="34" charset="-120"/>
              </a:rPr>
              <a:t>100%</a:t>
            </a:r>
            <a:r>
              <a:rPr lang="en-US" sz="900" dirty="0">
                <a:solidFill>
                  <a:srgbClr val="6C759E"/>
                </a:solidFill>
                <a:latin typeface="Courier New" pitchFamily="34" charset="0"/>
                <a:ea typeface="Courier New" pitchFamily="34" charset="-122"/>
                <a:cs typeface="Courier New" pitchFamily="34" charset="-120"/>
              </a:rPr>
              <a:t>; </a:t>
            </a:r>
            <a:r>
              <a:rPr lang="en-US" sz="900" dirty="0">
                <a:solidFill>
                  <a:srgbClr val="22D3EE"/>
                </a:solidFill>
                <a:latin typeface="Courier New" pitchFamily="34" charset="0"/>
                <a:ea typeface="Courier New" pitchFamily="34" charset="-122"/>
                <a:cs typeface="Courier New" pitchFamily="34" charset="-120"/>
              </a:rPr>
              <a:t>height</a:t>
            </a:r>
            <a:r>
              <a:rPr lang="en-US" sz="900" dirty="0">
                <a:solidFill>
                  <a:srgbClr val="6C759E"/>
                </a:solidFill>
                <a:latin typeface="Courier New" pitchFamily="34" charset="0"/>
                <a:ea typeface="Courier New" pitchFamily="34" charset="-122"/>
                <a:cs typeface="Courier New" pitchFamily="34" charset="-120"/>
              </a:rPr>
              <a:t>: </a:t>
            </a:r>
            <a:r>
              <a:rPr lang="en-US" sz="900" dirty="0">
                <a:solidFill>
                  <a:srgbClr val="FBBF24"/>
                </a:solidFill>
                <a:latin typeface="Courier New" pitchFamily="34" charset="0"/>
                <a:ea typeface="Courier New" pitchFamily="34" charset="-122"/>
                <a:cs typeface="Courier New" pitchFamily="34" charset="-120"/>
              </a:rPr>
              <a:t>100%</a:t>
            </a:r>
            <a:r>
              <a:rPr lang="en-US" sz="900" dirty="0">
                <a:solidFill>
                  <a:srgbClr val="6C759E"/>
                </a:solidFill>
                <a:latin typeface="Courier New" pitchFamily="34" charset="0"/>
                <a:ea typeface="Courier New" pitchFamily="34" charset="-122"/>
                <a:cs typeface="Courier New" pitchFamily="34" charset="-120"/>
              </a:rPr>
              <a:t>; }</a:t>
            </a:r>
            <a:endParaRPr lang="en-US" sz="900" dirty="0"/>
          </a:p>
          <a:p>
            <a:pPr marL="0" indent="0">
              <a:buNone/>
            </a:pPr>
            <a:r>
              <a:rPr lang="en-US" sz="900" dirty="0">
                <a:solidFill>
                  <a:srgbClr val="F472B6"/>
                </a:solidFill>
                <a:latin typeface="Courier New" pitchFamily="34" charset="0"/>
                <a:ea typeface="Courier New" pitchFamily="34" charset="-122"/>
                <a:cs typeface="Courier New" pitchFamily="34" charset="-120"/>
              </a:rPr>
              <a:t>.cover   </a:t>
            </a:r>
            <a:r>
              <a:rPr lang="en-US" sz="900" dirty="0">
                <a:solidFill>
                  <a:srgbClr val="6C759E"/>
                </a:solidFill>
                <a:latin typeface="Courier New" pitchFamily="34" charset="0"/>
                <a:ea typeface="Courier New" pitchFamily="34" charset="-122"/>
                <a:cs typeface="Courier New" pitchFamily="34" charset="-120"/>
              </a:rPr>
              <a:t>{ </a:t>
            </a:r>
            <a:r>
              <a:rPr lang="en-US" sz="900" dirty="0">
                <a:solidFill>
                  <a:srgbClr val="22D3EE"/>
                </a:solidFill>
                <a:latin typeface="Courier New" pitchFamily="34" charset="0"/>
                <a:ea typeface="Courier New" pitchFamily="34" charset="-122"/>
                <a:cs typeface="Courier New" pitchFamily="34" charset="-120"/>
              </a:rPr>
              <a:t>object-fit</a:t>
            </a:r>
            <a:r>
              <a:rPr lang="en-US" sz="900" dirty="0">
                <a:solidFill>
                  <a:srgbClr val="6C759E"/>
                </a:solidFill>
                <a:latin typeface="Courier New" pitchFamily="34" charset="0"/>
                <a:ea typeface="Courier New" pitchFamily="34" charset="-122"/>
                <a:cs typeface="Courier New" pitchFamily="34" charset="-120"/>
              </a:rPr>
              <a:t>: </a:t>
            </a:r>
            <a:r>
              <a:rPr lang="en-US" sz="900" dirty="0">
                <a:solidFill>
                  <a:srgbClr val="FBBF24"/>
                </a:solidFill>
                <a:latin typeface="Courier New" pitchFamily="34" charset="0"/>
                <a:ea typeface="Courier New" pitchFamily="34" charset="-122"/>
                <a:cs typeface="Courier New" pitchFamily="34" charset="-120"/>
              </a:rPr>
              <a:t>cover</a:t>
            </a:r>
            <a:r>
              <a:rPr lang="en-US" sz="900" dirty="0">
                <a:solidFill>
                  <a:srgbClr val="6C759E"/>
                </a:solidFill>
                <a:latin typeface="Courier New" pitchFamily="34" charset="0"/>
                <a:ea typeface="Courier New" pitchFamily="34" charset="-122"/>
                <a:cs typeface="Courier New" pitchFamily="34" charset="-120"/>
              </a:rPr>
              <a:t>; }</a:t>
            </a:r>
            <a:endParaRPr lang="en-US" sz="900" dirty="0"/>
          </a:p>
          <a:p>
            <a:pPr marL="0" indent="0">
              <a:buNone/>
            </a:pPr>
            <a:r>
              <a:rPr lang="en-US" sz="900" dirty="0">
                <a:solidFill>
                  <a:srgbClr val="F472B6"/>
                </a:solidFill>
                <a:latin typeface="Courier New" pitchFamily="34" charset="0"/>
                <a:ea typeface="Courier New" pitchFamily="34" charset="-122"/>
                <a:cs typeface="Courier New" pitchFamily="34" charset="-120"/>
              </a:rPr>
              <a:t>.contain </a:t>
            </a:r>
            <a:r>
              <a:rPr lang="en-US" sz="900" dirty="0">
                <a:solidFill>
                  <a:srgbClr val="6C759E"/>
                </a:solidFill>
                <a:latin typeface="Courier New" pitchFamily="34" charset="0"/>
                <a:ea typeface="Courier New" pitchFamily="34" charset="-122"/>
                <a:cs typeface="Courier New" pitchFamily="34" charset="-120"/>
              </a:rPr>
              <a:t>{ </a:t>
            </a:r>
            <a:r>
              <a:rPr lang="en-US" sz="900" dirty="0">
                <a:solidFill>
                  <a:srgbClr val="22D3EE"/>
                </a:solidFill>
                <a:latin typeface="Courier New" pitchFamily="34" charset="0"/>
                <a:ea typeface="Courier New" pitchFamily="34" charset="-122"/>
                <a:cs typeface="Courier New" pitchFamily="34" charset="-120"/>
              </a:rPr>
              <a:t>object-fit</a:t>
            </a:r>
            <a:r>
              <a:rPr lang="en-US" sz="900" dirty="0">
                <a:solidFill>
                  <a:srgbClr val="6C759E"/>
                </a:solidFill>
                <a:latin typeface="Courier New" pitchFamily="34" charset="0"/>
                <a:ea typeface="Courier New" pitchFamily="34" charset="-122"/>
                <a:cs typeface="Courier New" pitchFamily="34" charset="-120"/>
              </a:rPr>
              <a:t>: </a:t>
            </a:r>
            <a:r>
              <a:rPr lang="en-US" sz="900" dirty="0">
                <a:solidFill>
                  <a:srgbClr val="FBBF24"/>
                </a:solidFill>
                <a:latin typeface="Courier New" pitchFamily="34" charset="0"/>
                <a:ea typeface="Courier New" pitchFamily="34" charset="-122"/>
                <a:cs typeface="Courier New" pitchFamily="34" charset="-120"/>
              </a:rPr>
              <a:t>contain</a:t>
            </a:r>
            <a:r>
              <a:rPr lang="en-US" sz="900" dirty="0">
                <a:solidFill>
                  <a:srgbClr val="6C759E"/>
                </a:solidFill>
                <a:latin typeface="Courier New" pitchFamily="34" charset="0"/>
                <a:ea typeface="Courier New" pitchFamily="34" charset="-122"/>
                <a:cs typeface="Courier New" pitchFamily="34" charset="-120"/>
              </a:rPr>
              <a:t>; }</a:t>
            </a:r>
            <a:endParaRPr lang="en-US" sz="900" dirty="0"/>
          </a:p>
        </p:txBody>
      </p:sp>
      <p:sp>
        <p:nvSpPr>
          <p:cNvPr id="19" name="Text 17"/>
          <p:cNvSpPr txBox="1"/>
          <p:nvPr/>
        </p:nvSpPr>
        <p:spPr>
          <a:xfrm>
            <a:off x="694944" y="3291840"/>
            <a:ext cx="3657600" cy="777240"/>
          </a:xfrm>
          <a:prstGeom prst="rect">
            <a:avLst/>
          </a:prstGeom>
          <a:noFill/>
          <a:ln/>
        </p:spPr>
        <p:txBody>
          <a:bodyPr wrap="square" lIns="0" tIns="0" rIns="0" bIns="0" rtlCol="0" anchor="t"/>
          <a:lstStyle/>
          <a:p>
            <a:pPr marL="0" indent="0">
              <a:buNone/>
            </a:pPr>
            <a:r>
              <a:rPr lang="en-US" sz="950" dirty="0">
                <a:solidFill>
                  <a:srgbClr val="9AA3C7"/>
                </a:solidFill>
                <a:latin typeface="Arial" pitchFamily="34" charset="0"/>
                <a:ea typeface="Arial" pitchFamily="34" charset="-122"/>
                <a:cs typeface="Arial" pitchFamily="34" charset="-120"/>
              </a:rPr>
              <a:t>cover kutuyu doldurur ve kırpar, contain resmin tamamını gösterir. object-fit için img'in kendisi boyutlandırılmış olmalı. Grid içinde resimler esnemez, alanın başına hizalanır.</a:t>
            </a:r>
            <a:endParaRPr lang="en-US" sz="950" dirty="0"/>
          </a:p>
        </p:txBody>
      </p:sp>
      <p:sp>
        <p:nvSpPr>
          <p:cNvPr id="20" name="kart"/>
          <p:cNvSpPr/>
          <p:nvPr/>
        </p:nvSpPr>
        <p:spPr>
          <a:xfrm>
            <a:off x="4709160" y="1371600"/>
            <a:ext cx="3886200" cy="2724912"/>
          </a:xfrm>
          <a:prstGeom prst="roundRect">
            <a:avLst>
              <a:gd name="adj" fmla="val 2685"/>
            </a:avLst>
          </a:prstGeom>
          <a:solidFill>
            <a:srgbClr val="1A2044"/>
          </a:solidFill>
          <a:ln w="9525">
            <a:solidFill>
              <a:srgbClr val="2E3768"/>
            </a:solidFill>
            <a:prstDash val="solid"/>
          </a:ln>
        </p:spPr>
      </p:sp>
      <p:sp>
        <p:nvSpPr>
          <p:cNvPr id="21" name="kart-nokta"/>
          <p:cNvSpPr/>
          <p:nvPr/>
        </p:nvSpPr>
        <p:spPr>
          <a:xfrm>
            <a:off x="4855464" y="1527048"/>
            <a:ext cx="91440" cy="91440"/>
          </a:xfrm>
          <a:prstGeom prst="ellipse">
            <a:avLst/>
          </a:prstGeom>
          <a:solidFill>
            <a:srgbClr val="F472B6"/>
          </a:solidFill>
          <a:ln/>
        </p:spPr>
      </p:sp>
      <p:sp>
        <p:nvSpPr>
          <p:cNvPr id="22" name="Text 20"/>
          <p:cNvSpPr txBox="1"/>
          <p:nvPr/>
        </p:nvSpPr>
        <p:spPr>
          <a:xfrm>
            <a:off x="5020056" y="1444752"/>
            <a:ext cx="3474720" cy="274320"/>
          </a:xfrm>
          <a:prstGeom prst="rect">
            <a:avLst/>
          </a:prstGeom>
          <a:noFill/>
          <a:ln/>
        </p:spPr>
        <p:txBody>
          <a:bodyPr wrap="square" lIns="0" tIns="0" rIns="0" bIns="0" rtlCol="0" anchor="ctr"/>
          <a:lstStyle/>
          <a:p>
            <a:pPr marL="0" indent="0">
              <a:buNone/>
            </a:pPr>
            <a:r>
              <a:rPr lang="en-US" sz="1300" b="1" dirty="0">
                <a:solidFill>
                  <a:srgbClr val="EEF0F8"/>
                </a:solidFill>
                <a:latin typeface="Arial" pitchFamily="34" charset="0"/>
                <a:ea typeface="Arial" pitchFamily="34" charset="-122"/>
                <a:cs typeface="Arial" pitchFamily="34" charset="-120"/>
              </a:rPr>
              <a:t>Formlar</a:t>
            </a:r>
            <a:endParaRPr lang="en-US" sz="1300" dirty="0"/>
          </a:p>
        </p:txBody>
      </p:sp>
      <p:sp>
        <p:nvSpPr>
          <p:cNvPr id="23" name="Text 21"/>
          <p:cNvSpPr txBox="1"/>
          <p:nvPr/>
        </p:nvSpPr>
        <p:spPr>
          <a:xfrm>
            <a:off x="4846320" y="1737360"/>
            <a:ext cx="3611880" cy="822960"/>
          </a:xfrm>
          <a:prstGeom prst="rect">
            <a:avLst/>
          </a:prstGeom>
          <a:noFill/>
          <a:ln/>
        </p:spPr>
        <p:txBody>
          <a:bodyPr wrap="square" lIns="0" tIns="0" rIns="0" bIns="0" rtlCol="0" anchor="t"/>
          <a:lstStyle/>
          <a:p>
            <a:pPr marL="0" indent="0">
              <a:buNone/>
            </a:pPr>
            <a:r>
              <a:rPr lang="en-US" sz="1050" dirty="0">
                <a:solidFill>
                  <a:srgbClr val="EEF0F8"/>
                </a:solidFill>
                <a:latin typeface="Arial" pitchFamily="34" charset="0"/>
                <a:ea typeface="Arial" pitchFamily="34" charset="-122"/>
                <a:cs typeface="Arial" pitchFamily="34" charset="-120"/>
              </a:rPr>
              <a:t>Metin kutuları (text, email, textarea) normal kutu gibi stillenir. Karmaşık girişler işletim sistemince çizilir, stillemek zordur. Tutarlı başlangıç için:</a:t>
            </a:r>
            <a:endParaRPr lang="en-US" sz="1050" dirty="0"/>
          </a:p>
        </p:txBody>
      </p:sp>
      <p:sp>
        <p:nvSpPr>
          <p:cNvPr id="24" name="kod-paneli"/>
          <p:cNvSpPr/>
          <p:nvPr/>
        </p:nvSpPr>
        <p:spPr>
          <a:xfrm>
            <a:off x="4846320" y="2578608"/>
            <a:ext cx="3611880" cy="1097280"/>
          </a:xfrm>
          <a:prstGeom prst="roundRect">
            <a:avLst>
              <a:gd name="adj" fmla="val 6667"/>
            </a:avLst>
          </a:prstGeom>
          <a:solidFill>
            <a:srgbClr val="0A0D1F"/>
          </a:solidFill>
          <a:ln w="9525">
            <a:solidFill>
              <a:srgbClr val="2E3768"/>
            </a:solidFill>
            <a:prstDash val="solid"/>
          </a:ln>
        </p:spPr>
      </p:sp>
      <p:sp>
        <p:nvSpPr>
          <p:cNvPr id="25" name="Text 23"/>
          <p:cNvSpPr txBox="1"/>
          <p:nvPr/>
        </p:nvSpPr>
        <p:spPr>
          <a:xfrm>
            <a:off x="4992624" y="2688336"/>
            <a:ext cx="3337560" cy="896112"/>
          </a:xfrm>
          <a:prstGeom prst="rect">
            <a:avLst/>
          </a:prstGeom>
          <a:noFill/>
          <a:ln/>
        </p:spPr>
        <p:txBody>
          <a:bodyPr wrap="square" lIns="0" tIns="0" rIns="0" bIns="0" rtlCol="0" anchor="ctr"/>
          <a:lstStyle/>
          <a:p>
            <a:pPr marL="0" indent="0">
              <a:buNone/>
            </a:pPr>
            <a:r>
              <a:rPr lang="en-US" sz="850" dirty="0">
                <a:solidFill>
                  <a:srgbClr val="F472B6"/>
                </a:solidFill>
                <a:latin typeface="Courier New" pitchFamily="34" charset="0"/>
                <a:ea typeface="Courier New" pitchFamily="34" charset="-122"/>
                <a:cs typeface="Courier New" pitchFamily="34" charset="-120"/>
              </a:rPr>
              <a:t>button, input, select, textarea </a:t>
            </a:r>
            <a:r>
              <a:rPr lang="en-US" sz="850" dirty="0">
                <a:solidFill>
                  <a:srgbClr val="6C759E"/>
                </a:solidFill>
                <a:latin typeface="Courier New" pitchFamily="34" charset="0"/>
                <a:ea typeface="Courier New" pitchFamily="34" charset="-122"/>
                <a:cs typeface="Courier New" pitchFamily="34" charset="-120"/>
              </a:rPr>
              <a:t>{</a:t>
            </a:r>
            <a:endParaRPr lang="en-US" sz="850" dirty="0"/>
          </a:p>
          <a:p>
            <a:pPr marL="0" indent="0">
              <a:buNone/>
            </a:pPr>
            <a:r>
              <a:rPr lang="en-US" sz="850" dirty="0">
                <a:solidFill>
                  <a:srgbClr val="EEF0F8"/>
                </a:solidFill>
                <a:latin typeface="Courier New" pitchFamily="34" charset="0"/>
                <a:ea typeface="Courier New" pitchFamily="34" charset="-122"/>
                <a:cs typeface="Courier New" pitchFamily="34" charset="-120"/>
              </a:rPr>
              <a:t>  </a:t>
            </a:r>
            <a:r>
              <a:rPr lang="en-US" sz="850" dirty="0">
                <a:solidFill>
                  <a:srgbClr val="22D3EE"/>
                </a:solidFill>
                <a:latin typeface="Courier New" pitchFamily="34" charset="0"/>
                <a:ea typeface="Courier New" pitchFamily="34" charset="-122"/>
                <a:cs typeface="Courier New" pitchFamily="34" charset="-120"/>
              </a:rPr>
              <a:t>font-family</a:t>
            </a:r>
            <a:r>
              <a:rPr lang="en-US" sz="850" dirty="0">
                <a:solidFill>
                  <a:srgbClr val="6C759E"/>
                </a:solidFill>
                <a:latin typeface="Courier New" pitchFamily="34" charset="0"/>
                <a:ea typeface="Courier New" pitchFamily="34" charset="-122"/>
                <a:cs typeface="Courier New" pitchFamily="34" charset="-120"/>
              </a:rPr>
              <a:t>: </a:t>
            </a:r>
            <a:r>
              <a:rPr lang="en-US" sz="850" dirty="0">
                <a:solidFill>
                  <a:srgbClr val="FBBF24"/>
                </a:solidFill>
                <a:latin typeface="Courier New" pitchFamily="34" charset="0"/>
                <a:ea typeface="Courier New" pitchFamily="34" charset="-122"/>
                <a:cs typeface="Courier New" pitchFamily="34" charset="-120"/>
              </a:rPr>
              <a:t>inherit;</a:t>
            </a:r>
            <a:endParaRPr lang="en-US" sz="850" dirty="0"/>
          </a:p>
          <a:p>
            <a:pPr marL="0" indent="0">
              <a:buNone/>
            </a:pPr>
            <a:r>
              <a:rPr lang="en-US" sz="850" dirty="0">
                <a:solidFill>
                  <a:srgbClr val="EEF0F8"/>
                </a:solidFill>
                <a:latin typeface="Courier New" pitchFamily="34" charset="0"/>
                <a:ea typeface="Courier New" pitchFamily="34" charset="-122"/>
                <a:cs typeface="Courier New" pitchFamily="34" charset="-120"/>
              </a:rPr>
              <a:t>  </a:t>
            </a:r>
            <a:r>
              <a:rPr lang="en-US" sz="850" dirty="0">
                <a:solidFill>
                  <a:srgbClr val="22D3EE"/>
                </a:solidFill>
                <a:latin typeface="Courier New" pitchFamily="34" charset="0"/>
                <a:ea typeface="Courier New" pitchFamily="34" charset="-122"/>
                <a:cs typeface="Courier New" pitchFamily="34" charset="-120"/>
              </a:rPr>
              <a:t>font-size</a:t>
            </a:r>
            <a:r>
              <a:rPr lang="en-US" sz="850" dirty="0">
                <a:solidFill>
                  <a:srgbClr val="6C759E"/>
                </a:solidFill>
                <a:latin typeface="Courier New" pitchFamily="34" charset="0"/>
                <a:ea typeface="Courier New" pitchFamily="34" charset="-122"/>
                <a:cs typeface="Courier New" pitchFamily="34" charset="-120"/>
              </a:rPr>
              <a:t>: </a:t>
            </a:r>
            <a:r>
              <a:rPr lang="en-US" sz="850" dirty="0">
                <a:solidFill>
                  <a:srgbClr val="FBBF24"/>
                </a:solidFill>
                <a:latin typeface="Courier New" pitchFamily="34" charset="0"/>
                <a:ea typeface="Courier New" pitchFamily="34" charset="-122"/>
                <a:cs typeface="Courier New" pitchFamily="34" charset="-120"/>
              </a:rPr>
              <a:t>100%;</a:t>
            </a:r>
            <a:endParaRPr lang="en-US" sz="850" dirty="0"/>
          </a:p>
          <a:p>
            <a:pPr marL="0" indent="0">
              <a:buNone/>
            </a:pPr>
            <a:r>
              <a:rPr lang="en-US" sz="850" dirty="0">
                <a:solidFill>
                  <a:srgbClr val="EEF0F8"/>
                </a:solidFill>
                <a:latin typeface="Courier New" pitchFamily="34" charset="0"/>
                <a:ea typeface="Courier New" pitchFamily="34" charset="-122"/>
                <a:cs typeface="Courier New" pitchFamily="34" charset="-120"/>
              </a:rPr>
              <a:t>  </a:t>
            </a:r>
            <a:r>
              <a:rPr lang="en-US" sz="850" dirty="0">
                <a:solidFill>
                  <a:srgbClr val="22D3EE"/>
                </a:solidFill>
                <a:latin typeface="Courier New" pitchFamily="34" charset="0"/>
                <a:ea typeface="Courier New" pitchFamily="34" charset="-122"/>
                <a:cs typeface="Courier New" pitchFamily="34" charset="-120"/>
              </a:rPr>
              <a:t>box-sizing</a:t>
            </a:r>
            <a:r>
              <a:rPr lang="en-US" sz="850" dirty="0">
                <a:solidFill>
                  <a:srgbClr val="6C759E"/>
                </a:solidFill>
                <a:latin typeface="Courier New" pitchFamily="34" charset="0"/>
                <a:ea typeface="Courier New" pitchFamily="34" charset="-122"/>
                <a:cs typeface="Courier New" pitchFamily="34" charset="-120"/>
              </a:rPr>
              <a:t>: </a:t>
            </a:r>
            <a:r>
              <a:rPr lang="en-US" sz="850" dirty="0">
                <a:solidFill>
                  <a:srgbClr val="FBBF24"/>
                </a:solidFill>
                <a:latin typeface="Courier New" pitchFamily="34" charset="0"/>
                <a:ea typeface="Courier New" pitchFamily="34" charset="-122"/>
                <a:cs typeface="Courier New" pitchFamily="34" charset="-120"/>
              </a:rPr>
              <a:t>border-box;</a:t>
            </a:r>
            <a:endParaRPr lang="en-US" sz="850" dirty="0"/>
          </a:p>
          <a:p>
            <a:pPr marL="0" indent="0">
              <a:buNone/>
            </a:pPr>
            <a:r>
              <a:rPr lang="en-US" sz="850" dirty="0">
                <a:solidFill>
                  <a:srgbClr val="EEF0F8"/>
                </a:solidFill>
                <a:latin typeface="Courier New" pitchFamily="34" charset="0"/>
                <a:ea typeface="Courier New" pitchFamily="34" charset="-122"/>
                <a:cs typeface="Courier New" pitchFamily="34" charset="-120"/>
              </a:rPr>
              <a:t>  </a:t>
            </a:r>
            <a:r>
              <a:rPr lang="en-US" sz="850" dirty="0">
                <a:solidFill>
                  <a:srgbClr val="22D3EE"/>
                </a:solidFill>
                <a:latin typeface="Courier New" pitchFamily="34" charset="0"/>
                <a:ea typeface="Courier New" pitchFamily="34" charset="-122"/>
                <a:cs typeface="Courier New" pitchFamily="34" charset="-120"/>
              </a:rPr>
              <a:t>padding</a:t>
            </a:r>
            <a:r>
              <a:rPr lang="en-US" sz="850" dirty="0">
                <a:solidFill>
                  <a:srgbClr val="6C759E"/>
                </a:solidFill>
                <a:latin typeface="Courier New" pitchFamily="34" charset="0"/>
                <a:ea typeface="Courier New" pitchFamily="34" charset="-122"/>
                <a:cs typeface="Courier New" pitchFamily="34" charset="-120"/>
              </a:rPr>
              <a:t>: </a:t>
            </a:r>
            <a:r>
              <a:rPr lang="en-US" sz="850" dirty="0">
                <a:solidFill>
                  <a:srgbClr val="FBBF24"/>
                </a:solidFill>
                <a:latin typeface="Courier New" pitchFamily="34" charset="0"/>
                <a:ea typeface="Courier New" pitchFamily="34" charset="-122"/>
                <a:cs typeface="Courier New" pitchFamily="34" charset="-120"/>
              </a:rPr>
              <a:t>0; margin: 0; }</a:t>
            </a:r>
            <a:endParaRPr lang="en-US" sz="850" dirty="0"/>
          </a:p>
        </p:txBody>
      </p:sp>
      <p:sp>
        <p:nvSpPr>
          <p:cNvPr id="26" name="Text 24"/>
          <p:cNvSpPr txBox="1"/>
          <p:nvPr/>
        </p:nvSpPr>
        <p:spPr>
          <a:xfrm>
            <a:off x="4846320" y="3749040"/>
            <a:ext cx="3611880" cy="320040"/>
          </a:xfrm>
          <a:prstGeom prst="rect">
            <a:avLst/>
          </a:prstGeom>
          <a:noFill/>
          <a:ln/>
        </p:spPr>
        <p:txBody>
          <a:bodyPr wrap="square" lIns="0" tIns="0" rIns="0" bIns="0" rtlCol="0" anchor="t"/>
          <a:lstStyle/>
          <a:p>
            <a:pPr marL="0" indent="0">
              <a:buNone/>
            </a:pPr>
            <a:r>
              <a:rPr lang="en-US" sz="950" dirty="0">
                <a:solidFill>
                  <a:srgbClr val="FBBF24"/>
                </a:solidFill>
                <a:latin typeface="Arial" pitchFamily="34" charset="0"/>
                <a:ea typeface="Arial" pitchFamily="34" charset="-122"/>
                <a:cs typeface="Arial" pitchFamily="34" charset="-120"/>
              </a:rPr>
              <a:t>Form kontrolleri form kontrolü gibi görünmeye devam etmeli.</a:t>
            </a:r>
            <a:endParaRPr lang="en-US" sz="950" dirty="0"/>
          </a:p>
        </p:txBody>
      </p:sp>
      <p:sp>
        <p:nvSpPr>
          <p:cNvPr id="27" name="benzetme"/>
          <p:cNvSpPr/>
          <p:nvPr/>
        </p:nvSpPr>
        <p:spPr>
          <a:xfrm>
            <a:off x="548640" y="4224528"/>
            <a:ext cx="8046720" cy="402336"/>
          </a:xfrm>
          <a:prstGeom prst="roundRect">
            <a:avLst>
              <a:gd name="adj" fmla="val 50000"/>
            </a:avLst>
          </a:prstGeom>
          <a:solidFill>
            <a:srgbClr val="232A55"/>
          </a:solidFill>
          <a:ln/>
        </p:spPr>
      </p:sp>
      <p:sp>
        <p:nvSpPr>
          <p:cNvPr id="28" name="benzetme-ikon"/>
          <p:cNvSpPr/>
          <p:nvPr/>
        </p:nvSpPr>
        <p:spPr>
          <a:xfrm>
            <a:off x="621792" y="4261104"/>
            <a:ext cx="329184" cy="329184"/>
          </a:xfrm>
          <a:prstGeom prst="ellipse">
            <a:avLst/>
          </a:prstGeom>
          <a:solidFill>
            <a:srgbClr val="FBBF24"/>
          </a:solidFill>
          <a:ln/>
        </p:spPr>
      </p:sp>
      <p:sp>
        <p:nvSpPr>
          <p:cNvPr id="29" name="Text 27"/>
          <p:cNvSpPr txBox="1"/>
          <p:nvPr/>
        </p:nvSpPr>
        <p:spPr>
          <a:xfrm>
            <a:off x="621792" y="4261104"/>
            <a:ext cx="329184" cy="329184"/>
          </a:xfrm>
          <a:prstGeom prst="rect">
            <a:avLst/>
          </a:prstGeom>
          <a:noFill/>
          <a:ln/>
        </p:spPr>
        <p:txBody>
          <a:bodyPr wrap="square" lIns="0" tIns="0" rIns="0" bIns="0" rtlCol="0" anchor="ctr"/>
          <a:lstStyle/>
          <a:p>
            <a:pPr marL="0" indent="0" algn="ctr">
              <a:buNone/>
            </a:pPr>
            <a:r>
              <a:rPr lang="en-US" sz="1600" b="1" dirty="0">
                <a:solidFill>
                  <a:srgbClr val="10142B"/>
                </a:solidFill>
                <a:latin typeface="Arial" pitchFamily="34" charset="0"/>
                <a:ea typeface="Arial" pitchFamily="34" charset="-122"/>
                <a:cs typeface="Arial" pitchFamily="34" charset="-120"/>
              </a:rPr>
              <a:t>≈</a:t>
            </a:r>
            <a:endParaRPr lang="en-US" sz="1600" dirty="0"/>
          </a:p>
        </p:txBody>
      </p:sp>
      <p:sp>
        <p:nvSpPr>
          <p:cNvPr id="30" name="Text 28"/>
          <p:cNvSpPr txBox="1"/>
          <p:nvPr/>
        </p:nvSpPr>
        <p:spPr>
          <a:xfrm>
            <a:off x="1042416" y="4224528"/>
            <a:ext cx="7452360" cy="402336"/>
          </a:xfrm>
          <a:prstGeom prst="rect">
            <a:avLst/>
          </a:prstGeom>
          <a:noFill/>
          <a:ln/>
        </p:spPr>
        <p:txBody>
          <a:bodyPr wrap="square" lIns="0" tIns="0" rIns="0" bIns="0" rtlCol="0" anchor="ctr"/>
          <a:lstStyle/>
          <a:p>
            <a:pPr marL="0" indent="0">
              <a:buNone/>
            </a:pPr>
            <a:r>
              <a:rPr lang="en-US" sz="1100" b="1" dirty="0">
                <a:solidFill>
                  <a:srgbClr val="FBBF24"/>
                </a:solidFill>
                <a:latin typeface="Arial" pitchFamily="34" charset="0"/>
                <a:ea typeface="Arial" pitchFamily="34" charset="-122"/>
                <a:cs typeface="Arial" pitchFamily="34" charset="-120"/>
              </a:rPr>
              <a:t>Gündelik hayatta: </a:t>
            </a:r>
            <a:r>
              <a:rPr lang="en-US" sz="1100" dirty="0">
                <a:solidFill>
                  <a:srgbClr val="EEF0F8"/>
                </a:solidFill>
                <a:latin typeface="Arial" pitchFamily="34" charset="0"/>
                <a:ea typeface="Arial" pitchFamily="34" charset="-122"/>
                <a:cs typeface="Arial" pitchFamily="34" charset="-120"/>
              </a:rPr>
              <a:t>object-fit, fotoğrafı çerçeveye yerleştirmek gibi: taşanı kesersin (cover) ya da kenarlarda boşluk bırakırsın (contain).</a:t>
            </a:r>
            <a:endParaRPr lang="en-US" sz="1100" dirty="0"/>
          </a:p>
        </p:txBody>
      </p:sp>
    </p:spTree>
  </p:cSld>
  <p:clrMapOvr>
    <a:masterClrMapping/>
  </p:clrMapOvr>
  <p:transition spd="med">
    <p:pull/>
  </p:transition>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256032"/>
            <a:ext cx="4572000" cy="201168"/>
          </a:xfrm>
          <a:prstGeom prst="rect">
            <a:avLst/>
          </a:prstGeom>
          <a:noFill/>
          <a:ln/>
        </p:spPr>
        <p:txBody>
          <a:bodyPr wrap="square" lIns="0" tIns="0" rIns="0" bIns="0" rtlCol="0" anchor="t"/>
          <a:lstStyle/>
          <a:p>
            <a:pPr marL="0" indent="0">
              <a:buNone/>
            </a:pPr>
            <a:r>
              <a:rPr lang="en-US" sz="900" b="1" kern="0" spc="200" dirty="0">
                <a:solidFill>
                  <a:srgbClr val="22D3EE"/>
                </a:solidFill>
                <a:latin typeface="Arial" pitchFamily="34" charset="0"/>
                <a:ea typeface="Arial" pitchFamily="34" charset="-122"/>
                <a:cs typeface="Arial" pitchFamily="34" charset="-120"/>
              </a:rPr>
              <a:t>MODÜL 1 · CSS TEMELLERİ</a:t>
            </a:r>
            <a:endParaRPr lang="en-US" sz="900" dirty="0"/>
          </a:p>
        </p:txBody>
      </p:sp>
      <p:sp>
        <p:nvSpPr>
          <p:cNvPr id="3" name="mini-box-0"/>
          <p:cNvSpPr/>
          <p:nvPr/>
        </p:nvSpPr>
        <p:spPr>
          <a:xfrm>
            <a:off x="8229600" y="201168"/>
            <a:ext cx="384048" cy="384048"/>
          </a:xfrm>
          <a:prstGeom prst="rect">
            <a:avLst/>
          </a:prstGeom>
          <a:ln w="9525">
            <a:solidFill>
              <a:srgbClr val="22D3EE"/>
            </a:solidFill>
            <a:prstDash val="solid"/>
          </a:ln>
        </p:spPr>
      </p:sp>
      <p:sp>
        <p:nvSpPr>
          <p:cNvPr id="4" name="mini-box-1"/>
          <p:cNvSpPr/>
          <p:nvPr/>
        </p:nvSpPr>
        <p:spPr>
          <a:xfrm>
            <a:off x="8293608" y="265176"/>
            <a:ext cx="256032" cy="256032"/>
          </a:xfrm>
          <a:prstGeom prst="rect">
            <a:avLst/>
          </a:prstGeom>
          <a:ln w="9525">
            <a:solidFill>
              <a:srgbClr val="EEF0F8"/>
            </a:solidFill>
            <a:prstDash val="solid"/>
          </a:ln>
        </p:spPr>
      </p:sp>
      <p:sp>
        <p:nvSpPr>
          <p:cNvPr id="5" name="mini-box-2"/>
          <p:cNvSpPr/>
          <p:nvPr/>
        </p:nvSpPr>
        <p:spPr>
          <a:xfrm>
            <a:off x="8348472" y="320040"/>
            <a:ext cx="146304" cy="146304"/>
          </a:xfrm>
          <a:prstGeom prst="rect">
            <a:avLst/>
          </a:prstGeom>
          <a:solidFill>
            <a:srgbClr val="22D3EE"/>
          </a:solidFill>
          <a:ln w="9525">
            <a:solidFill>
              <a:srgbClr val="22D3EE"/>
            </a:solidFill>
            <a:prstDash val="solid"/>
          </a:ln>
        </p:spPr>
      </p:sp>
      <p:sp>
        <p:nvSpPr>
          <p:cNvPr id="6" name="ilerleme-zemin"/>
          <p:cNvSpPr/>
          <p:nvPr/>
        </p:nvSpPr>
        <p:spPr>
          <a:xfrm>
            <a:off x="0" y="5070348"/>
            <a:ext cx="9144000" cy="73152"/>
          </a:xfrm>
          <a:prstGeom prst="rect">
            <a:avLst/>
          </a:prstGeom>
          <a:solidFill>
            <a:srgbClr val="1A2044"/>
          </a:solidFill>
          <a:ln/>
        </p:spPr>
      </p:sp>
      <p:sp>
        <p:nvSpPr>
          <p:cNvPr id="7" name="ilerleme"/>
          <p:cNvSpPr/>
          <p:nvPr/>
        </p:nvSpPr>
        <p:spPr>
          <a:xfrm>
            <a:off x="0" y="5070348"/>
            <a:ext cx="4678326" cy="73152"/>
          </a:xfrm>
          <a:prstGeom prst="rect">
            <a:avLst/>
          </a:prstGeom>
          <a:solidFill>
            <a:srgbClr val="22D3EE"/>
          </a:solidFill>
          <a:ln/>
        </p:spPr>
      </p:sp>
      <p:sp>
        <p:nvSpPr>
          <p:cNvPr id="8" name="Text 6"/>
          <p:cNvSpPr txBox="1"/>
          <p:nvPr/>
        </p:nvSpPr>
        <p:spPr>
          <a:xfrm>
            <a:off x="548640" y="4791456"/>
            <a:ext cx="3657600" cy="201168"/>
          </a:xfrm>
          <a:prstGeom prst="rect">
            <a:avLst/>
          </a:prstGeom>
          <a:noFill/>
          <a:ln/>
        </p:spPr>
        <p:txBody>
          <a:bodyPr wrap="square" lIns="0" tIns="0" rIns="0" bIns="0" rtlCol="0" anchor="t"/>
          <a:lstStyle/>
          <a:p>
            <a:pPr marL="0" indent="0">
              <a:buNone/>
            </a:pPr>
            <a:r>
              <a:rPr lang="en-US" sz="850" dirty="0">
                <a:solidFill>
                  <a:srgbClr val="6C759E"/>
                </a:solidFill>
                <a:latin typeface="Arial" pitchFamily="34" charset="0"/>
                <a:ea typeface="Arial" pitchFamily="34" charset="-122"/>
                <a:cs typeface="Arial" pitchFamily="34" charset="-120"/>
              </a:rPr>
              <a:t>KCŞ A.Ş.  ·  CSS ile stil ve düzen</a:t>
            </a:r>
            <a:endParaRPr lang="en-US" sz="850" dirty="0"/>
          </a:p>
        </p:txBody>
      </p:sp>
      <p:sp>
        <p:nvSpPr>
          <p:cNvPr id="9" name="Text 7"/>
          <p:cNvSpPr txBox="1"/>
          <p:nvPr/>
        </p:nvSpPr>
        <p:spPr>
          <a:xfrm>
            <a:off x="4206240" y="4791456"/>
            <a:ext cx="3840480" cy="201168"/>
          </a:xfrm>
          <a:prstGeom prst="rect">
            <a:avLst/>
          </a:prstGeom>
          <a:noFill/>
          <a:ln/>
        </p:spPr>
        <p:txBody>
          <a:bodyPr wrap="square" lIns="0" tIns="0" rIns="0" bIns="0" rtlCol="0" anchor="t"/>
          <a:lstStyle/>
          <a:p>
            <a:pPr marL="0" indent="0" algn="r">
              <a:buNone/>
            </a:pPr>
            <a:r>
              <a:rPr lang="en-US" sz="850" dirty="0">
                <a:solidFill>
                  <a:srgbClr val="6C759E"/>
                </a:solidFill>
                <a:latin typeface="Arial" pitchFamily="34" charset="0"/>
                <a:ea typeface="Arial" pitchFamily="34" charset="-122"/>
                <a:cs typeface="Arial" pitchFamily="34" charset="-120"/>
              </a:rPr>
              <a:t>MDN · Styling tables</a:t>
            </a:r>
            <a:endParaRPr lang="en-US" sz="850" dirty="0"/>
          </a:p>
        </p:txBody>
      </p:sp>
      <p:sp>
        <p:nvSpPr>
          <p:cNvPr id="10" name="Text 8"/>
          <p:cNvSpPr txBox="1"/>
          <p:nvPr/>
        </p:nvSpPr>
        <p:spPr>
          <a:xfrm>
            <a:off x="8092440" y="4791456"/>
            <a:ext cx="685800" cy="201168"/>
          </a:xfrm>
          <a:prstGeom prst="rect">
            <a:avLst/>
          </a:prstGeom>
          <a:noFill/>
          <a:ln/>
        </p:spPr>
        <p:txBody>
          <a:bodyPr wrap="square" lIns="0" tIns="0" rIns="0" bIns="0" rtlCol="0" anchor="t"/>
          <a:lstStyle/>
          <a:p>
            <a:pPr marL="0" indent="0" algn="r">
              <a:buNone/>
            </a:pPr>
            <a:r>
              <a:rPr lang="en-US" sz="850" dirty="0">
                <a:solidFill>
                  <a:srgbClr val="9AA3C7"/>
                </a:solidFill>
                <a:latin typeface="Courier New" pitchFamily="34" charset="0"/>
                <a:ea typeface="Courier New" pitchFamily="34" charset="-122"/>
                <a:cs typeface="Courier New" pitchFamily="34" charset="-120"/>
              </a:rPr>
              <a:t>22 / 43</a:t>
            </a:r>
            <a:endParaRPr lang="en-US" sz="850" dirty="0"/>
          </a:p>
        </p:txBody>
      </p:sp>
      <p:sp>
        <p:nvSpPr>
          <p:cNvPr id="11" name="Text 9"/>
          <p:cNvSpPr txBox="1"/>
          <p:nvPr/>
        </p:nvSpPr>
        <p:spPr>
          <a:xfrm>
            <a:off x="548640" y="502920"/>
            <a:ext cx="5943600" cy="237744"/>
          </a:xfrm>
          <a:prstGeom prst="rect">
            <a:avLst/>
          </a:prstGeom>
          <a:noFill/>
          <a:ln/>
        </p:spPr>
        <p:txBody>
          <a:bodyPr wrap="square" lIns="0" tIns="0" rIns="0" bIns="0" rtlCol="0" anchor="t"/>
          <a:lstStyle/>
          <a:p>
            <a:pPr marL="0" indent="0">
              <a:buNone/>
            </a:pPr>
            <a:r>
              <a:rPr lang="en-US" sz="1100" b="1" dirty="0">
                <a:solidFill>
                  <a:srgbClr val="22D3EE"/>
                </a:solidFill>
                <a:latin typeface="Courier New" pitchFamily="34" charset="0"/>
                <a:ea typeface="Courier New" pitchFamily="34" charset="-122"/>
                <a:cs typeface="Courier New" pitchFamily="34" charset="-120"/>
              </a:rPr>
              <a:t>tbody tr:nth-child(odd)</a:t>
            </a:r>
            <a:endParaRPr lang="en-US" sz="1100" dirty="0"/>
          </a:p>
        </p:txBody>
      </p:sp>
      <p:sp>
        <p:nvSpPr>
          <p:cNvPr id="12" name="Text 10"/>
          <p:cNvSpPr txBox="1"/>
          <p:nvPr/>
        </p:nvSpPr>
        <p:spPr>
          <a:xfrm>
            <a:off x="548640" y="749808"/>
            <a:ext cx="7589520" cy="502920"/>
          </a:xfrm>
          <a:prstGeom prst="rect">
            <a:avLst/>
          </a:prstGeom>
          <a:noFill/>
          <a:ln/>
        </p:spPr>
        <p:txBody>
          <a:bodyPr wrap="square" lIns="0" tIns="0" rIns="0" bIns="0" rtlCol="0" anchor="ctr"/>
          <a:lstStyle/>
          <a:p>
            <a:pPr marL="0" indent="0">
              <a:buNone/>
            </a:pPr>
            <a:r>
              <a:rPr lang="en-US" sz="2400" b="1" dirty="0">
                <a:solidFill>
                  <a:srgbClr val="EEF0F8"/>
                </a:solidFill>
                <a:latin typeface="Arial" pitchFamily="34" charset="0"/>
                <a:ea typeface="Arial" pitchFamily="34" charset="-122"/>
                <a:cs typeface="Arial" pitchFamily="34" charset="-120"/>
              </a:rPr>
              <a:t>Tabloları stillemek</a:t>
            </a:r>
            <a:endParaRPr lang="en-US" sz="2400" dirty="0"/>
          </a:p>
        </p:txBody>
      </p:sp>
      <p:sp>
        <p:nvSpPr>
          <p:cNvPr id="13" name="kod-paneli"/>
          <p:cNvSpPr/>
          <p:nvPr/>
        </p:nvSpPr>
        <p:spPr>
          <a:xfrm>
            <a:off x="548640" y="1371600"/>
            <a:ext cx="4114800" cy="2697480"/>
          </a:xfrm>
          <a:prstGeom prst="roundRect">
            <a:avLst>
              <a:gd name="adj" fmla="val 2712"/>
            </a:avLst>
          </a:prstGeom>
          <a:solidFill>
            <a:srgbClr val="0A0D1F"/>
          </a:solidFill>
          <a:ln w="9525">
            <a:solidFill>
              <a:srgbClr val="2E3768"/>
            </a:solidFill>
            <a:prstDash val="solid"/>
          </a:ln>
        </p:spPr>
      </p:sp>
      <p:sp>
        <p:nvSpPr>
          <p:cNvPr id="14" name="Text 12"/>
          <p:cNvSpPr txBox="1"/>
          <p:nvPr/>
        </p:nvSpPr>
        <p:spPr>
          <a:xfrm>
            <a:off x="3200400" y="1426464"/>
            <a:ext cx="1371600" cy="182880"/>
          </a:xfrm>
          <a:prstGeom prst="rect">
            <a:avLst/>
          </a:prstGeom>
          <a:noFill/>
          <a:ln/>
        </p:spPr>
        <p:txBody>
          <a:bodyPr wrap="square" lIns="0" tIns="0" rIns="0" bIns="0" rtlCol="0" anchor="t"/>
          <a:lstStyle/>
          <a:p>
            <a:pPr marL="0" indent="0" algn="r">
              <a:buNone/>
            </a:pPr>
            <a:r>
              <a:rPr lang="en-US" sz="800" dirty="0">
                <a:solidFill>
                  <a:srgbClr val="6C759E"/>
                </a:solidFill>
                <a:latin typeface="Courier New" pitchFamily="34" charset="0"/>
                <a:ea typeface="Courier New" pitchFamily="34" charset="-122"/>
                <a:cs typeface="Courier New" pitchFamily="34" charset="-120"/>
              </a:rPr>
              <a:t>tables.css</a:t>
            </a:r>
            <a:endParaRPr lang="en-US" sz="800" dirty="0"/>
          </a:p>
        </p:txBody>
      </p:sp>
      <p:sp>
        <p:nvSpPr>
          <p:cNvPr id="15" name="Text 13"/>
          <p:cNvSpPr txBox="1"/>
          <p:nvPr/>
        </p:nvSpPr>
        <p:spPr>
          <a:xfrm>
            <a:off x="694944" y="1609344"/>
            <a:ext cx="3840480" cy="2386584"/>
          </a:xfrm>
          <a:prstGeom prst="rect">
            <a:avLst/>
          </a:prstGeom>
          <a:noFill/>
          <a:ln/>
        </p:spPr>
        <p:txBody>
          <a:bodyPr wrap="square" lIns="0" tIns="0" rIns="0" bIns="0" rtlCol="0" anchor="t"/>
          <a:lstStyle/>
          <a:p>
            <a:pPr marL="0" indent="0">
              <a:buNone/>
            </a:pPr>
            <a:r>
              <a:rPr lang="en-US" sz="950" dirty="0">
                <a:solidFill>
                  <a:srgbClr val="F472B6"/>
                </a:solidFill>
                <a:latin typeface="Courier New" pitchFamily="34" charset="0"/>
                <a:ea typeface="Courier New" pitchFamily="34" charset="-122"/>
                <a:cs typeface="Courier New" pitchFamily="34" charset="-120"/>
              </a:rPr>
              <a:t>table </a:t>
            </a:r>
            <a:r>
              <a:rPr lang="en-US" sz="950" dirty="0">
                <a:solidFill>
                  <a:srgbClr val="6C759E"/>
                </a:solidFill>
                <a:latin typeface="Courier New" pitchFamily="34" charset="0"/>
                <a:ea typeface="Courier New" pitchFamily="34" charset="-122"/>
                <a:cs typeface="Courier New" pitchFamily="34" charset="-120"/>
              </a:rPr>
              <a:t>{</a:t>
            </a:r>
            <a:endParaRPr lang="en-US" sz="950" dirty="0"/>
          </a:p>
          <a:p>
            <a:pPr marL="0" indent="0">
              <a:buNone/>
            </a:pPr>
            <a:r>
              <a:rPr lang="en-US" sz="950" dirty="0">
                <a:solidFill>
                  <a:srgbClr val="EEF0F8"/>
                </a:solidFill>
                <a:latin typeface="Courier New" pitchFamily="34" charset="0"/>
                <a:ea typeface="Courier New" pitchFamily="34" charset="-122"/>
                <a:cs typeface="Courier New" pitchFamily="34" charset="-120"/>
              </a:rPr>
              <a:t>  </a:t>
            </a:r>
            <a:r>
              <a:rPr lang="en-US" sz="950" dirty="0">
                <a:solidFill>
                  <a:srgbClr val="22D3EE"/>
                </a:solidFill>
                <a:latin typeface="Courier New" pitchFamily="34" charset="0"/>
                <a:ea typeface="Courier New" pitchFamily="34" charset="-122"/>
                <a:cs typeface="Courier New" pitchFamily="34" charset="-120"/>
              </a:rPr>
              <a:t>table-layout</a:t>
            </a:r>
            <a:r>
              <a:rPr lang="en-US" sz="950" dirty="0">
                <a:solidFill>
                  <a:srgbClr val="6C759E"/>
                </a:solidFill>
                <a:latin typeface="Courier New" pitchFamily="34" charset="0"/>
                <a:ea typeface="Courier New" pitchFamily="34" charset="-122"/>
                <a:cs typeface="Courier New" pitchFamily="34" charset="-120"/>
              </a:rPr>
              <a:t>: </a:t>
            </a:r>
            <a:r>
              <a:rPr lang="en-US" sz="950" dirty="0">
                <a:solidFill>
                  <a:srgbClr val="FBBF24"/>
                </a:solidFill>
                <a:latin typeface="Courier New" pitchFamily="34" charset="0"/>
                <a:ea typeface="Courier New" pitchFamily="34" charset="-122"/>
                <a:cs typeface="Courier New" pitchFamily="34" charset="-120"/>
              </a:rPr>
              <a:t>fixed;</a:t>
            </a:r>
            <a:endParaRPr lang="en-US" sz="950" dirty="0"/>
          </a:p>
          <a:p>
            <a:pPr marL="0" indent="0">
              <a:buNone/>
            </a:pPr>
            <a:r>
              <a:rPr lang="en-US" sz="950" dirty="0">
                <a:solidFill>
                  <a:srgbClr val="EEF0F8"/>
                </a:solidFill>
                <a:latin typeface="Courier New" pitchFamily="34" charset="0"/>
                <a:ea typeface="Courier New" pitchFamily="34" charset="-122"/>
                <a:cs typeface="Courier New" pitchFamily="34" charset="-120"/>
              </a:rPr>
              <a:t>  </a:t>
            </a:r>
            <a:r>
              <a:rPr lang="en-US" sz="950" dirty="0">
                <a:solidFill>
                  <a:srgbClr val="22D3EE"/>
                </a:solidFill>
                <a:latin typeface="Courier New" pitchFamily="34" charset="0"/>
                <a:ea typeface="Courier New" pitchFamily="34" charset="-122"/>
                <a:cs typeface="Courier New" pitchFamily="34" charset="-120"/>
              </a:rPr>
              <a:t>width</a:t>
            </a:r>
            <a:r>
              <a:rPr lang="en-US" sz="950" dirty="0">
                <a:solidFill>
                  <a:srgbClr val="6C759E"/>
                </a:solidFill>
                <a:latin typeface="Courier New" pitchFamily="34" charset="0"/>
                <a:ea typeface="Courier New" pitchFamily="34" charset="-122"/>
                <a:cs typeface="Courier New" pitchFamily="34" charset="-120"/>
              </a:rPr>
              <a:t>: </a:t>
            </a:r>
            <a:r>
              <a:rPr lang="en-US" sz="950" dirty="0">
                <a:solidFill>
                  <a:srgbClr val="FBBF24"/>
                </a:solidFill>
                <a:latin typeface="Courier New" pitchFamily="34" charset="0"/>
                <a:ea typeface="Courier New" pitchFamily="34" charset="-122"/>
                <a:cs typeface="Courier New" pitchFamily="34" charset="-120"/>
              </a:rPr>
              <a:t>90%;</a:t>
            </a:r>
            <a:endParaRPr lang="en-US" sz="950" dirty="0"/>
          </a:p>
          <a:p>
            <a:pPr marL="0" indent="0">
              <a:buNone/>
            </a:pPr>
            <a:r>
              <a:rPr lang="en-US" sz="950" dirty="0">
                <a:solidFill>
                  <a:srgbClr val="EEF0F8"/>
                </a:solidFill>
                <a:latin typeface="Courier New" pitchFamily="34" charset="0"/>
                <a:ea typeface="Courier New" pitchFamily="34" charset="-122"/>
                <a:cs typeface="Courier New" pitchFamily="34" charset="-120"/>
              </a:rPr>
              <a:t>  </a:t>
            </a:r>
            <a:r>
              <a:rPr lang="en-US" sz="950" dirty="0">
                <a:solidFill>
                  <a:srgbClr val="22D3EE"/>
                </a:solidFill>
                <a:latin typeface="Courier New" pitchFamily="34" charset="0"/>
                <a:ea typeface="Courier New" pitchFamily="34" charset="-122"/>
                <a:cs typeface="Courier New" pitchFamily="34" charset="-120"/>
              </a:rPr>
              <a:t>border-collapse</a:t>
            </a:r>
            <a:r>
              <a:rPr lang="en-US" sz="950" dirty="0">
                <a:solidFill>
                  <a:srgbClr val="6C759E"/>
                </a:solidFill>
                <a:latin typeface="Courier New" pitchFamily="34" charset="0"/>
                <a:ea typeface="Courier New" pitchFamily="34" charset="-122"/>
                <a:cs typeface="Courier New" pitchFamily="34" charset="-120"/>
              </a:rPr>
              <a:t>: </a:t>
            </a:r>
            <a:r>
              <a:rPr lang="en-US" sz="950" dirty="0">
                <a:solidFill>
                  <a:srgbClr val="FBBF24"/>
                </a:solidFill>
                <a:latin typeface="Courier New" pitchFamily="34" charset="0"/>
                <a:ea typeface="Courier New" pitchFamily="34" charset="-122"/>
                <a:cs typeface="Courier New" pitchFamily="34" charset="-120"/>
              </a:rPr>
              <a:t>collapse;</a:t>
            </a:r>
            <a:endParaRPr lang="en-US" sz="950" dirty="0"/>
          </a:p>
          <a:p>
            <a:pPr marL="0" indent="0">
              <a:buNone/>
            </a:pPr>
            <a:r>
              <a:rPr lang="en-US" sz="950" dirty="0">
                <a:solidFill>
                  <a:srgbClr val="6C759E"/>
                </a:solidFill>
                <a:latin typeface="Courier New" pitchFamily="34" charset="0"/>
                <a:ea typeface="Courier New" pitchFamily="34" charset="-122"/>
                <a:cs typeface="Courier New" pitchFamily="34" charset="-120"/>
              </a:rPr>
              <a:t>}</a:t>
            </a:r>
            <a:endParaRPr lang="en-US" sz="950" dirty="0"/>
          </a:p>
          <a:p>
            <a:pPr marL="0" indent="0">
              <a:buNone/>
            </a:pPr>
            <a:r>
              <a:rPr lang="en-US" sz="950" dirty="0">
                <a:solidFill>
                  <a:srgbClr val="F472B6"/>
                </a:solidFill>
                <a:latin typeface="Courier New" pitchFamily="34" charset="0"/>
                <a:ea typeface="Courier New" pitchFamily="34" charset="-122"/>
                <a:cs typeface="Courier New" pitchFamily="34" charset="-120"/>
              </a:rPr>
              <a:t>th, td </a:t>
            </a:r>
            <a:r>
              <a:rPr lang="en-US" sz="950" dirty="0">
                <a:solidFill>
                  <a:srgbClr val="6C759E"/>
                </a:solidFill>
                <a:latin typeface="Courier New" pitchFamily="34" charset="0"/>
                <a:ea typeface="Courier New" pitchFamily="34" charset="-122"/>
                <a:cs typeface="Courier New" pitchFamily="34" charset="-120"/>
              </a:rPr>
              <a:t>{ </a:t>
            </a:r>
            <a:r>
              <a:rPr lang="en-US" sz="950" dirty="0">
                <a:solidFill>
                  <a:srgbClr val="22D3EE"/>
                </a:solidFill>
                <a:latin typeface="Courier New" pitchFamily="34" charset="0"/>
                <a:ea typeface="Courier New" pitchFamily="34" charset="-122"/>
                <a:cs typeface="Courier New" pitchFamily="34" charset="-120"/>
              </a:rPr>
              <a:t>padding</a:t>
            </a:r>
            <a:r>
              <a:rPr lang="en-US" sz="950" dirty="0">
                <a:solidFill>
                  <a:srgbClr val="6C759E"/>
                </a:solidFill>
                <a:latin typeface="Courier New" pitchFamily="34" charset="0"/>
                <a:ea typeface="Courier New" pitchFamily="34" charset="-122"/>
                <a:cs typeface="Courier New" pitchFamily="34" charset="-120"/>
              </a:rPr>
              <a:t>: </a:t>
            </a:r>
            <a:r>
              <a:rPr lang="en-US" sz="950" dirty="0">
                <a:solidFill>
                  <a:srgbClr val="FBBF24"/>
                </a:solidFill>
                <a:latin typeface="Courier New" pitchFamily="34" charset="0"/>
                <a:ea typeface="Courier New" pitchFamily="34" charset="-122"/>
                <a:cs typeface="Courier New" pitchFamily="34" charset="-120"/>
              </a:rPr>
              <a:t>0.3em</a:t>
            </a:r>
            <a:r>
              <a:rPr lang="en-US" sz="950" dirty="0">
                <a:solidFill>
                  <a:srgbClr val="6C759E"/>
                </a:solidFill>
                <a:latin typeface="Courier New" pitchFamily="34" charset="0"/>
                <a:ea typeface="Courier New" pitchFamily="34" charset="-122"/>
                <a:cs typeface="Courier New" pitchFamily="34" charset="-120"/>
              </a:rPr>
              <a:t>; }</a:t>
            </a:r>
            <a:endParaRPr lang="en-US" sz="950" dirty="0"/>
          </a:p>
          <a:p>
            <a:pPr marL="0" indent="0">
              <a:buNone/>
            </a:pPr>
            <a:r>
              <a:rPr lang="en-US" sz="950" dirty="0">
                <a:solidFill>
                  <a:srgbClr val="F472B6"/>
                </a:solidFill>
                <a:latin typeface="Courier New" pitchFamily="34" charset="0"/>
                <a:ea typeface="Courier New" pitchFamily="34" charset="-122"/>
                <a:cs typeface="Courier New" pitchFamily="34" charset="-120"/>
              </a:rPr>
              <a:t>tr :nth-child(2) </a:t>
            </a:r>
            <a:r>
              <a:rPr lang="en-US" sz="950" dirty="0">
                <a:solidFill>
                  <a:srgbClr val="6C759E"/>
                </a:solidFill>
                <a:latin typeface="Courier New" pitchFamily="34" charset="0"/>
                <a:ea typeface="Courier New" pitchFamily="34" charset="-122"/>
                <a:cs typeface="Courier New" pitchFamily="34" charset="-120"/>
              </a:rPr>
              <a:t>{</a:t>
            </a:r>
            <a:endParaRPr lang="en-US" sz="950" dirty="0"/>
          </a:p>
          <a:p>
            <a:pPr marL="0" indent="0">
              <a:buNone/>
            </a:pPr>
            <a:r>
              <a:rPr lang="en-US" sz="950" dirty="0">
                <a:solidFill>
                  <a:srgbClr val="EEF0F8"/>
                </a:solidFill>
                <a:latin typeface="Courier New" pitchFamily="34" charset="0"/>
                <a:ea typeface="Courier New" pitchFamily="34" charset="-122"/>
                <a:cs typeface="Courier New" pitchFamily="34" charset="-120"/>
              </a:rPr>
              <a:t>  </a:t>
            </a:r>
            <a:r>
              <a:rPr lang="en-US" sz="950" dirty="0">
                <a:solidFill>
                  <a:srgbClr val="22D3EE"/>
                </a:solidFill>
                <a:latin typeface="Courier New" pitchFamily="34" charset="0"/>
                <a:ea typeface="Courier New" pitchFamily="34" charset="-122"/>
                <a:cs typeface="Courier New" pitchFamily="34" charset="-120"/>
              </a:rPr>
              <a:t>text-align</a:t>
            </a:r>
            <a:r>
              <a:rPr lang="en-US" sz="950" dirty="0">
                <a:solidFill>
                  <a:srgbClr val="6C759E"/>
                </a:solidFill>
                <a:latin typeface="Courier New" pitchFamily="34" charset="0"/>
                <a:ea typeface="Courier New" pitchFamily="34" charset="-122"/>
                <a:cs typeface="Courier New" pitchFamily="34" charset="-120"/>
              </a:rPr>
              <a:t>: </a:t>
            </a:r>
            <a:r>
              <a:rPr lang="en-US" sz="950" dirty="0">
                <a:solidFill>
                  <a:srgbClr val="FBBF24"/>
                </a:solidFill>
                <a:latin typeface="Courier New" pitchFamily="34" charset="0"/>
                <a:ea typeface="Courier New" pitchFamily="34" charset="-122"/>
                <a:cs typeface="Courier New" pitchFamily="34" charset="-120"/>
              </a:rPr>
              <a:t>right; }</a:t>
            </a:r>
            <a:endParaRPr lang="en-US" sz="950" dirty="0"/>
          </a:p>
          <a:p>
            <a:pPr marL="0" indent="0">
              <a:buNone/>
            </a:pPr>
            <a:r>
              <a:rPr lang="en-US" sz="950" dirty="0">
                <a:solidFill>
                  <a:srgbClr val="F472B6"/>
                </a:solidFill>
                <a:latin typeface="Courier New" pitchFamily="34" charset="0"/>
                <a:ea typeface="Courier New" pitchFamily="34" charset="-122"/>
                <a:cs typeface="Courier New" pitchFamily="34" charset="-120"/>
              </a:rPr>
              <a:t>tbody tr:nth-child(odd) </a:t>
            </a:r>
            <a:r>
              <a:rPr lang="en-US" sz="950" dirty="0">
                <a:solidFill>
                  <a:srgbClr val="6C759E"/>
                </a:solidFill>
                <a:latin typeface="Courier New" pitchFamily="34" charset="0"/>
                <a:ea typeface="Courier New" pitchFamily="34" charset="-122"/>
                <a:cs typeface="Courier New" pitchFamily="34" charset="-120"/>
              </a:rPr>
              <a:t>{</a:t>
            </a:r>
            <a:endParaRPr lang="en-US" sz="950" dirty="0"/>
          </a:p>
          <a:p>
            <a:pPr marL="0" indent="0">
              <a:buNone/>
            </a:pPr>
            <a:r>
              <a:rPr lang="en-US" sz="950" dirty="0">
                <a:solidFill>
                  <a:srgbClr val="EEF0F8"/>
                </a:solidFill>
                <a:latin typeface="Courier New" pitchFamily="34" charset="0"/>
                <a:ea typeface="Courier New" pitchFamily="34" charset="-122"/>
                <a:cs typeface="Courier New" pitchFamily="34" charset="-120"/>
              </a:rPr>
              <a:t>  </a:t>
            </a:r>
            <a:r>
              <a:rPr lang="en-US" sz="950" dirty="0">
                <a:solidFill>
                  <a:srgbClr val="22D3EE"/>
                </a:solidFill>
                <a:latin typeface="Courier New" pitchFamily="34" charset="0"/>
                <a:ea typeface="Courier New" pitchFamily="34" charset="-122"/>
                <a:cs typeface="Courier New" pitchFamily="34" charset="-120"/>
              </a:rPr>
              <a:t>background-color</a:t>
            </a:r>
            <a:r>
              <a:rPr lang="en-US" sz="950" dirty="0">
                <a:solidFill>
                  <a:srgbClr val="6C759E"/>
                </a:solidFill>
                <a:latin typeface="Courier New" pitchFamily="34" charset="0"/>
                <a:ea typeface="Courier New" pitchFamily="34" charset="-122"/>
                <a:cs typeface="Courier New" pitchFamily="34" charset="-120"/>
              </a:rPr>
              <a:t>: </a:t>
            </a:r>
            <a:r>
              <a:rPr lang="en-US" sz="950" dirty="0">
                <a:solidFill>
                  <a:srgbClr val="FBBF24"/>
                </a:solidFill>
                <a:latin typeface="Courier New" pitchFamily="34" charset="0"/>
                <a:ea typeface="Courier New" pitchFamily="34" charset="-122"/>
                <a:cs typeface="Courier New" pitchFamily="34" charset="-120"/>
              </a:rPr>
              <a:t>#dddddd; }</a:t>
            </a:r>
            <a:endParaRPr lang="en-US" sz="950" dirty="0"/>
          </a:p>
          <a:p>
            <a:pPr marL="0" indent="0">
              <a:buNone/>
            </a:pPr>
            <a:r>
              <a:rPr lang="en-US" sz="950" dirty="0">
                <a:solidFill>
                  <a:srgbClr val="F472B6"/>
                </a:solidFill>
                <a:latin typeface="Courier New" pitchFamily="34" charset="0"/>
                <a:ea typeface="Courier New" pitchFamily="34" charset="-122"/>
                <a:cs typeface="Courier New" pitchFamily="34" charset="-120"/>
              </a:rPr>
              <a:t>caption </a:t>
            </a:r>
            <a:r>
              <a:rPr lang="en-US" sz="950" dirty="0">
                <a:solidFill>
                  <a:srgbClr val="6C759E"/>
                </a:solidFill>
                <a:latin typeface="Courier New" pitchFamily="34" charset="0"/>
                <a:ea typeface="Courier New" pitchFamily="34" charset="-122"/>
                <a:cs typeface="Courier New" pitchFamily="34" charset="-120"/>
              </a:rPr>
              <a:t>{ </a:t>
            </a:r>
            <a:r>
              <a:rPr lang="en-US" sz="950" dirty="0">
                <a:solidFill>
                  <a:srgbClr val="22D3EE"/>
                </a:solidFill>
                <a:latin typeface="Courier New" pitchFamily="34" charset="0"/>
                <a:ea typeface="Courier New" pitchFamily="34" charset="-122"/>
                <a:cs typeface="Courier New" pitchFamily="34" charset="-120"/>
              </a:rPr>
              <a:t>caption-side</a:t>
            </a:r>
            <a:r>
              <a:rPr lang="en-US" sz="950" dirty="0">
                <a:solidFill>
                  <a:srgbClr val="6C759E"/>
                </a:solidFill>
                <a:latin typeface="Courier New" pitchFamily="34" charset="0"/>
                <a:ea typeface="Courier New" pitchFamily="34" charset="-122"/>
                <a:cs typeface="Courier New" pitchFamily="34" charset="-120"/>
              </a:rPr>
              <a:t>: </a:t>
            </a:r>
            <a:r>
              <a:rPr lang="en-US" sz="950" dirty="0">
                <a:solidFill>
                  <a:srgbClr val="FBBF24"/>
                </a:solidFill>
                <a:latin typeface="Courier New" pitchFamily="34" charset="0"/>
                <a:ea typeface="Courier New" pitchFamily="34" charset="-122"/>
                <a:cs typeface="Courier New" pitchFamily="34" charset="-120"/>
              </a:rPr>
              <a:t>bottom</a:t>
            </a:r>
            <a:r>
              <a:rPr lang="en-US" sz="950" dirty="0">
                <a:solidFill>
                  <a:srgbClr val="6C759E"/>
                </a:solidFill>
                <a:latin typeface="Courier New" pitchFamily="34" charset="0"/>
                <a:ea typeface="Courier New" pitchFamily="34" charset="-122"/>
                <a:cs typeface="Courier New" pitchFamily="34" charset="-120"/>
              </a:rPr>
              <a:t>; }</a:t>
            </a:r>
            <a:endParaRPr lang="en-US" sz="950" dirty="0"/>
          </a:p>
        </p:txBody>
      </p:sp>
      <p:sp>
        <p:nvSpPr>
          <p:cNvPr id="16" name="Text 14"/>
          <p:cNvSpPr txBox="1"/>
          <p:nvPr/>
        </p:nvSpPr>
        <p:spPr>
          <a:xfrm>
            <a:off x="4892040" y="1371600"/>
            <a:ext cx="3703320" cy="2743200"/>
          </a:xfrm>
          <a:prstGeom prst="rect">
            <a:avLst/>
          </a:prstGeom>
          <a:noFill/>
          <a:ln/>
        </p:spPr>
        <p:txBody>
          <a:bodyPr wrap="square" lIns="0" tIns="0" rIns="0" bIns="0" rtlCol="0" anchor="t"/>
          <a:lstStyle/>
          <a:p>
            <a:pPr marL="0" indent="0">
              <a:spcAft>
                <a:spcPts val="600"/>
              </a:spcAft>
              <a:buNone/>
            </a:pPr>
            <a:r>
              <a:rPr lang="en-US" sz="1050" b="1" dirty="0">
                <a:solidFill>
                  <a:srgbClr val="22D3EE"/>
                </a:solidFill>
                <a:latin typeface="Arial" pitchFamily="34" charset="0"/>
                <a:ea typeface="Arial" pitchFamily="34" charset="-122"/>
                <a:cs typeface="Arial" pitchFamily="34" charset="-120"/>
              </a:rPr>
              <a:t>table-layout: fixed: </a:t>
            </a:r>
            <a:r>
              <a:rPr lang="en-US" sz="1050" dirty="0">
                <a:solidFill>
                  <a:srgbClr val="EEF0F8"/>
                </a:solidFill>
                <a:latin typeface="Arial" pitchFamily="34" charset="0"/>
                <a:ea typeface="Arial" pitchFamily="34" charset="-122"/>
                <a:cs typeface="Arial" pitchFamily="34" charset="-120"/>
              </a:rPr>
              <a:t>sütun genişlikleri içeriğe değil başlıklara göre, öngörülebilir olur.</a:t>
            </a:r>
            <a:endParaRPr lang="en-US" sz="1050" dirty="0"/>
          </a:p>
          <a:p>
            <a:pPr marL="0" indent="0">
              <a:spcAft>
                <a:spcPts val="600"/>
              </a:spcAft>
              <a:buNone/>
            </a:pPr>
            <a:r>
              <a:rPr lang="en-US" sz="1050" b="1" dirty="0">
                <a:solidFill>
                  <a:srgbClr val="22D3EE"/>
                </a:solidFill>
                <a:latin typeface="Arial" pitchFamily="34" charset="0"/>
                <a:ea typeface="Arial" pitchFamily="34" charset="-122"/>
                <a:cs typeface="Arial" pitchFamily="34" charset="-120"/>
              </a:rPr>
              <a:t>border-collapse: collapse: </a:t>
            </a:r>
            <a:r>
              <a:rPr lang="en-US" sz="1050" dirty="0">
                <a:solidFill>
                  <a:srgbClr val="EEF0F8"/>
                </a:solidFill>
                <a:latin typeface="Arial" pitchFamily="34" charset="0"/>
                <a:ea typeface="Arial" pitchFamily="34" charset="-122"/>
                <a:cs typeface="Arial" pitchFamily="34" charset="-120"/>
              </a:rPr>
              <a:t>yan yana kenarlıkları tek çizgiye birleştirir, aradaki boşluk kaybolur.</a:t>
            </a:r>
            <a:endParaRPr lang="en-US" sz="1050" dirty="0"/>
          </a:p>
          <a:p>
            <a:pPr marL="0" indent="0">
              <a:spcAft>
                <a:spcPts val="600"/>
              </a:spcAft>
              <a:buNone/>
            </a:pPr>
            <a:r>
              <a:rPr lang="en-US" sz="1050" b="1" dirty="0">
                <a:solidFill>
                  <a:srgbClr val="22D3EE"/>
                </a:solidFill>
                <a:latin typeface="Arial" pitchFamily="34" charset="0"/>
                <a:ea typeface="Arial" pitchFamily="34" charset="-122"/>
                <a:cs typeface="Arial" pitchFamily="34" charset="-120"/>
              </a:rPr>
              <a:t>padding: </a:t>
            </a:r>
            <a:r>
              <a:rPr lang="en-US" sz="1050" dirty="0">
                <a:solidFill>
                  <a:srgbClr val="EEF0F8"/>
                </a:solidFill>
                <a:latin typeface="Arial" pitchFamily="34" charset="0"/>
                <a:ea typeface="Arial" pitchFamily="34" charset="-122"/>
                <a:cs typeface="Arial" pitchFamily="34" charset="-120"/>
              </a:rPr>
              <a:t>hücrelere nefes payı verir, okunurluk artar.</a:t>
            </a:r>
            <a:endParaRPr lang="en-US" sz="1050" dirty="0"/>
          </a:p>
          <a:p>
            <a:pPr marL="0" indent="0">
              <a:spcAft>
                <a:spcPts val="600"/>
              </a:spcAft>
              <a:buNone/>
            </a:pPr>
            <a:r>
              <a:rPr lang="en-US" sz="1050" b="1" dirty="0">
                <a:solidFill>
                  <a:srgbClr val="22D3EE"/>
                </a:solidFill>
                <a:latin typeface="Arial" pitchFamily="34" charset="0"/>
                <a:ea typeface="Arial" pitchFamily="34" charset="-122"/>
                <a:cs typeface="Arial" pitchFamily="34" charset="-120"/>
              </a:rPr>
              <a:t>Hizalama: </a:t>
            </a:r>
            <a:r>
              <a:rPr lang="en-US" sz="1050" dirty="0">
                <a:solidFill>
                  <a:srgbClr val="EEF0F8"/>
                </a:solidFill>
                <a:latin typeface="Arial" pitchFamily="34" charset="0"/>
                <a:ea typeface="Arial" pitchFamily="34" charset="-122"/>
                <a:cs typeface="Arial" pitchFamily="34" charset="-120"/>
              </a:rPr>
              <a:t>metni sola, sayıları sağa hizala; :nth-child ile belirli sütunları seç.</a:t>
            </a:r>
            <a:endParaRPr lang="en-US" sz="1050" dirty="0"/>
          </a:p>
          <a:p>
            <a:pPr marL="0" indent="0">
              <a:spcAft>
                <a:spcPts val="600"/>
              </a:spcAft>
              <a:buNone/>
            </a:pPr>
            <a:r>
              <a:rPr lang="en-US" sz="1050" b="1" dirty="0">
                <a:solidFill>
                  <a:srgbClr val="22D3EE"/>
                </a:solidFill>
                <a:latin typeface="Arial" pitchFamily="34" charset="0"/>
                <a:ea typeface="Arial" pitchFamily="34" charset="-122"/>
                <a:cs typeface="Arial" pitchFamily="34" charset="-120"/>
              </a:rPr>
              <a:t>Zebra deseni: </a:t>
            </a:r>
            <a:r>
              <a:rPr lang="en-US" sz="1050" dirty="0">
                <a:solidFill>
                  <a:srgbClr val="EEF0F8"/>
                </a:solidFill>
                <a:latin typeface="Arial" pitchFamily="34" charset="0"/>
                <a:ea typeface="Arial" pitchFamily="34" charset="-122"/>
                <a:cs typeface="Arial" pitchFamily="34" charset="-120"/>
              </a:rPr>
              <a:t>:nth-child(odd/even) ile satırlara sırayla renk ver; göz satırı kolay takip eder.</a:t>
            </a:r>
            <a:endParaRPr lang="en-US" sz="1050" dirty="0"/>
          </a:p>
          <a:p>
            <a:pPr marL="0" indent="0">
              <a:spcAft>
                <a:spcPts val="600"/>
              </a:spcAft>
              <a:buNone/>
            </a:pPr>
            <a:r>
              <a:rPr lang="en-US" sz="1050" b="1" dirty="0">
                <a:solidFill>
                  <a:srgbClr val="22D3EE"/>
                </a:solidFill>
                <a:latin typeface="Arial" pitchFamily="34" charset="0"/>
                <a:ea typeface="Arial" pitchFamily="34" charset="-122"/>
                <a:cs typeface="Arial" pitchFamily="34" charset="-120"/>
              </a:rPr>
              <a:t>caption-side: </a:t>
            </a:r>
            <a:r>
              <a:rPr lang="en-US" sz="1050" dirty="0">
                <a:solidFill>
                  <a:srgbClr val="EEF0F8"/>
                </a:solidFill>
                <a:latin typeface="Arial" pitchFamily="34" charset="0"/>
                <a:ea typeface="Arial" pitchFamily="34" charset="-122"/>
                <a:cs typeface="Arial" pitchFamily="34" charset="-120"/>
              </a:rPr>
              <a:t>tablo açıklamasını alta taşır.</a:t>
            </a:r>
            <a:endParaRPr lang="en-US" sz="1050" dirty="0"/>
          </a:p>
        </p:txBody>
      </p:sp>
      <p:sp>
        <p:nvSpPr>
          <p:cNvPr id="17" name="benzetme"/>
          <p:cNvSpPr/>
          <p:nvPr/>
        </p:nvSpPr>
        <p:spPr>
          <a:xfrm>
            <a:off x="548640" y="4224528"/>
            <a:ext cx="8046720" cy="402336"/>
          </a:xfrm>
          <a:prstGeom prst="roundRect">
            <a:avLst>
              <a:gd name="adj" fmla="val 50000"/>
            </a:avLst>
          </a:prstGeom>
          <a:solidFill>
            <a:srgbClr val="232A55"/>
          </a:solidFill>
          <a:ln/>
        </p:spPr>
      </p:sp>
      <p:sp>
        <p:nvSpPr>
          <p:cNvPr id="18" name="benzetme-ikon"/>
          <p:cNvSpPr/>
          <p:nvPr/>
        </p:nvSpPr>
        <p:spPr>
          <a:xfrm>
            <a:off x="621792" y="4261104"/>
            <a:ext cx="329184" cy="329184"/>
          </a:xfrm>
          <a:prstGeom prst="ellipse">
            <a:avLst/>
          </a:prstGeom>
          <a:solidFill>
            <a:srgbClr val="FBBF24"/>
          </a:solidFill>
          <a:ln/>
        </p:spPr>
      </p:sp>
      <p:sp>
        <p:nvSpPr>
          <p:cNvPr id="19" name="Text 17"/>
          <p:cNvSpPr txBox="1"/>
          <p:nvPr/>
        </p:nvSpPr>
        <p:spPr>
          <a:xfrm>
            <a:off x="621792" y="4261104"/>
            <a:ext cx="329184" cy="329184"/>
          </a:xfrm>
          <a:prstGeom prst="rect">
            <a:avLst/>
          </a:prstGeom>
          <a:noFill/>
          <a:ln/>
        </p:spPr>
        <p:txBody>
          <a:bodyPr wrap="square" lIns="0" tIns="0" rIns="0" bIns="0" rtlCol="0" anchor="ctr"/>
          <a:lstStyle/>
          <a:p>
            <a:pPr marL="0" indent="0" algn="ctr">
              <a:buNone/>
            </a:pPr>
            <a:r>
              <a:rPr lang="en-US" sz="1600" b="1" dirty="0">
                <a:solidFill>
                  <a:srgbClr val="10142B"/>
                </a:solidFill>
                <a:latin typeface="Arial" pitchFamily="34" charset="0"/>
                <a:ea typeface="Arial" pitchFamily="34" charset="-122"/>
                <a:cs typeface="Arial" pitchFamily="34" charset="-120"/>
              </a:rPr>
              <a:t>≈</a:t>
            </a:r>
            <a:endParaRPr lang="en-US" sz="1600" dirty="0"/>
          </a:p>
        </p:txBody>
      </p:sp>
      <p:sp>
        <p:nvSpPr>
          <p:cNvPr id="20" name="Text 18"/>
          <p:cNvSpPr txBox="1"/>
          <p:nvPr/>
        </p:nvSpPr>
        <p:spPr>
          <a:xfrm>
            <a:off x="1042416" y="4224528"/>
            <a:ext cx="7452360" cy="402336"/>
          </a:xfrm>
          <a:prstGeom prst="rect">
            <a:avLst/>
          </a:prstGeom>
          <a:noFill/>
          <a:ln/>
        </p:spPr>
        <p:txBody>
          <a:bodyPr wrap="square" lIns="0" tIns="0" rIns="0" bIns="0" rtlCol="0" anchor="ctr"/>
          <a:lstStyle/>
          <a:p>
            <a:pPr marL="0" indent="0">
              <a:buNone/>
            </a:pPr>
            <a:r>
              <a:rPr lang="en-US" sz="1100" b="1" dirty="0">
                <a:solidFill>
                  <a:srgbClr val="FBBF24"/>
                </a:solidFill>
                <a:latin typeface="Arial" pitchFamily="34" charset="0"/>
                <a:ea typeface="Arial" pitchFamily="34" charset="-122"/>
                <a:cs typeface="Arial" pitchFamily="34" charset="-120"/>
              </a:rPr>
              <a:t>Gündelik hayatta: </a:t>
            </a:r>
            <a:r>
              <a:rPr lang="en-US" sz="1100" dirty="0">
                <a:solidFill>
                  <a:srgbClr val="EEF0F8"/>
                </a:solidFill>
                <a:latin typeface="Arial" pitchFamily="34" charset="0"/>
                <a:ea typeface="Arial" pitchFamily="34" charset="-122"/>
                <a:cs typeface="Arial" pitchFamily="34" charset="-120"/>
              </a:rPr>
              <a:t>zebra deseni, defter çizgileri gibidir: satırlar arasında gözün kaymasını engeller.</a:t>
            </a:r>
            <a:endParaRPr lang="en-US" sz="1100" dirty="0"/>
          </a:p>
        </p:txBody>
      </p:sp>
    </p:spTree>
  </p:cSld>
  <p:clrMapOvr>
    <a:masterClrMapping/>
  </p:clrMapOvr>
  <p:transition spd="med">
    <p:pull/>
  </p:transition>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256032"/>
            <a:ext cx="4572000" cy="201168"/>
          </a:xfrm>
          <a:prstGeom prst="rect">
            <a:avLst/>
          </a:prstGeom>
          <a:noFill/>
          <a:ln/>
        </p:spPr>
        <p:txBody>
          <a:bodyPr wrap="square" lIns="0" tIns="0" rIns="0" bIns="0" rtlCol="0" anchor="t"/>
          <a:lstStyle/>
          <a:p>
            <a:pPr marL="0" indent="0">
              <a:buNone/>
            </a:pPr>
            <a:r>
              <a:rPr lang="en-US" sz="900" b="1" kern="0" spc="200" dirty="0">
                <a:solidFill>
                  <a:srgbClr val="22D3EE"/>
                </a:solidFill>
                <a:latin typeface="Arial" pitchFamily="34" charset="0"/>
                <a:ea typeface="Arial" pitchFamily="34" charset="-122"/>
                <a:cs typeface="Arial" pitchFamily="34" charset="-120"/>
              </a:rPr>
              <a:t>MODÜL 1 · CSS TEMELLERİ</a:t>
            </a:r>
            <a:endParaRPr lang="en-US" sz="900" dirty="0"/>
          </a:p>
        </p:txBody>
      </p:sp>
      <p:sp>
        <p:nvSpPr>
          <p:cNvPr id="3" name="mini-box-0"/>
          <p:cNvSpPr/>
          <p:nvPr/>
        </p:nvSpPr>
        <p:spPr>
          <a:xfrm>
            <a:off x="8229600" y="201168"/>
            <a:ext cx="384048" cy="384048"/>
          </a:xfrm>
          <a:prstGeom prst="rect">
            <a:avLst/>
          </a:prstGeom>
          <a:ln w="9525">
            <a:solidFill>
              <a:srgbClr val="22D3EE"/>
            </a:solidFill>
            <a:prstDash val="solid"/>
          </a:ln>
        </p:spPr>
      </p:sp>
      <p:sp>
        <p:nvSpPr>
          <p:cNvPr id="4" name="mini-box-1"/>
          <p:cNvSpPr/>
          <p:nvPr/>
        </p:nvSpPr>
        <p:spPr>
          <a:xfrm>
            <a:off x="8293608" y="265176"/>
            <a:ext cx="256032" cy="256032"/>
          </a:xfrm>
          <a:prstGeom prst="rect">
            <a:avLst/>
          </a:prstGeom>
          <a:ln w="9525">
            <a:solidFill>
              <a:srgbClr val="EEF0F8"/>
            </a:solidFill>
            <a:prstDash val="solid"/>
          </a:ln>
        </p:spPr>
      </p:sp>
      <p:sp>
        <p:nvSpPr>
          <p:cNvPr id="5" name="mini-box-2"/>
          <p:cNvSpPr/>
          <p:nvPr/>
        </p:nvSpPr>
        <p:spPr>
          <a:xfrm>
            <a:off x="8348472" y="320040"/>
            <a:ext cx="146304" cy="146304"/>
          </a:xfrm>
          <a:prstGeom prst="rect">
            <a:avLst/>
          </a:prstGeom>
          <a:solidFill>
            <a:srgbClr val="22D3EE"/>
          </a:solidFill>
          <a:ln w="9525">
            <a:solidFill>
              <a:srgbClr val="22D3EE"/>
            </a:solidFill>
            <a:prstDash val="solid"/>
          </a:ln>
        </p:spPr>
      </p:sp>
      <p:sp>
        <p:nvSpPr>
          <p:cNvPr id="6" name="ilerleme-zemin"/>
          <p:cNvSpPr/>
          <p:nvPr/>
        </p:nvSpPr>
        <p:spPr>
          <a:xfrm>
            <a:off x="0" y="5070348"/>
            <a:ext cx="9144000" cy="73152"/>
          </a:xfrm>
          <a:prstGeom prst="rect">
            <a:avLst/>
          </a:prstGeom>
          <a:solidFill>
            <a:srgbClr val="1A2044"/>
          </a:solidFill>
          <a:ln/>
        </p:spPr>
      </p:sp>
      <p:sp>
        <p:nvSpPr>
          <p:cNvPr id="7" name="ilerleme"/>
          <p:cNvSpPr/>
          <p:nvPr/>
        </p:nvSpPr>
        <p:spPr>
          <a:xfrm>
            <a:off x="0" y="5070348"/>
            <a:ext cx="4890977" cy="73152"/>
          </a:xfrm>
          <a:prstGeom prst="rect">
            <a:avLst/>
          </a:prstGeom>
          <a:solidFill>
            <a:srgbClr val="22D3EE"/>
          </a:solidFill>
          <a:ln/>
        </p:spPr>
      </p:sp>
      <p:sp>
        <p:nvSpPr>
          <p:cNvPr id="8" name="Text 6"/>
          <p:cNvSpPr txBox="1"/>
          <p:nvPr/>
        </p:nvSpPr>
        <p:spPr>
          <a:xfrm>
            <a:off x="548640" y="4791456"/>
            <a:ext cx="3657600" cy="201168"/>
          </a:xfrm>
          <a:prstGeom prst="rect">
            <a:avLst/>
          </a:prstGeom>
          <a:noFill/>
          <a:ln/>
        </p:spPr>
        <p:txBody>
          <a:bodyPr wrap="square" lIns="0" tIns="0" rIns="0" bIns="0" rtlCol="0" anchor="t"/>
          <a:lstStyle/>
          <a:p>
            <a:pPr marL="0" indent="0">
              <a:buNone/>
            </a:pPr>
            <a:r>
              <a:rPr lang="en-US" sz="850" dirty="0">
                <a:solidFill>
                  <a:srgbClr val="6C759E"/>
                </a:solidFill>
                <a:latin typeface="Arial" pitchFamily="34" charset="0"/>
                <a:ea typeface="Arial" pitchFamily="34" charset="-122"/>
                <a:cs typeface="Arial" pitchFamily="34" charset="-120"/>
              </a:rPr>
              <a:t>KCŞ A.Ş.  ·  CSS ile stil ve düzen</a:t>
            </a:r>
            <a:endParaRPr lang="en-US" sz="850" dirty="0"/>
          </a:p>
        </p:txBody>
      </p:sp>
      <p:sp>
        <p:nvSpPr>
          <p:cNvPr id="9" name="Text 7"/>
          <p:cNvSpPr txBox="1"/>
          <p:nvPr/>
        </p:nvSpPr>
        <p:spPr>
          <a:xfrm>
            <a:off x="4206240" y="4791456"/>
            <a:ext cx="3840480" cy="201168"/>
          </a:xfrm>
          <a:prstGeom prst="rect">
            <a:avLst/>
          </a:prstGeom>
          <a:noFill/>
          <a:ln/>
        </p:spPr>
        <p:txBody>
          <a:bodyPr wrap="square" lIns="0" tIns="0" rIns="0" bIns="0" rtlCol="0" anchor="t"/>
          <a:lstStyle/>
          <a:p>
            <a:pPr marL="0" indent="0" algn="r">
              <a:buNone/>
            </a:pPr>
            <a:r>
              <a:rPr lang="en-US" sz="850" dirty="0">
                <a:solidFill>
                  <a:srgbClr val="6C759E"/>
                </a:solidFill>
                <a:latin typeface="Arial" pitchFamily="34" charset="0"/>
                <a:ea typeface="Arial" pitchFamily="34" charset="-122"/>
                <a:cs typeface="Arial" pitchFamily="34" charset="-120"/>
              </a:rPr>
              <a:t>MDN · Debugging CSS</a:t>
            </a:r>
            <a:endParaRPr lang="en-US" sz="850" dirty="0"/>
          </a:p>
        </p:txBody>
      </p:sp>
      <p:sp>
        <p:nvSpPr>
          <p:cNvPr id="10" name="Text 8"/>
          <p:cNvSpPr txBox="1"/>
          <p:nvPr/>
        </p:nvSpPr>
        <p:spPr>
          <a:xfrm>
            <a:off x="8092440" y="4791456"/>
            <a:ext cx="685800" cy="201168"/>
          </a:xfrm>
          <a:prstGeom prst="rect">
            <a:avLst/>
          </a:prstGeom>
          <a:noFill/>
          <a:ln/>
        </p:spPr>
        <p:txBody>
          <a:bodyPr wrap="square" lIns="0" tIns="0" rIns="0" bIns="0" rtlCol="0" anchor="t"/>
          <a:lstStyle/>
          <a:p>
            <a:pPr marL="0" indent="0" algn="r">
              <a:buNone/>
            </a:pPr>
            <a:r>
              <a:rPr lang="en-US" sz="850" dirty="0">
                <a:solidFill>
                  <a:srgbClr val="9AA3C7"/>
                </a:solidFill>
                <a:latin typeface="Courier New" pitchFamily="34" charset="0"/>
                <a:ea typeface="Courier New" pitchFamily="34" charset="-122"/>
                <a:cs typeface="Courier New" pitchFamily="34" charset="-120"/>
              </a:rPr>
              <a:t>23 / 43</a:t>
            </a:r>
            <a:endParaRPr lang="en-US" sz="850" dirty="0"/>
          </a:p>
        </p:txBody>
      </p:sp>
      <p:sp>
        <p:nvSpPr>
          <p:cNvPr id="11" name="Text 9"/>
          <p:cNvSpPr txBox="1"/>
          <p:nvPr/>
        </p:nvSpPr>
        <p:spPr>
          <a:xfrm>
            <a:off x="548640" y="502920"/>
            <a:ext cx="5943600" cy="237744"/>
          </a:xfrm>
          <a:prstGeom prst="rect">
            <a:avLst/>
          </a:prstGeom>
          <a:noFill/>
          <a:ln/>
        </p:spPr>
        <p:txBody>
          <a:bodyPr wrap="square" lIns="0" tIns="0" rIns="0" bIns="0" rtlCol="0" anchor="t"/>
          <a:lstStyle/>
          <a:p>
            <a:pPr marL="0" indent="0">
              <a:buNone/>
            </a:pPr>
            <a:r>
              <a:rPr lang="en-US" sz="1100" b="1" dirty="0">
                <a:solidFill>
                  <a:srgbClr val="22D3EE"/>
                </a:solidFill>
                <a:latin typeface="Courier New" pitchFamily="34" charset="0"/>
                <a:ea typeface="Courier New" pitchFamily="34" charset="-122"/>
                <a:cs typeface="Courier New" pitchFamily="34" charset="-120"/>
              </a:rPr>
              <a:t>F12 › Inspector › Rules</a:t>
            </a:r>
            <a:endParaRPr lang="en-US" sz="1100" dirty="0"/>
          </a:p>
        </p:txBody>
      </p:sp>
      <p:sp>
        <p:nvSpPr>
          <p:cNvPr id="12" name="Text 10"/>
          <p:cNvSpPr txBox="1"/>
          <p:nvPr/>
        </p:nvSpPr>
        <p:spPr>
          <a:xfrm>
            <a:off x="548640" y="749808"/>
            <a:ext cx="7589520" cy="502920"/>
          </a:xfrm>
          <a:prstGeom prst="rect">
            <a:avLst/>
          </a:prstGeom>
          <a:noFill/>
          <a:ln/>
        </p:spPr>
        <p:txBody>
          <a:bodyPr wrap="square" lIns="0" tIns="0" rIns="0" bIns="0" rtlCol="0" anchor="ctr"/>
          <a:lstStyle/>
          <a:p>
            <a:pPr marL="0" indent="0">
              <a:buNone/>
            </a:pPr>
            <a:r>
              <a:rPr lang="en-US" sz="2400" b="1" dirty="0">
                <a:solidFill>
                  <a:srgbClr val="EEF0F8"/>
                </a:solidFill>
                <a:latin typeface="Arial" pitchFamily="34" charset="0"/>
                <a:ea typeface="Arial" pitchFamily="34" charset="-122"/>
                <a:cs typeface="Arial" pitchFamily="34" charset="-120"/>
              </a:rPr>
              <a:t>CSS hata ayıklama</a:t>
            </a:r>
            <a:endParaRPr lang="en-US" sz="2400" dirty="0"/>
          </a:p>
        </p:txBody>
      </p:sp>
      <p:sp>
        <p:nvSpPr>
          <p:cNvPr id="13" name="kart"/>
          <p:cNvSpPr/>
          <p:nvPr/>
        </p:nvSpPr>
        <p:spPr>
          <a:xfrm>
            <a:off x="548640" y="1371600"/>
            <a:ext cx="3931920" cy="2724912"/>
          </a:xfrm>
          <a:prstGeom prst="roundRect">
            <a:avLst>
              <a:gd name="adj" fmla="val 2685"/>
            </a:avLst>
          </a:prstGeom>
          <a:solidFill>
            <a:srgbClr val="1A2044"/>
          </a:solidFill>
          <a:ln w="9525">
            <a:solidFill>
              <a:srgbClr val="2E3768"/>
            </a:solidFill>
            <a:prstDash val="solid"/>
          </a:ln>
        </p:spPr>
      </p:sp>
      <p:sp>
        <p:nvSpPr>
          <p:cNvPr id="14" name="kart-nokta"/>
          <p:cNvSpPr/>
          <p:nvPr/>
        </p:nvSpPr>
        <p:spPr>
          <a:xfrm>
            <a:off x="694944" y="1527048"/>
            <a:ext cx="91440" cy="91440"/>
          </a:xfrm>
          <a:prstGeom prst="ellipse">
            <a:avLst/>
          </a:prstGeom>
          <a:solidFill>
            <a:srgbClr val="22D3EE"/>
          </a:solidFill>
          <a:ln/>
        </p:spPr>
      </p:sp>
      <p:sp>
        <p:nvSpPr>
          <p:cNvPr id="15" name="Text 13"/>
          <p:cNvSpPr txBox="1"/>
          <p:nvPr/>
        </p:nvSpPr>
        <p:spPr>
          <a:xfrm>
            <a:off x="859536" y="1444752"/>
            <a:ext cx="3520440" cy="274320"/>
          </a:xfrm>
          <a:prstGeom prst="rect">
            <a:avLst/>
          </a:prstGeom>
          <a:noFill/>
          <a:ln/>
        </p:spPr>
        <p:txBody>
          <a:bodyPr wrap="square" lIns="0" tIns="0" rIns="0" bIns="0" rtlCol="0" anchor="ctr"/>
          <a:lstStyle/>
          <a:p>
            <a:pPr marL="0" indent="0">
              <a:buNone/>
            </a:pPr>
            <a:r>
              <a:rPr lang="en-US" sz="1300" b="1" dirty="0">
                <a:solidFill>
                  <a:srgbClr val="EEF0F8"/>
                </a:solidFill>
                <a:latin typeface="Arial" pitchFamily="34" charset="0"/>
                <a:ea typeface="Arial" pitchFamily="34" charset="-122"/>
                <a:cs typeface="Arial" pitchFamily="34" charset="-120"/>
              </a:rPr>
              <a:t>DevTools ile neler yapılır?</a:t>
            </a:r>
            <a:endParaRPr lang="en-US" sz="1300" dirty="0"/>
          </a:p>
        </p:txBody>
      </p:sp>
      <p:sp>
        <p:nvSpPr>
          <p:cNvPr id="16" name="Text 14"/>
          <p:cNvSpPr txBox="1"/>
          <p:nvPr/>
        </p:nvSpPr>
        <p:spPr>
          <a:xfrm>
            <a:off x="694944" y="1737360"/>
            <a:ext cx="3657600" cy="2331720"/>
          </a:xfrm>
          <a:prstGeom prst="rect">
            <a:avLst/>
          </a:prstGeom>
          <a:noFill/>
          <a:ln/>
        </p:spPr>
        <p:txBody>
          <a:bodyPr wrap="square" lIns="0" tIns="0" rIns="0" bIns="0" rtlCol="0" anchor="t"/>
          <a:lstStyle/>
          <a:p>
            <a:pPr marL="139700" indent="-139700">
              <a:spcAft>
                <a:spcPts val="500"/>
              </a:spcAft>
              <a:buSzPct val="100000"/>
              <a:buChar char="▸"/>
            </a:pPr>
            <a:r>
              <a:rPr lang="en-US" sz="1000" dirty="0">
                <a:solidFill>
                  <a:srgbClr val="EEF0F8"/>
                </a:solidFill>
                <a:latin typeface="Arial" pitchFamily="34" charset="0"/>
                <a:ea typeface="Arial" pitchFamily="34" charset="-122"/>
                <a:cs typeface="Arial" pitchFamily="34" charset="-120"/>
              </a:rPr>
              <a:t>View Source sunucudaki HTML'i, DOM ise tarayıcının gerçekte çizdiğini gösterir</a:t>
            </a:r>
            <a:endParaRPr lang="en-US" sz="1000" dirty="0"/>
          </a:p>
          <a:p>
            <a:pPr marL="139700" indent="-139700">
              <a:spcAft>
                <a:spcPts val="500"/>
              </a:spcAft>
              <a:buSzPct val="100000"/>
              <a:buChar char="▸"/>
            </a:pPr>
            <a:r>
              <a:rPr lang="en-US" sz="1000" dirty="0">
                <a:solidFill>
                  <a:srgbClr val="EEF0F8"/>
                </a:solidFill>
                <a:latin typeface="Arial" pitchFamily="34" charset="0"/>
                <a:ea typeface="Arial" pitchFamily="34" charset="-122"/>
                <a:cs typeface="Arial" pitchFamily="34" charset="-120"/>
              </a:rPr>
              <a:t>Rules görünümünde uygulanan ve kalıtılan kurallar; kısayolları açıp tek tek değerleri gör</a:t>
            </a:r>
            <a:endParaRPr lang="en-US" sz="1000" dirty="0"/>
          </a:p>
          <a:p>
            <a:pPr marL="139700" indent="-139700">
              <a:spcAft>
                <a:spcPts val="500"/>
              </a:spcAft>
              <a:buSzPct val="100000"/>
              <a:buChar char="▸"/>
            </a:pPr>
            <a:r>
              <a:rPr lang="en-US" sz="1000" dirty="0">
                <a:solidFill>
                  <a:srgbClr val="EEF0F8"/>
                </a:solidFill>
                <a:latin typeface="Arial" pitchFamily="34" charset="0"/>
                <a:ea typeface="Arial" pitchFamily="34" charset="-122"/>
                <a:cs typeface="Arial" pitchFamily="34" charset="-120"/>
              </a:rPr>
              <a:t>Kutucuğu kaldırıp bir bildirimi kapat, rengi seç, değeri canlı değiştir, yeni özellik ekle</a:t>
            </a:r>
            <a:endParaRPr lang="en-US" sz="1000" dirty="0"/>
          </a:p>
          <a:p>
            <a:pPr marL="139700" indent="-139700">
              <a:spcAft>
                <a:spcPts val="500"/>
              </a:spcAft>
              <a:buSzPct val="100000"/>
              <a:buChar char="▸"/>
            </a:pPr>
            <a:r>
              <a:rPr lang="en-US" sz="1000" dirty="0">
                <a:solidFill>
                  <a:srgbClr val="EEF0F8"/>
                </a:solidFill>
                <a:latin typeface="Arial" pitchFamily="34" charset="0"/>
                <a:ea typeface="Arial" pitchFamily="34" charset="-122"/>
                <a:cs typeface="Arial" pitchFamily="34" charset="-120"/>
              </a:rPr>
              <a:t>Layout görünümü box model diyagramını gösterir</a:t>
            </a:r>
            <a:endParaRPr lang="en-US" sz="1000" dirty="0"/>
          </a:p>
          <a:p>
            <a:pPr marL="139700" indent="-139700">
              <a:spcAft>
                <a:spcPts val="500"/>
              </a:spcAft>
              <a:buSzPct val="100000"/>
              <a:buChar char="▸"/>
            </a:pPr>
            <a:r>
              <a:rPr lang="en-US" sz="1000" dirty="0">
                <a:solidFill>
                  <a:srgbClr val="EEF0F8"/>
                </a:solidFill>
                <a:latin typeface="Arial" pitchFamily="34" charset="0"/>
                <a:ea typeface="Arial" pitchFamily="34" charset="-122"/>
                <a:cs typeface="Arial" pitchFamily="34" charset="-120"/>
              </a:rPr>
              <a:t>Ezilen kural üstü çizili görünür (ör. sınıf, tür seçiciyi ezdiğinde)</a:t>
            </a:r>
            <a:endParaRPr lang="en-US" sz="1000" dirty="0"/>
          </a:p>
        </p:txBody>
      </p:sp>
      <p:sp>
        <p:nvSpPr>
          <p:cNvPr id="17" name="kart"/>
          <p:cNvSpPr/>
          <p:nvPr/>
        </p:nvSpPr>
        <p:spPr>
          <a:xfrm>
            <a:off x="4709160" y="1371600"/>
            <a:ext cx="3886200" cy="2724912"/>
          </a:xfrm>
          <a:prstGeom prst="roundRect">
            <a:avLst>
              <a:gd name="adj" fmla="val 2685"/>
            </a:avLst>
          </a:prstGeom>
          <a:solidFill>
            <a:srgbClr val="1A2044"/>
          </a:solidFill>
          <a:ln w="9525">
            <a:solidFill>
              <a:srgbClr val="2E3768"/>
            </a:solidFill>
            <a:prstDash val="solid"/>
          </a:ln>
        </p:spPr>
      </p:sp>
      <p:sp>
        <p:nvSpPr>
          <p:cNvPr id="18" name="kart-nokta"/>
          <p:cNvSpPr/>
          <p:nvPr/>
        </p:nvSpPr>
        <p:spPr>
          <a:xfrm>
            <a:off x="4855464" y="1527048"/>
            <a:ext cx="91440" cy="91440"/>
          </a:xfrm>
          <a:prstGeom prst="ellipse">
            <a:avLst/>
          </a:prstGeom>
          <a:solidFill>
            <a:srgbClr val="F472B6"/>
          </a:solidFill>
          <a:ln/>
        </p:spPr>
      </p:sp>
      <p:sp>
        <p:nvSpPr>
          <p:cNvPr id="19" name="Text 17"/>
          <p:cNvSpPr txBox="1"/>
          <p:nvPr/>
        </p:nvSpPr>
        <p:spPr>
          <a:xfrm>
            <a:off x="5020056" y="1444752"/>
            <a:ext cx="3474720" cy="274320"/>
          </a:xfrm>
          <a:prstGeom prst="rect">
            <a:avLst/>
          </a:prstGeom>
          <a:noFill/>
          <a:ln/>
        </p:spPr>
        <p:txBody>
          <a:bodyPr wrap="square" lIns="0" tIns="0" rIns="0" bIns="0" rtlCol="0" anchor="ctr"/>
          <a:lstStyle/>
          <a:p>
            <a:pPr marL="0" indent="0">
              <a:buNone/>
            </a:pPr>
            <a:r>
              <a:rPr lang="en-US" sz="1300" b="1" dirty="0">
                <a:solidFill>
                  <a:srgbClr val="EEF0F8"/>
                </a:solidFill>
                <a:latin typeface="Arial" pitchFamily="34" charset="0"/>
                <a:ea typeface="Arial" pitchFamily="34" charset="-122"/>
                <a:cs typeface="Arial" pitchFamily="34" charset="-120"/>
              </a:rPr>
              <a:t>Sorun çözme adımları</a:t>
            </a:r>
            <a:endParaRPr lang="en-US" sz="1300" dirty="0"/>
          </a:p>
        </p:txBody>
      </p:sp>
      <p:sp>
        <p:nvSpPr>
          <p:cNvPr id="20" name="Text 18"/>
          <p:cNvSpPr txBox="1"/>
          <p:nvPr/>
        </p:nvSpPr>
        <p:spPr>
          <a:xfrm>
            <a:off x="4846320" y="1737360"/>
            <a:ext cx="3611880" cy="2331720"/>
          </a:xfrm>
          <a:prstGeom prst="rect">
            <a:avLst/>
          </a:prstGeom>
          <a:noFill/>
          <a:ln/>
        </p:spPr>
        <p:txBody>
          <a:bodyPr wrap="square" lIns="0" tIns="0" rIns="0" bIns="0" rtlCol="0" anchor="t"/>
          <a:lstStyle/>
          <a:p>
            <a:pPr marL="0" indent="0">
              <a:spcAft>
                <a:spcPts val="600"/>
              </a:spcAft>
              <a:buNone/>
            </a:pPr>
            <a:r>
              <a:rPr lang="en-US" sz="1000" b="1" dirty="0">
                <a:solidFill>
                  <a:srgbClr val="F472B6"/>
                </a:solidFill>
                <a:latin typeface="Arial" pitchFamily="34" charset="0"/>
                <a:ea typeface="Arial" pitchFamily="34" charset="-122"/>
                <a:cs typeface="Arial" pitchFamily="34" charset="-120"/>
              </a:rPr>
              <a:t>1. </a:t>
            </a:r>
            <a:r>
              <a:rPr lang="en-US" sz="1000" dirty="0">
                <a:solidFill>
                  <a:srgbClr val="EEF0F8"/>
                </a:solidFill>
                <a:latin typeface="Arial" pitchFamily="34" charset="0"/>
                <a:ea typeface="Arial" pitchFamily="34" charset="-122"/>
                <a:cs typeface="Arial" pitchFamily="34" charset="-120"/>
              </a:rPr>
              <a:t>Bir adım geri çekil, ara ver</a:t>
            </a:r>
            <a:endParaRPr lang="en-US" sz="1000" dirty="0"/>
          </a:p>
          <a:p>
            <a:pPr marL="0" indent="0">
              <a:spcAft>
                <a:spcPts val="600"/>
              </a:spcAft>
              <a:buNone/>
            </a:pPr>
            <a:r>
              <a:rPr lang="en-US" sz="1000" b="1" dirty="0">
                <a:solidFill>
                  <a:srgbClr val="F472B6"/>
                </a:solidFill>
                <a:latin typeface="Arial" pitchFamily="34" charset="0"/>
                <a:ea typeface="Arial" pitchFamily="34" charset="-122"/>
                <a:cs typeface="Arial" pitchFamily="34" charset="-120"/>
              </a:rPr>
              <a:t>2. </a:t>
            </a:r>
            <a:r>
              <a:rPr lang="en-US" sz="1000" dirty="0">
                <a:solidFill>
                  <a:srgbClr val="EEF0F8"/>
                </a:solidFill>
                <a:latin typeface="Arial" pitchFamily="34" charset="0"/>
                <a:ea typeface="Arial" pitchFamily="34" charset="-122"/>
                <a:cs typeface="Arial" pitchFamily="34" charset="-120"/>
              </a:rPr>
              <a:t>HTML ve CSS'i doğrula (W3C validator)</a:t>
            </a:r>
            <a:endParaRPr lang="en-US" sz="1000" dirty="0"/>
          </a:p>
          <a:p>
            <a:pPr marL="0" indent="0">
              <a:spcAft>
                <a:spcPts val="600"/>
              </a:spcAft>
              <a:buNone/>
            </a:pPr>
            <a:r>
              <a:rPr lang="en-US" sz="1000" b="1" dirty="0">
                <a:solidFill>
                  <a:srgbClr val="F472B6"/>
                </a:solidFill>
                <a:latin typeface="Arial" pitchFamily="34" charset="0"/>
                <a:ea typeface="Arial" pitchFamily="34" charset="-122"/>
                <a:cs typeface="Arial" pitchFamily="34" charset="-120"/>
              </a:rPr>
              <a:t>3. </a:t>
            </a:r>
            <a:r>
              <a:rPr lang="en-US" sz="1000" dirty="0">
                <a:solidFill>
                  <a:srgbClr val="EEF0F8"/>
                </a:solidFill>
                <a:latin typeface="Arial" pitchFamily="34" charset="0"/>
                <a:ea typeface="Arial" pitchFamily="34" charset="-122"/>
                <a:cs typeface="Arial" pitchFamily="34" charset="-120"/>
              </a:rPr>
              <a:t>Tarayıcı desteğini kontrol et; desteklenmeyen özellik sessizce yok sayılır</a:t>
            </a:r>
            <a:endParaRPr lang="en-US" sz="1000" dirty="0"/>
          </a:p>
          <a:p>
            <a:pPr marL="0" indent="0">
              <a:spcAft>
                <a:spcPts val="600"/>
              </a:spcAft>
              <a:buNone/>
            </a:pPr>
            <a:r>
              <a:rPr lang="en-US" sz="1000" b="1" dirty="0">
                <a:solidFill>
                  <a:srgbClr val="F472B6"/>
                </a:solidFill>
                <a:latin typeface="Arial" pitchFamily="34" charset="0"/>
                <a:ea typeface="Arial" pitchFamily="34" charset="-122"/>
                <a:cs typeface="Arial" pitchFamily="34" charset="-120"/>
              </a:rPr>
              <a:t>4. </a:t>
            </a:r>
            <a:r>
              <a:rPr lang="en-US" sz="1000" dirty="0">
                <a:solidFill>
                  <a:srgbClr val="EEF0F8"/>
                </a:solidFill>
                <a:latin typeface="Arial" pitchFamily="34" charset="0"/>
                <a:ea typeface="Arial" pitchFamily="34" charset="-122"/>
                <a:cs typeface="Arial" pitchFamily="34" charset="-120"/>
              </a:rPr>
              <a:t>Seni ezen kuralı bul, seçiciyi güçlendir</a:t>
            </a:r>
            <a:endParaRPr lang="en-US" sz="1000" dirty="0"/>
          </a:p>
          <a:p>
            <a:pPr marL="0" indent="0">
              <a:spcAft>
                <a:spcPts val="600"/>
              </a:spcAft>
              <a:buNone/>
            </a:pPr>
            <a:r>
              <a:rPr lang="en-US" sz="1000" b="1" dirty="0">
                <a:solidFill>
                  <a:srgbClr val="F472B6"/>
                </a:solidFill>
                <a:latin typeface="Arial" pitchFamily="34" charset="0"/>
                <a:ea typeface="Arial" pitchFamily="34" charset="-122"/>
                <a:cs typeface="Arial" pitchFamily="34" charset="-120"/>
              </a:rPr>
              <a:t>5. </a:t>
            </a:r>
            <a:r>
              <a:rPr lang="en-US" sz="1000" dirty="0">
                <a:solidFill>
                  <a:srgbClr val="EEF0F8"/>
                </a:solidFill>
                <a:latin typeface="Arial" pitchFamily="34" charset="0"/>
                <a:ea typeface="Arial" pitchFamily="34" charset="-122"/>
                <a:cs typeface="Arial" pitchFamily="34" charset="-120"/>
              </a:rPr>
              <a:t>Sorunu en küçük örneğe indir (reduced test case)</a:t>
            </a:r>
            <a:endParaRPr lang="en-US" sz="1000" dirty="0"/>
          </a:p>
        </p:txBody>
      </p:sp>
      <p:sp>
        <p:nvSpPr>
          <p:cNvPr id="21" name="benzetme"/>
          <p:cNvSpPr/>
          <p:nvPr/>
        </p:nvSpPr>
        <p:spPr>
          <a:xfrm>
            <a:off x="548640" y="4224528"/>
            <a:ext cx="8046720" cy="402336"/>
          </a:xfrm>
          <a:prstGeom prst="roundRect">
            <a:avLst>
              <a:gd name="adj" fmla="val 50000"/>
            </a:avLst>
          </a:prstGeom>
          <a:solidFill>
            <a:srgbClr val="232A55"/>
          </a:solidFill>
          <a:ln/>
        </p:spPr>
      </p:sp>
      <p:sp>
        <p:nvSpPr>
          <p:cNvPr id="22" name="benzetme-ikon"/>
          <p:cNvSpPr/>
          <p:nvPr/>
        </p:nvSpPr>
        <p:spPr>
          <a:xfrm>
            <a:off x="621792" y="4261104"/>
            <a:ext cx="329184" cy="329184"/>
          </a:xfrm>
          <a:prstGeom prst="ellipse">
            <a:avLst/>
          </a:prstGeom>
          <a:solidFill>
            <a:srgbClr val="FBBF24"/>
          </a:solidFill>
          <a:ln/>
        </p:spPr>
      </p:sp>
      <p:sp>
        <p:nvSpPr>
          <p:cNvPr id="23" name="Text 21"/>
          <p:cNvSpPr txBox="1"/>
          <p:nvPr/>
        </p:nvSpPr>
        <p:spPr>
          <a:xfrm>
            <a:off x="621792" y="4261104"/>
            <a:ext cx="329184" cy="329184"/>
          </a:xfrm>
          <a:prstGeom prst="rect">
            <a:avLst/>
          </a:prstGeom>
          <a:noFill/>
          <a:ln/>
        </p:spPr>
        <p:txBody>
          <a:bodyPr wrap="square" lIns="0" tIns="0" rIns="0" bIns="0" rtlCol="0" anchor="ctr"/>
          <a:lstStyle/>
          <a:p>
            <a:pPr marL="0" indent="0" algn="ctr">
              <a:buNone/>
            </a:pPr>
            <a:r>
              <a:rPr lang="en-US" sz="1600" b="1" dirty="0">
                <a:solidFill>
                  <a:srgbClr val="10142B"/>
                </a:solidFill>
                <a:latin typeface="Arial" pitchFamily="34" charset="0"/>
                <a:ea typeface="Arial" pitchFamily="34" charset="-122"/>
                <a:cs typeface="Arial" pitchFamily="34" charset="-120"/>
              </a:rPr>
              <a:t>≈</a:t>
            </a:r>
            <a:endParaRPr lang="en-US" sz="1600" dirty="0"/>
          </a:p>
        </p:txBody>
      </p:sp>
      <p:sp>
        <p:nvSpPr>
          <p:cNvPr id="24" name="Text 22"/>
          <p:cNvSpPr txBox="1"/>
          <p:nvPr/>
        </p:nvSpPr>
        <p:spPr>
          <a:xfrm>
            <a:off x="1042416" y="4224528"/>
            <a:ext cx="7452360" cy="402336"/>
          </a:xfrm>
          <a:prstGeom prst="rect">
            <a:avLst/>
          </a:prstGeom>
          <a:noFill/>
          <a:ln/>
        </p:spPr>
        <p:txBody>
          <a:bodyPr wrap="square" lIns="0" tIns="0" rIns="0" bIns="0" rtlCol="0" anchor="ctr"/>
          <a:lstStyle/>
          <a:p>
            <a:pPr marL="0" indent="0">
              <a:buNone/>
            </a:pPr>
            <a:r>
              <a:rPr lang="en-US" sz="1100" b="1" dirty="0">
                <a:solidFill>
                  <a:srgbClr val="FBBF24"/>
                </a:solidFill>
                <a:latin typeface="Arial" pitchFamily="34" charset="0"/>
                <a:ea typeface="Arial" pitchFamily="34" charset="-122"/>
                <a:cs typeface="Arial" pitchFamily="34" charset="-120"/>
              </a:rPr>
              <a:t>Gündelik hayatta: </a:t>
            </a:r>
            <a:r>
              <a:rPr lang="en-US" sz="1100" dirty="0">
                <a:solidFill>
                  <a:srgbClr val="EEF0F8"/>
                </a:solidFill>
                <a:latin typeface="Arial" pitchFamily="34" charset="0"/>
                <a:ea typeface="Arial" pitchFamily="34" charset="-122"/>
                <a:cs typeface="Arial" pitchFamily="34" charset="-120"/>
              </a:rPr>
              <a:t>arıza arayan elektrikçi gibi: sigortaları tek tek kapatıp (kutucuğu kaldır) sorunun hangi hatta olduğunu bulursun.</a:t>
            </a:r>
            <a:endParaRPr lang="en-US" sz="1100" dirty="0"/>
          </a:p>
        </p:txBody>
      </p:sp>
    </p:spTree>
  </p:cSld>
  <p:clrMapOvr>
    <a:masterClrMapping/>
  </p:clrMapOvr>
  <p:transition spd="med">
    <p:pull/>
  </p:transition>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48640" y="256032"/>
            <a:ext cx="4572000" cy="201168"/>
          </a:xfrm>
          <a:prstGeom prst="rect">
            <a:avLst/>
          </a:prstGeom>
          <a:noFill/>
          <a:ln/>
        </p:spPr>
        <p:txBody>
          <a:bodyPr wrap="square" lIns="0" tIns="0" rIns="0" bIns="0" rtlCol="0" anchor="t"/>
          <a:lstStyle/>
          <a:p>
            <a:pPr marL="0" indent="0">
              <a:buNone/>
            </a:pPr>
            <a:r>
              <a:rPr lang="en-US" sz="900" b="1" kern="0" spc="200" dirty="0">
                <a:solidFill>
                  <a:srgbClr val="F472B6"/>
                </a:solidFill>
                <a:latin typeface="Arial" pitchFamily="34" charset="0"/>
                <a:ea typeface="Arial" pitchFamily="34" charset="-122"/>
                <a:cs typeface="Arial" pitchFamily="34" charset="-120"/>
              </a:rPr>
              <a:t>MODÜL 2 · METİN STİLİ</a:t>
            </a:r>
            <a:endParaRPr lang="en-US" sz="900" dirty="0"/>
          </a:p>
        </p:txBody>
      </p:sp>
      <p:sp>
        <p:nvSpPr>
          <p:cNvPr id="3" name="mini-box-0"/>
          <p:cNvSpPr/>
          <p:nvPr/>
        </p:nvSpPr>
        <p:spPr>
          <a:xfrm>
            <a:off x="8229600" y="201168"/>
            <a:ext cx="384048" cy="384048"/>
          </a:xfrm>
          <a:prstGeom prst="rect">
            <a:avLst/>
          </a:prstGeom>
          <a:ln w="9525">
            <a:solidFill>
              <a:srgbClr val="F472B6"/>
            </a:solidFill>
            <a:prstDash val="solid"/>
          </a:ln>
        </p:spPr>
      </p:sp>
      <p:sp>
        <p:nvSpPr>
          <p:cNvPr id="4" name="mini-box-1"/>
          <p:cNvSpPr/>
          <p:nvPr/>
        </p:nvSpPr>
        <p:spPr>
          <a:xfrm>
            <a:off x="8293608" y="265176"/>
            <a:ext cx="256032" cy="256032"/>
          </a:xfrm>
          <a:prstGeom prst="rect">
            <a:avLst/>
          </a:prstGeom>
          <a:ln w="9525">
            <a:solidFill>
              <a:srgbClr val="EEF0F8"/>
            </a:solidFill>
            <a:prstDash val="solid"/>
          </a:ln>
        </p:spPr>
      </p:sp>
      <p:sp>
        <p:nvSpPr>
          <p:cNvPr id="5" name="mini-box-2"/>
          <p:cNvSpPr/>
          <p:nvPr/>
        </p:nvSpPr>
        <p:spPr>
          <a:xfrm>
            <a:off x="8348472" y="320040"/>
            <a:ext cx="146304" cy="146304"/>
          </a:xfrm>
          <a:prstGeom prst="rect">
            <a:avLst/>
          </a:prstGeom>
          <a:solidFill>
            <a:srgbClr val="F472B6"/>
          </a:solidFill>
          <a:ln w="9525">
            <a:solidFill>
              <a:srgbClr val="F472B6"/>
            </a:solidFill>
            <a:prstDash val="solid"/>
          </a:ln>
        </p:spPr>
      </p:sp>
      <p:sp>
        <p:nvSpPr>
          <p:cNvPr id="6" name="ilerleme-zemin"/>
          <p:cNvSpPr/>
          <p:nvPr/>
        </p:nvSpPr>
        <p:spPr>
          <a:xfrm>
            <a:off x="0" y="5070348"/>
            <a:ext cx="9144000" cy="73152"/>
          </a:xfrm>
          <a:prstGeom prst="rect">
            <a:avLst/>
          </a:prstGeom>
          <a:solidFill>
            <a:srgbClr val="1A2044"/>
          </a:solidFill>
          <a:ln/>
        </p:spPr>
      </p:sp>
      <p:sp>
        <p:nvSpPr>
          <p:cNvPr id="7" name="ilerleme"/>
          <p:cNvSpPr/>
          <p:nvPr/>
        </p:nvSpPr>
        <p:spPr>
          <a:xfrm>
            <a:off x="0" y="5070348"/>
            <a:ext cx="5103628" cy="73152"/>
          </a:xfrm>
          <a:prstGeom prst="rect">
            <a:avLst/>
          </a:prstGeom>
          <a:solidFill>
            <a:srgbClr val="F472B6"/>
          </a:solidFill>
          <a:ln/>
        </p:spPr>
      </p:sp>
      <p:sp>
        <p:nvSpPr>
          <p:cNvPr id="8" name="Text 6"/>
          <p:cNvSpPr txBox="1"/>
          <p:nvPr/>
        </p:nvSpPr>
        <p:spPr>
          <a:xfrm>
            <a:off x="548640" y="4791456"/>
            <a:ext cx="3657600" cy="201168"/>
          </a:xfrm>
          <a:prstGeom prst="rect">
            <a:avLst/>
          </a:prstGeom>
          <a:noFill/>
          <a:ln/>
        </p:spPr>
        <p:txBody>
          <a:bodyPr wrap="square" lIns="0" tIns="0" rIns="0" bIns="0" rtlCol="0" anchor="t"/>
          <a:lstStyle/>
          <a:p>
            <a:pPr marL="0" indent="0">
              <a:buNone/>
            </a:pPr>
            <a:r>
              <a:rPr lang="en-US" sz="850" dirty="0">
                <a:solidFill>
                  <a:srgbClr val="6C759E"/>
                </a:solidFill>
                <a:latin typeface="Arial" pitchFamily="34" charset="0"/>
                <a:ea typeface="Arial" pitchFamily="34" charset="-122"/>
                <a:cs typeface="Arial" pitchFamily="34" charset="-120"/>
              </a:rPr>
              <a:t>KCŞ A.Ş.  ·  CSS ile stil ve düzen</a:t>
            </a:r>
            <a:endParaRPr lang="en-US" sz="850" dirty="0"/>
          </a:p>
        </p:txBody>
      </p:sp>
      <p:sp>
        <p:nvSpPr>
          <p:cNvPr id="9" name="Text 7"/>
          <p:cNvSpPr txBox="1"/>
          <p:nvPr/>
        </p:nvSpPr>
        <p:spPr>
          <a:xfrm>
            <a:off x="4206240" y="4791456"/>
            <a:ext cx="3840480" cy="201168"/>
          </a:xfrm>
          <a:prstGeom prst="rect">
            <a:avLst/>
          </a:prstGeom>
          <a:noFill/>
          <a:ln/>
        </p:spPr>
        <p:txBody>
          <a:bodyPr wrap="square" lIns="0" tIns="0" rIns="0" bIns="0" rtlCol="0" anchor="t"/>
          <a:lstStyle/>
          <a:p>
            <a:pPr marL="0" indent="0" algn="r">
              <a:buNone/>
            </a:pPr>
            <a:r>
              <a:rPr lang="en-US" sz="850" dirty="0">
                <a:solidFill>
                  <a:srgbClr val="6C759E"/>
                </a:solidFill>
                <a:latin typeface="Arial" pitchFamily="34" charset="0"/>
                <a:ea typeface="Arial" pitchFamily="34" charset="-122"/>
                <a:cs typeface="Arial" pitchFamily="34" charset="-120"/>
              </a:rPr>
              <a:t>MDN · CSS text styling</a:t>
            </a:r>
            <a:endParaRPr lang="en-US" sz="850" dirty="0"/>
          </a:p>
        </p:txBody>
      </p:sp>
      <p:sp>
        <p:nvSpPr>
          <p:cNvPr id="10" name="Text 8"/>
          <p:cNvSpPr txBox="1"/>
          <p:nvPr/>
        </p:nvSpPr>
        <p:spPr>
          <a:xfrm>
            <a:off x="8092440" y="4791456"/>
            <a:ext cx="685800" cy="201168"/>
          </a:xfrm>
          <a:prstGeom prst="rect">
            <a:avLst/>
          </a:prstGeom>
          <a:noFill/>
          <a:ln/>
        </p:spPr>
        <p:txBody>
          <a:bodyPr wrap="square" lIns="0" tIns="0" rIns="0" bIns="0" rtlCol="0" anchor="t"/>
          <a:lstStyle/>
          <a:p>
            <a:pPr marL="0" indent="0" algn="r">
              <a:buNone/>
            </a:pPr>
            <a:r>
              <a:rPr lang="en-US" sz="850" dirty="0">
                <a:solidFill>
                  <a:srgbClr val="9AA3C7"/>
                </a:solidFill>
                <a:latin typeface="Courier New" pitchFamily="34" charset="0"/>
                <a:ea typeface="Courier New" pitchFamily="34" charset="-122"/>
                <a:cs typeface="Courier New" pitchFamily="34" charset="-120"/>
              </a:rPr>
              <a:t>24 / 43</a:t>
            </a:r>
            <a:endParaRPr lang="en-US" sz="850" dirty="0"/>
          </a:p>
        </p:txBody>
      </p:sp>
      <p:sp>
        <p:nvSpPr>
          <p:cNvPr id="11" name="Text 9"/>
          <p:cNvSpPr txBox="1"/>
          <p:nvPr/>
        </p:nvSpPr>
        <p:spPr>
          <a:xfrm>
            <a:off x="457200" y="822960"/>
            <a:ext cx="2926080" cy="1828800"/>
          </a:xfrm>
          <a:prstGeom prst="rect">
            <a:avLst/>
          </a:prstGeom>
          <a:noFill/>
          <a:ln/>
        </p:spPr>
        <p:txBody>
          <a:bodyPr wrap="square" lIns="0" tIns="0" rIns="0" bIns="0" rtlCol="0" anchor="ctr"/>
          <a:lstStyle/>
          <a:p>
            <a:pPr marL="0" indent="0">
              <a:buNone/>
            </a:pPr>
            <a:r>
              <a:rPr lang="en-US" sz="12000" b="1" dirty="0">
                <a:solidFill>
                  <a:srgbClr val="F472B6"/>
                </a:solidFill>
                <a:latin typeface="Arial" pitchFamily="34" charset="0"/>
                <a:ea typeface="Arial" pitchFamily="34" charset="-122"/>
                <a:cs typeface="Arial" pitchFamily="34" charset="-120"/>
              </a:rPr>
              <a:t>02</a:t>
            </a:r>
            <a:endParaRPr lang="en-US" sz="12000" dirty="0"/>
          </a:p>
        </p:txBody>
      </p:sp>
      <p:sp>
        <p:nvSpPr>
          <p:cNvPr id="12" name="Text 10"/>
          <p:cNvSpPr txBox="1"/>
          <p:nvPr/>
        </p:nvSpPr>
        <p:spPr>
          <a:xfrm>
            <a:off x="3291840" y="1143000"/>
            <a:ext cx="5486400" cy="548640"/>
          </a:xfrm>
          <a:prstGeom prst="rect">
            <a:avLst/>
          </a:prstGeom>
          <a:noFill/>
          <a:ln/>
        </p:spPr>
        <p:txBody>
          <a:bodyPr wrap="square" lIns="0" tIns="0" rIns="0" bIns="0" rtlCol="0" anchor="t"/>
          <a:lstStyle/>
          <a:p>
            <a:pPr marL="0" indent="0">
              <a:buNone/>
            </a:pPr>
            <a:r>
              <a:rPr lang="en-US" sz="3000" b="1" dirty="0">
                <a:solidFill>
                  <a:srgbClr val="EEF0F8"/>
                </a:solidFill>
                <a:latin typeface="Arial" pitchFamily="34" charset="0"/>
                <a:ea typeface="Arial" pitchFamily="34" charset="-122"/>
                <a:cs typeface="Arial" pitchFamily="34" charset="-120"/>
              </a:rPr>
              <a:t>Metin stili</a:t>
            </a:r>
            <a:endParaRPr lang="en-US" sz="3000" dirty="0"/>
          </a:p>
        </p:txBody>
      </p:sp>
      <p:sp>
        <p:nvSpPr>
          <p:cNvPr id="13" name="Text 11"/>
          <p:cNvSpPr txBox="1"/>
          <p:nvPr/>
        </p:nvSpPr>
        <p:spPr>
          <a:xfrm>
            <a:off x="3291840" y="1691640"/>
            <a:ext cx="5486400" cy="274320"/>
          </a:xfrm>
          <a:prstGeom prst="rect">
            <a:avLst/>
          </a:prstGeom>
          <a:noFill/>
          <a:ln/>
        </p:spPr>
        <p:txBody>
          <a:bodyPr wrap="square" lIns="0" tIns="0" rIns="0" bIns="0" rtlCol="0" anchor="t"/>
          <a:lstStyle/>
          <a:p>
            <a:pPr marL="0" indent="0">
              <a:buNone/>
            </a:pPr>
            <a:r>
              <a:rPr lang="en-US" sz="1300" dirty="0">
                <a:solidFill>
                  <a:srgbClr val="F472B6"/>
                </a:solidFill>
                <a:latin typeface="Courier New" pitchFamily="34" charset="0"/>
                <a:ea typeface="Courier New" pitchFamily="34" charset="-122"/>
                <a:cs typeface="Courier New" pitchFamily="34" charset="-120"/>
              </a:rPr>
              <a:t>CSS text styling</a:t>
            </a:r>
            <a:endParaRPr lang="en-US" sz="1300" dirty="0"/>
          </a:p>
        </p:txBody>
      </p:sp>
      <p:sp>
        <p:nvSpPr>
          <p:cNvPr id="14" name="Text 12"/>
          <p:cNvSpPr txBox="1"/>
          <p:nvPr/>
        </p:nvSpPr>
        <p:spPr>
          <a:xfrm>
            <a:off x="3291840" y="2011680"/>
            <a:ext cx="5486400" cy="274320"/>
          </a:xfrm>
          <a:prstGeom prst="rect">
            <a:avLst/>
          </a:prstGeom>
          <a:noFill/>
          <a:ln/>
        </p:spPr>
        <p:txBody>
          <a:bodyPr wrap="square" lIns="0" tIns="0" rIns="0" bIns="0" rtlCol="0" anchor="t"/>
          <a:lstStyle/>
          <a:p>
            <a:pPr marL="0" indent="0">
              <a:buNone/>
            </a:pPr>
            <a:r>
              <a:rPr lang="en-US" sz="1100" dirty="0">
                <a:solidFill>
                  <a:srgbClr val="9AA3C7"/>
                </a:solidFill>
                <a:latin typeface="Arial" pitchFamily="34" charset="0"/>
                <a:ea typeface="Arial" pitchFamily="34" charset="-122"/>
                <a:cs typeface="Arial" pitchFamily="34" charset="-120"/>
              </a:rPr>
              <a:t>4 ders</a:t>
            </a:r>
            <a:endParaRPr lang="en-US" sz="1100" dirty="0"/>
          </a:p>
        </p:txBody>
      </p:sp>
      <p:sp>
        <p:nvSpPr>
          <p:cNvPr id="15" name="Text 13"/>
          <p:cNvSpPr txBox="1"/>
          <p:nvPr/>
        </p:nvSpPr>
        <p:spPr>
          <a:xfrm>
            <a:off x="548640" y="2743200"/>
            <a:ext cx="2560320" cy="256032"/>
          </a:xfrm>
          <a:prstGeom prst="roundRect">
            <a:avLst>
              <a:gd name="adj" fmla="val 42857"/>
            </a:avLst>
          </a:prstGeom>
          <a:solidFill>
            <a:srgbClr val="1A2044"/>
          </a:solidFill>
          <a:ln w="12700">
            <a:solidFill>
              <a:srgbClr val="F472B6"/>
            </a:solidFill>
          </a:ln>
        </p:spPr>
        <p:txBody>
          <a:bodyPr wrap="square" lIns="0" tIns="0" rIns="0" bIns="0" rtlCol="0" anchor="ctr"/>
          <a:lstStyle/>
          <a:p>
            <a:pPr marL="0" indent="0" algn="ctr">
              <a:buNone/>
            </a:pPr>
            <a:r>
              <a:rPr lang="en-US" sz="950" b="1" dirty="0">
                <a:solidFill>
                  <a:srgbClr val="F472B6"/>
                </a:solidFill>
                <a:latin typeface="Arial" pitchFamily="34" charset="0"/>
                <a:ea typeface="Arial" pitchFamily="34" charset="-122"/>
                <a:cs typeface="Arial" pitchFamily="34" charset="-120"/>
              </a:rPr>
              <a:t>Fundamental text and font styling</a:t>
            </a:r>
            <a:endParaRPr lang="en-US" sz="950" dirty="0"/>
          </a:p>
        </p:txBody>
      </p:sp>
      <p:sp>
        <p:nvSpPr>
          <p:cNvPr id="16" name="Text 14"/>
          <p:cNvSpPr txBox="1"/>
          <p:nvPr/>
        </p:nvSpPr>
        <p:spPr>
          <a:xfrm>
            <a:off x="3246120" y="2743200"/>
            <a:ext cx="2560320" cy="256032"/>
          </a:xfrm>
          <a:prstGeom prst="roundRect">
            <a:avLst>
              <a:gd name="adj" fmla="val 42857"/>
            </a:avLst>
          </a:prstGeom>
          <a:solidFill>
            <a:srgbClr val="1A2044"/>
          </a:solidFill>
          <a:ln w="12700">
            <a:solidFill>
              <a:srgbClr val="F472B6"/>
            </a:solidFill>
          </a:ln>
        </p:spPr>
        <p:txBody>
          <a:bodyPr wrap="square" lIns="0" tIns="0" rIns="0" bIns="0" rtlCol="0" anchor="ctr"/>
          <a:lstStyle/>
          <a:p>
            <a:pPr marL="0" indent="0" algn="ctr">
              <a:buNone/>
            </a:pPr>
            <a:r>
              <a:rPr lang="en-US" sz="950" b="1" dirty="0">
                <a:solidFill>
                  <a:srgbClr val="F472B6"/>
                </a:solidFill>
                <a:latin typeface="Arial" pitchFamily="34" charset="0"/>
                <a:ea typeface="Arial" pitchFamily="34" charset="-122"/>
                <a:cs typeface="Arial" pitchFamily="34" charset="-120"/>
              </a:rPr>
              <a:t>Styling lists</a:t>
            </a:r>
            <a:endParaRPr lang="en-US" sz="950" dirty="0"/>
          </a:p>
        </p:txBody>
      </p:sp>
      <p:sp>
        <p:nvSpPr>
          <p:cNvPr id="17" name="Text 15"/>
          <p:cNvSpPr txBox="1"/>
          <p:nvPr/>
        </p:nvSpPr>
        <p:spPr>
          <a:xfrm>
            <a:off x="5943600" y="2743200"/>
            <a:ext cx="2560320" cy="256032"/>
          </a:xfrm>
          <a:prstGeom prst="roundRect">
            <a:avLst>
              <a:gd name="adj" fmla="val 42857"/>
            </a:avLst>
          </a:prstGeom>
          <a:solidFill>
            <a:srgbClr val="1A2044"/>
          </a:solidFill>
          <a:ln w="12700">
            <a:solidFill>
              <a:srgbClr val="F472B6"/>
            </a:solidFill>
          </a:ln>
        </p:spPr>
        <p:txBody>
          <a:bodyPr wrap="square" lIns="0" tIns="0" rIns="0" bIns="0" rtlCol="0" anchor="ctr"/>
          <a:lstStyle/>
          <a:p>
            <a:pPr marL="0" indent="0" algn="ctr">
              <a:buNone/>
            </a:pPr>
            <a:r>
              <a:rPr lang="en-US" sz="950" b="1" dirty="0">
                <a:solidFill>
                  <a:srgbClr val="F472B6"/>
                </a:solidFill>
                <a:latin typeface="Arial" pitchFamily="34" charset="0"/>
                <a:ea typeface="Arial" pitchFamily="34" charset="-122"/>
                <a:cs typeface="Arial" pitchFamily="34" charset="-120"/>
              </a:rPr>
              <a:t>Styling links</a:t>
            </a:r>
            <a:endParaRPr lang="en-US" sz="950" dirty="0"/>
          </a:p>
        </p:txBody>
      </p:sp>
      <p:sp>
        <p:nvSpPr>
          <p:cNvPr id="18" name="Text 16"/>
          <p:cNvSpPr txBox="1"/>
          <p:nvPr/>
        </p:nvSpPr>
        <p:spPr>
          <a:xfrm>
            <a:off x="548640" y="3090672"/>
            <a:ext cx="2560320" cy="256032"/>
          </a:xfrm>
          <a:prstGeom prst="roundRect">
            <a:avLst>
              <a:gd name="adj" fmla="val 42857"/>
            </a:avLst>
          </a:prstGeom>
          <a:solidFill>
            <a:srgbClr val="1A2044"/>
          </a:solidFill>
          <a:ln w="12700">
            <a:solidFill>
              <a:srgbClr val="F472B6"/>
            </a:solidFill>
          </a:ln>
        </p:spPr>
        <p:txBody>
          <a:bodyPr wrap="square" lIns="0" tIns="0" rIns="0" bIns="0" rtlCol="0" anchor="ctr"/>
          <a:lstStyle/>
          <a:p>
            <a:pPr marL="0" indent="0" algn="ctr">
              <a:buNone/>
            </a:pPr>
            <a:r>
              <a:rPr lang="en-US" sz="950" b="1" dirty="0">
                <a:solidFill>
                  <a:srgbClr val="F472B6"/>
                </a:solidFill>
                <a:latin typeface="Arial" pitchFamily="34" charset="0"/>
                <a:ea typeface="Arial" pitchFamily="34" charset="-122"/>
                <a:cs typeface="Arial" pitchFamily="34" charset="-120"/>
              </a:rPr>
              <a:t>Web fonts</a:t>
            </a:r>
            <a:endParaRPr lang="en-US" sz="950" dirty="0"/>
          </a:p>
        </p:txBody>
      </p:sp>
    </p:spTree>
  </p:cSld>
  <p:clrMapOvr>
    <a:masterClrMapping/>
  </p:clrMapOvr>
  <p:transition spd="med">
    <p:pull/>
  </p:transition>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48640" y="256032"/>
            <a:ext cx="4572000" cy="201168"/>
          </a:xfrm>
          <a:prstGeom prst="rect">
            <a:avLst/>
          </a:prstGeom>
          <a:noFill/>
          <a:ln/>
        </p:spPr>
        <p:txBody>
          <a:bodyPr wrap="square" lIns="0" tIns="0" rIns="0" bIns="0" rtlCol="0" anchor="t"/>
          <a:lstStyle/>
          <a:p>
            <a:pPr marL="0" indent="0">
              <a:buNone/>
            </a:pPr>
            <a:r>
              <a:rPr lang="en-US" sz="900" b="1" kern="0" spc="200" dirty="0">
                <a:solidFill>
                  <a:srgbClr val="F472B6"/>
                </a:solidFill>
                <a:latin typeface="Arial" pitchFamily="34" charset="0"/>
                <a:ea typeface="Arial" pitchFamily="34" charset="-122"/>
                <a:cs typeface="Arial" pitchFamily="34" charset="-120"/>
              </a:rPr>
              <a:t>MODÜL 2 · METİN STİLİ</a:t>
            </a:r>
            <a:endParaRPr lang="en-US" sz="900" dirty="0"/>
          </a:p>
        </p:txBody>
      </p:sp>
      <p:sp>
        <p:nvSpPr>
          <p:cNvPr id="3" name="mini-box-0"/>
          <p:cNvSpPr/>
          <p:nvPr/>
        </p:nvSpPr>
        <p:spPr>
          <a:xfrm>
            <a:off x="8229600" y="201168"/>
            <a:ext cx="384048" cy="384048"/>
          </a:xfrm>
          <a:prstGeom prst="rect">
            <a:avLst/>
          </a:prstGeom>
          <a:ln w="9525">
            <a:solidFill>
              <a:srgbClr val="F472B6"/>
            </a:solidFill>
            <a:prstDash val="solid"/>
          </a:ln>
        </p:spPr>
      </p:sp>
      <p:sp>
        <p:nvSpPr>
          <p:cNvPr id="4" name="mini-box-1"/>
          <p:cNvSpPr/>
          <p:nvPr/>
        </p:nvSpPr>
        <p:spPr>
          <a:xfrm>
            <a:off x="8293608" y="265176"/>
            <a:ext cx="256032" cy="256032"/>
          </a:xfrm>
          <a:prstGeom prst="rect">
            <a:avLst/>
          </a:prstGeom>
          <a:ln w="9525">
            <a:solidFill>
              <a:srgbClr val="EEF0F8"/>
            </a:solidFill>
            <a:prstDash val="solid"/>
          </a:ln>
        </p:spPr>
      </p:sp>
      <p:sp>
        <p:nvSpPr>
          <p:cNvPr id="5" name="mini-box-2"/>
          <p:cNvSpPr/>
          <p:nvPr/>
        </p:nvSpPr>
        <p:spPr>
          <a:xfrm>
            <a:off x="8348472" y="320040"/>
            <a:ext cx="146304" cy="146304"/>
          </a:xfrm>
          <a:prstGeom prst="rect">
            <a:avLst/>
          </a:prstGeom>
          <a:solidFill>
            <a:srgbClr val="F472B6"/>
          </a:solidFill>
          <a:ln w="9525">
            <a:solidFill>
              <a:srgbClr val="F472B6"/>
            </a:solidFill>
            <a:prstDash val="solid"/>
          </a:ln>
        </p:spPr>
      </p:sp>
      <p:sp>
        <p:nvSpPr>
          <p:cNvPr id="6" name="ilerleme-zemin"/>
          <p:cNvSpPr/>
          <p:nvPr/>
        </p:nvSpPr>
        <p:spPr>
          <a:xfrm>
            <a:off x="0" y="5070348"/>
            <a:ext cx="9144000" cy="73152"/>
          </a:xfrm>
          <a:prstGeom prst="rect">
            <a:avLst/>
          </a:prstGeom>
          <a:solidFill>
            <a:srgbClr val="1A2044"/>
          </a:solidFill>
          <a:ln/>
        </p:spPr>
      </p:sp>
      <p:sp>
        <p:nvSpPr>
          <p:cNvPr id="7" name="ilerleme"/>
          <p:cNvSpPr/>
          <p:nvPr/>
        </p:nvSpPr>
        <p:spPr>
          <a:xfrm>
            <a:off x="0" y="5070348"/>
            <a:ext cx="5316279" cy="73152"/>
          </a:xfrm>
          <a:prstGeom prst="rect">
            <a:avLst/>
          </a:prstGeom>
          <a:solidFill>
            <a:srgbClr val="F472B6"/>
          </a:solidFill>
          <a:ln/>
        </p:spPr>
      </p:sp>
      <p:sp>
        <p:nvSpPr>
          <p:cNvPr id="8" name="Text 6"/>
          <p:cNvSpPr txBox="1"/>
          <p:nvPr/>
        </p:nvSpPr>
        <p:spPr>
          <a:xfrm>
            <a:off x="548640" y="4791456"/>
            <a:ext cx="3657600" cy="201168"/>
          </a:xfrm>
          <a:prstGeom prst="rect">
            <a:avLst/>
          </a:prstGeom>
          <a:noFill/>
          <a:ln/>
        </p:spPr>
        <p:txBody>
          <a:bodyPr wrap="square" lIns="0" tIns="0" rIns="0" bIns="0" rtlCol="0" anchor="t"/>
          <a:lstStyle/>
          <a:p>
            <a:pPr marL="0" indent="0">
              <a:buNone/>
            </a:pPr>
            <a:r>
              <a:rPr lang="en-US" sz="850" dirty="0">
                <a:solidFill>
                  <a:srgbClr val="6C759E"/>
                </a:solidFill>
                <a:latin typeface="Arial" pitchFamily="34" charset="0"/>
                <a:ea typeface="Arial" pitchFamily="34" charset="-122"/>
                <a:cs typeface="Arial" pitchFamily="34" charset="-120"/>
              </a:rPr>
              <a:t>KCŞ A.Ş.  ·  CSS ile stil ve düzen</a:t>
            </a:r>
            <a:endParaRPr lang="en-US" sz="850" dirty="0"/>
          </a:p>
        </p:txBody>
      </p:sp>
      <p:sp>
        <p:nvSpPr>
          <p:cNvPr id="9" name="Text 7"/>
          <p:cNvSpPr txBox="1"/>
          <p:nvPr/>
        </p:nvSpPr>
        <p:spPr>
          <a:xfrm>
            <a:off x="4206240" y="4791456"/>
            <a:ext cx="3840480" cy="201168"/>
          </a:xfrm>
          <a:prstGeom prst="rect">
            <a:avLst/>
          </a:prstGeom>
          <a:noFill/>
          <a:ln/>
        </p:spPr>
        <p:txBody>
          <a:bodyPr wrap="square" lIns="0" tIns="0" rIns="0" bIns="0" rtlCol="0" anchor="t"/>
          <a:lstStyle/>
          <a:p>
            <a:pPr marL="0" indent="0" algn="r">
              <a:buNone/>
            </a:pPr>
            <a:r>
              <a:rPr lang="en-US" sz="850" dirty="0">
                <a:solidFill>
                  <a:srgbClr val="6C759E"/>
                </a:solidFill>
                <a:latin typeface="Arial" pitchFamily="34" charset="0"/>
                <a:ea typeface="Arial" pitchFamily="34" charset="-122"/>
                <a:cs typeface="Arial" pitchFamily="34" charset="-120"/>
              </a:rPr>
              <a:t>MDN · Fundamental text and font styling</a:t>
            </a:r>
            <a:endParaRPr lang="en-US" sz="850" dirty="0"/>
          </a:p>
        </p:txBody>
      </p:sp>
      <p:sp>
        <p:nvSpPr>
          <p:cNvPr id="10" name="Text 8"/>
          <p:cNvSpPr txBox="1"/>
          <p:nvPr/>
        </p:nvSpPr>
        <p:spPr>
          <a:xfrm>
            <a:off x="8092440" y="4791456"/>
            <a:ext cx="685800" cy="201168"/>
          </a:xfrm>
          <a:prstGeom prst="rect">
            <a:avLst/>
          </a:prstGeom>
          <a:noFill/>
          <a:ln/>
        </p:spPr>
        <p:txBody>
          <a:bodyPr wrap="square" lIns="0" tIns="0" rIns="0" bIns="0" rtlCol="0" anchor="t"/>
          <a:lstStyle/>
          <a:p>
            <a:pPr marL="0" indent="0" algn="r">
              <a:buNone/>
            </a:pPr>
            <a:r>
              <a:rPr lang="en-US" sz="850" dirty="0">
                <a:solidFill>
                  <a:srgbClr val="9AA3C7"/>
                </a:solidFill>
                <a:latin typeface="Courier New" pitchFamily="34" charset="0"/>
                <a:ea typeface="Courier New" pitchFamily="34" charset="-122"/>
                <a:cs typeface="Courier New" pitchFamily="34" charset="-120"/>
              </a:rPr>
              <a:t>25 / 43</a:t>
            </a:r>
            <a:endParaRPr lang="en-US" sz="850" dirty="0"/>
          </a:p>
        </p:txBody>
      </p:sp>
      <p:sp>
        <p:nvSpPr>
          <p:cNvPr id="11" name="Text 9"/>
          <p:cNvSpPr txBox="1"/>
          <p:nvPr/>
        </p:nvSpPr>
        <p:spPr>
          <a:xfrm>
            <a:off x="548640" y="502920"/>
            <a:ext cx="5943600" cy="237744"/>
          </a:xfrm>
          <a:prstGeom prst="rect">
            <a:avLst/>
          </a:prstGeom>
          <a:noFill/>
          <a:ln/>
        </p:spPr>
        <p:txBody>
          <a:bodyPr wrap="square" lIns="0" tIns="0" rIns="0" bIns="0" rtlCol="0" anchor="t"/>
          <a:lstStyle/>
          <a:p>
            <a:pPr marL="0" indent="0">
              <a:buNone/>
            </a:pPr>
            <a:r>
              <a:rPr lang="en-US" sz="1100" b="1" dirty="0">
                <a:solidFill>
                  <a:srgbClr val="F472B6"/>
                </a:solidFill>
                <a:latin typeface="Courier New" pitchFamily="34" charset="0"/>
                <a:ea typeface="Courier New" pitchFamily="34" charset="-122"/>
                <a:cs typeface="Courier New" pitchFamily="34" charset="-120"/>
              </a:rPr>
              <a:t>font-family: "Helvetica", "Arial", sans-serif;</a:t>
            </a:r>
            <a:endParaRPr lang="en-US" sz="1100" dirty="0"/>
          </a:p>
        </p:txBody>
      </p:sp>
      <p:sp>
        <p:nvSpPr>
          <p:cNvPr id="12" name="Text 10"/>
          <p:cNvSpPr txBox="1"/>
          <p:nvPr/>
        </p:nvSpPr>
        <p:spPr>
          <a:xfrm>
            <a:off x="548640" y="749808"/>
            <a:ext cx="7589520" cy="502920"/>
          </a:xfrm>
          <a:prstGeom prst="rect">
            <a:avLst/>
          </a:prstGeom>
          <a:noFill/>
          <a:ln/>
        </p:spPr>
        <p:txBody>
          <a:bodyPr wrap="square" lIns="0" tIns="0" rIns="0" bIns="0" rtlCol="0" anchor="ctr"/>
          <a:lstStyle/>
          <a:p>
            <a:pPr marL="0" indent="0">
              <a:buNone/>
            </a:pPr>
            <a:r>
              <a:rPr lang="en-US" sz="2400" b="1" dirty="0">
                <a:solidFill>
                  <a:srgbClr val="EEF0F8"/>
                </a:solidFill>
                <a:latin typeface="Arial" pitchFamily="34" charset="0"/>
                <a:ea typeface="Arial" pitchFamily="34" charset="-122"/>
                <a:cs typeface="Arial" pitchFamily="34" charset="-120"/>
              </a:rPr>
              <a:t>Font temelleri: aile, yığın ve boyut</a:t>
            </a:r>
            <a:endParaRPr lang="en-US" sz="2400" dirty="0"/>
          </a:p>
        </p:txBody>
      </p:sp>
      <p:sp>
        <p:nvSpPr>
          <p:cNvPr id="13" name="kart"/>
          <p:cNvSpPr/>
          <p:nvPr/>
        </p:nvSpPr>
        <p:spPr>
          <a:xfrm>
            <a:off x="548640" y="1371600"/>
            <a:ext cx="3931920" cy="2724912"/>
          </a:xfrm>
          <a:prstGeom prst="roundRect">
            <a:avLst>
              <a:gd name="adj" fmla="val 2685"/>
            </a:avLst>
          </a:prstGeom>
          <a:solidFill>
            <a:srgbClr val="1A2044"/>
          </a:solidFill>
          <a:ln w="9525">
            <a:solidFill>
              <a:srgbClr val="2E3768"/>
            </a:solidFill>
            <a:prstDash val="solid"/>
          </a:ln>
        </p:spPr>
      </p:sp>
      <p:sp>
        <p:nvSpPr>
          <p:cNvPr id="14" name="kart-nokta"/>
          <p:cNvSpPr/>
          <p:nvPr/>
        </p:nvSpPr>
        <p:spPr>
          <a:xfrm>
            <a:off x="694944" y="1527048"/>
            <a:ext cx="91440" cy="91440"/>
          </a:xfrm>
          <a:prstGeom prst="ellipse">
            <a:avLst/>
          </a:prstGeom>
          <a:solidFill>
            <a:srgbClr val="F472B6"/>
          </a:solidFill>
          <a:ln/>
        </p:spPr>
      </p:sp>
      <p:sp>
        <p:nvSpPr>
          <p:cNvPr id="15" name="Text 13"/>
          <p:cNvSpPr txBox="1"/>
          <p:nvPr/>
        </p:nvSpPr>
        <p:spPr>
          <a:xfrm>
            <a:off x="859536" y="1444752"/>
            <a:ext cx="3520440" cy="274320"/>
          </a:xfrm>
          <a:prstGeom prst="rect">
            <a:avLst/>
          </a:prstGeom>
          <a:noFill/>
          <a:ln/>
        </p:spPr>
        <p:txBody>
          <a:bodyPr wrap="square" lIns="0" tIns="0" rIns="0" bIns="0" rtlCol="0" anchor="ctr"/>
          <a:lstStyle/>
          <a:p>
            <a:pPr marL="0" indent="0">
              <a:buNone/>
            </a:pPr>
            <a:r>
              <a:rPr lang="en-US" sz="1300" b="1" dirty="0">
                <a:solidFill>
                  <a:srgbClr val="EEF0F8"/>
                </a:solidFill>
                <a:latin typeface="Arial" pitchFamily="34" charset="0"/>
                <a:ea typeface="Arial" pitchFamily="34" charset="-122"/>
                <a:cs typeface="Arial" pitchFamily="34" charset="-120"/>
              </a:rPr>
              <a:t>Font ailesi ve yığını</a:t>
            </a:r>
            <a:endParaRPr lang="en-US" sz="1300" dirty="0"/>
          </a:p>
        </p:txBody>
      </p:sp>
      <p:sp>
        <p:nvSpPr>
          <p:cNvPr id="16" name="Text 14"/>
          <p:cNvSpPr txBox="1"/>
          <p:nvPr/>
        </p:nvSpPr>
        <p:spPr>
          <a:xfrm>
            <a:off x="694944" y="1737360"/>
            <a:ext cx="3657600" cy="868680"/>
          </a:xfrm>
          <a:prstGeom prst="rect">
            <a:avLst/>
          </a:prstGeom>
          <a:noFill/>
          <a:ln/>
        </p:spPr>
        <p:txBody>
          <a:bodyPr wrap="square" lIns="0" tIns="0" rIns="0" bIns="0" rtlCol="0" anchor="t"/>
          <a:lstStyle/>
          <a:p>
            <a:pPr marL="0" indent="0">
              <a:buNone/>
            </a:pPr>
            <a:r>
              <a:rPr lang="en-US" sz="1050" dirty="0">
                <a:solidFill>
                  <a:srgbClr val="EEF0F8"/>
                </a:solidFill>
                <a:latin typeface="Arial" pitchFamily="34" charset="0"/>
                <a:ea typeface="Arial" pitchFamily="34" charset="-122"/>
                <a:cs typeface="Arial" pitchFamily="34" charset="-120"/>
              </a:rPr>
              <a:t>Tarayıcı sadece kullanıcının bilgisayarında kurulu fontu kullanabilir. Bu yüzden virgülle bir yığın verilir; ilk bulunan kullanılır. Her zaman genel bir aileyle bitir.</a:t>
            </a:r>
            <a:endParaRPr lang="en-US" sz="1050" dirty="0"/>
          </a:p>
        </p:txBody>
      </p:sp>
      <p:sp>
        <p:nvSpPr>
          <p:cNvPr id="17" name="kod-paneli"/>
          <p:cNvSpPr/>
          <p:nvPr/>
        </p:nvSpPr>
        <p:spPr>
          <a:xfrm>
            <a:off x="694944" y="2633472"/>
            <a:ext cx="3657600" cy="566928"/>
          </a:xfrm>
          <a:prstGeom prst="roundRect">
            <a:avLst>
              <a:gd name="adj" fmla="val 12903"/>
            </a:avLst>
          </a:prstGeom>
          <a:solidFill>
            <a:srgbClr val="0A0D1F"/>
          </a:solidFill>
          <a:ln w="9525">
            <a:solidFill>
              <a:srgbClr val="2E3768"/>
            </a:solidFill>
            <a:prstDash val="solid"/>
          </a:ln>
        </p:spPr>
      </p:sp>
      <p:sp>
        <p:nvSpPr>
          <p:cNvPr id="18" name="Text 16"/>
          <p:cNvSpPr txBox="1"/>
          <p:nvPr/>
        </p:nvSpPr>
        <p:spPr>
          <a:xfrm>
            <a:off x="841248" y="2743200"/>
            <a:ext cx="3383280" cy="365760"/>
          </a:xfrm>
          <a:prstGeom prst="rect">
            <a:avLst/>
          </a:prstGeom>
          <a:noFill/>
          <a:ln/>
        </p:spPr>
        <p:txBody>
          <a:bodyPr wrap="square" lIns="0" tIns="0" rIns="0" bIns="0" rtlCol="0" anchor="ctr"/>
          <a:lstStyle/>
          <a:p>
            <a:pPr marL="0" indent="0">
              <a:buNone/>
            </a:pPr>
            <a:r>
              <a:rPr lang="en-US" sz="900" dirty="0">
                <a:solidFill>
                  <a:srgbClr val="F472B6"/>
                </a:solidFill>
                <a:latin typeface="Courier New" pitchFamily="34" charset="0"/>
                <a:ea typeface="Courier New" pitchFamily="34" charset="-122"/>
                <a:cs typeface="Courier New" pitchFamily="34" charset="-120"/>
              </a:rPr>
              <a:t>p </a:t>
            </a:r>
            <a:r>
              <a:rPr lang="en-US" sz="900" dirty="0">
                <a:solidFill>
                  <a:srgbClr val="6C759E"/>
                </a:solidFill>
                <a:latin typeface="Courier New" pitchFamily="34" charset="0"/>
                <a:ea typeface="Courier New" pitchFamily="34" charset="-122"/>
                <a:cs typeface="Courier New" pitchFamily="34" charset="-120"/>
              </a:rPr>
              <a:t>{ </a:t>
            </a:r>
            <a:r>
              <a:rPr lang="en-US" sz="900" dirty="0">
                <a:solidFill>
                  <a:srgbClr val="22D3EE"/>
                </a:solidFill>
                <a:latin typeface="Courier New" pitchFamily="34" charset="0"/>
                <a:ea typeface="Courier New" pitchFamily="34" charset="-122"/>
                <a:cs typeface="Courier New" pitchFamily="34" charset="-120"/>
              </a:rPr>
              <a:t>font-family</a:t>
            </a:r>
            <a:r>
              <a:rPr lang="en-US" sz="900" dirty="0">
                <a:solidFill>
                  <a:srgbClr val="6C759E"/>
                </a:solidFill>
                <a:latin typeface="Courier New" pitchFamily="34" charset="0"/>
                <a:ea typeface="Courier New" pitchFamily="34" charset="-122"/>
                <a:cs typeface="Courier New" pitchFamily="34" charset="-120"/>
              </a:rPr>
              <a:t>: </a:t>
            </a:r>
            <a:r>
              <a:rPr lang="en-US" sz="900" dirty="0">
                <a:solidFill>
                  <a:srgbClr val="A3E635"/>
                </a:solidFill>
                <a:latin typeface="Courier New" pitchFamily="34" charset="0"/>
                <a:ea typeface="Courier New" pitchFamily="34" charset="-122"/>
                <a:cs typeface="Courier New" pitchFamily="34" charset="-120"/>
              </a:rPr>
              <a:t>"Trebuchet MS"</a:t>
            </a:r>
            <a:r>
              <a:rPr lang="en-US" sz="900" dirty="0">
                <a:solidFill>
                  <a:srgbClr val="FBBF24"/>
                </a:solidFill>
                <a:latin typeface="Courier New" pitchFamily="34" charset="0"/>
                <a:ea typeface="Courier New" pitchFamily="34" charset="-122"/>
                <a:cs typeface="Courier New" pitchFamily="34" charset="-120"/>
              </a:rPr>
              <a:t>,</a:t>
            </a:r>
            <a:endParaRPr lang="en-US" sz="900" dirty="0"/>
          </a:p>
          <a:p>
            <a:pPr marL="0" indent="0">
              <a:buNone/>
            </a:pPr>
            <a:r>
              <a:rPr lang="en-US" sz="900" dirty="0">
                <a:solidFill>
                  <a:srgbClr val="EEF0F8"/>
                </a:solidFill>
                <a:latin typeface="Courier New" pitchFamily="34" charset="0"/>
                <a:ea typeface="Courier New" pitchFamily="34" charset="-122"/>
                <a:cs typeface="Courier New" pitchFamily="34" charset="-120"/>
              </a:rPr>
              <a:t>    "Verdana", sans-serif; }</a:t>
            </a:r>
            <a:endParaRPr lang="en-US" sz="900" dirty="0"/>
          </a:p>
        </p:txBody>
      </p:sp>
      <p:sp>
        <p:nvSpPr>
          <p:cNvPr id="19" name="Text 17"/>
          <p:cNvSpPr txBox="1"/>
          <p:nvPr/>
        </p:nvSpPr>
        <p:spPr>
          <a:xfrm>
            <a:off x="694944" y="3273552"/>
            <a:ext cx="3657600" cy="804672"/>
          </a:xfrm>
          <a:prstGeom prst="rect">
            <a:avLst/>
          </a:prstGeom>
          <a:noFill/>
          <a:ln/>
        </p:spPr>
        <p:txBody>
          <a:bodyPr wrap="square" lIns="0" tIns="0" rIns="0" bIns="0" rtlCol="0" anchor="t"/>
          <a:lstStyle/>
          <a:p>
            <a:pPr marL="0" indent="0">
              <a:buNone/>
            </a:pPr>
            <a:r>
              <a:rPr lang="en-US" sz="950" dirty="0">
                <a:solidFill>
                  <a:srgbClr val="9AA3C7"/>
                </a:solidFill>
                <a:latin typeface="Arial" pitchFamily="34" charset="0"/>
                <a:ea typeface="Arial" pitchFamily="34" charset="-122"/>
                <a:cs typeface="Arial" pitchFamily="34" charset="-120"/>
              </a:rPr>
              <a:t>Web-safe: Arial, Courier New, Georgia, Times New Roman, Trebuchet MS, Verdana. Genel aileler: serif, sans-serif, monospace, cursive, fantasy. Boşluklu adları tırnakla, genel adları tırnaksız yaz.</a:t>
            </a:r>
            <a:endParaRPr lang="en-US" sz="950" dirty="0"/>
          </a:p>
        </p:txBody>
      </p:sp>
      <p:sp>
        <p:nvSpPr>
          <p:cNvPr id="20" name="kart"/>
          <p:cNvSpPr/>
          <p:nvPr/>
        </p:nvSpPr>
        <p:spPr>
          <a:xfrm>
            <a:off x="4709160" y="1371600"/>
            <a:ext cx="3886200" cy="2724912"/>
          </a:xfrm>
          <a:prstGeom prst="roundRect">
            <a:avLst>
              <a:gd name="adj" fmla="val 2685"/>
            </a:avLst>
          </a:prstGeom>
          <a:solidFill>
            <a:srgbClr val="1A2044"/>
          </a:solidFill>
          <a:ln w="9525">
            <a:solidFill>
              <a:srgbClr val="2E3768"/>
            </a:solidFill>
            <a:prstDash val="solid"/>
          </a:ln>
        </p:spPr>
      </p:sp>
      <p:sp>
        <p:nvSpPr>
          <p:cNvPr id="21" name="kart-nokta"/>
          <p:cNvSpPr/>
          <p:nvPr/>
        </p:nvSpPr>
        <p:spPr>
          <a:xfrm>
            <a:off x="4855464" y="1527048"/>
            <a:ext cx="91440" cy="91440"/>
          </a:xfrm>
          <a:prstGeom prst="ellipse">
            <a:avLst/>
          </a:prstGeom>
          <a:solidFill>
            <a:srgbClr val="22D3EE"/>
          </a:solidFill>
          <a:ln/>
        </p:spPr>
      </p:sp>
      <p:sp>
        <p:nvSpPr>
          <p:cNvPr id="22" name="Text 20"/>
          <p:cNvSpPr txBox="1"/>
          <p:nvPr/>
        </p:nvSpPr>
        <p:spPr>
          <a:xfrm>
            <a:off x="5020056" y="1444752"/>
            <a:ext cx="3474720" cy="274320"/>
          </a:xfrm>
          <a:prstGeom prst="rect">
            <a:avLst/>
          </a:prstGeom>
          <a:noFill/>
          <a:ln/>
        </p:spPr>
        <p:txBody>
          <a:bodyPr wrap="square" lIns="0" tIns="0" rIns="0" bIns="0" rtlCol="0" anchor="ctr"/>
          <a:lstStyle/>
          <a:p>
            <a:pPr marL="0" indent="0">
              <a:buNone/>
            </a:pPr>
            <a:r>
              <a:rPr lang="en-US" sz="1300" b="1" dirty="0">
                <a:solidFill>
                  <a:srgbClr val="EEF0F8"/>
                </a:solidFill>
                <a:latin typeface="Arial" pitchFamily="34" charset="0"/>
                <a:ea typeface="Arial" pitchFamily="34" charset="-122"/>
                <a:cs typeface="Arial" pitchFamily="34" charset="-120"/>
              </a:rPr>
              <a:t>Font boyutu</a:t>
            </a:r>
            <a:endParaRPr lang="en-US" sz="1300" dirty="0"/>
          </a:p>
        </p:txBody>
      </p:sp>
      <p:sp>
        <p:nvSpPr>
          <p:cNvPr id="23" name="Text 21"/>
          <p:cNvSpPr txBox="1"/>
          <p:nvPr/>
        </p:nvSpPr>
        <p:spPr>
          <a:xfrm>
            <a:off x="4846320" y="1737360"/>
            <a:ext cx="3611880" cy="1005840"/>
          </a:xfrm>
          <a:prstGeom prst="rect">
            <a:avLst/>
          </a:prstGeom>
          <a:noFill/>
          <a:ln/>
        </p:spPr>
        <p:txBody>
          <a:bodyPr wrap="square" lIns="0" tIns="0" rIns="0" bIns="0" rtlCol="0" anchor="t"/>
          <a:lstStyle/>
          <a:p>
            <a:pPr marL="0" indent="0">
              <a:buNone/>
            </a:pPr>
            <a:r>
              <a:rPr lang="en-US" sz="1050" dirty="0">
                <a:solidFill>
                  <a:srgbClr val="EEF0F8"/>
                </a:solidFill>
                <a:latin typeface="Arial" pitchFamily="34" charset="0"/>
                <a:ea typeface="Arial" pitchFamily="34" charset="-122"/>
                <a:cs typeface="Arial" pitchFamily="34" charset="-120"/>
              </a:rPr>
              <a:t>px mutlak; em ebeveyne göre ve iç içe katlanır; rem köke göre ve hesabı kolaydır. Kök varsayılan 16px, h1 varsayılan 2em = 32px. MDN tavsiyesi: mümkünse rem kullan.</a:t>
            </a:r>
            <a:endParaRPr lang="en-US" sz="1050" dirty="0"/>
          </a:p>
        </p:txBody>
      </p:sp>
      <p:sp>
        <p:nvSpPr>
          <p:cNvPr id="24" name="kod-paneli"/>
          <p:cNvSpPr/>
          <p:nvPr/>
        </p:nvSpPr>
        <p:spPr>
          <a:xfrm>
            <a:off x="4846320" y="2788920"/>
            <a:ext cx="3611880" cy="1188720"/>
          </a:xfrm>
          <a:prstGeom prst="roundRect">
            <a:avLst>
              <a:gd name="adj" fmla="val 6154"/>
            </a:avLst>
          </a:prstGeom>
          <a:solidFill>
            <a:srgbClr val="0A0D1F"/>
          </a:solidFill>
          <a:ln w="9525">
            <a:solidFill>
              <a:srgbClr val="2E3768"/>
            </a:solidFill>
            <a:prstDash val="solid"/>
          </a:ln>
        </p:spPr>
      </p:sp>
      <p:sp>
        <p:nvSpPr>
          <p:cNvPr id="25" name="Text 23"/>
          <p:cNvSpPr txBox="1"/>
          <p:nvPr/>
        </p:nvSpPr>
        <p:spPr>
          <a:xfrm>
            <a:off x="4992624" y="2898648"/>
            <a:ext cx="3337560" cy="987552"/>
          </a:xfrm>
          <a:prstGeom prst="rect">
            <a:avLst/>
          </a:prstGeom>
          <a:noFill/>
          <a:ln/>
        </p:spPr>
        <p:txBody>
          <a:bodyPr wrap="square" lIns="0" tIns="0" rIns="0" bIns="0" rtlCol="0" anchor="ctr"/>
          <a:lstStyle/>
          <a:p>
            <a:pPr marL="0" indent="0">
              <a:buNone/>
            </a:pPr>
            <a:r>
              <a:rPr lang="en-US" sz="900" dirty="0">
                <a:solidFill>
                  <a:srgbClr val="F472B6"/>
                </a:solidFill>
                <a:latin typeface="Courier New" pitchFamily="34" charset="0"/>
                <a:ea typeface="Courier New" pitchFamily="34" charset="-122"/>
                <a:cs typeface="Courier New" pitchFamily="34" charset="-120"/>
              </a:rPr>
              <a:t>html </a:t>
            </a:r>
            <a:r>
              <a:rPr lang="en-US" sz="900" dirty="0">
                <a:solidFill>
                  <a:srgbClr val="6C759E"/>
                </a:solidFill>
                <a:latin typeface="Courier New" pitchFamily="34" charset="0"/>
                <a:ea typeface="Courier New" pitchFamily="34" charset="-122"/>
                <a:cs typeface="Courier New" pitchFamily="34" charset="-120"/>
              </a:rPr>
              <a:t>{ </a:t>
            </a:r>
            <a:r>
              <a:rPr lang="en-US" sz="900" dirty="0">
                <a:solidFill>
                  <a:srgbClr val="22D3EE"/>
                </a:solidFill>
                <a:latin typeface="Courier New" pitchFamily="34" charset="0"/>
                <a:ea typeface="Courier New" pitchFamily="34" charset="-122"/>
                <a:cs typeface="Courier New" pitchFamily="34" charset="-120"/>
              </a:rPr>
              <a:t>font-size</a:t>
            </a:r>
            <a:r>
              <a:rPr lang="en-US" sz="900" dirty="0">
                <a:solidFill>
                  <a:srgbClr val="6C759E"/>
                </a:solidFill>
                <a:latin typeface="Courier New" pitchFamily="34" charset="0"/>
                <a:ea typeface="Courier New" pitchFamily="34" charset="-122"/>
                <a:cs typeface="Courier New" pitchFamily="34" charset="-120"/>
              </a:rPr>
              <a:t>: </a:t>
            </a:r>
            <a:r>
              <a:rPr lang="en-US" sz="900" dirty="0">
                <a:solidFill>
                  <a:srgbClr val="FBBF24"/>
                </a:solidFill>
                <a:latin typeface="Courier New" pitchFamily="34" charset="0"/>
                <a:ea typeface="Courier New" pitchFamily="34" charset="-122"/>
                <a:cs typeface="Courier New" pitchFamily="34" charset="-120"/>
              </a:rPr>
              <a:t>10px</a:t>
            </a:r>
            <a:r>
              <a:rPr lang="en-US" sz="900" dirty="0">
                <a:solidFill>
                  <a:srgbClr val="6C759E"/>
                </a:solidFill>
                <a:latin typeface="Courier New" pitchFamily="34" charset="0"/>
                <a:ea typeface="Courier New" pitchFamily="34" charset="-122"/>
                <a:cs typeface="Courier New" pitchFamily="34" charset="-120"/>
              </a:rPr>
              <a:t>; }</a:t>
            </a:r>
            <a:endParaRPr lang="en-US" sz="900" dirty="0"/>
          </a:p>
          <a:p>
            <a:pPr marL="0" indent="0">
              <a:buNone/>
            </a:pPr>
            <a:r>
              <a:rPr lang="en-US" sz="900" dirty="0">
                <a:solidFill>
                  <a:srgbClr val="F472B6"/>
                </a:solidFill>
                <a:latin typeface="Courier New" pitchFamily="34" charset="0"/>
                <a:ea typeface="Courier New" pitchFamily="34" charset="-122"/>
                <a:cs typeface="Courier New" pitchFamily="34" charset="-120"/>
              </a:rPr>
              <a:t>h1 </a:t>
            </a:r>
            <a:r>
              <a:rPr lang="en-US" sz="900" dirty="0">
                <a:solidFill>
                  <a:srgbClr val="6C759E"/>
                </a:solidFill>
                <a:latin typeface="Courier New" pitchFamily="34" charset="0"/>
                <a:ea typeface="Courier New" pitchFamily="34" charset="-122"/>
                <a:cs typeface="Courier New" pitchFamily="34" charset="-120"/>
              </a:rPr>
              <a:t>{ </a:t>
            </a:r>
            <a:r>
              <a:rPr lang="en-US" sz="900" dirty="0">
                <a:solidFill>
                  <a:srgbClr val="22D3EE"/>
                </a:solidFill>
                <a:latin typeface="Courier New" pitchFamily="34" charset="0"/>
                <a:ea typeface="Courier New" pitchFamily="34" charset="-122"/>
                <a:cs typeface="Courier New" pitchFamily="34" charset="-120"/>
              </a:rPr>
              <a:t>font-size</a:t>
            </a:r>
            <a:r>
              <a:rPr lang="en-US" sz="900" dirty="0">
                <a:solidFill>
                  <a:srgbClr val="6C759E"/>
                </a:solidFill>
                <a:latin typeface="Courier New" pitchFamily="34" charset="0"/>
                <a:ea typeface="Courier New" pitchFamily="34" charset="-122"/>
                <a:cs typeface="Courier New" pitchFamily="34" charset="-120"/>
              </a:rPr>
              <a:t>: </a:t>
            </a:r>
            <a:r>
              <a:rPr lang="en-US" sz="900" dirty="0">
                <a:solidFill>
                  <a:srgbClr val="FBBF24"/>
                </a:solidFill>
                <a:latin typeface="Courier New" pitchFamily="34" charset="0"/>
                <a:ea typeface="Courier New" pitchFamily="34" charset="-122"/>
                <a:cs typeface="Courier New" pitchFamily="34" charset="-120"/>
              </a:rPr>
              <a:t>5rem</a:t>
            </a:r>
            <a:r>
              <a:rPr lang="en-US" sz="900" dirty="0">
                <a:solidFill>
                  <a:srgbClr val="6C759E"/>
                </a:solidFill>
                <a:latin typeface="Courier New" pitchFamily="34" charset="0"/>
                <a:ea typeface="Courier New" pitchFamily="34" charset="-122"/>
                <a:cs typeface="Courier New" pitchFamily="34" charset="-120"/>
              </a:rPr>
              <a:t>; }   /* 50px */</a:t>
            </a:r>
            <a:endParaRPr lang="en-US" sz="900" dirty="0"/>
          </a:p>
          <a:p>
            <a:pPr marL="0" indent="0">
              <a:buNone/>
            </a:pPr>
            <a:r>
              <a:rPr lang="en-US" sz="900" dirty="0">
                <a:solidFill>
                  <a:srgbClr val="F472B6"/>
                </a:solidFill>
                <a:latin typeface="Courier New" pitchFamily="34" charset="0"/>
                <a:ea typeface="Courier New" pitchFamily="34" charset="-122"/>
                <a:cs typeface="Courier New" pitchFamily="34" charset="-120"/>
              </a:rPr>
              <a:t>p  </a:t>
            </a:r>
            <a:r>
              <a:rPr lang="en-US" sz="900" dirty="0">
                <a:solidFill>
                  <a:srgbClr val="6C759E"/>
                </a:solidFill>
                <a:latin typeface="Courier New" pitchFamily="34" charset="0"/>
                <a:ea typeface="Courier New" pitchFamily="34" charset="-122"/>
                <a:cs typeface="Courier New" pitchFamily="34" charset="-120"/>
              </a:rPr>
              <a:t>{ </a:t>
            </a:r>
            <a:r>
              <a:rPr lang="en-US" sz="900" dirty="0">
                <a:solidFill>
                  <a:srgbClr val="22D3EE"/>
                </a:solidFill>
                <a:latin typeface="Courier New" pitchFamily="34" charset="0"/>
                <a:ea typeface="Courier New" pitchFamily="34" charset="-122"/>
                <a:cs typeface="Courier New" pitchFamily="34" charset="-120"/>
              </a:rPr>
              <a:t>font-size</a:t>
            </a:r>
            <a:r>
              <a:rPr lang="en-US" sz="900" dirty="0">
                <a:solidFill>
                  <a:srgbClr val="6C759E"/>
                </a:solidFill>
                <a:latin typeface="Courier New" pitchFamily="34" charset="0"/>
                <a:ea typeface="Courier New" pitchFamily="34" charset="-122"/>
                <a:cs typeface="Courier New" pitchFamily="34" charset="-120"/>
              </a:rPr>
              <a:t>: </a:t>
            </a:r>
            <a:r>
              <a:rPr lang="en-US" sz="900" dirty="0">
                <a:solidFill>
                  <a:srgbClr val="FBBF24"/>
                </a:solidFill>
                <a:latin typeface="Courier New" pitchFamily="34" charset="0"/>
                <a:ea typeface="Courier New" pitchFamily="34" charset="-122"/>
                <a:cs typeface="Courier New" pitchFamily="34" charset="-120"/>
              </a:rPr>
              <a:t>1.5rem</a:t>
            </a:r>
            <a:r>
              <a:rPr lang="en-US" sz="900" dirty="0">
                <a:solidFill>
                  <a:srgbClr val="6C759E"/>
                </a:solidFill>
                <a:latin typeface="Courier New" pitchFamily="34" charset="0"/>
                <a:ea typeface="Courier New" pitchFamily="34" charset="-122"/>
                <a:cs typeface="Courier New" pitchFamily="34" charset="-120"/>
              </a:rPr>
              <a:t>; } /* 15px */</a:t>
            </a:r>
            <a:endParaRPr lang="en-US" sz="900" dirty="0"/>
          </a:p>
        </p:txBody>
      </p:sp>
      <p:sp>
        <p:nvSpPr>
          <p:cNvPr id="26" name="benzetme"/>
          <p:cNvSpPr/>
          <p:nvPr/>
        </p:nvSpPr>
        <p:spPr>
          <a:xfrm>
            <a:off x="548640" y="4224528"/>
            <a:ext cx="8046720" cy="402336"/>
          </a:xfrm>
          <a:prstGeom prst="roundRect">
            <a:avLst>
              <a:gd name="adj" fmla="val 50000"/>
            </a:avLst>
          </a:prstGeom>
          <a:solidFill>
            <a:srgbClr val="232A55"/>
          </a:solidFill>
          <a:ln/>
        </p:spPr>
      </p:sp>
      <p:sp>
        <p:nvSpPr>
          <p:cNvPr id="27" name="benzetme-ikon"/>
          <p:cNvSpPr/>
          <p:nvPr/>
        </p:nvSpPr>
        <p:spPr>
          <a:xfrm>
            <a:off x="621792" y="4261104"/>
            <a:ext cx="329184" cy="329184"/>
          </a:xfrm>
          <a:prstGeom prst="ellipse">
            <a:avLst/>
          </a:prstGeom>
          <a:solidFill>
            <a:srgbClr val="FBBF24"/>
          </a:solidFill>
          <a:ln/>
        </p:spPr>
      </p:sp>
      <p:sp>
        <p:nvSpPr>
          <p:cNvPr id="28" name="Text 26"/>
          <p:cNvSpPr txBox="1"/>
          <p:nvPr/>
        </p:nvSpPr>
        <p:spPr>
          <a:xfrm>
            <a:off x="621792" y="4261104"/>
            <a:ext cx="329184" cy="329184"/>
          </a:xfrm>
          <a:prstGeom prst="rect">
            <a:avLst/>
          </a:prstGeom>
          <a:noFill/>
          <a:ln/>
        </p:spPr>
        <p:txBody>
          <a:bodyPr wrap="square" lIns="0" tIns="0" rIns="0" bIns="0" rtlCol="0" anchor="ctr"/>
          <a:lstStyle/>
          <a:p>
            <a:pPr marL="0" indent="0" algn="ctr">
              <a:buNone/>
            </a:pPr>
            <a:r>
              <a:rPr lang="en-US" sz="1600" b="1" dirty="0">
                <a:solidFill>
                  <a:srgbClr val="10142B"/>
                </a:solidFill>
                <a:latin typeface="Arial" pitchFamily="34" charset="0"/>
                <a:ea typeface="Arial" pitchFamily="34" charset="-122"/>
                <a:cs typeface="Arial" pitchFamily="34" charset="-120"/>
              </a:rPr>
              <a:t>≈</a:t>
            </a:r>
            <a:endParaRPr lang="en-US" sz="1600" dirty="0"/>
          </a:p>
        </p:txBody>
      </p:sp>
      <p:sp>
        <p:nvSpPr>
          <p:cNvPr id="29" name="Text 27"/>
          <p:cNvSpPr txBox="1"/>
          <p:nvPr/>
        </p:nvSpPr>
        <p:spPr>
          <a:xfrm>
            <a:off x="1042416" y="4224528"/>
            <a:ext cx="7452360" cy="402336"/>
          </a:xfrm>
          <a:prstGeom prst="rect">
            <a:avLst/>
          </a:prstGeom>
          <a:noFill/>
          <a:ln/>
        </p:spPr>
        <p:txBody>
          <a:bodyPr wrap="square" lIns="0" tIns="0" rIns="0" bIns="0" rtlCol="0" anchor="ctr"/>
          <a:lstStyle/>
          <a:p>
            <a:pPr marL="0" indent="0">
              <a:buNone/>
            </a:pPr>
            <a:r>
              <a:rPr lang="en-US" sz="1100" b="1" dirty="0">
                <a:solidFill>
                  <a:srgbClr val="FBBF24"/>
                </a:solidFill>
                <a:latin typeface="Arial" pitchFamily="34" charset="0"/>
                <a:ea typeface="Arial" pitchFamily="34" charset="-122"/>
                <a:cs typeface="Arial" pitchFamily="34" charset="-120"/>
              </a:rPr>
              <a:t>Gündelik hayatta: </a:t>
            </a:r>
            <a:r>
              <a:rPr lang="en-US" sz="1100" dirty="0">
                <a:solidFill>
                  <a:srgbClr val="EEF0F8"/>
                </a:solidFill>
                <a:latin typeface="Arial" pitchFamily="34" charset="0"/>
                <a:ea typeface="Arial" pitchFamily="34" charset="-122"/>
                <a:cs typeface="Arial" pitchFamily="34" charset="-120"/>
              </a:rPr>
              <a:t>font yığını restoranda yedek sipariş vermek gibi: “Helvetica yoksa Arial, o da yoksa herhangi bir sans-serif”.</a:t>
            </a:r>
            <a:endParaRPr lang="en-US" sz="1100" dirty="0"/>
          </a:p>
        </p:txBody>
      </p:sp>
    </p:spTree>
  </p:cSld>
  <p:clrMapOvr>
    <a:masterClrMapping/>
  </p:clrMapOvr>
  <p:transition spd="med">
    <p:pull/>
  </p:transition>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48640" y="256032"/>
            <a:ext cx="4572000" cy="201168"/>
          </a:xfrm>
          <a:prstGeom prst="rect">
            <a:avLst/>
          </a:prstGeom>
          <a:noFill/>
          <a:ln/>
        </p:spPr>
        <p:txBody>
          <a:bodyPr wrap="square" lIns="0" tIns="0" rIns="0" bIns="0" rtlCol="0" anchor="t"/>
          <a:lstStyle/>
          <a:p>
            <a:pPr marL="0" indent="0">
              <a:buNone/>
            </a:pPr>
            <a:r>
              <a:rPr lang="en-US" sz="900" b="1" kern="0" spc="200" dirty="0">
                <a:solidFill>
                  <a:srgbClr val="F472B6"/>
                </a:solidFill>
                <a:latin typeface="Arial" pitchFamily="34" charset="0"/>
                <a:ea typeface="Arial" pitchFamily="34" charset="-122"/>
                <a:cs typeface="Arial" pitchFamily="34" charset="-120"/>
              </a:rPr>
              <a:t>MODÜL 2 · METİN STİLİ</a:t>
            </a:r>
            <a:endParaRPr lang="en-US" sz="900" dirty="0"/>
          </a:p>
        </p:txBody>
      </p:sp>
      <p:sp>
        <p:nvSpPr>
          <p:cNvPr id="3" name="mini-box-0"/>
          <p:cNvSpPr/>
          <p:nvPr/>
        </p:nvSpPr>
        <p:spPr>
          <a:xfrm>
            <a:off x="8229600" y="201168"/>
            <a:ext cx="384048" cy="384048"/>
          </a:xfrm>
          <a:prstGeom prst="rect">
            <a:avLst/>
          </a:prstGeom>
          <a:ln w="9525">
            <a:solidFill>
              <a:srgbClr val="F472B6"/>
            </a:solidFill>
            <a:prstDash val="solid"/>
          </a:ln>
        </p:spPr>
      </p:sp>
      <p:sp>
        <p:nvSpPr>
          <p:cNvPr id="4" name="mini-box-1"/>
          <p:cNvSpPr/>
          <p:nvPr/>
        </p:nvSpPr>
        <p:spPr>
          <a:xfrm>
            <a:off x="8293608" y="265176"/>
            <a:ext cx="256032" cy="256032"/>
          </a:xfrm>
          <a:prstGeom prst="rect">
            <a:avLst/>
          </a:prstGeom>
          <a:ln w="9525">
            <a:solidFill>
              <a:srgbClr val="EEF0F8"/>
            </a:solidFill>
            <a:prstDash val="solid"/>
          </a:ln>
        </p:spPr>
      </p:sp>
      <p:sp>
        <p:nvSpPr>
          <p:cNvPr id="5" name="mini-box-2"/>
          <p:cNvSpPr/>
          <p:nvPr/>
        </p:nvSpPr>
        <p:spPr>
          <a:xfrm>
            <a:off x="8348472" y="320040"/>
            <a:ext cx="146304" cy="146304"/>
          </a:xfrm>
          <a:prstGeom prst="rect">
            <a:avLst/>
          </a:prstGeom>
          <a:solidFill>
            <a:srgbClr val="F472B6"/>
          </a:solidFill>
          <a:ln w="9525">
            <a:solidFill>
              <a:srgbClr val="F472B6"/>
            </a:solidFill>
            <a:prstDash val="solid"/>
          </a:ln>
        </p:spPr>
      </p:sp>
      <p:sp>
        <p:nvSpPr>
          <p:cNvPr id="6" name="ilerleme-zemin"/>
          <p:cNvSpPr/>
          <p:nvPr/>
        </p:nvSpPr>
        <p:spPr>
          <a:xfrm>
            <a:off x="0" y="5070348"/>
            <a:ext cx="9144000" cy="73152"/>
          </a:xfrm>
          <a:prstGeom prst="rect">
            <a:avLst/>
          </a:prstGeom>
          <a:solidFill>
            <a:srgbClr val="1A2044"/>
          </a:solidFill>
          <a:ln/>
        </p:spPr>
      </p:sp>
      <p:sp>
        <p:nvSpPr>
          <p:cNvPr id="7" name="ilerleme"/>
          <p:cNvSpPr/>
          <p:nvPr/>
        </p:nvSpPr>
        <p:spPr>
          <a:xfrm>
            <a:off x="0" y="5070348"/>
            <a:ext cx="5528930" cy="73152"/>
          </a:xfrm>
          <a:prstGeom prst="rect">
            <a:avLst/>
          </a:prstGeom>
          <a:solidFill>
            <a:srgbClr val="F472B6"/>
          </a:solidFill>
          <a:ln/>
        </p:spPr>
      </p:sp>
      <p:sp>
        <p:nvSpPr>
          <p:cNvPr id="8" name="Text 6"/>
          <p:cNvSpPr txBox="1"/>
          <p:nvPr/>
        </p:nvSpPr>
        <p:spPr>
          <a:xfrm>
            <a:off x="548640" y="4791456"/>
            <a:ext cx="3657600" cy="201168"/>
          </a:xfrm>
          <a:prstGeom prst="rect">
            <a:avLst/>
          </a:prstGeom>
          <a:noFill/>
          <a:ln/>
        </p:spPr>
        <p:txBody>
          <a:bodyPr wrap="square" lIns="0" tIns="0" rIns="0" bIns="0" rtlCol="0" anchor="t"/>
          <a:lstStyle/>
          <a:p>
            <a:pPr marL="0" indent="0">
              <a:buNone/>
            </a:pPr>
            <a:r>
              <a:rPr lang="en-US" sz="850" dirty="0">
                <a:solidFill>
                  <a:srgbClr val="6C759E"/>
                </a:solidFill>
                <a:latin typeface="Arial" pitchFamily="34" charset="0"/>
                <a:ea typeface="Arial" pitchFamily="34" charset="-122"/>
                <a:cs typeface="Arial" pitchFamily="34" charset="-120"/>
              </a:rPr>
              <a:t>KCŞ A.Ş.  ·  CSS ile stil ve düzen</a:t>
            </a:r>
            <a:endParaRPr lang="en-US" sz="850" dirty="0"/>
          </a:p>
        </p:txBody>
      </p:sp>
      <p:sp>
        <p:nvSpPr>
          <p:cNvPr id="9" name="Text 7"/>
          <p:cNvSpPr txBox="1"/>
          <p:nvPr/>
        </p:nvSpPr>
        <p:spPr>
          <a:xfrm>
            <a:off x="4206240" y="4791456"/>
            <a:ext cx="3840480" cy="201168"/>
          </a:xfrm>
          <a:prstGeom prst="rect">
            <a:avLst/>
          </a:prstGeom>
          <a:noFill/>
          <a:ln/>
        </p:spPr>
        <p:txBody>
          <a:bodyPr wrap="square" lIns="0" tIns="0" rIns="0" bIns="0" rtlCol="0" anchor="t"/>
          <a:lstStyle/>
          <a:p>
            <a:pPr marL="0" indent="0" algn="r">
              <a:buNone/>
            </a:pPr>
            <a:r>
              <a:rPr lang="en-US" sz="850" dirty="0">
                <a:solidFill>
                  <a:srgbClr val="6C759E"/>
                </a:solidFill>
                <a:latin typeface="Arial" pitchFamily="34" charset="0"/>
                <a:ea typeface="Arial" pitchFamily="34" charset="-122"/>
                <a:cs typeface="Arial" pitchFamily="34" charset="-120"/>
              </a:rPr>
              <a:t>MDN · Fundamental text and font styling</a:t>
            </a:r>
            <a:endParaRPr lang="en-US" sz="850" dirty="0"/>
          </a:p>
        </p:txBody>
      </p:sp>
      <p:sp>
        <p:nvSpPr>
          <p:cNvPr id="10" name="Text 8"/>
          <p:cNvSpPr txBox="1"/>
          <p:nvPr/>
        </p:nvSpPr>
        <p:spPr>
          <a:xfrm>
            <a:off x="8092440" y="4791456"/>
            <a:ext cx="685800" cy="201168"/>
          </a:xfrm>
          <a:prstGeom prst="rect">
            <a:avLst/>
          </a:prstGeom>
          <a:noFill/>
          <a:ln/>
        </p:spPr>
        <p:txBody>
          <a:bodyPr wrap="square" lIns="0" tIns="0" rIns="0" bIns="0" rtlCol="0" anchor="t"/>
          <a:lstStyle/>
          <a:p>
            <a:pPr marL="0" indent="0" algn="r">
              <a:buNone/>
            </a:pPr>
            <a:r>
              <a:rPr lang="en-US" sz="850" dirty="0">
                <a:solidFill>
                  <a:srgbClr val="9AA3C7"/>
                </a:solidFill>
                <a:latin typeface="Courier New" pitchFamily="34" charset="0"/>
                <a:ea typeface="Courier New" pitchFamily="34" charset="-122"/>
                <a:cs typeface="Courier New" pitchFamily="34" charset="-120"/>
              </a:rPr>
              <a:t>26 / 43</a:t>
            </a:r>
            <a:endParaRPr lang="en-US" sz="850" dirty="0"/>
          </a:p>
        </p:txBody>
      </p:sp>
      <p:sp>
        <p:nvSpPr>
          <p:cNvPr id="11" name="Text 9"/>
          <p:cNvSpPr txBox="1"/>
          <p:nvPr/>
        </p:nvSpPr>
        <p:spPr>
          <a:xfrm>
            <a:off x="548640" y="502920"/>
            <a:ext cx="5943600" cy="237744"/>
          </a:xfrm>
          <a:prstGeom prst="rect">
            <a:avLst/>
          </a:prstGeom>
          <a:noFill/>
          <a:ln/>
        </p:spPr>
        <p:txBody>
          <a:bodyPr wrap="square" lIns="0" tIns="0" rIns="0" bIns="0" rtlCol="0" anchor="t"/>
          <a:lstStyle/>
          <a:p>
            <a:pPr marL="0" indent="0">
              <a:buNone/>
            </a:pPr>
            <a:r>
              <a:rPr lang="en-US" sz="1100" b="1" dirty="0">
                <a:solidFill>
                  <a:srgbClr val="F472B6"/>
                </a:solidFill>
                <a:latin typeface="Courier New" pitchFamily="34" charset="0"/>
                <a:ea typeface="Courier New" pitchFamily="34" charset="-122"/>
                <a:cs typeface="Courier New" pitchFamily="34" charset="-120"/>
              </a:rPr>
              <a:t>line-height: 1.6;</a:t>
            </a:r>
            <a:endParaRPr lang="en-US" sz="1100" dirty="0"/>
          </a:p>
        </p:txBody>
      </p:sp>
      <p:sp>
        <p:nvSpPr>
          <p:cNvPr id="12" name="Text 10"/>
          <p:cNvSpPr txBox="1"/>
          <p:nvPr/>
        </p:nvSpPr>
        <p:spPr>
          <a:xfrm>
            <a:off x="548640" y="749808"/>
            <a:ext cx="7589520" cy="502920"/>
          </a:xfrm>
          <a:prstGeom prst="rect">
            <a:avLst/>
          </a:prstGeom>
          <a:noFill/>
          <a:ln/>
        </p:spPr>
        <p:txBody>
          <a:bodyPr wrap="square" lIns="0" tIns="0" rIns="0" bIns="0" rtlCol="0" anchor="ctr"/>
          <a:lstStyle/>
          <a:p>
            <a:pPr marL="0" indent="0">
              <a:buNone/>
            </a:pPr>
            <a:r>
              <a:rPr lang="en-US" sz="2400" b="1" dirty="0">
                <a:solidFill>
                  <a:srgbClr val="EEF0F8"/>
                </a:solidFill>
                <a:latin typeface="Arial" pitchFamily="34" charset="0"/>
                <a:ea typeface="Arial" pitchFamily="34" charset="-122"/>
                <a:cs typeface="Arial" pitchFamily="34" charset="-120"/>
              </a:rPr>
              <a:t>Font stilleri ve metin düzeni</a:t>
            </a:r>
            <a:endParaRPr lang="en-US" sz="2400" dirty="0"/>
          </a:p>
        </p:txBody>
      </p:sp>
      <p:graphicFrame>
        <p:nvGraphicFramePr>
          <p:cNvPr id="27" name="tablo"/>
          <p:cNvGraphicFramePr>
            <a:graphicFrameLocks noGrp="1"/>
          </p:cNvGraphicFramePr>
          <p:nvPr>
            <p:extLst>
              <p:ext uri="{D42A27DB-BD31-4B8C-83A1-F6EECF244321}">
                <p14:modId xmlns:p14="http://schemas.microsoft.com/office/powerpoint/2010/main" val="1579011935"/>
              </p:ext>
            </p:extLst>
          </p:nvPr>
        </p:nvGraphicFramePr>
        <p:xfrm>
          <a:off x="548640" y="1371600"/>
          <a:ext cx="5029200" cy="2633472"/>
        </p:xfrm>
        <a:graphic>
          <a:graphicData uri="http://schemas.openxmlformats.org/drawingml/2006/table">
            <a:tbl>
              <a:tblPr/>
              <a:tblGrid>
                <a:gridCol w="16002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tblGrid>
              <a:tr h="292608">
                <a:tc>
                  <a:txBody>
                    <a:bodyPr/>
                    <a:lstStyle/>
                    <a:p>
                      <a:pPr marL="0" indent="0">
                        <a:buNone/>
                      </a:pPr>
                      <a:r>
                        <a:rPr lang="en-US" sz="950" b="1" dirty="0">
                          <a:solidFill>
                            <a:srgbClr val="10142B"/>
                          </a:solidFill>
                          <a:latin typeface="Arial" pitchFamily="34" charset="0"/>
                          <a:ea typeface="Arial" pitchFamily="34" charset="-122"/>
                          <a:cs typeface="Arial" pitchFamily="34" charset="-120"/>
                        </a:rPr>
                        <a:t>Özellik</a:t>
                      </a:r>
                      <a:endParaRPr lang="en-US" sz="950" dirty="0">
                        <a:latin typeface="Arial" charset="0"/>
                        <a:ea typeface="Arial" charset="0"/>
                        <a:cs typeface="Arial" charset="0"/>
                      </a:endParaRPr>
                    </a:p>
                  </a:txBody>
                  <a:tcPr marL="64008" marR="64008" marT="0" marB="0" anchor="ctr">
                    <a:lnL w="9525" cap="flat" cmpd="sng" algn="ctr">
                      <a:solidFill>
                        <a:srgbClr val="2E3768"/>
                      </a:solidFill>
                      <a:prstDash val="solid"/>
                      <a:round/>
                      <a:headEnd type="none" w="med" len="med"/>
                      <a:tailEnd type="none" w="med" len="med"/>
                    </a:lnL>
                    <a:lnR w="9525" cap="flat" cmpd="sng" algn="ctr">
                      <a:solidFill>
                        <a:srgbClr val="2E3768"/>
                      </a:solidFill>
                      <a:prstDash val="solid"/>
                      <a:round/>
                      <a:headEnd type="none" w="med" len="med"/>
                      <a:tailEnd type="none" w="med" len="med"/>
                    </a:lnR>
                    <a:lnT w="9525" cap="flat" cmpd="sng" algn="ctr">
                      <a:solidFill>
                        <a:srgbClr val="2E3768"/>
                      </a:solidFill>
                      <a:prstDash val="solid"/>
                      <a:round/>
                      <a:headEnd type="none" w="med" len="med"/>
                      <a:tailEnd type="none" w="med" len="med"/>
                    </a:lnT>
                    <a:lnB w="9525" cap="flat" cmpd="sng" algn="ctr">
                      <a:solidFill>
                        <a:srgbClr val="2E3768"/>
                      </a:solidFill>
                      <a:prstDash val="solid"/>
                      <a:round/>
                      <a:headEnd type="none" w="med" len="med"/>
                      <a:tailEnd type="none" w="med" len="med"/>
                    </a:lnB>
                    <a:solidFill>
                      <a:srgbClr val="F472B6"/>
                    </a:solidFill>
                  </a:tcPr>
                </a:tc>
                <a:tc>
                  <a:txBody>
                    <a:bodyPr/>
                    <a:lstStyle/>
                    <a:p>
                      <a:pPr marL="0" indent="0">
                        <a:buNone/>
                      </a:pPr>
                      <a:r>
                        <a:rPr lang="en-US" sz="950" b="1" dirty="0">
                          <a:solidFill>
                            <a:srgbClr val="10142B"/>
                          </a:solidFill>
                          <a:latin typeface="Arial" pitchFamily="34" charset="0"/>
                          <a:ea typeface="Arial" pitchFamily="34" charset="-122"/>
                          <a:cs typeface="Arial" pitchFamily="34" charset="-120"/>
                        </a:rPr>
                        <a:t>Ne yapar?</a:t>
                      </a:r>
                      <a:endParaRPr lang="en-US" sz="950" dirty="0">
                        <a:latin typeface="Arial" charset="0"/>
                        <a:ea typeface="Arial" charset="0"/>
                        <a:cs typeface="Arial" charset="0"/>
                      </a:endParaRPr>
                    </a:p>
                  </a:txBody>
                  <a:tcPr marL="64008" marR="64008" marT="0" marB="0" anchor="ctr">
                    <a:lnL w="9525" cap="flat" cmpd="sng" algn="ctr">
                      <a:solidFill>
                        <a:srgbClr val="2E3768"/>
                      </a:solidFill>
                      <a:prstDash val="solid"/>
                      <a:round/>
                      <a:headEnd type="none" w="med" len="med"/>
                      <a:tailEnd type="none" w="med" len="med"/>
                    </a:lnL>
                    <a:lnR w="9525" cap="flat" cmpd="sng" algn="ctr">
                      <a:solidFill>
                        <a:srgbClr val="2E3768"/>
                      </a:solidFill>
                      <a:prstDash val="solid"/>
                      <a:round/>
                      <a:headEnd type="none" w="med" len="med"/>
                      <a:tailEnd type="none" w="med" len="med"/>
                    </a:lnR>
                    <a:lnT w="9525" cap="flat" cmpd="sng" algn="ctr">
                      <a:solidFill>
                        <a:srgbClr val="2E3768"/>
                      </a:solidFill>
                      <a:prstDash val="solid"/>
                      <a:round/>
                      <a:headEnd type="none" w="med" len="med"/>
                      <a:tailEnd type="none" w="med" len="med"/>
                    </a:lnT>
                    <a:lnB w="9525" cap="flat" cmpd="sng" algn="ctr">
                      <a:solidFill>
                        <a:srgbClr val="2E3768"/>
                      </a:solidFill>
                      <a:prstDash val="solid"/>
                      <a:round/>
                      <a:headEnd type="none" w="med" len="med"/>
                      <a:tailEnd type="none" w="med" len="med"/>
                    </a:lnB>
                    <a:solidFill>
                      <a:srgbClr val="F472B6"/>
                    </a:solidFill>
                  </a:tcPr>
                </a:tc>
                <a:tc>
                  <a:txBody>
                    <a:bodyPr/>
                    <a:lstStyle/>
                    <a:p>
                      <a:pPr marL="0" indent="0">
                        <a:buNone/>
                      </a:pPr>
                      <a:r>
                        <a:rPr lang="en-US" sz="950" b="1" dirty="0">
                          <a:solidFill>
                            <a:srgbClr val="10142B"/>
                          </a:solidFill>
                          <a:latin typeface="Arial" pitchFamily="34" charset="0"/>
                          <a:ea typeface="Arial" pitchFamily="34" charset="-122"/>
                          <a:cs typeface="Arial" pitchFamily="34" charset="-120"/>
                        </a:rPr>
                        <a:t>Örnek</a:t>
                      </a:r>
                      <a:endParaRPr lang="en-US" sz="950" dirty="0">
                        <a:latin typeface="Arial" charset="0"/>
                        <a:ea typeface="Arial" charset="0"/>
                        <a:cs typeface="Arial" charset="0"/>
                      </a:endParaRPr>
                    </a:p>
                  </a:txBody>
                  <a:tcPr marL="64008" marR="64008" marT="0" marB="0" anchor="ctr">
                    <a:lnL w="9525" cap="flat" cmpd="sng" algn="ctr">
                      <a:solidFill>
                        <a:srgbClr val="2E3768"/>
                      </a:solidFill>
                      <a:prstDash val="solid"/>
                      <a:round/>
                      <a:headEnd type="none" w="med" len="med"/>
                      <a:tailEnd type="none" w="med" len="med"/>
                    </a:lnL>
                    <a:lnR w="9525" cap="flat" cmpd="sng" algn="ctr">
                      <a:solidFill>
                        <a:srgbClr val="2E3768"/>
                      </a:solidFill>
                      <a:prstDash val="solid"/>
                      <a:round/>
                      <a:headEnd type="none" w="med" len="med"/>
                      <a:tailEnd type="none" w="med" len="med"/>
                    </a:lnR>
                    <a:lnT w="9525" cap="flat" cmpd="sng" algn="ctr">
                      <a:solidFill>
                        <a:srgbClr val="2E3768"/>
                      </a:solidFill>
                      <a:prstDash val="solid"/>
                      <a:round/>
                      <a:headEnd type="none" w="med" len="med"/>
                      <a:tailEnd type="none" w="med" len="med"/>
                    </a:lnT>
                    <a:lnB w="9525" cap="flat" cmpd="sng" algn="ctr">
                      <a:solidFill>
                        <a:srgbClr val="2E3768"/>
                      </a:solidFill>
                      <a:prstDash val="solid"/>
                      <a:round/>
                      <a:headEnd type="none" w="med" len="med"/>
                      <a:tailEnd type="none" w="med" len="med"/>
                    </a:lnB>
                    <a:solidFill>
                      <a:srgbClr val="F472B6"/>
                    </a:solidFill>
                  </a:tcPr>
                </a:tc>
                <a:extLst>
                  <a:ext uri="{0D108BD9-81ED-4DB2-BD59-A6C34878D82A}">
                    <a16:rowId xmlns:a16="http://schemas.microsoft.com/office/drawing/2014/main" val="10000"/>
                  </a:ext>
                </a:extLst>
              </a:tr>
              <a:tr h="292608">
                <a:tc>
                  <a:txBody>
                    <a:bodyPr/>
                    <a:lstStyle/>
                    <a:p>
                      <a:pPr marL="0" indent="0">
                        <a:buNone/>
                      </a:pPr>
                      <a:r>
                        <a:rPr lang="en-US" sz="950" dirty="0">
                          <a:solidFill>
                            <a:srgbClr val="EEF0F8"/>
                          </a:solidFill>
                          <a:latin typeface="Courier New" pitchFamily="34" charset="0"/>
                          <a:ea typeface="Courier New" pitchFamily="34" charset="-122"/>
                          <a:cs typeface="Courier New" pitchFamily="34" charset="-120"/>
                        </a:rPr>
                        <a:t>font-style</a:t>
                      </a:r>
                      <a:endParaRPr lang="en-US" sz="950" dirty="0">
                        <a:latin typeface="Courier New" charset="0"/>
                        <a:ea typeface="Courier New" charset="0"/>
                        <a:cs typeface="Courier New" charset="0"/>
                      </a:endParaRPr>
                    </a:p>
                  </a:txBody>
                  <a:tcPr marL="64008" marR="64008" marT="0" marB="0" anchor="ctr">
                    <a:lnL w="9525" cap="flat" cmpd="sng" algn="ctr">
                      <a:solidFill>
                        <a:srgbClr val="2E3768"/>
                      </a:solidFill>
                      <a:prstDash val="solid"/>
                      <a:round/>
                      <a:headEnd type="none" w="med" len="med"/>
                      <a:tailEnd type="none" w="med" len="med"/>
                    </a:lnL>
                    <a:lnR w="9525" cap="flat" cmpd="sng" algn="ctr">
                      <a:solidFill>
                        <a:srgbClr val="2E3768"/>
                      </a:solidFill>
                      <a:prstDash val="solid"/>
                      <a:round/>
                      <a:headEnd type="none" w="med" len="med"/>
                      <a:tailEnd type="none" w="med" len="med"/>
                    </a:lnR>
                    <a:lnT w="9525" cap="flat" cmpd="sng" algn="ctr">
                      <a:solidFill>
                        <a:srgbClr val="2E3768"/>
                      </a:solidFill>
                      <a:prstDash val="solid"/>
                      <a:round/>
                      <a:headEnd type="none" w="med" len="med"/>
                      <a:tailEnd type="none" w="med" len="med"/>
                    </a:lnT>
                    <a:lnB w="9525" cap="flat" cmpd="sng" algn="ctr">
                      <a:solidFill>
                        <a:srgbClr val="2E3768"/>
                      </a:solidFill>
                      <a:prstDash val="solid"/>
                      <a:round/>
                      <a:headEnd type="none" w="med" len="med"/>
                      <a:tailEnd type="none" w="med" len="med"/>
                    </a:lnB>
                    <a:solidFill>
                      <a:srgbClr val="1A2044"/>
                    </a:solidFill>
                  </a:tcPr>
                </a:tc>
                <a:tc>
                  <a:txBody>
                    <a:bodyPr/>
                    <a:lstStyle/>
                    <a:p>
                      <a:pPr marL="0" indent="0">
                        <a:buNone/>
                      </a:pPr>
                      <a:r>
                        <a:rPr lang="en-US" sz="950" dirty="0">
                          <a:solidFill>
                            <a:srgbClr val="EEF0F8"/>
                          </a:solidFill>
                          <a:latin typeface="Arial" pitchFamily="34" charset="0"/>
                          <a:ea typeface="Arial" pitchFamily="34" charset="-122"/>
                          <a:cs typeface="Arial" pitchFamily="34" charset="-120"/>
                        </a:rPr>
                        <a:t>italik / eğik</a:t>
                      </a:r>
                      <a:endParaRPr lang="en-US" sz="950" dirty="0">
                        <a:latin typeface="Arial" charset="0"/>
                        <a:ea typeface="Arial" charset="0"/>
                        <a:cs typeface="Arial" charset="0"/>
                      </a:endParaRPr>
                    </a:p>
                  </a:txBody>
                  <a:tcPr marL="64008" marR="64008" marT="0" marB="0" anchor="ctr">
                    <a:lnL w="9525" cap="flat" cmpd="sng" algn="ctr">
                      <a:solidFill>
                        <a:srgbClr val="2E3768"/>
                      </a:solidFill>
                      <a:prstDash val="solid"/>
                      <a:round/>
                      <a:headEnd type="none" w="med" len="med"/>
                      <a:tailEnd type="none" w="med" len="med"/>
                    </a:lnL>
                    <a:lnR w="9525" cap="flat" cmpd="sng" algn="ctr">
                      <a:solidFill>
                        <a:srgbClr val="2E3768"/>
                      </a:solidFill>
                      <a:prstDash val="solid"/>
                      <a:round/>
                      <a:headEnd type="none" w="med" len="med"/>
                      <a:tailEnd type="none" w="med" len="med"/>
                    </a:lnR>
                    <a:lnT w="9525" cap="flat" cmpd="sng" algn="ctr">
                      <a:solidFill>
                        <a:srgbClr val="2E3768"/>
                      </a:solidFill>
                      <a:prstDash val="solid"/>
                      <a:round/>
                      <a:headEnd type="none" w="med" len="med"/>
                      <a:tailEnd type="none" w="med" len="med"/>
                    </a:lnT>
                    <a:lnB w="9525" cap="flat" cmpd="sng" algn="ctr">
                      <a:solidFill>
                        <a:srgbClr val="2E3768"/>
                      </a:solidFill>
                      <a:prstDash val="solid"/>
                      <a:round/>
                      <a:headEnd type="none" w="med" len="med"/>
                      <a:tailEnd type="none" w="med" len="med"/>
                    </a:lnB>
                    <a:solidFill>
                      <a:srgbClr val="1A2044"/>
                    </a:solidFill>
                  </a:tcPr>
                </a:tc>
                <a:tc>
                  <a:txBody>
                    <a:bodyPr/>
                    <a:lstStyle/>
                    <a:p>
                      <a:pPr marL="0" indent="0">
                        <a:buNone/>
                      </a:pPr>
                      <a:r>
                        <a:rPr lang="en-US" sz="950" dirty="0">
                          <a:solidFill>
                            <a:srgbClr val="EEF0F8"/>
                          </a:solidFill>
                          <a:latin typeface="Courier New" pitchFamily="34" charset="0"/>
                          <a:ea typeface="Courier New" pitchFamily="34" charset="-122"/>
                          <a:cs typeface="Courier New" pitchFamily="34" charset="-120"/>
                        </a:rPr>
                        <a:t>italic</a:t>
                      </a:r>
                      <a:endParaRPr lang="en-US" sz="950" dirty="0">
                        <a:latin typeface="Courier New" charset="0"/>
                        <a:ea typeface="Courier New" charset="0"/>
                        <a:cs typeface="Courier New" charset="0"/>
                      </a:endParaRPr>
                    </a:p>
                  </a:txBody>
                  <a:tcPr marL="64008" marR="64008" marT="0" marB="0" anchor="ctr">
                    <a:lnL w="9525" cap="flat" cmpd="sng" algn="ctr">
                      <a:solidFill>
                        <a:srgbClr val="2E3768"/>
                      </a:solidFill>
                      <a:prstDash val="solid"/>
                      <a:round/>
                      <a:headEnd type="none" w="med" len="med"/>
                      <a:tailEnd type="none" w="med" len="med"/>
                    </a:lnL>
                    <a:lnR w="9525" cap="flat" cmpd="sng" algn="ctr">
                      <a:solidFill>
                        <a:srgbClr val="2E3768"/>
                      </a:solidFill>
                      <a:prstDash val="solid"/>
                      <a:round/>
                      <a:headEnd type="none" w="med" len="med"/>
                      <a:tailEnd type="none" w="med" len="med"/>
                    </a:lnR>
                    <a:lnT w="9525" cap="flat" cmpd="sng" algn="ctr">
                      <a:solidFill>
                        <a:srgbClr val="2E3768"/>
                      </a:solidFill>
                      <a:prstDash val="solid"/>
                      <a:round/>
                      <a:headEnd type="none" w="med" len="med"/>
                      <a:tailEnd type="none" w="med" len="med"/>
                    </a:lnT>
                    <a:lnB w="9525" cap="flat" cmpd="sng" algn="ctr">
                      <a:solidFill>
                        <a:srgbClr val="2E3768"/>
                      </a:solidFill>
                      <a:prstDash val="solid"/>
                      <a:round/>
                      <a:headEnd type="none" w="med" len="med"/>
                      <a:tailEnd type="none" w="med" len="med"/>
                    </a:lnB>
                    <a:solidFill>
                      <a:srgbClr val="1A2044"/>
                    </a:solidFill>
                  </a:tcPr>
                </a:tc>
                <a:extLst>
                  <a:ext uri="{0D108BD9-81ED-4DB2-BD59-A6C34878D82A}">
                    <a16:rowId xmlns:a16="http://schemas.microsoft.com/office/drawing/2014/main" val="10001"/>
                  </a:ext>
                </a:extLst>
              </a:tr>
              <a:tr h="292608">
                <a:tc>
                  <a:txBody>
                    <a:bodyPr/>
                    <a:lstStyle/>
                    <a:p>
                      <a:pPr marL="0" indent="0">
                        <a:buNone/>
                      </a:pPr>
                      <a:r>
                        <a:rPr lang="en-US" sz="950" dirty="0">
                          <a:solidFill>
                            <a:srgbClr val="EEF0F8"/>
                          </a:solidFill>
                          <a:latin typeface="Courier New" pitchFamily="34" charset="0"/>
                          <a:ea typeface="Courier New" pitchFamily="34" charset="-122"/>
                          <a:cs typeface="Courier New" pitchFamily="34" charset="-120"/>
                        </a:rPr>
                        <a:t>font-weight</a:t>
                      </a:r>
                      <a:endParaRPr lang="en-US" sz="950" dirty="0">
                        <a:latin typeface="Courier New" charset="0"/>
                        <a:ea typeface="Courier New" charset="0"/>
                        <a:cs typeface="Courier New" charset="0"/>
                      </a:endParaRPr>
                    </a:p>
                  </a:txBody>
                  <a:tcPr marL="64008" marR="64008" marT="0" marB="0" anchor="ctr">
                    <a:lnL w="9525" cap="flat" cmpd="sng" algn="ctr">
                      <a:solidFill>
                        <a:srgbClr val="2E3768"/>
                      </a:solidFill>
                      <a:prstDash val="solid"/>
                      <a:round/>
                      <a:headEnd type="none" w="med" len="med"/>
                      <a:tailEnd type="none" w="med" len="med"/>
                    </a:lnL>
                    <a:lnR w="9525" cap="flat" cmpd="sng" algn="ctr">
                      <a:solidFill>
                        <a:srgbClr val="2E3768"/>
                      </a:solidFill>
                      <a:prstDash val="solid"/>
                      <a:round/>
                      <a:headEnd type="none" w="med" len="med"/>
                      <a:tailEnd type="none" w="med" len="med"/>
                    </a:lnR>
                    <a:lnT w="9525" cap="flat" cmpd="sng" algn="ctr">
                      <a:solidFill>
                        <a:srgbClr val="2E3768"/>
                      </a:solidFill>
                      <a:prstDash val="solid"/>
                      <a:round/>
                      <a:headEnd type="none" w="med" len="med"/>
                      <a:tailEnd type="none" w="med" len="med"/>
                    </a:lnT>
                    <a:lnB w="9525" cap="flat" cmpd="sng" algn="ctr">
                      <a:solidFill>
                        <a:srgbClr val="2E3768"/>
                      </a:solidFill>
                      <a:prstDash val="solid"/>
                      <a:round/>
                      <a:headEnd type="none" w="med" len="med"/>
                      <a:tailEnd type="none" w="med" len="med"/>
                    </a:lnB>
                    <a:solidFill>
                      <a:srgbClr val="1A2044"/>
                    </a:solidFill>
                  </a:tcPr>
                </a:tc>
                <a:tc>
                  <a:txBody>
                    <a:bodyPr/>
                    <a:lstStyle/>
                    <a:p>
                      <a:pPr marL="0" indent="0">
                        <a:buNone/>
                      </a:pPr>
                      <a:r>
                        <a:rPr lang="en-US" sz="950" dirty="0">
                          <a:solidFill>
                            <a:srgbClr val="EEF0F8"/>
                          </a:solidFill>
                          <a:latin typeface="Arial" pitchFamily="34" charset="0"/>
                          <a:ea typeface="Arial" pitchFamily="34" charset="-122"/>
                          <a:cs typeface="Arial" pitchFamily="34" charset="-120"/>
                        </a:rPr>
                        <a:t>kalınlık (100–900)</a:t>
                      </a:r>
                      <a:endParaRPr lang="en-US" sz="950" dirty="0">
                        <a:latin typeface="Arial" charset="0"/>
                        <a:ea typeface="Arial" charset="0"/>
                        <a:cs typeface="Arial" charset="0"/>
                      </a:endParaRPr>
                    </a:p>
                  </a:txBody>
                  <a:tcPr marL="64008" marR="64008" marT="0" marB="0" anchor="ctr">
                    <a:lnL w="9525" cap="flat" cmpd="sng" algn="ctr">
                      <a:solidFill>
                        <a:srgbClr val="2E3768"/>
                      </a:solidFill>
                      <a:prstDash val="solid"/>
                      <a:round/>
                      <a:headEnd type="none" w="med" len="med"/>
                      <a:tailEnd type="none" w="med" len="med"/>
                    </a:lnL>
                    <a:lnR w="9525" cap="flat" cmpd="sng" algn="ctr">
                      <a:solidFill>
                        <a:srgbClr val="2E3768"/>
                      </a:solidFill>
                      <a:prstDash val="solid"/>
                      <a:round/>
                      <a:headEnd type="none" w="med" len="med"/>
                      <a:tailEnd type="none" w="med" len="med"/>
                    </a:lnR>
                    <a:lnT w="9525" cap="flat" cmpd="sng" algn="ctr">
                      <a:solidFill>
                        <a:srgbClr val="2E3768"/>
                      </a:solidFill>
                      <a:prstDash val="solid"/>
                      <a:round/>
                      <a:headEnd type="none" w="med" len="med"/>
                      <a:tailEnd type="none" w="med" len="med"/>
                    </a:lnT>
                    <a:lnB w="9525" cap="flat" cmpd="sng" algn="ctr">
                      <a:solidFill>
                        <a:srgbClr val="2E3768"/>
                      </a:solidFill>
                      <a:prstDash val="solid"/>
                      <a:round/>
                      <a:headEnd type="none" w="med" len="med"/>
                      <a:tailEnd type="none" w="med" len="med"/>
                    </a:lnB>
                    <a:solidFill>
                      <a:srgbClr val="1A2044"/>
                    </a:solidFill>
                  </a:tcPr>
                </a:tc>
                <a:tc>
                  <a:txBody>
                    <a:bodyPr/>
                    <a:lstStyle/>
                    <a:p>
                      <a:pPr marL="0" indent="0">
                        <a:buNone/>
                      </a:pPr>
                      <a:r>
                        <a:rPr lang="en-US" sz="950" dirty="0">
                          <a:solidFill>
                            <a:srgbClr val="EEF0F8"/>
                          </a:solidFill>
                          <a:latin typeface="Courier New" pitchFamily="34" charset="0"/>
                          <a:ea typeface="Courier New" pitchFamily="34" charset="-122"/>
                          <a:cs typeface="Courier New" pitchFamily="34" charset="-120"/>
                        </a:rPr>
                        <a:t>bold</a:t>
                      </a:r>
                      <a:endParaRPr lang="en-US" sz="950" dirty="0">
                        <a:latin typeface="Courier New" charset="0"/>
                        <a:ea typeface="Courier New" charset="0"/>
                        <a:cs typeface="Courier New" charset="0"/>
                      </a:endParaRPr>
                    </a:p>
                  </a:txBody>
                  <a:tcPr marL="64008" marR="64008" marT="0" marB="0" anchor="ctr">
                    <a:lnL w="9525" cap="flat" cmpd="sng" algn="ctr">
                      <a:solidFill>
                        <a:srgbClr val="2E3768"/>
                      </a:solidFill>
                      <a:prstDash val="solid"/>
                      <a:round/>
                      <a:headEnd type="none" w="med" len="med"/>
                      <a:tailEnd type="none" w="med" len="med"/>
                    </a:lnL>
                    <a:lnR w="9525" cap="flat" cmpd="sng" algn="ctr">
                      <a:solidFill>
                        <a:srgbClr val="2E3768"/>
                      </a:solidFill>
                      <a:prstDash val="solid"/>
                      <a:round/>
                      <a:headEnd type="none" w="med" len="med"/>
                      <a:tailEnd type="none" w="med" len="med"/>
                    </a:lnR>
                    <a:lnT w="9525" cap="flat" cmpd="sng" algn="ctr">
                      <a:solidFill>
                        <a:srgbClr val="2E3768"/>
                      </a:solidFill>
                      <a:prstDash val="solid"/>
                      <a:round/>
                      <a:headEnd type="none" w="med" len="med"/>
                      <a:tailEnd type="none" w="med" len="med"/>
                    </a:lnT>
                    <a:lnB w="9525" cap="flat" cmpd="sng" algn="ctr">
                      <a:solidFill>
                        <a:srgbClr val="2E3768"/>
                      </a:solidFill>
                      <a:prstDash val="solid"/>
                      <a:round/>
                      <a:headEnd type="none" w="med" len="med"/>
                      <a:tailEnd type="none" w="med" len="med"/>
                    </a:lnB>
                    <a:solidFill>
                      <a:srgbClr val="1A2044"/>
                    </a:solidFill>
                  </a:tcPr>
                </a:tc>
                <a:extLst>
                  <a:ext uri="{0D108BD9-81ED-4DB2-BD59-A6C34878D82A}">
                    <a16:rowId xmlns:a16="http://schemas.microsoft.com/office/drawing/2014/main" val="10002"/>
                  </a:ext>
                </a:extLst>
              </a:tr>
              <a:tr h="292608">
                <a:tc>
                  <a:txBody>
                    <a:bodyPr/>
                    <a:lstStyle/>
                    <a:p>
                      <a:pPr marL="0" indent="0">
                        <a:buNone/>
                      </a:pPr>
                      <a:r>
                        <a:rPr lang="en-US" sz="950" dirty="0">
                          <a:solidFill>
                            <a:srgbClr val="EEF0F8"/>
                          </a:solidFill>
                          <a:latin typeface="Courier New" pitchFamily="34" charset="0"/>
                          <a:ea typeface="Courier New" pitchFamily="34" charset="-122"/>
                          <a:cs typeface="Courier New" pitchFamily="34" charset="-120"/>
                        </a:rPr>
                        <a:t>text-transform</a:t>
                      </a:r>
                      <a:endParaRPr lang="en-US" sz="950" dirty="0">
                        <a:latin typeface="Courier New" charset="0"/>
                        <a:ea typeface="Courier New" charset="0"/>
                        <a:cs typeface="Courier New" charset="0"/>
                      </a:endParaRPr>
                    </a:p>
                  </a:txBody>
                  <a:tcPr marL="64008" marR="64008" marT="0" marB="0" anchor="ctr">
                    <a:lnL w="9525" cap="flat" cmpd="sng" algn="ctr">
                      <a:solidFill>
                        <a:srgbClr val="2E3768"/>
                      </a:solidFill>
                      <a:prstDash val="solid"/>
                      <a:round/>
                      <a:headEnd type="none" w="med" len="med"/>
                      <a:tailEnd type="none" w="med" len="med"/>
                    </a:lnL>
                    <a:lnR w="9525" cap="flat" cmpd="sng" algn="ctr">
                      <a:solidFill>
                        <a:srgbClr val="2E3768"/>
                      </a:solidFill>
                      <a:prstDash val="solid"/>
                      <a:round/>
                      <a:headEnd type="none" w="med" len="med"/>
                      <a:tailEnd type="none" w="med" len="med"/>
                    </a:lnR>
                    <a:lnT w="9525" cap="flat" cmpd="sng" algn="ctr">
                      <a:solidFill>
                        <a:srgbClr val="2E3768"/>
                      </a:solidFill>
                      <a:prstDash val="solid"/>
                      <a:round/>
                      <a:headEnd type="none" w="med" len="med"/>
                      <a:tailEnd type="none" w="med" len="med"/>
                    </a:lnT>
                    <a:lnB w="9525" cap="flat" cmpd="sng" algn="ctr">
                      <a:solidFill>
                        <a:srgbClr val="2E3768"/>
                      </a:solidFill>
                      <a:prstDash val="solid"/>
                      <a:round/>
                      <a:headEnd type="none" w="med" len="med"/>
                      <a:tailEnd type="none" w="med" len="med"/>
                    </a:lnB>
                    <a:solidFill>
                      <a:srgbClr val="1A2044"/>
                    </a:solidFill>
                  </a:tcPr>
                </a:tc>
                <a:tc>
                  <a:txBody>
                    <a:bodyPr/>
                    <a:lstStyle/>
                    <a:p>
                      <a:pPr marL="0" indent="0">
                        <a:buNone/>
                      </a:pPr>
                      <a:r>
                        <a:rPr lang="en-US" sz="950" dirty="0">
                          <a:solidFill>
                            <a:srgbClr val="EEF0F8"/>
                          </a:solidFill>
                          <a:latin typeface="Arial" pitchFamily="34" charset="0"/>
                          <a:ea typeface="Arial" pitchFamily="34" charset="-122"/>
                          <a:cs typeface="Arial" pitchFamily="34" charset="-120"/>
                        </a:rPr>
                        <a:t>büyük/küçük harf</a:t>
                      </a:r>
                      <a:endParaRPr lang="en-US" sz="950" dirty="0">
                        <a:latin typeface="Arial" charset="0"/>
                        <a:ea typeface="Arial" charset="0"/>
                        <a:cs typeface="Arial" charset="0"/>
                      </a:endParaRPr>
                    </a:p>
                  </a:txBody>
                  <a:tcPr marL="64008" marR="64008" marT="0" marB="0" anchor="ctr">
                    <a:lnL w="9525" cap="flat" cmpd="sng" algn="ctr">
                      <a:solidFill>
                        <a:srgbClr val="2E3768"/>
                      </a:solidFill>
                      <a:prstDash val="solid"/>
                      <a:round/>
                      <a:headEnd type="none" w="med" len="med"/>
                      <a:tailEnd type="none" w="med" len="med"/>
                    </a:lnL>
                    <a:lnR w="9525" cap="flat" cmpd="sng" algn="ctr">
                      <a:solidFill>
                        <a:srgbClr val="2E3768"/>
                      </a:solidFill>
                      <a:prstDash val="solid"/>
                      <a:round/>
                      <a:headEnd type="none" w="med" len="med"/>
                      <a:tailEnd type="none" w="med" len="med"/>
                    </a:lnR>
                    <a:lnT w="9525" cap="flat" cmpd="sng" algn="ctr">
                      <a:solidFill>
                        <a:srgbClr val="2E3768"/>
                      </a:solidFill>
                      <a:prstDash val="solid"/>
                      <a:round/>
                      <a:headEnd type="none" w="med" len="med"/>
                      <a:tailEnd type="none" w="med" len="med"/>
                    </a:lnT>
                    <a:lnB w="9525" cap="flat" cmpd="sng" algn="ctr">
                      <a:solidFill>
                        <a:srgbClr val="2E3768"/>
                      </a:solidFill>
                      <a:prstDash val="solid"/>
                      <a:round/>
                      <a:headEnd type="none" w="med" len="med"/>
                      <a:tailEnd type="none" w="med" len="med"/>
                    </a:lnB>
                    <a:solidFill>
                      <a:srgbClr val="1A2044"/>
                    </a:solidFill>
                  </a:tcPr>
                </a:tc>
                <a:tc>
                  <a:txBody>
                    <a:bodyPr/>
                    <a:lstStyle/>
                    <a:p>
                      <a:pPr marL="0" indent="0">
                        <a:buNone/>
                      </a:pPr>
                      <a:r>
                        <a:rPr lang="en-US" sz="950" dirty="0">
                          <a:solidFill>
                            <a:srgbClr val="EEF0F8"/>
                          </a:solidFill>
                          <a:latin typeface="Courier New" pitchFamily="34" charset="0"/>
                          <a:ea typeface="Courier New" pitchFamily="34" charset="-122"/>
                          <a:cs typeface="Courier New" pitchFamily="34" charset="-120"/>
                        </a:rPr>
                        <a:t>uppercase</a:t>
                      </a:r>
                      <a:endParaRPr lang="en-US" sz="950" dirty="0">
                        <a:latin typeface="Courier New" charset="0"/>
                        <a:ea typeface="Courier New" charset="0"/>
                        <a:cs typeface="Courier New" charset="0"/>
                      </a:endParaRPr>
                    </a:p>
                  </a:txBody>
                  <a:tcPr marL="64008" marR="64008" marT="0" marB="0" anchor="ctr">
                    <a:lnL w="9525" cap="flat" cmpd="sng" algn="ctr">
                      <a:solidFill>
                        <a:srgbClr val="2E3768"/>
                      </a:solidFill>
                      <a:prstDash val="solid"/>
                      <a:round/>
                      <a:headEnd type="none" w="med" len="med"/>
                      <a:tailEnd type="none" w="med" len="med"/>
                    </a:lnL>
                    <a:lnR w="9525" cap="flat" cmpd="sng" algn="ctr">
                      <a:solidFill>
                        <a:srgbClr val="2E3768"/>
                      </a:solidFill>
                      <a:prstDash val="solid"/>
                      <a:round/>
                      <a:headEnd type="none" w="med" len="med"/>
                      <a:tailEnd type="none" w="med" len="med"/>
                    </a:lnR>
                    <a:lnT w="9525" cap="flat" cmpd="sng" algn="ctr">
                      <a:solidFill>
                        <a:srgbClr val="2E3768"/>
                      </a:solidFill>
                      <a:prstDash val="solid"/>
                      <a:round/>
                      <a:headEnd type="none" w="med" len="med"/>
                      <a:tailEnd type="none" w="med" len="med"/>
                    </a:lnT>
                    <a:lnB w="9525" cap="flat" cmpd="sng" algn="ctr">
                      <a:solidFill>
                        <a:srgbClr val="2E3768"/>
                      </a:solidFill>
                      <a:prstDash val="solid"/>
                      <a:round/>
                      <a:headEnd type="none" w="med" len="med"/>
                      <a:tailEnd type="none" w="med" len="med"/>
                    </a:lnB>
                    <a:solidFill>
                      <a:srgbClr val="1A2044"/>
                    </a:solidFill>
                  </a:tcPr>
                </a:tc>
                <a:extLst>
                  <a:ext uri="{0D108BD9-81ED-4DB2-BD59-A6C34878D82A}">
                    <a16:rowId xmlns:a16="http://schemas.microsoft.com/office/drawing/2014/main" val="10003"/>
                  </a:ext>
                </a:extLst>
              </a:tr>
              <a:tr h="292608">
                <a:tc>
                  <a:txBody>
                    <a:bodyPr/>
                    <a:lstStyle/>
                    <a:p>
                      <a:pPr marL="0" indent="0">
                        <a:buNone/>
                      </a:pPr>
                      <a:r>
                        <a:rPr lang="en-US" sz="950" dirty="0">
                          <a:solidFill>
                            <a:srgbClr val="EEF0F8"/>
                          </a:solidFill>
                          <a:latin typeface="Courier New" pitchFamily="34" charset="0"/>
                          <a:ea typeface="Courier New" pitchFamily="34" charset="-122"/>
                          <a:cs typeface="Courier New" pitchFamily="34" charset="-120"/>
                        </a:rPr>
                        <a:t>text-decoration</a:t>
                      </a:r>
                      <a:endParaRPr lang="en-US" sz="950" dirty="0">
                        <a:latin typeface="Courier New" charset="0"/>
                        <a:ea typeface="Courier New" charset="0"/>
                        <a:cs typeface="Courier New" charset="0"/>
                      </a:endParaRPr>
                    </a:p>
                  </a:txBody>
                  <a:tcPr marL="64008" marR="64008" marT="0" marB="0" anchor="ctr">
                    <a:lnL w="9525" cap="flat" cmpd="sng" algn="ctr">
                      <a:solidFill>
                        <a:srgbClr val="2E3768"/>
                      </a:solidFill>
                      <a:prstDash val="solid"/>
                      <a:round/>
                      <a:headEnd type="none" w="med" len="med"/>
                      <a:tailEnd type="none" w="med" len="med"/>
                    </a:lnL>
                    <a:lnR w="9525" cap="flat" cmpd="sng" algn="ctr">
                      <a:solidFill>
                        <a:srgbClr val="2E3768"/>
                      </a:solidFill>
                      <a:prstDash val="solid"/>
                      <a:round/>
                      <a:headEnd type="none" w="med" len="med"/>
                      <a:tailEnd type="none" w="med" len="med"/>
                    </a:lnR>
                    <a:lnT w="9525" cap="flat" cmpd="sng" algn="ctr">
                      <a:solidFill>
                        <a:srgbClr val="2E3768"/>
                      </a:solidFill>
                      <a:prstDash val="solid"/>
                      <a:round/>
                      <a:headEnd type="none" w="med" len="med"/>
                      <a:tailEnd type="none" w="med" len="med"/>
                    </a:lnT>
                    <a:lnB w="9525" cap="flat" cmpd="sng" algn="ctr">
                      <a:solidFill>
                        <a:srgbClr val="2E3768"/>
                      </a:solidFill>
                      <a:prstDash val="solid"/>
                      <a:round/>
                      <a:headEnd type="none" w="med" len="med"/>
                      <a:tailEnd type="none" w="med" len="med"/>
                    </a:lnB>
                    <a:solidFill>
                      <a:srgbClr val="1A2044"/>
                    </a:solidFill>
                  </a:tcPr>
                </a:tc>
                <a:tc>
                  <a:txBody>
                    <a:bodyPr/>
                    <a:lstStyle/>
                    <a:p>
                      <a:pPr marL="0" indent="0">
                        <a:buNone/>
                      </a:pPr>
                      <a:r>
                        <a:rPr lang="en-US" sz="950" dirty="0">
                          <a:solidFill>
                            <a:srgbClr val="EEF0F8"/>
                          </a:solidFill>
                          <a:latin typeface="Arial" pitchFamily="34" charset="0"/>
                          <a:ea typeface="Arial" pitchFamily="34" charset="-122"/>
                          <a:cs typeface="Arial" pitchFamily="34" charset="-120"/>
                        </a:rPr>
                        <a:t>alt/üst çizgi, üstü çizili</a:t>
                      </a:r>
                      <a:endParaRPr lang="en-US" sz="950" dirty="0">
                        <a:latin typeface="Arial" charset="0"/>
                        <a:ea typeface="Arial" charset="0"/>
                        <a:cs typeface="Arial" charset="0"/>
                      </a:endParaRPr>
                    </a:p>
                  </a:txBody>
                  <a:tcPr marL="64008" marR="64008" marT="0" marB="0" anchor="ctr">
                    <a:lnL w="9525" cap="flat" cmpd="sng" algn="ctr">
                      <a:solidFill>
                        <a:srgbClr val="2E3768"/>
                      </a:solidFill>
                      <a:prstDash val="solid"/>
                      <a:round/>
                      <a:headEnd type="none" w="med" len="med"/>
                      <a:tailEnd type="none" w="med" len="med"/>
                    </a:lnL>
                    <a:lnR w="9525" cap="flat" cmpd="sng" algn="ctr">
                      <a:solidFill>
                        <a:srgbClr val="2E3768"/>
                      </a:solidFill>
                      <a:prstDash val="solid"/>
                      <a:round/>
                      <a:headEnd type="none" w="med" len="med"/>
                      <a:tailEnd type="none" w="med" len="med"/>
                    </a:lnR>
                    <a:lnT w="9525" cap="flat" cmpd="sng" algn="ctr">
                      <a:solidFill>
                        <a:srgbClr val="2E3768"/>
                      </a:solidFill>
                      <a:prstDash val="solid"/>
                      <a:round/>
                      <a:headEnd type="none" w="med" len="med"/>
                      <a:tailEnd type="none" w="med" len="med"/>
                    </a:lnT>
                    <a:lnB w="9525" cap="flat" cmpd="sng" algn="ctr">
                      <a:solidFill>
                        <a:srgbClr val="2E3768"/>
                      </a:solidFill>
                      <a:prstDash val="solid"/>
                      <a:round/>
                      <a:headEnd type="none" w="med" len="med"/>
                      <a:tailEnd type="none" w="med" len="med"/>
                    </a:lnB>
                    <a:solidFill>
                      <a:srgbClr val="1A2044"/>
                    </a:solidFill>
                  </a:tcPr>
                </a:tc>
                <a:tc>
                  <a:txBody>
                    <a:bodyPr/>
                    <a:lstStyle/>
                    <a:p>
                      <a:pPr marL="0" indent="0">
                        <a:buNone/>
                      </a:pPr>
                      <a:r>
                        <a:rPr lang="en-US" sz="950" dirty="0">
                          <a:solidFill>
                            <a:srgbClr val="EEF0F8"/>
                          </a:solidFill>
                          <a:latin typeface="Courier New" pitchFamily="34" charset="0"/>
                          <a:ea typeface="Courier New" pitchFamily="34" charset="-122"/>
                          <a:cs typeface="Courier New" pitchFamily="34" charset="-120"/>
                        </a:rPr>
                        <a:t>none</a:t>
                      </a:r>
                      <a:endParaRPr lang="en-US" sz="950" dirty="0">
                        <a:latin typeface="Courier New" charset="0"/>
                        <a:ea typeface="Courier New" charset="0"/>
                        <a:cs typeface="Courier New" charset="0"/>
                      </a:endParaRPr>
                    </a:p>
                  </a:txBody>
                  <a:tcPr marL="64008" marR="64008" marT="0" marB="0" anchor="ctr">
                    <a:lnL w="9525" cap="flat" cmpd="sng" algn="ctr">
                      <a:solidFill>
                        <a:srgbClr val="2E3768"/>
                      </a:solidFill>
                      <a:prstDash val="solid"/>
                      <a:round/>
                      <a:headEnd type="none" w="med" len="med"/>
                      <a:tailEnd type="none" w="med" len="med"/>
                    </a:lnL>
                    <a:lnR w="9525" cap="flat" cmpd="sng" algn="ctr">
                      <a:solidFill>
                        <a:srgbClr val="2E3768"/>
                      </a:solidFill>
                      <a:prstDash val="solid"/>
                      <a:round/>
                      <a:headEnd type="none" w="med" len="med"/>
                      <a:tailEnd type="none" w="med" len="med"/>
                    </a:lnR>
                    <a:lnT w="9525" cap="flat" cmpd="sng" algn="ctr">
                      <a:solidFill>
                        <a:srgbClr val="2E3768"/>
                      </a:solidFill>
                      <a:prstDash val="solid"/>
                      <a:round/>
                      <a:headEnd type="none" w="med" len="med"/>
                      <a:tailEnd type="none" w="med" len="med"/>
                    </a:lnT>
                    <a:lnB w="9525" cap="flat" cmpd="sng" algn="ctr">
                      <a:solidFill>
                        <a:srgbClr val="2E3768"/>
                      </a:solidFill>
                      <a:prstDash val="solid"/>
                      <a:round/>
                      <a:headEnd type="none" w="med" len="med"/>
                      <a:tailEnd type="none" w="med" len="med"/>
                    </a:lnB>
                    <a:solidFill>
                      <a:srgbClr val="1A2044"/>
                    </a:solidFill>
                  </a:tcPr>
                </a:tc>
                <a:extLst>
                  <a:ext uri="{0D108BD9-81ED-4DB2-BD59-A6C34878D82A}">
                    <a16:rowId xmlns:a16="http://schemas.microsoft.com/office/drawing/2014/main" val="10004"/>
                  </a:ext>
                </a:extLst>
              </a:tr>
              <a:tr h="292608">
                <a:tc>
                  <a:txBody>
                    <a:bodyPr/>
                    <a:lstStyle/>
                    <a:p>
                      <a:pPr marL="0" indent="0">
                        <a:buNone/>
                      </a:pPr>
                      <a:r>
                        <a:rPr lang="en-US" sz="950" dirty="0">
                          <a:solidFill>
                            <a:srgbClr val="EEF0F8"/>
                          </a:solidFill>
                          <a:latin typeface="Courier New" pitchFamily="34" charset="0"/>
                          <a:ea typeface="Courier New" pitchFamily="34" charset="-122"/>
                          <a:cs typeface="Courier New" pitchFamily="34" charset="-120"/>
                        </a:rPr>
                        <a:t>text-shadow</a:t>
                      </a:r>
                      <a:endParaRPr lang="en-US" sz="950" dirty="0">
                        <a:latin typeface="Courier New" charset="0"/>
                        <a:ea typeface="Courier New" charset="0"/>
                        <a:cs typeface="Courier New" charset="0"/>
                      </a:endParaRPr>
                    </a:p>
                  </a:txBody>
                  <a:tcPr marL="64008" marR="64008" marT="0" marB="0" anchor="ctr">
                    <a:lnL w="9525" cap="flat" cmpd="sng" algn="ctr">
                      <a:solidFill>
                        <a:srgbClr val="2E3768"/>
                      </a:solidFill>
                      <a:prstDash val="solid"/>
                      <a:round/>
                      <a:headEnd type="none" w="med" len="med"/>
                      <a:tailEnd type="none" w="med" len="med"/>
                    </a:lnL>
                    <a:lnR w="9525" cap="flat" cmpd="sng" algn="ctr">
                      <a:solidFill>
                        <a:srgbClr val="2E3768"/>
                      </a:solidFill>
                      <a:prstDash val="solid"/>
                      <a:round/>
                      <a:headEnd type="none" w="med" len="med"/>
                      <a:tailEnd type="none" w="med" len="med"/>
                    </a:lnR>
                    <a:lnT w="9525" cap="flat" cmpd="sng" algn="ctr">
                      <a:solidFill>
                        <a:srgbClr val="2E3768"/>
                      </a:solidFill>
                      <a:prstDash val="solid"/>
                      <a:round/>
                      <a:headEnd type="none" w="med" len="med"/>
                      <a:tailEnd type="none" w="med" len="med"/>
                    </a:lnT>
                    <a:lnB w="9525" cap="flat" cmpd="sng" algn="ctr">
                      <a:solidFill>
                        <a:srgbClr val="2E3768"/>
                      </a:solidFill>
                      <a:prstDash val="solid"/>
                      <a:round/>
                      <a:headEnd type="none" w="med" len="med"/>
                      <a:tailEnd type="none" w="med" len="med"/>
                    </a:lnB>
                    <a:solidFill>
                      <a:srgbClr val="1A2044"/>
                    </a:solidFill>
                  </a:tcPr>
                </a:tc>
                <a:tc>
                  <a:txBody>
                    <a:bodyPr/>
                    <a:lstStyle/>
                    <a:p>
                      <a:pPr marL="0" indent="0">
                        <a:buNone/>
                      </a:pPr>
                      <a:r>
                        <a:rPr lang="en-US" sz="950" dirty="0">
                          <a:solidFill>
                            <a:srgbClr val="EEF0F8"/>
                          </a:solidFill>
                          <a:latin typeface="Arial" pitchFamily="34" charset="0"/>
                          <a:ea typeface="Arial" pitchFamily="34" charset="-122"/>
                          <a:cs typeface="Arial" pitchFamily="34" charset="-120"/>
                        </a:rPr>
                        <a:t>x, y, bulanıklık, renk</a:t>
                      </a:r>
                      <a:endParaRPr lang="en-US" sz="950" dirty="0">
                        <a:latin typeface="Arial" charset="0"/>
                        <a:ea typeface="Arial" charset="0"/>
                        <a:cs typeface="Arial" charset="0"/>
                      </a:endParaRPr>
                    </a:p>
                  </a:txBody>
                  <a:tcPr marL="64008" marR="64008" marT="0" marB="0" anchor="ctr">
                    <a:lnL w="9525" cap="flat" cmpd="sng" algn="ctr">
                      <a:solidFill>
                        <a:srgbClr val="2E3768"/>
                      </a:solidFill>
                      <a:prstDash val="solid"/>
                      <a:round/>
                      <a:headEnd type="none" w="med" len="med"/>
                      <a:tailEnd type="none" w="med" len="med"/>
                    </a:lnL>
                    <a:lnR w="9525" cap="flat" cmpd="sng" algn="ctr">
                      <a:solidFill>
                        <a:srgbClr val="2E3768"/>
                      </a:solidFill>
                      <a:prstDash val="solid"/>
                      <a:round/>
                      <a:headEnd type="none" w="med" len="med"/>
                      <a:tailEnd type="none" w="med" len="med"/>
                    </a:lnR>
                    <a:lnT w="9525" cap="flat" cmpd="sng" algn="ctr">
                      <a:solidFill>
                        <a:srgbClr val="2E3768"/>
                      </a:solidFill>
                      <a:prstDash val="solid"/>
                      <a:round/>
                      <a:headEnd type="none" w="med" len="med"/>
                      <a:tailEnd type="none" w="med" len="med"/>
                    </a:lnT>
                    <a:lnB w="9525" cap="flat" cmpd="sng" algn="ctr">
                      <a:solidFill>
                        <a:srgbClr val="2E3768"/>
                      </a:solidFill>
                      <a:prstDash val="solid"/>
                      <a:round/>
                      <a:headEnd type="none" w="med" len="med"/>
                      <a:tailEnd type="none" w="med" len="med"/>
                    </a:lnB>
                    <a:solidFill>
                      <a:srgbClr val="1A2044"/>
                    </a:solidFill>
                  </a:tcPr>
                </a:tc>
                <a:tc>
                  <a:txBody>
                    <a:bodyPr/>
                    <a:lstStyle/>
                    <a:p>
                      <a:pPr marL="0" indent="0">
                        <a:buNone/>
                      </a:pPr>
                      <a:r>
                        <a:rPr lang="en-US" sz="950" dirty="0">
                          <a:solidFill>
                            <a:srgbClr val="EEF0F8"/>
                          </a:solidFill>
                          <a:latin typeface="Courier New" pitchFamily="34" charset="0"/>
                          <a:ea typeface="Courier New" pitchFamily="34" charset="-122"/>
                          <a:cs typeface="Courier New" pitchFamily="34" charset="-120"/>
                        </a:rPr>
                        <a:t>4px 4px 5px red</a:t>
                      </a:r>
                      <a:endParaRPr lang="en-US" sz="950" dirty="0">
                        <a:latin typeface="Courier New" charset="0"/>
                        <a:ea typeface="Courier New" charset="0"/>
                        <a:cs typeface="Courier New" charset="0"/>
                      </a:endParaRPr>
                    </a:p>
                  </a:txBody>
                  <a:tcPr marL="64008" marR="64008" marT="0" marB="0" anchor="ctr">
                    <a:lnL w="9525" cap="flat" cmpd="sng" algn="ctr">
                      <a:solidFill>
                        <a:srgbClr val="2E3768"/>
                      </a:solidFill>
                      <a:prstDash val="solid"/>
                      <a:round/>
                      <a:headEnd type="none" w="med" len="med"/>
                      <a:tailEnd type="none" w="med" len="med"/>
                    </a:lnL>
                    <a:lnR w="9525" cap="flat" cmpd="sng" algn="ctr">
                      <a:solidFill>
                        <a:srgbClr val="2E3768"/>
                      </a:solidFill>
                      <a:prstDash val="solid"/>
                      <a:round/>
                      <a:headEnd type="none" w="med" len="med"/>
                      <a:tailEnd type="none" w="med" len="med"/>
                    </a:lnR>
                    <a:lnT w="9525" cap="flat" cmpd="sng" algn="ctr">
                      <a:solidFill>
                        <a:srgbClr val="2E3768"/>
                      </a:solidFill>
                      <a:prstDash val="solid"/>
                      <a:round/>
                      <a:headEnd type="none" w="med" len="med"/>
                      <a:tailEnd type="none" w="med" len="med"/>
                    </a:lnT>
                    <a:lnB w="9525" cap="flat" cmpd="sng" algn="ctr">
                      <a:solidFill>
                        <a:srgbClr val="2E3768"/>
                      </a:solidFill>
                      <a:prstDash val="solid"/>
                      <a:round/>
                      <a:headEnd type="none" w="med" len="med"/>
                      <a:tailEnd type="none" w="med" len="med"/>
                    </a:lnB>
                    <a:solidFill>
                      <a:srgbClr val="1A2044"/>
                    </a:solidFill>
                  </a:tcPr>
                </a:tc>
                <a:extLst>
                  <a:ext uri="{0D108BD9-81ED-4DB2-BD59-A6C34878D82A}">
                    <a16:rowId xmlns:a16="http://schemas.microsoft.com/office/drawing/2014/main" val="10005"/>
                  </a:ext>
                </a:extLst>
              </a:tr>
              <a:tr h="292608">
                <a:tc>
                  <a:txBody>
                    <a:bodyPr/>
                    <a:lstStyle/>
                    <a:p>
                      <a:pPr marL="0" indent="0">
                        <a:buNone/>
                      </a:pPr>
                      <a:r>
                        <a:rPr lang="en-US" sz="950" dirty="0">
                          <a:solidFill>
                            <a:srgbClr val="EEF0F8"/>
                          </a:solidFill>
                          <a:latin typeface="Courier New" pitchFamily="34" charset="0"/>
                          <a:ea typeface="Courier New" pitchFamily="34" charset="-122"/>
                          <a:cs typeface="Courier New" pitchFamily="34" charset="-120"/>
                        </a:rPr>
                        <a:t>text-align</a:t>
                      </a:r>
                      <a:endParaRPr lang="en-US" sz="950" dirty="0">
                        <a:latin typeface="Courier New" charset="0"/>
                        <a:ea typeface="Courier New" charset="0"/>
                        <a:cs typeface="Courier New" charset="0"/>
                      </a:endParaRPr>
                    </a:p>
                  </a:txBody>
                  <a:tcPr marL="64008" marR="64008" marT="0" marB="0" anchor="ctr">
                    <a:lnL w="9525" cap="flat" cmpd="sng" algn="ctr">
                      <a:solidFill>
                        <a:srgbClr val="2E3768"/>
                      </a:solidFill>
                      <a:prstDash val="solid"/>
                      <a:round/>
                      <a:headEnd type="none" w="med" len="med"/>
                      <a:tailEnd type="none" w="med" len="med"/>
                    </a:lnL>
                    <a:lnR w="9525" cap="flat" cmpd="sng" algn="ctr">
                      <a:solidFill>
                        <a:srgbClr val="2E3768"/>
                      </a:solidFill>
                      <a:prstDash val="solid"/>
                      <a:round/>
                      <a:headEnd type="none" w="med" len="med"/>
                      <a:tailEnd type="none" w="med" len="med"/>
                    </a:lnR>
                    <a:lnT w="9525" cap="flat" cmpd="sng" algn="ctr">
                      <a:solidFill>
                        <a:srgbClr val="2E3768"/>
                      </a:solidFill>
                      <a:prstDash val="solid"/>
                      <a:round/>
                      <a:headEnd type="none" w="med" len="med"/>
                      <a:tailEnd type="none" w="med" len="med"/>
                    </a:lnT>
                    <a:lnB w="9525" cap="flat" cmpd="sng" algn="ctr">
                      <a:solidFill>
                        <a:srgbClr val="2E3768"/>
                      </a:solidFill>
                      <a:prstDash val="solid"/>
                      <a:round/>
                      <a:headEnd type="none" w="med" len="med"/>
                      <a:tailEnd type="none" w="med" len="med"/>
                    </a:lnB>
                    <a:solidFill>
                      <a:srgbClr val="1A2044"/>
                    </a:solidFill>
                  </a:tcPr>
                </a:tc>
                <a:tc>
                  <a:txBody>
                    <a:bodyPr/>
                    <a:lstStyle/>
                    <a:p>
                      <a:pPr marL="0" indent="0">
                        <a:buNone/>
                      </a:pPr>
                      <a:r>
                        <a:rPr lang="en-US" sz="950" dirty="0">
                          <a:solidFill>
                            <a:srgbClr val="EEF0F8"/>
                          </a:solidFill>
                          <a:latin typeface="Arial" pitchFamily="34" charset="0"/>
                          <a:ea typeface="Arial" pitchFamily="34" charset="-122"/>
                          <a:cs typeface="Arial" pitchFamily="34" charset="-120"/>
                        </a:rPr>
                        <a:t>hizalama</a:t>
                      </a:r>
                      <a:endParaRPr lang="en-US" sz="950" dirty="0">
                        <a:latin typeface="Arial" charset="0"/>
                        <a:ea typeface="Arial" charset="0"/>
                        <a:cs typeface="Arial" charset="0"/>
                      </a:endParaRPr>
                    </a:p>
                  </a:txBody>
                  <a:tcPr marL="64008" marR="64008" marT="0" marB="0" anchor="ctr">
                    <a:lnL w="9525" cap="flat" cmpd="sng" algn="ctr">
                      <a:solidFill>
                        <a:srgbClr val="2E3768"/>
                      </a:solidFill>
                      <a:prstDash val="solid"/>
                      <a:round/>
                      <a:headEnd type="none" w="med" len="med"/>
                      <a:tailEnd type="none" w="med" len="med"/>
                    </a:lnL>
                    <a:lnR w="9525" cap="flat" cmpd="sng" algn="ctr">
                      <a:solidFill>
                        <a:srgbClr val="2E3768"/>
                      </a:solidFill>
                      <a:prstDash val="solid"/>
                      <a:round/>
                      <a:headEnd type="none" w="med" len="med"/>
                      <a:tailEnd type="none" w="med" len="med"/>
                    </a:lnR>
                    <a:lnT w="9525" cap="flat" cmpd="sng" algn="ctr">
                      <a:solidFill>
                        <a:srgbClr val="2E3768"/>
                      </a:solidFill>
                      <a:prstDash val="solid"/>
                      <a:round/>
                      <a:headEnd type="none" w="med" len="med"/>
                      <a:tailEnd type="none" w="med" len="med"/>
                    </a:lnT>
                    <a:lnB w="9525" cap="flat" cmpd="sng" algn="ctr">
                      <a:solidFill>
                        <a:srgbClr val="2E3768"/>
                      </a:solidFill>
                      <a:prstDash val="solid"/>
                      <a:round/>
                      <a:headEnd type="none" w="med" len="med"/>
                      <a:tailEnd type="none" w="med" len="med"/>
                    </a:lnB>
                    <a:solidFill>
                      <a:srgbClr val="1A2044"/>
                    </a:solidFill>
                  </a:tcPr>
                </a:tc>
                <a:tc>
                  <a:txBody>
                    <a:bodyPr/>
                    <a:lstStyle/>
                    <a:p>
                      <a:pPr marL="0" indent="0">
                        <a:buNone/>
                      </a:pPr>
                      <a:r>
                        <a:rPr lang="en-US" sz="950" dirty="0">
                          <a:solidFill>
                            <a:srgbClr val="EEF0F8"/>
                          </a:solidFill>
                          <a:latin typeface="Courier New" pitchFamily="34" charset="0"/>
                          <a:ea typeface="Courier New" pitchFamily="34" charset="-122"/>
                          <a:cs typeface="Courier New" pitchFamily="34" charset="-120"/>
                        </a:rPr>
                        <a:t>justify</a:t>
                      </a:r>
                      <a:endParaRPr lang="en-US" sz="950" dirty="0">
                        <a:latin typeface="Courier New" charset="0"/>
                        <a:ea typeface="Courier New" charset="0"/>
                        <a:cs typeface="Courier New" charset="0"/>
                      </a:endParaRPr>
                    </a:p>
                  </a:txBody>
                  <a:tcPr marL="64008" marR="64008" marT="0" marB="0" anchor="ctr">
                    <a:lnL w="9525" cap="flat" cmpd="sng" algn="ctr">
                      <a:solidFill>
                        <a:srgbClr val="2E3768"/>
                      </a:solidFill>
                      <a:prstDash val="solid"/>
                      <a:round/>
                      <a:headEnd type="none" w="med" len="med"/>
                      <a:tailEnd type="none" w="med" len="med"/>
                    </a:lnL>
                    <a:lnR w="9525" cap="flat" cmpd="sng" algn="ctr">
                      <a:solidFill>
                        <a:srgbClr val="2E3768"/>
                      </a:solidFill>
                      <a:prstDash val="solid"/>
                      <a:round/>
                      <a:headEnd type="none" w="med" len="med"/>
                      <a:tailEnd type="none" w="med" len="med"/>
                    </a:lnR>
                    <a:lnT w="9525" cap="flat" cmpd="sng" algn="ctr">
                      <a:solidFill>
                        <a:srgbClr val="2E3768"/>
                      </a:solidFill>
                      <a:prstDash val="solid"/>
                      <a:round/>
                      <a:headEnd type="none" w="med" len="med"/>
                      <a:tailEnd type="none" w="med" len="med"/>
                    </a:lnT>
                    <a:lnB w="9525" cap="flat" cmpd="sng" algn="ctr">
                      <a:solidFill>
                        <a:srgbClr val="2E3768"/>
                      </a:solidFill>
                      <a:prstDash val="solid"/>
                      <a:round/>
                      <a:headEnd type="none" w="med" len="med"/>
                      <a:tailEnd type="none" w="med" len="med"/>
                    </a:lnB>
                    <a:solidFill>
                      <a:srgbClr val="1A2044"/>
                    </a:solidFill>
                  </a:tcPr>
                </a:tc>
                <a:extLst>
                  <a:ext uri="{0D108BD9-81ED-4DB2-BD59-A6C34878D82A}">
                    <a16:rowId xmlns:a16="http://schemas.microsoft.com/office/drawing/2014/main" val="10006"/>
                  </a:ext>
                </a:extLst>
              </a:tr>
              <a:tr h="292608">
                <a:tc>
                  <a:txBody>
                    <a:bodyPr/>
                    <a:lstStyle/>
                    <a:p>
                      <a:pPr marL="0" indent="0">
                        <a:buNone/>
                      </a:pPr>
                      <a:r>
                        <a:rPr lang="en-US" sz="950" dirty="0">
                          <a:solidFill>
                            <a:srgbClr val="EEF0F8"/>
                          </a:solidFill>
                          <a:latin typeface="Courier New" pitchFamily="34" charset="0"/>
                          <a:ea typeface="Courier New" pitchFamily="34" charset="-122"/>
                          <a:cs typeface="Courier New" pitchFamily="34" charset="-120"/>
                        </a:rPr>
                        <a:t>line-height</a:t>
                      </a:r>
                      <a:endParaRPr lang="en-US" sz="950" dirty="0">
                        <a:latin typeface="Courier New" charset="0"/>
                        <a:ea typeface="Courier New" charset="0"/>
                        <a:cs typeface="Courier New" charset="0"/>
                      </a:endParaRPr>
                    </a:p>
                  </a:txBody>
                  <a:tcPr marL="64008" marR="64008" marT="0" marB="0" anchor="ctr">
                    <a:lnL w="9525" cap="flat" cmpd="sng" algn="ctr">
                      <a:solidFill>
                        <a:srgbClr val="2E3768"/>
                      </a:solidFill>
                      <a:prstDash val="solid"/>
                      <a:round/>
                      <a:headEnd type="none" w="med" len="med"/>
                      <a:tailEnd type="none" w="med" len="med"/>
                    </a:lnL>
                    <a:lnR w="9525" cap="flat" cmpd="sng" algn="ctr">
                      <a:solidFill>
                        <a:srgbClr val="2E3768"/>
                      </a:solidFill>
                      <a:prstDash val="solid"/>
                      <a:round/>
                      <a:headEnd type="none" w="med" len="med"/>
                      <a:tailEnd type="none" w="med" len="med"/>
                    </a:lnR>
                    <a:lnT w="9525" cap="flat" cmpd="sng" algn="ctr">
                      <a:solidFill>
                        <a:srgbClr val="2E3768"/>
                      </a:solidFill>
                      <a:prstDash val="solid"/>
                      <a:round/>
                      <a:headEnd type="none" w="med" len="med"/>
                      <a:tailEnd type="none" w="med" len="med"/>
                    </a:lnT>
                    <a:lnB w="9525" cap="flat" cmpd="sng" algn="ctr">
                      <a:solidFill>
                        <a:srgbClr val="2E3768"/>
                      </a:solidFill>
                      <a:prstDash val="solid"/>
                      <a:round/>
                      <a:headEnd type="none" w="med" len="med"/>
                      <a:tailEnd type="none" w="med" len="med"/>
                    </a:lnB>
                    <a:solidFill>
                      <a:srgbClr val="1A2044"/>
                    </a:solidFill>
                  </a:tcPr>
                </a:tc>
                <a:tc>
                  <a:txBody>
                    <a:bodyPr/>
                    <a:lstStyle/>
                    <a:p>
                      <a:pPr marL="0" indent="0">
                        <a:buNone/>
                      </a:pPr>
                      <a:r>
                        <a:rPr lang="en-US" sz="950" dirty="0">
                          <a:solidFill>
                            <a:srgbClr val="EEF0F8"/>
                          </a:solidFill>
                          <a:latin typeface="Arial" pitchFamily="34" charset="0"/>
                          <a:ea typeface="Arial" pitchFamily="34" charset="-122"/>
                          <a:cs typeface="Arial" pitchFamily="34" charset="-120"/>
                        </a:rPr>
                        <a:t>satır yüksekliği</a:t>
                      </a:r>
                      <a:endParaRPr lang="en-US" sz="950" dirty="0">
                        <a:latin typeface="Arial" charset="0"/>
                        <a:ea typeface="Arial" charset="0"/>
                        <a:cs typeface="Arial" charset="0"/>
                      </a:endParaRPr>
                    </a:p>
                  </a:txBody>
                  <a:tcPr marL="64008" marR="64008" marT="0" marB="0" anchor="ctr">
                    <a:lnL w="9525" cap="flat" cmpd="sng" algn="ctr">
                      <a:solidFill>
                        <a:srgbClr val="2E3768"/>
                      </a:solidFill>
                      <a:prstDash val="solid"/>
                      <a:round/>
                      <a:headEnd type="none" w="med" len="med"/>
                      <a:tailEnd type="none" w="med" len="med"/>
                    </a:lnL>
                    <a:lnR w="9525" cap="flat" cmpd="sng" algn="ctr">
                      <a:solidFill>
                        <a:srgbClr val="2E3768"/>
                      </a:solidFill>
                      <a:prstDash val="solid"/>
                      <a:round/>
                      <a:headEnd type="none" w="med" len="med"/>
                      <a:tailEnd type="none" w="med" len="med"/>
                    </a:lnR>
                    <a:lnT w="9525" cap="flat" cmpd="sng" algn="ctr">
                      <a:solidFill>
                        <a:srgbClr val="2E3768"/>
                      </a:solidFill>
                      <a:prstDash val="solid"/>
                      <a:round/>
                      <a:headEnd type="none" w="med" len="med"/>
                      <a:tailEnd type="none" w="med" len="med"/>
                    </a:lnT>
                    <a:lnB w="9525" cap="flat" cmpd="sng" algn="ctr">
                      <a:solidFill>
                        <a:srgbClr val="2E3768"/>
                      </a:solidFill>
                      <a:prstDash val="solid"/>
                      <a:round/>
                      <a:headEnd type="none" w="med" len="med"/>
                      <a:tailEnd type="none" w="med" len="med"/>
                    </a:lnB>
                    <a:solidFill>
                      <a:srgbClr val="1A2044"/>
                    </a:solidFill>
                  </a:tcPr>
                </a:tc>
                <a:tc>
                  <a:txBody>
                    <a:bodyPr/>
                    <a:lstStyle/>
                    <a:p>
                      <a:pPr marL="0" indent="0">
                        <a:buNone/>
                      </a:pPr>
                      <a:r>
                        <a:rPr lang="en-US" sz="950" dirty="0">
                          <a:solidFill>
                            <a:srgbClr val="EEF0F8"/>
                          </a:solidFill>
                          <a:latin typeface="Courier New" pitchFamily="34" charset="0"/>
                          <a:ea typeface="Courier New" pitchFamily="34" charset="-122"/>
                          <a:cs typeface="Courier New" pitchFamily="34" charset="-120"/>
                        </a:rPr>
                        <a:t>1.6</a:t>
                      </a:r>
                      <a:endParaRPr lang="en-US" sz="950" dirty="0">
                        <a:latin typeface="Courier New" charset="0"/>
                        <a:ea typeface="Courier New" charset="0"/>
                        <a:cs typeface="Courier New" charset="0"/>
                      </a:endParaRPr>
                    </a:p>
                  </a:txBody>
                  <a:tcPr marL="64008" marR="64008" marT="0" marB="0" anchor="ctr">
                    <a:lnL w="9525" cap="flat" cmpd="sng" algn="ctr">
                      <a:solidFill>
                        <a:srgbClr val="2E3768"/>
                      </a:solidFill>
                      <a:prstDash val="solid"/>
                      <a:round/>
                      <a:headEnd type="none" w="med" len="med"/>
                      <a:tailEnd type="none" w="med" len="med"/>
                    </a:lnL>
                    <a:lnR w="9525" cap="flat" cmpd="sng" algn="ctr">
                      <a:solidFill>
                        <a:srgbClr val="2E3768"/>
                      </a:solidFill>
                      <a:prstDash val="solid"/>
                      <a:round/>
                      <a:headEnd type="none" w="med" len="med"/>
                      <a:tailEnd type="none" w="med" len="med"/>
                    </a:lnR>
                    <a:lnT w="9525" cap="flat" cmpd="sng" algn="ctr">
                      <a:solidFill>
                        <a:srgbClr val="2E3768"/>
                      </a:solidFill>
                      <a:prstDash val="solid"/>
                      <a:round/>
                      <a:headEnd type="none" w="med" len="med"/>
                      <a:tailEnd type="none" w="med" len="med"/>
                    </a:lnT>
                    <a:lnB w="9525" cap="flat" cmpd="sng" algn="ctr">
                      <a:solidFill>
                        <a:srgbClr val="2E3768"/>
                      </a:solidFill>
                      <a:prstDash val="solid"/>
                      <a:round/>
                      <a:headEnd type="none" w="med" len="med"/>
                      <a:tailEnd type="none" w="med" len="med"/>
                    </a:lnB>
                    <a:solidFill>
                      <a:srgbClr val="1A2044"/>
                    </a:solidFill>
                  </a:tcPr>
                </a:tc>
                <a:extLst>
                  <a:ext uri="{0D108BD9-81ED-4DB2-BD59-A6C34878D82A}">
                    <a16:rowId xmlns:a16="http://schemas.microsoft.com/office/drawing/2014/main" val="10007"/>
                  </a:ext>
                </a:extLst>
              </a:tr>
              <a:tr h="292608">
                <a:tc>
                  <a:txBody>
                    <a:bodyPr/>
                    <a:lstStyle/>
                    <a:p>
                      <a:pPr marL="0" indent="0">
                        <a:buNone/>
                      </a:pPr>
                      <a:r>
                        <a:rPr lang="en-US" sz="950" dirty="0">
                          <a:solidFill>
                            <a:srgbClr val="EEF0F8"/>
                          </a:solidFill>
                          <a:latin typeface="Courier New" pitchFamily="34" charset="0"/>
                          <a:ea typeface="Courier New" pitchFamily="34" charset="-122"/>
                          <a:cs typeface="Courier New" pitchFamily="34" charset="-120"/>
                        </a:rPr>
                        <a:t>letter / word-spacing</a:t>
                      </a:r>
                      <a:endParaRPr lang="en-US" sz="950" dirty="0">
                        <a:latin typeface="Courier New" charset="0"/>
                        <a:ea typeface="Courier New" charset="0"/>
                        <a:cs typeface="Courier New" charset="0"/>
                      </a:endParaRPr>
                    </a:p>
                  </a:txBody>
                  <a:tcPr marL="64008" marR="64008" marT="0" marB="0" anchor="ctr">
                    <a:lnL w="9525" cap="flat" cmpd="sng" algn="ctr">
                      <a:solidFill>
                        <a:srgbClr val="2E3768"/>
                      </a:solidFill>
                      <a:prstDash val="solid"/>
                      <a:round/>
                      <a:headEnd type="none" w="med" len="med"/>
                      <a:tailEnd type="none" w="med" len="med"/>
                    </a:lnL>
                    <a:lnR w="9525" cap="flat" cmpd="sng" algn="ctr">
                      <a:solidFill>
                        <a:srgbClr val="2E3768"/>
                      </a:solidFill>
                      <a:prstDash val="solid"/>
                      <a:round/>
                      <a:headEnd type="none" w="med" len="med"/>
                      <a:tailEnd type="none" w="med" len="med"/>
                    </a:lnR>
                    <a:lnT w="9525" cap="flat" cmpd="sng" algn="ctr">
                      <a:solidFill>
                        <a:srgbClr val="2E3768"/>
                      </a:solidFill>
                      <a:prstDash val="solid"/>
                      <a:round/>
                      <a:headEnd type="none" w="med" len="med"/>
                      <a:tailEnd type="none" w="med" len="med"/>
                    </a:lnT>
                    <a:lnB w="9525" cap="flat" cmpd="sng" algn="ctr">
                      <a:solidFill>
                        <a:srgbClr val="2E3768"/>
                      </a:solidFill>
                      <a:prstDash val="solid"/>
                      <a:round/>
                      <a:headEnd type="none" w="med" len="med"/>
                      <a:tailEnd type="none" w="med" len="med"/>
                    </a:lnB>
                    <a:solidFill>
                      <a:srgbClr val="1A2044"/>
                    </a:solidFill>
                  </a:tcPr>
                </a:tc>
                <a:tc>
                  <a:txBody>
                    <a:bodyPr/>
                    <a:lstStyle/>
                    <a:p>
                      <a:pPr marL="0" indent="0">
                        <a:buNone/>
                      </a:pPr>
                      <a:r>
                        <a:rPr lang="en-US" sz="950" dirty="0">
                          <a:solidFill>
                            <a:srgbClr val="EEF0F8"/>
                          </a:solidFill>
                          <a:latin typeface="Arial" pitchFamily="34" charset="0"/>
                          <a:ea typeface="Arial" pitchFamily="34" charset="-122"/>
                          <a:cs typeface="Arial" pitchFamily="34" charset="-120"/>
                        </a:rPr>
                        <a:t>harf ve kelime arası</a:t>
                      </a:r>
                      <a:endParaRPr lang="en-US" sz="950" dirty="0">
                        <a:latin typeface="Arial" charset="0"/>
                        <a:ea typeface="Arial" charset="0"/>
                        <a:cs typeface="Arial" charset="0"/>
                      </a:endParaRPr>
                    </a:p>
                  </a:txBody>
                  <a:tcPr marL="64008" marR="64008" marT="0" marB="0" anchor="ctr">
                    <a:lnL w="9525" cap="flat" cmpd="sng" algn="ctr">
                      <a:solidFill>
                        <a:srgbClr val="2E3768"/>
                      </a:solidFill>
                      <a:prstDash val="solid"/>
                      <a:round/>
                      <a:headEnd type="none" w="med" len="med"/>
                      <a:tailEnd type="none" w="med" len="med"/>
                    </a:lnL>
                    <a:lnR w="9525" cap="flat" cmpd="sng" algn="ctr">
                      <a:solidFill>
                        <a:srgbClr val="2E3768"/>
                      </a:solidFill>
                      <a:prstDash val="solid"/>
                      <a:round/>
                      <a:headEnd type="none" w="med" len="med"/>
                      <a:tailEnd type="none" w="med" len="med"/>
                    </a:lnR>
                    <a:lnT w="9525" cap="flat" cmpd="sng" algn="ctr">
                      <a:solidFill>
                        <a:srgbClr val="2E3768"/>
                      </a:solidFill>
                      <a:prstDash val="solid"/>
                      <a:round/>
                      <a:headEnd type="none" w="med" len="med"/>
                      <a:tailEnd type="none" w="med" len="med"/>
                    </a:lnT>
                    <a:lnB w="9525" cap="flat" cmpd="sng" algn="ctr">
                      <a:solidFill>
                        <a:srgbClr val="2E3768"/>
                      </a:solidFill>
                      <a:prstDash val="solid"/>
                      <a:round/>
                      <a:headEnd type="none" w="med" len="med"/>
                      <a:tailEnd type="none" w="med" len="med"/>
                    </a:lnB>
                    <a:solidFill>
                      <a:srgbClr val="1A2044"/>
                    </a:solidFill>
                  </a:tcPr>
                </a:tc>
                <a:tc>
                  <a:txBody>
                    <a:bodyPr/>
                    <a:lstStyle/>
                    <a:p>
                      <a:pPr marL="0" indent="0">
                        <a:buNone/>
                      </a:pPr>
                      <a:r>
                        <a:rPr lang="en-US" sz="950" dirty="0">
                          <a:solidFill>
                            <a:srgbClr val="EEF0F8"/>
                          </a:solidFill>
                          <a:latin typeface="Courier New" pitchFamily="34" charset="0"/>
                          <a:ea typeface="Courier New" pitchFamily="34" charset="-122"/>
                          <a:cs typeface="Courier New" pitchFamily="34" charset="-120"/>
                        </a:rPr>
                        <a:t>4px</a:t>
                      </a:r>
                      <a:endParaRPr lang="en-US" sz="950" dirty="0">
                        <a:latin typeface="Courier New" charset="0"/>
                        <a:ea typeface="Courier New" charset="0"/>
                        <a:cs typeface="Courier New" charset="0"/>
                      </a:endParaRPr>
                    </a:p>
                  </a:txBody>
                  <a:tcPr marL="64008" marR="64008" marT="0" marB="0" anchor="ctr">
                    <a:lnL w="9525" cap="flat" cmpd="sng" algn="ctr">
                      <a:solidFill>
                        <a:srgbClr val="2E3768"/>
                      </a:solidFill>
                      <a:prstDash val="solid"/>
                      <a:round/>
                      <a:headEnd type="none" w="med" len="med"/>
                      <a:tailEnd type="none" w="med" len="med"/>
                    </a:lnL>
                    <a:lnR w="9525" cap="flat" cmpd="sng" algn="ctr">
                      <a:solidFill>
                        <a:srgbClr val="2E3768"/>
                      </a:solidFill>
                      <a:prstDash val="solid"/>
                      <a:round/>
                      <a:headEnd type="none" w="med" len="med"/>
                      <a:tailEnd type="none" w="med" len="med"/>
                    </a:lnR>
                    <a:lnT w="9525" cap="flat" cmpd="sng" algn="ctr">
                      <a:solidFill>
                        <a:srgbClr val="2E3768"/>
                      </a:solidFill>
                      <a:prstDash val="solid"/>
                      <a:round/>
                      <a:headEnd type="none" w="med" len="med"/>
                      <a:tailEnd type="none" w="med" len="med"/>
                    </a:lnT>
                    <a:lnB w="9525" cap="flat" cmpd="sng" algn="ctr">
                      <a:solidFill>
                        <a:srgbClr val="2E3768"/>
                      </a:solidFill>
                      <a:prstDash val="solid"/>
                      <a:round/>
                      <a:headEnd type="none" w="med" len="med"/>
                      <a:tailEnd type="none" w="med" len="med"/>
                    </a:lnB>
                    <a:solidFill>
                      <a:srgbClr val="1A2044"/>
                    </a:solidFill>
                  </a:tcPr>
                </a:tc>
                <a:extLst>
                  <a:ext uri="{0D108BD9-81ED-4DB2-BD59-A6C34878D82A}">
                    <a16:rowId xmlns:a16="http://schemas.microsoft.com/office/drawing/2014/main" val="10008"/>
                  </a:ext>
                </a:extLst>
              </a:tr>
            </a:tbl>
          </a:graphicData>
        </a:graphic>
      </p:graphicFrame>
      <p:sp>
        <p:nvSpPr>
          <p:cNvPr id="14" name="kart"/>
          <p:cNvSpPr/>
          <p:nvPr/>
        </p:nvSpPr>
        <p:spPr>
          <a:xfrm>
            <a:off x="5806440" y="1371600"/>
            <a:ext cx="2788920" cy="1417320"/>
          </a:xfrm>
          <a:prstGeom prst="roundRect">
            <a:avLst>
              <a:gd name="adj" fmla="val 5161"/>
            </a:avLst>
          </a:prstGeom>
          <a:solidFill>
            <a:srgbClr val="1A2044"/>
          </a:solidFill>
          <a:ln w="9525">
            <a:solidFill>
              <a:srgbClr val="2E3768"/>
            </a:solidFill>
            <a:prstDash val="solid"/>
          </a:ln>
        </p:spPr>
      </p:sp>
      <p:sp>
        <p:nvSpPr>
          <p:cNvPr id="15" name="kart-nokta"/>
          <p:cNvSpPr/>
          <p:nvPr/>
        </p:nvSpPr>
        <p:spPr>
          <a:xfrm>
            <a:off x="5952744" y="1527048"/>
            <a:ext cx="91440" cy="91440"/>
          </a:xfrm>
          <a:prstGeom prst="ellipse">
            <a:avLst/>
          </a:prstGeom>
          <a:solidFill>
            <a:srgbClr val="F472B6"/>
          </a:solidFill>
          <a:ln/>
        </p:spPr>
      </p:sp>
      <p:sp>
        <p:nvSpPr>
          <p:cNvPr id="16" name="Text 13"/>
          <p:cNvSpPr txBox="1"/>
          <p:nvPr/>
        </p:nvSpPr>
        <p:spPr>
          <a:xfrm>
            <a:off x="6117336" y="1444752"/>
            <a:ext cx="2377440" cy="274320"/>
          </a:xfrm>
          <a:prstGeom prst="rect">
            <a:avLst/>
          </a:prstGeom>
          <a:noFill/>
          <a:ln/>
        </p:spPr>
        <p:txBody>
          <a:bodyPr wrap="square" lIns="0" tIns="0" rIns="0" bIns="0" rtlCol="0" anchor="ctr"/>
          <a:lstStyle/>
          <a:p>
            <a:pPr marL="0" indent="0">
              <a:buNone/>
            </a:pPr>
            <a:r>
              <a:rPr lang="en-US" sz="1100" b="1" dirty="0">
                <a:solidFill>
                  <a:srgbClr val="EEF0F8"/>
                </a:solidFill>
                <a:latin typeface="Courier New" pitchFamily="34" charset="0"/>
                <a:ea typeface="Courier New" pitchFamily="34" charset="-122"/>
                <a:cs typeface="Courier New" pitchFamily="34" charset="-120"/>
              </a:rPr>
              <a:t>font kısayolu</a:t>
            </a:r>
            <a:endParaRPr lang="en-US" sz="1100" dirty="0"/>
          </a:p>
        </p:txBody>
      </p:sp>
      <p:sp>
        <p:nvSpPr>
          <p:cNvPr id="17" name="kod-paneli"/>
          <p:cNvSpPr/>
          <p:nvPr/>
        </p:nvSpPr>
        <p:spPr>
          <a:xfrm>
            <a:off x="5925312" y="1700784"/>
            <a:ext cx="2560320" cy="987552"/>
          </a:xfrm>
          <a:prstGeom prst="roundRect">
            <a:avLst>
              <a:gd name="adj" fmla="val 7407"/>
            </a:avLst>
          </a:prstGeom>
          <a:solidFill>
            <a:srgbClr val="0A0D1F"/>
          </a:solidFill>
          <a:ln w="9525">
            <a:solidFill>
              <a:srgbClr val="2E3768"/>
            </a:solidFill>
            <a:prstDash val="solid"/>
          </a:ln>
        </p:spPr>
      </p:sp>
      <p:sp>
        <p:nvSpPr>
          <p:cNvPr id="18" name="Text 15"/>
          <p:cNvSpPr txBox="1"/>
          <p:nvPr/>
        </p:nvSpPr>
        <p:spPr>
          <a:xfrm>
            <a:off x="6071616" y="1810512"/>
            <a:ext cx="2286000" cy="786384"/>
          </a:xfrm>
          <a:prstGeom prst="rect">
            <a:avLst/>
          </a:prstGeom>
          <a:noFill/>
          <a:ln/>
        </p:spPr>
        <p:txBody>
          <a:bodyPr wrap="square" lIns="0" tIns="0" rIns="0" bIns="0" rtlCol="0" anchor="ctr"/>
          <a:lstStyle/>
          <a:p>
            <a:pPr marL="0" indent="0">
              <a:buNone/>
            </a:pPr>
            <a:r>
              <a:rPr lang="en-US" sz="850" dirty="0">
                <a:solidFill>
                  <a:srgbClr val="22D3EE"/>
                </a:solidFill>
                <a:latin typeface="Courier New" pitchFamily="34" charset="0"/>
                <a:ea typeface="Courier New" pitchFamily="34" charset="-122"/>
                <a:cs typeface="Courier New" pitchFamily="34" charset="-120"/>
              </a:rPr>
              <a:t>font</a:t>
            </a:r>
            <a:r>
              <a:rPr lang="en-US" sz="850" dirty="0">
                <a:solidFill>
                  <a:srgbClr val="6C759E"/>
                </a:solidFill>
                <a:latin typeface="Courier New" pitchFamily="34" charset="0"/>
                <a:ea typeface="Courier New" pitchFamily="34" charset="-122"/>
                <a:cs typeface="Courier New" pitchFamily="34" charset="-120"/>
              </a:rPr>
              <a:t>: </a:t>
            </a:r>
            <a:r>
              <a:rPr lang="en-US" sz="850" dirty="0">
                <a:solidFill>
                  <a:srgbClr val="FBBF24"/>
                </a:solidFill>
                <a:latin typeface="Courier New" pitchFamily="34" charset="0"/>
                <a:ea typeface="Courier New" pitchFamily="34" charset="-122"/>
                <a:cs typeface="Courier New" pitchFamily="34" charset="-120"/>
              </a:rPr>
              <a:t>italic bold</a:t>
            </a:r>
            <a:endParaRPr lang="en-US" sz="850" dirty="0"/>
          </a:p>
          <a:p>
            <a:pPr marL="0" indent="0">
              <a:buNone/>
            </a:pPr>
            <a:r>
              <a:rPr lang="en-US" sz="850" dirty="0">
                <a:solidFill>
                  <a:srgbClr val="F472B6"/>
                </a:solidFill>
                <a:latin typeface="Courier New" pitchFamily="34" charset="0"/>
                <a:ea typeface="Courier New" pitchFamily="34" charset="-122"/>
                <a:cs typeface="Courier New" pitchFamily="34" charset="-120"/>
              </a:rPr>
              <a:t>  3em/1.5 "Helvetica",</a:t>
            </a:r>
            <a:endParaRPr lang="en-US" sz="850" dirty="0"/>
          </a:p>
          <a:p>
            <a:pPr marL="0" indent="0">
              <a:buNone/>
            </a:pPr>
            <a:r>
              <a:rPr lang="en-US" sz="850" dirty="0">
                <a:solidFill>
                  <a:srgbClr val="EEF0F8"/>
                </a:solidFill>
                <a:latin typeface="Courier New" pitchFamily="34" charset="0"/>
                <a:ea typeface="Courier New" pitchFamily="34" charset="-122"/>
                <a:cs typeface="Courier New" pitchFamily="34" charset="-120"/>
              </a:rPr>
              <a:t>  sans-serif;</a:t>
            </a:r>
            <a:endParaRPr lang="en-US" sz="850" dirty="0"/>
          </a:p>
        </p:txBody>
      </p:sp>
      <p:sp>
        <p:nvSpPr>
          <p:cNvPr id="19" name="kart"/>
          <p:cNvSpPr/>
          <p:nvPr/>
        </p:nvSpPr>
        <p:spPr>
          <a:xfrm>
            <a:off x="5806440" y="2880360"/>
            <a:ext cx="2788920" cy="1216152"/>
          </a:xfrm>
          <a:prstGeom prst="roundRect">
            <a:avLst>
              <a:gd name="adj" fmla="val 6015"/>
            </a:avLst>
          </a:prstGeom>
          <a:solidFill>
            <a:srgbClr val="1A2044"/>
          </a:solidFill>
          <a:ln w="9525">
            <a:solidFill>
              <a:srgbClr val="2E3768"/>
            </a:solidFill>
            <a:prstDash val="solid"/>
          </a:ln>
        </p:spPr>
      </p:sp>
      <p:sp>
        <p:nvSpPr>
          <p:cNvPr id="20" name="kart-nokta"/>
          <p:cNvSpPr/>
          <p:nvPr/>
        </p:nvSpPr>
        <p:spPr>
          <a:xfrm>
            <a:off x="5952744" y="3035808"/>
            <a:ext cx="91440" cy="91440"/>
          </a:xfrm>
          <a:prstGeom prst="ellipse">
            <a:avLst/>
          </a:prstGeom>
          <a:solidFill>
            <a:srgbClr val="FBBF24"/>
          </a:solidFill>
          <a:ln/>
        </p:spPr>
      </p:sp>
      <p:sp>
        <p:nvSpPr>
          <p:cNvPr id="21" name="Text 18"/>
          <p:cNvSpPr txBox="1"/>
          <p:nvPr/>
        </p:nvSpPr>
        <p:spPr>
          <a:xfrm>
            <a:off x="6117336" y="2953512"/>
            <a:ext cx="2377440" cy="274320"/>
          </a:xfrm>
          <a:prstGeom prst="rect">
            <a:avLst/>
          </a:prstGeom>
          <a:noFill/>
          <a:ln/>
        </p:spPr>
        <p:txBody>
          <a:bodyPr wrap="square" lIns="0" tIns="0" rIns="0" bIns="0" rtlCol="0" anchor="ctr"/>
          <a:lstStyle/>
          <a:p>
            <a:pPr marL="0" indent="0">
              <a:buNone/>
            </a:pPr>
            <a:r>
              <a:rPr lang="en-US" sz="1150" b="1" dirty="0">
                <a:solidFill>
                  <a:srgbClr val="EEF0F8"/>
                </a:solidFill>
                <a:latin typeface="Arial" pitchFamily="34" charset="0"/>
                <a:ea typeface="Arial" pitchFamily="34" charset="-122"/>
                <a:cs typeface="Arial" pitchFamily="34" charset="-120"/>
              </a:rPr>
              <a:t>İpuçları</a:t>
            </a:r>
            <a:endParaRPr lang="en-US" sz="1150" dirty="0"/>
          </a:p>
        </p:txBody>
      </p:sp>
      <p:sp>
        <p:nvSpPr>
          <p:cNvPr id="22" name="Text 19"/>
          <p:cNvSpPr txBox="1"/>
          <p:nvPr/>
        </p:nvSpPr>
        <p:spPr>
          <a:xfrm>
            <a:off x="5943600" y="3182112"/>
            <a:ext cx="2560320" cy="896112"/>
          </a:xfrm>
          <a:prstGeom prst="rect">
            <a:avLst/>
          </a:prstGeom>
          <a:noFill/>
          <a:ln/>
        </p:spPr>
        <p:txBody>
          <a:bodyPr wrap="square" lIns="0" tIns="0" rIns="0" bIns="0" rtlCol="0" anchor="t"/>
          <a:lstStyle/>
          <a:p>
            <a:pPr marL="0" indent="0">
              <a:buNone/>
            </a:pPr>
            <a:r>
              <a:rPr lang="en-US" sz="900" dirty="0">
                <a:solidFill>
                  <a:srgbClr val="9AA3C7"/>
                </a:solidFill>
                <a:latin typeface="Arial" pitchFamily="34" charset="0"/>
                <a:ea typeface="Arial" pitchFamily="34" charset="-122"/>
                <a:cs typeface="Arial" pitchFamily="34" charset="-120"/>
              </a:rPr>
              <a:t>line-height'ı birimsiz ver (gövde metninde 1.5–2). justify uzun kelimelerde kötü durur, hyphens ile kullan. Sadece size ve family zorunlu; size/line-height arasında /.</a:t>
            </a:r>
            <a:endParaRPr lang="en-US" sz="900" dirty="0"/>
          </a:p>
        </p:txBody>
      </p:sp>
      <p:sp>
        <p:nvSpPr>
          <p:cNvPr id="23" name="benzetme"/>
          <p:cNvSpPr/>
          <p:nvPr/>
        </p:nvSpPr>
        <p:spPr>
          <a:xfrm>
            <a:off x="548640" y="4224528"/>
            <a:ext cx="8046720" cy="402336"/>
          </a:xfrm>
          <a:prstGeom prst="roundRect">
            <a:avLst>
              <a:gd name="adj" fmla="val 50000"/>
            </a:avLst>
          </a:prstGeom>
          <a:solidFill>
            <a:srgbClr val="232A55"/>
          </a:solidFill>
          <a:ln/>
        </p:spPr>
      </p:sp>
      <p:sp>
        <p:nvSpPr>
          <p:cNvPr id="24" name="benzetme-ikon"/>
          <p:cNvSpPr/>
          <p:nvPr/>
        </p:nvSpPr>
        <p:spPr>
          <a:xfrm>
            <a:off x="621792" y="4261104"/>
            <a:ext cx="329184" cy="329184"/>
          </a:xfrm>
          <a:prstGeom prst="ellipse">
            <a:avLst/>
          </a:prstGeom>
          <a:solidFill>
            <a:srgbClr val="FBBF24"/>
          </a:solidFill>
          <a:ln/>
        </p:spPr>
      </p:sp>
      <p:sp>
        <p:nvSpPr>
          <p:cNvPr id="25" name="Text 22"/>
          <p:cNvSpPr txBox="1"/>
          <p:nvPr/>
        </p:nvSpPr>
        <p:spPr>
          <a:xfrm>
            <a:off x="621792" y="4261104"/>
            <a:ext cx="329184" cy="329184"/>
          </a:xfrm>
          <a:prstGeom prst="rect">
            <a:avLst/>
          </a:prstGeom>
          <a:noFill/>
          <a:ln/>
        </p:spPr>
        <p:txBody>
          <a:bodyPr wrap="square" lIns="0" tIns="0" rIns="0" bIns="0" rtlCol="0" anchor="ctr"/>
          <a:lstStyle/>
          <a:p>
            <a:pPr marL="0" indent="0" algn="ctr">
              <a:buNone/>
            </a:pPr>
            <a:r>
              <a:rPr lang="en-US" sz="1600" b="1" dirty="0">
                <a:solidFill>
                  <a:srgbClr val="10142B"/>
                </a:solidFill>
                <a:latin typeface="Arial" pitchFamily="34" charset="0"/>
                <a:ea typeface="Arial" pitchFamily="34" charset="-122"/>
                <a:cs typeface="Arial" pitchFamily="34" charset="-120"/>
              </a:rPr>
              <a:t>≈</a:t>
            </a:r>
            <a:endParaRPr lang="en-US" sz="1600" dirty="0"/>
          </a:p>
        </p:txBody>
      </p:sp>
      <p:sp>
        <p:nvSpPr>
          <p:cNvPr id="26" name="Text 23"/>
          <p:cNvSpPr txBox="1"/>
          <p:nvPr/>
        </p:nvSpPr>
        <p:spPr>
          <a:xfrm>
            <a:off x="1042416" y="4224528"/>
            <a:ext cx="7452360" cy="402336"/>
          </a:xfrm>
          <a:prstGeom prst="rect">
            <a:avLst/>
          </a:prstGeom>
          <a:noFill/>
          <a:ln/>
        </p:spPr>
        <p:txBody>
          <a:bodyPr wrap="square" lIns="0" tIns="0" rIns="0" bIns="0" rtlCol="0" anchor="ctr"/>
          <a:lstStyle/>
          <a:p>
            <a:pPr marL="0" indent="0">
              <a:buNone/>
            </a:pPr>
            <a:r>
              <a:rPr lang="en-US" sz="1100" b="1" dirty="0">
                <a:solidFill>
                  <a:srgbClr val="FBBF24"/>
                </a:solidFill>
                <a:latin typeface="Arial" pitchFamily="34" charset="0"/>
                <a:ea typeface="Arial" pitchFamily="34" charset="-122"/>
                <a:cs typeface="Arial" pitchFamily="34" charset="-120"/>
              </a:rPr>
              <a:t>Gündelik hayatta: </a:t>
            </a:r>
            <a:r>
              <a:rPr lang="en-US" sz="1100" dirty="0">
                <a:solidFill>
                  <a:srgbClr val="EEF0F8"/>
                </a:solidFill>
                <a:latin typeface="Arial" pitchFamily="34" charset="0"/>
                <a:ea typeface="Arial" pitchFamily="34" charset="-122"/>
                <a:cs typeface="Arial" pitchFamily="34" charset="-120"/>
              </a:rPr>
              <a:t>line-height, defterdeki satır aralığı gibidir: çok sıkışık okunmaz, çok açık kopuk durur.</a:t>
            </a:r>
            <a:endParaRPr lang="en-US" sz="1100" dirty="0"/>
          </a:p>
        </p:txBody>
      </p:sp>
    </p:spTree>
  </p:cSld>
  <p:clrMapOvr>
    <a:masterClrMapping/>
  </p:clrMapOvr>
  <p:transition spd="med">
    <p:pull/>
  </p:transition>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48640" y="256032"/>
            <a:ext cx="4572000" cy="201168"/>
          </a:xfrm>
          <a:prstGeom prst="rect">
            <a:avLst/>
          </a:prstGeom>
          <a:noFill/>
          <a:ln/>
        </p:spPr>
        <p:txBody>
          <a:bodyPr wrap="square" lIns="0" tIns="0" rIns="0" bIns="0" rtlCol="0" anchor="t"/>
          <a:lstStyle/>
          <a:p>
            <a:pPr marL="0" indent="0">
              <a:buNone/>
            </a:pPr>
            <a:r>
              <a:rPr lang="en-US" sz="900" b="1" kern="0" spc="200" dirty="0">
                <a:solidFill>
                  <a:srgbClr val="F472B6"/>
                </a:solidFill>
                <a:latin typeface="Arial" pitchFamily="34" charset="0"/>
                <a:ea typeface="Arial" pitchFamily="34" charset="-122"/>
                <a:cs typeface="Arial" pitchFamily="34" charset="-120"/>
              </a:rPr>
              <a:t>MODÜL 2 · METİN STİLİ</a:t>
            </a:r>
            <a:endParaRPr lang="en-US" sz="900" dirty="0"/>
          </a:p>
        </p:txBody>
      </p:sp>
      <p:sp>
        <p:nvSpPr>
          <p:cNvPr id="3" name="mini-box-0"/>
          <p:cNvSpPr/>
          <p:nvPr/>
        </p:nvSpPr>
        <p:spPr>
          <a:xfrm>
            <a:off x="8229600" y="201168"/>
            <a:ext cx="384048" cy="384048"/>
          </a:xfrm>
          <a:prstGeom prst="rect">
            <a:avLst/>
          </a:prstGeom>
          <a:ln w="9525">
            <a:solidFill>
              <a:srgbClr val="F472B6"/>
            </a:solidFill>
            <a:prstDash val="solid"/>
          </a:ln>
        </p:spPr>
      </p:sp>
      <p:sp>
        <p:nvSpPr>
          <p:cNvPr id="4" name="mini-box-1"/>
          <p:cNvSpPr/>
          <p:nvPr/>
        </p:nvSpPr>
        <p:spPr>
          <a:xfrm>
            <a:off x="8293608" y="265176"/>
            <a:ext cx="256032" cy="256032"/>
          </a:xfrm>
          <a:prstGeom prst="rect">
            <a:avLst/>
          </a:prstGeom>
          <a:ln w="9525">
            <a:solidFill>
              <a:srgbClr val="EEF0F8"/>
            </a:solidFill>
            <a:prstDash val="solid"/>
          </a:ln>
        </p:spPr>
      </p:sp>
      <p:sp>
        <p:nvSpPr>
          <p:cNvPr id="5" name="mini-box-2"/>
          <p:cNvSpPr/>
          <p:nvPr/>
        </p:nvSpPr>
        <p:spPr>
          <a:xfrm>
            <a:off x="8348472" y="320040"/>
            <a:ext cx="146304" cy="146304"/>
          </a:xfrm>
          <a:prstGeom prst="rect">
            <a:avLst/>
          </a:prstGeom>
          <a:solidFill>
            <a:srgbClr val="F472B6"/>
          </a:solidFill>
          <a:ln w="9525">
            <a:solidFill>
              <a:srgbClr val="F472B6"/>
            </a:solidFill>
            <a:prstDash val="solid"/>
          </a:ln>
        </p:spPr>
      </p:sp>
      <p:sp>
        <p:nvSpPr>
          <p:cNvPr id="6" name="ilerleme-zemin"/>
          <p:cNvSpPr/>
          <p:nvPr/>
        </p:nvSpPr>
        <p:spPr>
          <a:xfrm>
            <a:off x="0" y="5070348"/>
            <a:ext cx="9144000" cy="73152"/>
          </a:xfrm>
          <a:prstGeom prst="rect">
            <a:avLst/>
          </a:prstGeom>
          <a:solidFill>
            <a:srgbClr val="1A2044"/>
          </a:solidFill>
          <a:ln/>
        </p:spPr>
      </p:sp>
      <p:sp>
        <p:nvSpPr>
          <p:cNvPr id="7" name="ilerleme"/>
          <p:cNvSpPr/>
          <p:nvPr/>
        </p:nvSpPr>
        <p:spPr>
          <a:xfrm>
            <a:off x="0" y="5070348"/>
            <a:ext cx="5741581" cy="73152"/>
          </a:xfrm>
          <a:prstGeom prst="rect">
            <a:avLst/>
          </a:prstGeom>
          <a:solidFill>
            <a:srgbClr val="F472B6"/>
          </a:solidFill>
          <a:ln/>
        </p:spPr>
      </p:sp>
      <p:sp>
        <p:nvSpPr>
          <p:cNvPr id="8" name="Text 6"/>
          <p:cNvSpPr txBox="1"/>
          <p:nvPr/>
        </p:nvSpPr>
        <p:spPr>
          <a:xfrm>
            <a:off x="548640" y="4791456"/>
            <a:ext cx="3657600" cy="201168"/>
          </a:xfrm>
          <a:prstGeom prst="rect">
            <a:avLst/>
          </a:prstGeom>
          <a:noFill/>
          <a:ln/>
        </p:spPr>
        <p:txBody>
          <a:bodyPr wrap="square" lIns="0" tIns="0" rIns="0" bIns="0" rtlCol="0" anchor="t"/>
          <a:lstStyle/>
          <a:p>
            <a:pPr marL="0" indent="0">
              <a:buNone/>
            </a:pPr>
            <a:r>
              <a:rPr lang="en-US" sz="850" dirty="0">
                <a:solidFill>
                  <a:srgbClr val="6C759E"/>
                </a:solidFill>
                <a:latin typeface="Arial" pitchFamily="34" charset="0"/>
                <a:ea typeface="Arial" pitchFamily="34" charset="-122"/>
                <a:cs typeface="Arial" pitchFamily="34" charset="-120"/>
              </a:rPr>
              <a:t>KCŞ A.Ş.  ·  CSS ile stil ve düzen</a:t>
            </a:r>
            <a:endParaRPr lang="en-US" sz="850" dirty="0"/>
          </a:p>
        </p:txBody>
      </p:sp>
      <p:sp>
        <p:nvSpPr>
          <p:cNvPr id="9" name="Text 7"/>
          <p:cNvSpPr txBox="1"/>
          <p:nvPr/>
        </p:nvSpPr>
        <p:spPr>
          <a:xfrm>
            <a:off x="4206240" y="4791456"/>
            <a:ext cx="3840480" cy="201168"/>
          </a:xfrm>
          <a:prstGeom prst="rect">
            <a:avLst/>
          </a:prstGeom>
          <a:noFill/>
          <a:ln/>
        </p:spPr>
        <p:txBody>
          <a:bodyPr wrap="square" lIns="0" tIns="0" rIns="0" bIns="0" rtlCol="0" anchor="t"/>
          <a:lstStyle/>
          <a:p>
            <a:pPr marL="0" indent="0" algn="r">
              <a:buNone/>
            </a:pPr>
            <a:r>
              <a:rPr lang="en-US" sz="850" dirty="0">
                <a:solidFill>
                  <a:srgbClr val="6C759E"/>
                </a:solidFill>
                <a:latin typeface="Arial" pitchFamily="34" charset="0"/>
                <a:ea typeface="Arial" pitchFamily="34" charset="-122"/>
                <a:cs typeface="Arial" pitchFamily="34" charset="-120"/>
              </a:rPr>
              <a:t>MDN · Styling lists</a:t>
            </a:r>
            <a:endParaRPr lang="en-US" sz="850" dirty="0"/>
          </a:p>
        </p:txBody>
      </p:sp>
      <p:sp>
        <p:nvSpPr>
          <p:cNvPr id="10" name="Text 8"/>
          <p:cNvSpPr txBox="1"/>
          <p:nvPr/>
        </p:nvSpPr>
        <p:spPr>
          <a:xfrm>
            <a:off x="8092440" y="4791456"/>
            <a:ext cx="685800" cy="201168"/>
          </a:xfrm>
          <a:prstGeom prst="rect">
            <a:avLst/>
          </a:prstGeom>
          <a:noFill/>
          <a:ln/>
        </p:spPr>
        <p:txBody>
          <a:bodyPr wrap="square" lIns="0" tIns="0" rIns="0" bIns="0" rtlCol="0" anchor="t"/>
          <a:lstStyle/>
          <a:p>
            <a:pPr marL="0" indent="0" algn="r">
              <a:buNone/>
            </a:pPr>
            <a:r>
              <a:rPr lang="en-US" sz="850" dirty="0">
                <a:solidFill>
                  <a:srgbClr val="9AA3C7"/>
                </a:solidFill>
                <a:latin typeface="Courier New" pitchFamily="34" charset="0"/>
                <a:ea typeface="Courier New" pitchFamily="34" charset="-122"/>
                <a:cs typeface="Courier New" pitchFamily="34" charset="-120"/>
              </a:rPr>
              <a:t>27 / 43</a:t>
            </a:r>
            <a:endParaRPr lang="en-US" sz="850" dirty="0"/>
          </a:p>
        </p:txBody>
      </p:sp>
      <p:sp>
        <p:nvSpPr>
          <p:cNvPr id="11" name="Text 9"/>
          <p:cNvSpPr txBox="1"/>
          <p:nvPr/>
        </p:nvSpPr>
        <p:spPr>
          <a:xfrm>
            <a:off x="548640" y="502920"/>
            <a:ext cx="5943600" cy="237744"/>
          </a:xfrm>
          <a:prstGeom prst="rect">
            <a:avLst/>
          </a:prstGeom>
          <a:noFill/>
          <a:ln/>
        </p:spPr>
        <p:txBody>
          <a:bodyPr wrap="square" lIns="0" tIns="0" rIns="0" bIns="0" rtlCol="0" anchor="t"/>
          <a:lstStyle/>
          <a:p>
            <a:pPr marL="0" indent="0">
              <a:buNone/>
            </a:pPr>
            <a:r>
              <a:rPr lang="en-US" sz="1100" b="1" dirty="0">
                <a:solidFill>
                  <a:srgbClr val="F472B6"/>
                </a:solidFill>
                <a:latin typeface="Courier New" pitchFamily="34" charset="0"/>
                <a:ea typeface="Courier New" pitchFamily="34" charset="-122"/>
                <a:cs typeface="Courier New" pitchFamily="34" charset="-120"/>
              </a:rPr>
              <a:t>list-style: square url(…) inside;</a:t>
            </a:r>
            <a:endParaRPr lang="en-US" sz="1100" dirty="0"/>
          </a:p>
        </p:txBody>
      </p:sp>
      <p:sp>
        <p:nvSpPr>
          <p:cNvPr id="12" name="Text 10"/>
          <p:cNvSpPr txBox="1"/>
          <p:nvPr/>
        </p:nvSpPr>
        <p:spPr>
          <a:xfrm>
            <a:off x="548640" y="749808"/>
            <a:ext cx="7589520" cy="502920"/>
          </a:xfrm>
          <a:prstGeom prst="rect">
            <a:avLst/>
          </a:prstGeom>
          <a:noFill/>
          <a:ln/>
        </p:spPr>
        <p:txBody>
          <a:bodyPr wrap="square" lIns="0" tIns="0" rIns="0" bIns="0" rtlCol="0" anchor="ctr"/>
          <a:lstStyle/>
          <a:p>
            <a:pPr marL="0" indent="0">
              <a:buNone/>
            </a:pPr>
            <a:r>
              <a:rPr lang="en-US" sz="2400" b="1" dirty="0">
                <a:solidFill>
                  <a:srgbClr val="EEF0F8"/>
                </a:solidFill>
                <a:latin typeface="Arial" pitchFamily="34" charset="0"/>
                <a:ea typeface="Arial" pitchFamily="34" charset="-122"/>
                <a:cs typeface="Arial" pitchFamily="34" charset="-120"/>
              </a:rPr>
              <a:t>Listeleri stillemek</a:t>
            </a:r>
            <a:endParaRPr lang="en-US" sz="2400" dirty="0"/>
          </a:p>
        </p:txBody>
      </p:sp>
      <p:sp>
        <p:nvSpPr>
          <p:cNvPr id="13" name="kart"/>
          <p:cNvSpPr/>
          <p:nvPr/>
        </p:nvSpPr>
        <p:spPr>
          <a:xfrm>
            <a:off x="548640" y="1371600"/>
            <a:ext cx="2606040" cy="2724912"/>
          </a:xfrm>
          <a:prstGeom prst="roundRect">
            <a:avLst>
              <a:gd name="adj" fmla="val 2807"/>
            </a:avLst>
          </a:prstGeom>
          <a:solidFill>
            <a:srgbClr val="1A2044"/>
          </a:solidFill>
          <a:ln w="9525">
            <a:solidFill>
              <a:srgbClr val="2E3768"/>
            </a:solidFill>
            <a:prstDash val="solid"/>
          </a:ln>
        </p:spPr>
      </p:sp>
      <p:sp>
        <p:nvSpPr>
          <p:cNvPr id="14" name="kart-nokta"/>
          <p:cNvSpPr/>
          <p:nvPr/>
        </p:nvSpPr>
        <p:spPr>
          <a:xfrm>
            <a:off x="694944" y="1527048"/>
            <a:ext cx="91440" cy="91440"/>
          </a:xfrm>
          <a:prstGeom prst="ellipse">
            <a:avLst/>
          </a:prstGeom>
          <a:solidFill>
            <a:srgbClr val="F472B6"/>
          </a:solidFill>
          <a:ln/>
        </p:spPr>
      </p:sp>
      <p:sp>
        <p:nvSpPr>
          <p:cNvPr id="15" name="Text 13"/>
          <p:cNvSpPr txBox="1"/>
          <p:nvPr/>
        </p:nvSpPr>
        <p:spPr>
          <a:xfrm>
            <a:off x="859536" y="1444752"/>
            <a:ext cx="2194560" cy="274320"/>
          </a:xfrm>
          <a:prstGeom prst="rect">
            <a:avLst/>
          </a:prstGeom>
          <a:noFill/>
          <a:ln/>
        </p:spPr>
        <p:txBody>
          <a:bodyPr wrap="square" lIns="0" tIns="0" rIns="0" bIns="0" rtlCol="0" anchor="ctr"/>
          <a:lstStyle/>
          <a:p>
            <a:pPr marL="0" indent="0">
              <a:buNone/>
            </a:pPr>
            <a:r>
              <a:rPr lang="en-US" sz="1300" b="1" dirty="0">
                <a:solidFill>
                  <a:srgbClr val="EEF0F8"/>
                </a:solidFill>
                <a:latin typeface="Arial" pitchFamily="34" charset="0"/>
                <a:ea typeface="Arial" pitchFamily="34" charset="-122"/>
                <a:cs typeface="Arial" pitchFamily="34" charset="-120"/>
              </a:rPr>
              <a:t>Aralık ve ritim</a:t>
            </a:r>
            <a:endParaRPr lang="en-US" sz="1300" dirty="0"/>
          </a:p>
        </p:txBody>
      </p:sp>
      <p:sp>
        <p:nvSpPr>
          <p:cNvPr id="16" name="Text 14"/>
          <p:cNvSpPr txBox="1"/>
          <p:nvPr/>
        </p:nvSpPr>
        <p:spPr>
          <a:xfrm>
            <a:off x="694944" y="1737360"/>
            <a:ext cx="2359152" cy="2286000"/>
          </a:xfrm>
          <a:prstGeom prst="rect">
            <a:avLst/>
          </a:prstGeom>
          <a:noFill/>
          <a:ln/>
        </p:spPr>
        <p:txBody>
          <a:bodyPr wrap="square" lIns="0" tIns="0" rIns="0" bIns="0" rtlCol="0" anchor="t"/>
          <a:lstStyle/>
          <a:p>
            <a:pPr marL="0" indent="0">
              <a:buNone/>
            </a:pPr>
            <a:r>
              <a:rPr lang="en-US" sz="1050" dirty="0">
                <a:solidFill>
                  <a:srgbClr val="EEF0F8"/>
                </a:solidFill>
                <a:latin typeface="Arial" pitchFamily="34" charset="0"/>
                <a:ea typeface="Arial" pitchFamily="34" charset="-122"/>
                <a:cs typeface="Arial" pitchFamily="34" charset="-120"/>
              </a:rPr>
              <a:t>ul ve ol'un varsayılanı: üst/alt 1em margin, solda 2.5em (40px) padding. Listeleri paragraflarla aynı font boyutu ve line-height'ta tut; dikey ritim bozulmasın.</a:t>
            </a:r>
            <a:endParaRPr lang="en-US" sz="1050" dirty="0"/>
          </a:p>
        </p:txBody>
      </p:sp>
      <p:sp>
        <p:nvSpPr>
          <p:cNvPr id="17" name="kart"/>
          <p:cNvSpPr/>
          <p:nvPr/>
        </p:nvSpPr>
        <p:spPr>
          <a:xfrm>
            <a:off x="3273552" y="1371600"/>
            <a:ext cx="2606040" cy="2724912"/>
          </a:xfrm>
          <a:prstGeom prst="roundRect">
            <a:avLst>
              <a:gd name="adj" fmla="val 2807"/>
            </a:avLst>
          </a:prstGeom>
          <a:solidFill>
            <a:srgbClr val="1A2044"/>
          </a:solidFill>
          <a:ln w="9525">
            <a:solidFill>
              <a:srgbClr val="2E3768"/>
            </a:solidFill>
            <a:prstDash val="solid"/>
          </a:ln>
        </p:spPr>
      </p:sp>
      <p:sp>
        <p:nvSpPr>
          <p:cNvPr id="18" name="kart-nokta"/>
          <p:cNvSpPr/>
          <p:nvPr/>
        </p:nvSpPr>
        <p:spPr>
          <a:xfrm>
            <a:off x="3419856" y="1527048"/>
            <a:ext cx="91440" cy="91440"/>
          </a:xfrm>
          <a:prstGeom prst="ellipse">
            <a:avLst/>
          </a:prstGeom>
          <a:solidFill>
            <a:srgbClr val="22D3EE"/>
          </a:solidFill>
          <a:ln/>
        </p:spPr>
      </p:sp>
      <p:sp>
        <p:nvSpPr>
          <p:cNvPr id="19" name="Text 17"/>
          <p:cNvSpPr txBox="1"/>
          <p:nvPr/>
        </p:nvSpPr>
        <p:spPr>
          <a:xfrm>
            <a:off x="3584448" y="1444752"/>
            <a:ext cx="2194560" cy="274320"/>
          </a:xfrm>
          <a:prstGeom prst="rect">
            <a:avLst/>
          </a:prstGeom>
          <a:noFill/>
          <a:ln/>
        </p:spPr>
        <p:txBody>
          <a:bodyPr wrap="square" lIns="0" tIns="0" rIns="0" bIns="0" rtlCol="0" anchor="ctr"/>
          <a:lstStyle/>
          <a:p>
            <a:pPr marL="0" indent="0">
              <a:buNone/>
            </a:pPr>
            <a:r>
              <a:rPr lang="en-US" sz="1300" b="1" dirty="0">
                <a:solidFill>
                  <a:srgbClr val="EEF0F8"/>
                </a:solidFill>
                <a:latin typeface="Arial" pitchFamily="34" charset="0"/>
                <a:ea typeface="Arial" pitchFamily="34" charset="-122"/>
                <a:cs typeface="Arial" pitchFamily="34" charset="-120"/>
              </a:rPr>
              <a:t>Listeye özel özellikler</a:t>
            </a:r>
            <a:endParaRPr lang="en-US" sz="1300" dirty="0"/>
          </a:p>
        </p:txBody>
      </p:sp>
      <p:sp>
        <p:nvSpPr>
          <p:cNvPr id="20" name="Text 18"/>
          <p:cNvSpPr txBox="1"/>
          <p:nvPr/>
        </p:nvSpPr>
        <p:spPr>
          <a:xfrm>
            <a:off x="3419856" y="1737360"/>
            <a:ext cx="2377440" cy="2286000"/>
          </a:xfrm>
          <a:prstGeom prst="rect">
            <a:avLst/>
          </a:prstGeom>
          <a:noFill/>
          <a:ln/>
        </p:spPr>
        <p:txBody>
          <a:bodyPr wrap="square" lIns="0" tIns="0" rIns="0" bIns="0" rtlCol="0" anchor="t"/>
          <a:lstStyle/>
          <a:p>
            <a:pPr marL="0" indent="0">
              <a:spcAft>
                <a:spcPts val="600"/>
              </a:spcAft>
              <a:buNone/>
            </a:pPr>
            <a:r>
              <a:rPr lang="en-US" sz="1000" b="1" dirty="0">
                <a:solidFill>
                  <a:srgbClr val="22D3EE"/>
                </a:solidFill>
                <a:latin typeface="Courier New" pitchFamily="34" charset="0"/>
                <a:ea typeface="Courier New" pitchFamily="34" charset="-122"/>
                <a:cs typeface="Courier New" pitchFamily="34" charset="-120"/>
              </a:rPr>
              <a:t>list-style-type: </a:t>
            </a:r>
            <a:r>
              <a:rPr lang="en-US" sz="1000" dirty="0">
                <a:solidFill>
                  <a:srgbClr val="EEF0F8"/>
                </a:solidFill>
                <a:latin typeface="Arial" pitchFamily="34" charset="0"/>
                <a:ea typeface="Arial" pitchFamily="34" charset="-122"/>
                <a:cs typeface="Arial" pitchFamily="34" charset="-120"/>
              </a:rPr>
              <a:t>square, upper-roman, lower-alpha…</a:t>
            </a:r>
            <a:endParaRPr lang="en-US" sz="1000" dirty="0"/>
          </a:p>
          <a:p>
            <a:pPr marL="0" indent="0">
              <a:spcAft>
                <a:spcPts val="600"/>
              </a:spcAft>
              <a:buNone/>
            </a:pPr>
            <a:r>
              <a:rPr lang="en-US" sz="1000" b="1" dirty="0">
                <a:solidFill>
                  <a:srgbClr val="22D3EE"/>
                </a:solidFill>
                <a:latin typeface="Courier New" pitchFamily="34" charset="0"/>
                <a:ea typeface="Courier New" pitchFamily="34" charset="-122"/>
                <a:cs typeface="Courier New" pitchFamily="34" charset="-120"/>
              </a:rPr>
              <a:t>list-style-position: </a:t>
            </a:r>
            <a:r>
              <a:rPr lang="en-US" sz="1000" dirty="0">
                <a:solidFill>
                  <a:srgbClr val="EEF0F8"/>
                </a:solidFill>
                <a:latin typeface="Arial" pitchFamily="34" charset="0"/>
                <a:ea typeface="Arial" pitchFamily="34" charset="-122"/>
                <a:cs typeface="Arial" pitchFamily="34" charset="-120"/>
              </a:rPr>
              <a:t>inside / outside (varsayılan)</a:t>
            </a:r>
            <a:endParaRPr lang="en-US" sz="1000" dirty="0"/>
          </a:p>
          <a:p>
            <a:pPr marL="0" indent="0">
              <a:spcAft>
                <a:spcPts val="600"/>
              </a:spcAft>
              <a:buNone/>
            </a:pPr>
            <a:r>
              <a:rPr lang="en-US" sz="1000" b="1" dirty="0">
                <a:solidFill>
                  <a:srgbClr val="22D3EE"/>
                </a:solidFill>
                <a:latin typeface="Courier New" pitchFamily="34" charset="0"/>
                <a:ea typeface="Courier New" pitchFamily="34" charset="-122"/>
                <a:cs typeface="Courier New" pitchFamily="34" charset="-120"/>
              </a:rPr>
              <a:t>list-style-image: </a:t>
            </a:r>
            <a:r>
              <a:rPr lang="en-US" sz="1000" dirty="0">
                <a:solidFill>
                  <a:srgbClr val="EEF0F8"/>
                </a:solidFill>
                <a:latin typeface="Arial" pitchFamily="34" charset="0"/>
                <a:ea typeface="Arial" pitchFamily="34" charset="-122"/>
                <a:cs typeface="Arial" pitchFamily="34" charset="-120"/>
              </a:rPr>
              <a:t>özel madde imi (kontrolü az)</a:t>
            </a:r>
            <a:endParaRPr lang="en-US" sz="1000" dirty="0"/>
          </a:p>
          <a:p>
            <a:pPr marL="0" indent="0">
              <a:spcAft>
                <a:spcPts val="600"/>
              </a:spcAft>
              <a:buNone/>
            </a:pPr>
            <a:r>
              <a:rPr lang="en-US" sz="1000" b="1" dirty="0">
                <a:solidFill>
                  <a:srgbClr val="22D3EE"/>
                </a:solidFill>
                <a:latin typeface="Courier New" pitchFamily="34" charset="0"/>
                <a:ea typeface="Courier New" pitchFamily="34" charset="-122"/>
                <a:cs typeface="Courier New" pitchFamily="34" charset="-120"/>
              </a:rPr>
              <a:t>list-style: </a:t>
            </a:r>
            <a:r>
              <a:rPr lang="en-US" sz="1000" dirty="0">
                <a:solidFill>
                  <a:srgbClr val="EEF0F8"/>
                </a:solidFill>
                <a:latin typeface="Arial" pitchFamily="34" charset="0"/>
                <a:ea typeface="Arial" pitchFamily="34" charset="-122"/>
                <a:cs typeface="Arial" pitchFamily="34" charset="-120"/>
              </a:rPr>
              <a:t>üçünün kısayolu, sıra serbest</a:t>
            </a:r>
            <a:endParaRPr lang="en-US" sz="1000" dirty="0"/>
          </a:p>
        </p:txBody>
      </p:sp>
      <p:sp>
        <p:nvSpPr>
          <p:cNvPr id="21" name="kart"/>
          <p:cNvSpPr/>
          <p:nvPr/>
        </p:nvSpPr>
        <p:spPr>
          <a:xfrm>
            <a:off x="5998464" y="1371600"/>
            <a:ext cx="2596896" cy="2724912"/>
          </a:xfrm>
          <a:prstGeom prst="roundRect">
            <a:avLst>
              <a:gd name="adj" fmla="val 2817"/>
            </a:avLst>
          </a:prstGeom>
          <a:solidFill>
            <a:srgbClr val="1A2044"/>
          </a:solidFill>
          <a:ln w="9525">
            <a:solidFill>
              <a:srgbClr val="2E3768"/>
            </a:solidFill>
            <a:prstDash val="solid"/>
          </a:ln>
        </p:spPr>
      </p:sp>
      <p:sp>
        <p:nvSpPr>
          <p:cNvPr id="22" name="kart-nokta"/>
          <p:cNvSpPr/>
          <p:nvPr/>
        </p:nvSpPr>
        <p:spPr>
          <a:xfrm>
            <a:off x="6144768" y="1527048"/>
            <a:ext cx="91440" cy="91440"/>
          </a:xfrm>
          <a:prstGeom prst="ellipse">
            <a:avLst/>
          </a:prstGeom>
          <a:solidFill>
            <a:srgbClr val="A3E635"/>
          </a:solidFill>
          <a:ln/>
        </p:spPr>
      </p:sp>
      <p:sp>
        <p:nvSpPr>
          <p:cNvPr id="23" name="Text 21"/>
          <p:cNvSpPr txBox="1"/>
          <p:nvPr/>
        </p:nvSpPr>
        <p:spPr>
          <a:xfrm>
            <a:off x="6309360" y="1444752"/>
            <a:ext cx="2185416" cy="274320"/>
          </a:xfrm>
          <a:prstGeom prst="rect">
            <a:avLst/>
          </a:prstGeom>
          <a:noFill/>
          <a:ln/>
        </p:spPr>
        <p:txBody>
          <a:bodyPr wrap="square" lIns="0" tIns="0" rIns="0" bIns="0" rtlCol="0" anchor="ctr"/>
          <a:lstStyle/>
          <a:p>
            <a:pPr marL="0" indent="0">
              <a:buNone/>
            </a:pPr>
            <a:r>
              <a:rPr lang="en-US" sz="1300" b="1" dirty="0">
                <a:solidFill>
                  <a:srgbClr val="EEF0F8"/>
                </a:solidFill>
                <a:latin typeface="Arial" pitchFamily="34" charset="0"/>
                <a:ea typeface="Arial" pitchFamily="34" charset="-122"/>
                <a:cs typeface="Arial" pitchFamily="34" charset="-120"/>
              </a:rPr>
              <a:t>Saymayı kontrol et</a:t>
            </a:r>
            <a:endParaRPr lang="en-US" sz="1300" dirty="0"/>
          </a:p>
        </p:txBody>
      </p:sp>
      <p:sp>
        <p:nvSpPr>
          <p:cNvPr id="24" name="kod-paneli"/>
          <p:cNvSpPr/>
          <p:nvPr/>
        </p:nvSpPr>
        <p:spPr>
          <a:xfrm>
            <a:off x="6126480" y="1737360"/>
            <a:ext cx="2350008" cy="1005840"/>
          </a:xfrm>
          <a:prstGeom prst="roundRect">
            <a:avLst>
              <a:gd name="adj" fmla="val 7273"/>
            </a:avLst>
          </a:prstGeom>
          <a:solidFill>
            <a:srgbClr val="0A0D1F"/>
          </a:solidFill>
          <a:ln w="9525">
            <a:solidFill>
              <a:srgbClr val="2E3768"/>
            </a:solidFill>
            <a:prstDash val="solid"/>
          </a:ln>
        </p:spPr>
      </p:sp>
      <p:sp>
        <p:nvSpPr>
          <p:cNvPr id="25" name="Text 23"/>
          <p:cNvSpPr txBox="1"/>
          <p:nvPr/>
        </p:nvSpPr>
        <p:spPr>
          <a:xfrm>
            <a:off x="6272784" y="1847088"/>
            <a:ext cx="2075688" cy="804672"/>
          </a:xfrm>
          <a:prstGeom prst="rect">
            <a:avLst/>
          </a:prstGeom>
          <a:noFill/>
          <a:ln/>
        </p:spPr>
        <p:txBody>
          <a:bodyPr wrap="square" lIns="0" tIns="0" rIns="0" bIns="0" rtlCol="0" anchor="ctr"/>
          <a:lstStyle/>
          <a:p>
            <a:pPr marL="0" indent="0">
              <a:buNone/>
            </a:pPr>
            <a:r>
              <a:rPr lang="en-US" sz="850" dirty="0">
                <a:solidFill>
                  <a:srgbClr val="F472B6"/>
                </a:solidFill>
                <a:latin typeface="Courier New" pitchFamily="34" charset="0"/>
                <a:ea typeface="Courier New" pitchFamily="34" charset="-122"/>
                <a:cs typeface="Courier New" pitchFamily="34" charset="-120"/>
              </a:rPr>
              <a:t>&lt;ol start=</a:t>
            </a:r>
            <a:r>
              <a:rPr lang="en-US" sz="850" dirty="0">
                <a:solidFill>
                  <a:srgbClr val="A3E635"/>
                </a:solidFill>
                <a:latin typeface="Courier New" pitchFamily="34" charset="0"/>
                <a:ea typeface="Courier New" pitchFamily="34" charset="-122"/>
                <a:cs typeface="Courier New" pitchFamily="34" charset="-120"/>
              </a:rPr>
              <a:t>"4"</a:t>
            </a:r>
            <a:r>
              <a:rPr lang="en-US" sz="850" dirty="0">
                <a:solidFill>
                  <a:srgbClr val="F472B6"/>
                </a:solidFill>
                <a:latin typeface="Courier New" pitchFamily="34" charset="0"/>
                <a:ea typeface="Courier New" pitchFamily="34" charset="-122"/>
                <a:cs typeface="Courier New" pitchFamily="34" charset="-120"/>
              </a:rPr>
              <a:t> reversed&gt;</a:t>
            </a:r>
            <a:endParaRPr lang="en-US" sz="850" dirty="0"/>
          </a:p>
          <a:p>
            <a:pPr marL="0" indent="0">
              <a:buNone/>
            </a:pPr>
            <a:r>
              <a:rPr lang="en-US" sz="850" dirty="0">
                <a:solidFill>
                  <a:srgbClr val="EEF0F8"/>
                </a:solidFill>
                <a:latin typeface="Courier New" pitchFamily="34" charset="0"/>
                <a:ea typeface="Courier New" pitchFamily="34" charset="-122"/>
                <a:cs typeface="Courier New" pitchFamily="34" charset="-120"/>
              </a:rPr>
              <a:t>  </a:t>
            </a:r>
            <a:r>
              <a:rPr lang="en-US" sz="850" dirty="0">
                <a:solidFill>
                  <a:srgbClr val="F472B6"/>
                </a:solidFill>
                <a:latin typeface="Courier New" pitchFamily="34" charset="0"/>
                <a:ea typeface="Courier New" pitchFamily="34" charset="-122"/>
                <a:cs typeface="Courier New" pitchFamily="34" charset="-120"/>
              </a:rPr>
              <a:t>&lt;li value=</a:t>
            </a:r>
            <a:r>
              <a:rPr lang="en-US" sz="850" dirty="0">
                <a:solidFill>
                  <a:srgbClr val="A3E635"/>
                </a:solidFill>
                <a:latin typeface="Courier New" pitchFamily="34" charset="0"/>
                <a:ea typeface="Courier New" pitchFamily="34" charset="-122"/>
                <a:cs typeface="Courier New" pitchFamily="34" charset="-120"/>
              </a:rPr>
              <a:t>"8"</a:t>
            </a:r>
            <a:r>
              <a:rPr lang="en-US" sz="850" dirty="0">
                <a:solidFill>
                  <a:srgbClr val="F472B6"/>
                </a:solidFill>
                <a:latin typeface="Courier New" pitchFamily="34" charset="0"/>
                <a:ea typeface="Courier New" pitchFamily="34" charset="-122"/>
                <a:cs typeface="Courier New" pitchFamily="34" charset="-120"/>
              </a:rPr>
              <a:t>&gt;</a:t>
            </a:r>
            <a:r>
              <a:rPr lang="en-US" sz="850" dirty="0">
                <a:solidFill>
                  <a:srgbClr val="EEF0F8"/>
                </a:solidFill>
                <a:latin typeface="Courier New" pitchFamily="34" charset="0"/>
                <a:ea typeface="Courier New" pitchFamily="34" charset="-122"/>
                <a:cs typeface="Courier New" pitchFamily="34" charset="-120"/>
              </a:rPr>
              <a:t>…</a:t>
            </a:r>
            <a:r>
              <a:rPr lang="en-US" sz="850" dirty="0">
                <a:solidFill>
                  <a:srgbClr val="F472B6"/>
                </a:solidFill>
                <a:latin typeface="Courier New" pitchFamily="34" charset="0"/>
                <a:ea typeface="Courier New" pitchFamily="34" charset="-122"/>
                <a:cs typeface="Courier New" pitchFamily="34" charset="-120"/>
              </a:rPr>
              <a:t>&lt;/li&gt;</a:t>
            </a:r>
            <a:endParaRPr lang="en-US" sz="850" dirty="0"/>
          </a:p>
          <a:p>
            <a:pPr marL="0" indent="0">
              <a:buNone/>
            </a:pPr>
            <a:r>
              <a:rPr lang="en-US" sz="850" dirty="0">
                <a:solidFill>
                  <a:srgbClr val="F472B6"/>
                </a:solidFill>
                <a:latin typeface="Courier New" pitchFamily="34" charset="0"/>
                <a:ea typeface="Courier New" pitchFamily="34" charset="-122"/>
                <a:cs typeface="Courier New" pitchFamily="34" charset="-120"/>
              </a:rPr>
              <a:t>&lt;/ol&gt;</a:t>
            </a:r>
            <a:endParaRPr lang="en-US" sz="850" dirty="0"/>
          </a:p>
        </p:txBody>
      </p:sp>
      <p:sp>
        <p:nvSpPr>
          <p:cNvPr id="26" name="Text 24"/>
          <p:cNvSpPr txBox="1"/>
          <p:nvPr/>
        </p:nvSpPr>
        <p:spPr>
          <a:xfrm>
            <a:off x="6144768" y="2816352"/>
            <a:ext cx="2350008" cy="1243584"/>
          </a:xfrm>
          <a:prstGeom prst="rect">
            <a:avLst/>
          </a:prstGeom>
          <a:noFill/>
          <a:ln/>
        </p:spPr>
        <p:txBody>
          <a:bodyPr wrap="square" lIns="0" tIns="0" rIns="0" bIns="0" rtlCol="0" anchor="t"/>
          <a:lstStyle/>
          <a:p>
            <a:pPr marL="0" indent="0">
              <a:buNone/>
            </a:pPr>
            <a:r>
              <a:rPr lang="en-US" sz="950" dirty="0">
                <a:solidFill>
                  <a:srgbClr val="9AA3C7"/>
                </a:solidFill>
                <a:latin typeface="Arial" pitchFamily="34" charset="0"/>
                <a:ea typeface="Arial" pitchFamily="34" charset="-122"/>
                <a:cs typeface="Arial" pitchFamily="34" charset="-120"/>
              </a:rPr>
              <a:t>start: 1'den başka sayıdan başla. reversed: geriye say. value: tek bir maddeye numara ver. Hassas özel imler için list-style-image yerine background özelliklerini kullan.</a:t>
            </a:r>
            <a:endParaRPr lang="en-US" sz="950" dirty="0"/>
          </a:p>
        </p:txBody>
      </p:sp>
      <p:sp>
        <p:nvSpPr>
          <p:cNvPr id="27" name="benzetme"/>
          <p:cNvSpPr/>
          <p:nvPr/>
        </p:nvSpPr>
        <p:spPr>
          <a:xfrm>
            <a:off x="548640" y="4224528"/>
            <a:ext cx="8046720" cy="402336"/>
          </a:xfrm>
          <a:prstGeom prst="roundRect">
            <a:avLst>
              <a:gd name="adj" fmla="val 50000"/>
            </a:avLst>
          </a:prstGeom>
          <a:solidFill>
            <a:srgbClr val="232A55"/>
          </a:solidFill>
          <a:ln/>
        </p:spPr>
      </p:sp>
      <p:sp>
        <p:nvSpPr>
          <p:cNvPr id="28" name="benzetme-ikon"/>
          <p:cNvSpPr/>
          <p:nvPr/>
        </p:nvSpPr>
        <p:spPr>
          <a:xfrm>
            <a:off x="621792" y="4261104"/>
            <a:ext cx="329184" cy="329184"/>
          </a:xfrm>
          <a:prstGeom prst="ellipse">
            <a:avLst/>
          </a:prstGeom>
          <a:solidFill>
            <a:srgbClr val="FBBF24"/>
          </a:solidFill>
          <a:ln/>
        </p:spPr>
      </p:sp>
      <p:sp>
        <p:nvSpPr>
          <p:cNvPr id="29" name="Text 27"/>
          <p:cNvSpPr txBox="1"/>
          <p:nvPr/>
        </p:nvSpPr>
        <p:spPr>
          <a:xfrm>
            <a:off x="621792" y="4261104"/>
            <a:ext cx="329184" cy="329184"/>
          </a:xfrm>
          <a:prstGeom prst="rect">
            <a:avLst/>
          </a:prstGeom>
          <a:noFill/>
          <a:ln/>
        </p:spPr>
        <p:txBody>
          <a:bodyPr wrap="square" lIns="0" tIns="0" rIns="0" bIns="0" rtlCol="0" anchor="ctr"/>
          <a:lstStyle/>
          <a:p>
            <a:pPr marL="0" indent="0" algn="ctr">
              <a:buNone/>
            </a:pPr>
            <a:r>
              <a:rPr lang="en-US" sz="1600" b="1" dirty="0">
                <a:solidFill>
                  <a:srgbClr val="10142B"/>
                </a:solidFill>
                <a:latin typeface="Arial" pitchFamily="34" charset="0"/>
                <a:ea typeface="Arial" pitchFamily="34" charset="-122"/>
                <a:cs typeface="Arial" pitchFamily="34" charset="-120"/>
              </a:rPr>
              <a:t>≈</a:t>
            </a:r>
            <a:endParaRPr lang="en-US" sz="1600" dirty="0"/>
          </a:p>
        </p:txBody>
      </p:sp>
      <p:sp>
        <p:nvSpPr>
          <p:cNvPr id="30" name="Text 28"/>
          <p:cNvSpPr txBox="1"/>
          <p:nvPr/>
        </p:nvSpPr>
        <p:spPr>
          <a:xfrm>
            <a:off x="1042416" y="4224528"/>
            <a:ext cx="7452360" cy="402336"/>
          </a:xfrm>
          <a:prstGeom prst="rect">
            <a:avLst/>
          </a:prstGeom>
          <a:noFill/>
          <a:ln/>
        </p:spPr>
        <p:txBody>
          <a:bodyPr wrap="square" lIns="0" tIns="0" rIns="0" bIns="0" rtlCol="0" anchor="ctr"/>
          <a:lstStyle/>
          <a:p>
            <a:pPr marL="0" indent="0">
              <a:buNone/>
            </a:pPr>
            <a:r>
              <a:rPr lang="en-US" sz="1100" b="1" dirty="0">
                <a:solidFill>
                  <a:srgbClr val="FBBF24"/>
                </a:solidFill>
                <a:latin typeface="Arial" pitchFamily="34" charset="0"/>
                <a:ea typeface="Arial" pitchFamily="34" charset="-122"/>
                <a:cs typeface="Arial" pitchFamily="34" charset="-120"/>
              </a:rPr>
              <a:t>Gündelik hayatta: </a:t>
            </a:r>
            <a:r>
              <a:rPr lang="en-US" sz="1100" dirty="0">
                <a:solidFill>
                  <a:srgbClr val="EEF0F8"/>
                </a:solidFill>
                <a:latin typeface="Arial" pitchFamily="34" charset="0"/>
                <a:ea typeface="Arial" pitchFamily="34" charset="-122"/>
                <a:cs typeface="Arial" pitchFamily="34" charset="-120"/>
              </a:rPr>
              <a:t>liste maddeleri bir sıra dağın zirveleri gibi: başlıkları değiştirebilirsin ama aralarındaki mesafe aynı kalmalı.</a:t>
            </a:r>
            <a:endParaRPr lang="en-US" sz="1100" dirty="0"/>
          </a:p>
        </p:txBody>
      </p:sp>
    </p:spTree>
  </p:cSld>
  <p:clrMapOvr>
    <a:masterClrMapping/>
  </p:clrMapOvr>
  <p:transition spd="med">
    <p:pull/>
  </p:transition>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548640" y="256032"/>
            <a:ext cx="4572000" cy="201168"/>
          </a:xfrm>
          <a:prstGeom prst="rect">
            <a:avLst/>
          </a:prstGeom>
          <a:noFill/>
          <a:ln/>
        </p:spPr>
        <p:txBody>
          <a:bodyPr wrap="square" lIns="0" tIns="0" rIns="0" bIns="0" rtlCol="0" anchor="t"/>
          <a:lstStyle/>
          <a:p>
            <a:pPr marL="0" indent="0">
              <a:buNone/>
            </a:pPr>
            <a:r>
              <a:rPr lang="en-US" sz="900" b="1" kern="0" spc="200" dirty="0">
                <a:solidFill>
                  <a:srgbClr val="F472B6"/>
                </a:solidFill>
                <a:latin typeface="Arial" pitchFamily="34" charset="0"/>
                <a:ea typeface="Arial" pitchFamily="34" charset="-122"/>
                <a:cs typeface="Arial" pitchFamily="34" charset="-120"/>
              </a:rPr>
              <a:t>MODÜL 2 · METİN STİLİ</a:t>
            </a:r>
            <a:endParaRPr lang="en-US" sz="900" dirty="0"/>
          </a:p>
        </p:txBody>
      </p:sp>
      <p:sp>
        <p:nvSpPr>
          <p:cNvPr id="3" name="mini-box-0"/>
          <p:cNvSpPr/>
          <p:nvPr/>
        </p:nvSpPr>
        <p:spPr>
          <a:xfrm>
            <a:off x="8229600" y="201168"/>
            <a:ext cx="384048" cy="384048"/>
          </a:xfrm>
          <a:prstGeom prst="rect">
            <a:avLst/>
          </a:prstGeom>
          <a:ln w="9525">
            <a:solidFill>
              <a:srgbClr val="F472B6"/>
            </a:solidFill>
            <a:prstDash val="solid"/>
          </a:ln>
        </p:spPr>
      </p:sp>
      <p:sp>
        <p:nvSpPr>
          <p:cNvPr id="4" name="mini-box-1"/>
          <p:cNvSpPr/>
          <p:nvPr/>
        </p:nvSpPr>
        <p:spPr>
          <a:xfrm>
            <a:off x="8293608" y="265176"/>
            <a:ext cx="256032" cy="256032"/>
          </a:xfrm>
          <a:prstGeom prst="rect">
            <a:avLst/>
          </a:prstGeom>
          <a:ln w="9525">
            <a:solidFill>
              <a:srgbClr val="EEF0F8"/>
            </a:solidFill>
            <a:prstDash val="solid"/>
          </a:ln>
        </p:spPr>
      </p:sp>
      <p:sp>
        <p:nvSpPr>
          <p:cNvPr id="5" name="mini-box-2"/>
          <p:cNvSpPr/>
          <p:nvPr/>
        </p:nvSpPr>
        <p:spPr>
          <a:xfrm>
            <a:off x="8348472" y="320040"/>
            <a:ext cx="146304" cy="146304"/>
          </a:xfrm>
          <a:prstGeom prst="rect">
            <a:avLst/>
          </a:prstGeom>
          <a:solidFill>
            <a:srgbClr val="F472B6"/>
          </a:solidFill>
          <a:ln w="9525">
            <a:solidFill>
              <a:srgbClr val="F472B6"/>
            </a:solidFill>
            <a:prstDash val="solid"/>
          </a:ln>
        </p:spPr>
      </p:sp>
      <p:sp>
        <p:nvSpPr>
          <p:cNvPr id="6" name="ilerleme-zemin"/>
          <p:cNvSpPr/>
          <p:nvPr/>
        </p:nvSpPr>
        <p:spPr>
          <a:xfrm>
            <a:off x="0" y="5070348"/>
            <a:ext cx="9144000" cy="73152"/>
          </a:xfrm>
          <a:prstGeom prst="rect">
            <a:avLst/>
          </a:prstGeom>
          <a:solidFill>
            <a:srgbClr val="1A2044"/>
          </a:solidFill>
          <a:ln/>
        </p:spPr>
      </p:sp>
      <p:sp>
        <p:nvSpPr>
          <p:cNvPr id="7" name="ilerleme"/>
          <p:cNvSpPr/>
          <p:nvPr/>
        </p:nvSpPr>
        <p:spPr>
          <a:xfrm>
            <a:off x="0" y="5070348"/>
            <a:ext cx="5954233" cy="73152"/>
          </a:xfrm>
          <a:prstGeom prst="rect">
            <a:avLst/>
          </a:prstGeom>
          <a:solidFill>
            <a:srgbClr val="F472B6"/>
          </a:solidFill>
          <a:ln/>
        </p:spPr>
      </p:sp>
      <p:sp>
        <p:nvSpPr>
          <p:cNvPr id="8" name="Text 6"/>
          <p:cNvSpPr txBox="1"/>
          <p:nvPr/>
        </p:nvSpPr>
        <p:spPr>
          <a:xfrm>
            <a:off x="548640" y="4791456"/>
            <a:ext cx="3657600" cy="201168"/>
          </a:xfrm>
          <a:prstGeom prst="rect">
            <a:avLst/>
          </a:prstGeom>
          <a:noFill/>
          <a:ln/>
        </p:spPr>
        <p:txBody>
          <a:bodyPr wrap="square" lIns="0" tIns="0" rIns="0" bIns="0" rtlCol="0" anchor="t"/>
          <a:lstStyle/>
          <a:p>
            <a:pPr marL="0" indent="0">
              <a:buNone/>
            </a:pPr>
            <a:r>
              <a:rPr lang="en-US" sz="850" dirty="0">
                <a:solidFill>
                  <a:srgbClr val="6C759E"/>
                </a:solidFill>
                <a:latin typeface="Arial" pitchFamily="34" charset="0"/>
                <a:ea typeface="Arial" pitchFamily="34" charset="-122"/>
                <a:cs typeface="Arial" pitchFamily="34" charset="-120"/>
              </a:rPr>
              <a:t>KCŞ A.Ş.  ·  CSS ile stil ve düzen</a:t>
            </a:r>
            <a:endParaRPr lang="en-US" sz="850" dirty="0"/>
          </a:p>
        </p:txBody>
      </p:sp>
      <p:sp>
        <p:nvSpPr>
          <p:cNvPr id="9" name="Text 7"/>
          <p:cNvSpPr txBox="1"/>
          <p:nvPr/>
        </p:nvSpPr>
        <p:spPr>
          <a:xfrm>
            <a:off x="4206240" y="4791456"/>
            <a:ext cx="3840480" cy="201168"/>
          </a:xfrm>
          <a:prstGeom prst="rect">
            <a:avLst/>
          </a:prstGeom>
          <a:noFill/>
          <a:ln/>
        </p:spPr>
        <p:txBody>
          <a:bodyPr wrap="square" lIns="0" tIns="0" rIns="0" bIns="0" rtlCol="0" anchor="t"/>
          <a:lstStyle/>
          <a:p>
            <a:pPr marL="0" indent="0" algn="r">
              <a:buNone/>
            </a:pPr>
            <a:r>
              <a:rPr lang="en-US" sz="850" dirty="0">
                <a:solidFill>
                  <a:srgbClr val="6C759E"/>
                </a:solidFill>
                <a:latin typeface="Arial" pitchFamily="34" charset="0"/>
                <a:ea typeface="Arial" pitchFamily="34" charset="-122"/>
                <a:cs typeface="Arial" pitchFamily="34" charset="-120"/>
              </a:rPr>
              <a:t>MDN · Styling links</a:t>
            </a:r>
            <a:endParaRPr lang="en-US" sz="850" dirty="0"/>
          </a:p>
        </p:txBody>
      </p:sp>
      <p:sp>
        <p:nvSpPr>
          <p:cNvPr id="10" name="Text 8"/>
          <p:cNvSpPr txBox="1"/>
          <p:nvPr/>
        </p:nvSpPr>
        <p:spPr>
          <a:xfrm>
            <a:off x="8092440" y="4791456"/>
            <a:ext cx="685800" cy="201168"/>
          </a:xfrm>
          <a:prstGeom prst="rect">
            <a:avLst/>
          </a:prstGeom>
          <a:noFill/>
          <a:ln/>
        </p:spPr>
        <p:txBody>
          <a:bodyPr wrap="square" lIns="0" tIns="0" rIns="0" bIns="0" rtlCol="0" anchor="t"/>
          <a:lstStyle/>
          <a:p>
            <a:pPr marL="0" indent="0" algn="r">
              <a:buNone/>
            </a:pPr>
            <a:r>
              <a:rPr lang="en-US" sz="850" dirty="0">
                <a:solidFill>
                  <a:srgbClr val="9AA3C7"/>
                </a:solidFill>
                <a:latin typeface="Courier New" pitchFamily="34" charset="0"/>
                <a:ea typeface="Courier New" pitchFamily="34" charset="-122"/>
                <a:cs typeface="Courier New" pitchFamily="34" charset="-120"/>
              </a:rPr>
              <a:t>28 / 43</a:t>
            </a:r>
            <a:endParaRPr lang="en-US" sz="850" dirty="0"/>
          </a:p>
        </p:txBody>
      </p:sp>
      <p:sp>
        <p:nvSpPr>
          <p:cNvPr id="11" name="Text 9"/>
          <p:cNvSpPr txBox="1"/>
          <p:nvPr/>
        </p:nvSpPr>
        <p:spPr>
          <a:xfrm>
            <a:off x="548640" y="502920"/>
            <a:ext cx="5943600" cy="237744"/>
          </a:xfrm>
          <a:prstGeom prst="rect">
            <a:avLst/>
          </a:prstGeom>
          <a:noFill/>
          <a:ln/>
        </p:spPr>
        <p:txBody>
          <a:bodyPr wrap="square" lIns="0" tIns="0" rIns="0" bIns="0" rtlCol="0" anchor="t"/>
          <a:lstStyle/>
          <a:p>
            <a:pPr marL="0" indent="0">
              <a:buNone/>
            </a:pPr>
            <a:r>
              <a:rPr lang="en-US" sz="1100" b="1" dirty="0">
                <a:solidFill>
                  <a:srgbClr val="F472B6"/>
                </a:solidFill>
                <a:latin typeface="Courier New" pitchFamily="34" charset="0"/>
                <a:ea typeface="Courier New" pitchFamily="34" charset="-122"/>
                <a:cs typeface="Courier New" pitchFamily="34" charset="-120"/>
              </a:rPr>
              <a:t>LoVe FeArs HAte</a:t>
            </a:r>
            <a:endParaRPr lang="en-US" sz="1100" dirty="0"/>
          </a:p>
        </p:txBody>
      </p:sp>
      <p:sp>
        <p:nvSpPr>
          <p:cNvPr id="12" name="Text 10"/>
          <p:cNvSpPr txBox="1"/>
          <p:nvPr/>
        </p:nvSpPr>
        <p:spPr>
          <a:xfrm>
            <a:off x="548640" y="749808"/>
            <a:ext cx="7589520" cy="502920"/>
          </a:xfrm>
          <a:prstGeom prst="rect">
            <a:avLst/>
          </a:prstGeom>
          <a:noFill/>
          <a:ln/>
        </p:spPr>
        <p:txBody>
          <a:bodyPr wrap="square" lIns="0" tIns="0" rIns="0" bIns="0" rtlCol="0" anchor="ctr"/>
          <a:lstStyle/>
          <a:p>
            <a:pPr marL="0" indent="0">
              <a:buNone/>
            </a:pPr>
            <a:r>
              <a:rPr lang="en-US" sz="2400" b="1" dirty="0">
                <a:solidFill>
                  <a:srgbClr val="EEF0F8"/>
                </a:solidFill>
                <a:latin typeface="Arial" pitchFamily="34" charset="0"/>
                <a:ea typeface="Arial" pitchFamily="34" charset="-122"/>
                <a:cs typeface="Arial" pitchFamily="34" charset="-120"/>
              </a:rPr>
              <a:t>Bağlantıları stillemek</a:t>
            </a:r>
            <a:endParaRPr lang="en-US" sz="2400" dirty="0"/>
          </a:p>
        </p:txBody>
      </p:sp>
      <p:sp>
        <p:nvSpPr>
          <p:cNvPr id="13" name="durum-0"/>
          <p:cNvSpPr/>
          <p:nvPr/>
        </p:nvSpPr>
        <p:spPr>
          <a:xfrm>
            <a:off x="548640" y="1371600"/>
            <a:ext cx="1508760" cy="914400"/>
          </a:xfrm>
          <a:prstGeom prst="roundRect">
            <a:avLst>
              <a:gd name="adj" fmla="val 8000"/>
            </a:avLst>
          </a:prstGeom>
          <a:solidFill>
            <a:srgbClr val="1A2044"/>
          </a:solidFill>
          <a:ln w="9525">
            <a:solidFill>
              <a:srgbClr val="F472B6"/>
            </a:solidFill>
            <a:prstDash val="solid"/>
          </a:ln>
        </p:spPr>
      </p:sp>
      <p:sp>
        <p:nvSpPr>
          <p:cNvPr id="14" name="Text 12"/>
          <p:cNvSpPr txBox="1"/>
          <p:nvPr/>
        </p:nvSpPr>
        <p:spPr>
          <a:xfrm>
            <a:off x="658368" y="1389888"/>
            <a:ext cx="457200" cy="502920"/>
          </a:xfrm>
          <a:prstGeom prst="rect">
            <a:avLst/>
          </a:prstGeom>
          <a:noFill/>
          <a:ln/>
        </p:spPr>
        <p:txBody>
          <a:bodyPr wrap="square" lIns="0" tIns="0" rIns="0" bIns="0" rtlCol="0" anchor="t"/>
          <a:lstStyle/>
          <a:p>
            <a:pPr marL="0" indent="0">
              <a:buNone/>
            </a:pPr>
            <a:r>
              <a:rPr lang="en-US" sz="2600" b="1" dirty="0">
                <a:solidFill>
                  <a:srgbClr val="F472B6"/>
                </a:solidFill>
                <a:latin typeface="Arial" pitchFamily="34" charset="0"/>
                <a:ea typeface="Arial" pitchFamily="34" charset="-122"/>
                <a:cs typeface="Arial" pitchFamily="34" charset="-120"/>
              </a:rPr>
              <a:t>L</a:t>
            </a:r>
            <a:endParaRPr lang="en-US" sz="2600" dirty="0"/>
          </a:p>
        </p:txBody>
      </p:sp>
      <p:sp>
        <p:nvSpPr>
          <p:cNvPr id="15" name="Text 13"/>
          <p:cNvSpPr txBox="1"/>
          <p:nvPr/>
        </p:nvSpPr>
        <p:spPr>
          <a:xfrm>
            <a:off x="1097280" y="1463040"/>
            <a:ext cx="914400" cy="320040"/>
          </a:xfrm>
          <a:prstGeom prst="rect">
            <a:avLst/>
          </a:prstGeom>
          <a:noFill/>
          <a:ln/>
        </p:spPr>
        <p:txBody>
          <a:bodyPr wrap="square" lIns="0" tIns="0" rIns="0" bIns="0" rtlCol="0" anchor="ctr"/>
          <a:lstStyle/>
          <a:p>
            <a:pPr marL="0" indent="0">
              <a:buNone/>
            </a:pPr>
            <a:r>
              <a:rPr lang="en-US" sz="1150" b="1" dirty="0">
                <a:solidFill>
                  <a:srgbClr val="EEF0F8"/>
                </a:solidFill>
                <a:latin typeface="Arial" pitchFamily="34" charset="0"/>
                <a:ea typeface="Arial" pitchFamily="34" charset="-122"/>
                <a:cs typeface="Arial" pitchFamily="34" charset="-120"/>
              </a:rPr>
              <a:t>Link</a:t>
            </a:r>
            <a:endParaRPr lang="en-US" sz="1150" dirty="0"/>
          </a:p>
        </p:txBody>
      </p:sp>
      <p:sp>
        <p:nvSpPr>
          <p:cNvPr id="16" name="Text 14"/>
          <p:cNvSpPr txBox="1"/>
          <p:nvPr/>
        </p:nvSpPr>
        <p:spPr>
          <a:xfrm>
            <a:off x="658368" y="1892808"/>
            <a:ext cx="1325880" cy="274320"/>
          </a:xfrm>
          <a:prstGeom prst="rect">
            <a:avLst/>
          </a:prstGeom>
          <a:noFill/>
          <a:ln/>
        </p:spPr>
        <p:txBody>
          <a:bodyPr wrap="square" lIns="0" tIns="0" rIns="0" bIns="0" rtlCol="0" anchor="t"/>
          <a:lstStyle/>
          <a:p>
            <a:pPr marL="0" indent="0">
              <a:buNone/>
            </a:pPr>
            <a:r>
              <a:rPr lang="en-US" sz="1000" dirty="0">
                <a:solidFill>
                  <a:srgbClr val="F472B6"/>
                </a:solidFill>
                <a:latin typeface="Courier New" pitchFamily="34" charset="0"/>
                <a:ea typeface="Courier New" pitchFamily="34" charset="-122"/>
                <a:cs typeface="Courier New" pitchFamily="34" charset="-120"/>
              </a:rPr>
              <a:t>a:link</a:t>
            </a:r>
            <a:endParaRPr lang="en-US" sz="1000" dirty="0"/>
          </a:p>
        </p:txBody>
      </p:sp>
      <p:sp>
        <p:nvSpPr>
          <p:cNvPr id="17" name="durum-1"/>
          <p:cNvSpPr/>
          <p:nvPr/>
        </p:nvSpPr>
        <p:spPr>
          <a:xfrm>
            <a:off x="2176272" y="1371600"/>
            <a:ext cx="1508760" cy="914400"/>
          </a:xfrm>
          <a:prstGeom prst="roundRect">
            <a:avLst>
              <a:gd name="adj" fmla="val 8000"/>
            </a:avLst>
          </a:prstGeom>
          <a:solidFill>
            <a:srgbClr val="1A2044"/>
          </a:solidFill>
          <a:ln w="9525">
            <a:solidFill>
              <a:srgbClr val="8B7CFF"/>
            </a:solidFill>
            <a:prstDash val="solid"/>
          </a:ln>
        </p:spPr>
      </p:sp>
      <p:sp>
        <p:nvSpPr>
          <p:cNvPr id="18" name="Text 16"/>
          <p:cNvSpPr txBox="1"/>
          <p:nvPr/>
        </p:nvSpPr>
        <p:spPr>
          <a:xfrm>
            <a:off x="2286000" y="1389888"/>
            <a:ext cx="457200" cy="502920"/>
          </a:xfrm>
          <a:prstGeom prst="rect">
            <a:avLst/>
          </a:prstGeom>
          <a:noFill/>
          <a:ln/>
        </p:spPr>
        <p:txBody>
          <a:bodyPr wrap="square" lIns="0" tIns="0" rIns="0" bIns="0" rtlCol="0" anchor="t"/>
          <a:lstStyle/>
          <a:p>
            <a:pPr marL="0" indent="0">
              <a:buNone/>
            </a:pPr>
            <a:r>
              <a:rPr lang="en-US" sz="2600" b="1" dirty="0">
                <a:solidFill>
                  <a:srgbClr val="8B7CFF"/>
                </a:solidFill>
                <a:latin typeface="Arial" pitchFamily="34" charset="0"/>
                <a:ea typeface="Arial" pitchFamily="34" charset="-122"/>
                <a:cs typeface="Arial" pitchFamily="34" charset="-120"/>
              </a:rPr>
              <a:t>V</a:t>
            </a:r>
            <a:endParaRPr lang="en-US" sz="2600" dirty="0"/>
          </a:p>
        </p:txBody>
      </p:sp>
      <p:sp>
        <p:nvSpPr>
          <p:cNvPr id="19" name="Text 17"/>
          <p:cNvSpPr txBox="1"/>
          <p:nvPr/>
        </p:nvSpPr>
        <p:spPr>
          <a:xfrm>
            <a:off x="2724912" y="1463040"/>
            <a:ext cx="914400" cy="320040"/>
          </a:xfrm>
          <a:prstGeom prst="rect">
            <a:avLst/>
          </a:prstGeom>
          <a:noFill/>
          <a:ln/>
        </p:spPr>
        <p:txBody>
          <a:bodyPr wrap="square" lIns="0" tIns="0" rIns="0" bIns="0" rtlCol="0" anchor="ctr"/>
          <a:lstStyle/>
          <a:p>
            <a:pPr marL="0" indent="0">
              <a:buNone/>
            </a:pPr>
            <a:r>
              <a:rPr lang="en-US" sz="1150" b="1" dirty="0">
                <a:solidFill>
                  <a:srgbClr val="EEF0F8"/>
                </a:solidFill>
                <a:latin typeface="Arial" pitchFamily="34" charset="0"/>
                <a:ea typeface="Arial" pitchFamily="34" charset="-122"/>
                <a:cs typeface="Arial" pitchFamily="34" charset="-120"/>
              </a:rPr>
              <a:t>Visited</a:t>
            </a:r>
            <a:endParaRPr lang="en-US" sz="1150" dirty="0"/>
          </a:p>
        </p:txBody>
      </p:sp>
      <p:sp>
        <p:nvSpPr>
          <p:cNvPr id="20" name="Text 18"/>
          <p:cNvSpPr txBox="1"/>
          <p:nvPr/>
        </p:nvSpPr>
        <p:spPr>
          <a:xfrm>
            <a:off x="2286000" y="1892808"/>
            <a:ext cx="1325880" cy="274320"/>
          </a:xfrm>
          <a:prstGeom prst="rect">
            <a:avLst/>
          </a:prstGeom>
          <a:noFill/>
          <a:ln/>
        </p:spPr>
        <p:txBody>
          <a:bodyPr wrap="square" lIns="0" tIns="0" rIns="0" bIns="0" rtlCol="0" anchor="t"/>
          <a:lstStyle/>
          <a:p>
            <a:pPr marL="0" indent="0">
              <a:buNone/>
            </a:pPr>
            <a:r>
              <a:rPr lang="en-US" sz="1000" dirty="0">
                <a:solidFill>
                  <a:srgbClr val="8B7CFF"/>
                </a:solidFill>
                <a:latin typeface="Courier New" pitchFamily="34" charset="0"/>
                <a:ea typeface="Courier New" pitchFamily="34" charset="-122"/>
                <a:cs typeface="Courier New" pitchFamily="34" charset="-120"/>
              </a:rPr>
              <a:t>a:visited</a:t>
            </a:r>
            <a:endParaRPr lang="en-US" sz="1000" dirty="0"/>
          </a:p>
        </p:txBody>
      </p:sp>
      <p:sp>
        <p:nvSpPr>
          <p:cNvPr id="21" name="durum-2"/>
          <p:cNvSpPr/>
          <p:nvPr/>
        </p:nvSpPr>
        <p:spPr>
          <a:xfrm>
            <a:off x="3803904" y="1371600"/>
            <a:ext cx="1508760" cy="914400"/>
          </a:xfrm>
          <a:prstGeom prst="roundRect">
            <a:avLst>
              <a:gd name="adj" fmla="val 8000"/>
            </a:avLst>
          </a:prstGeom>
          <a:solidFill>
            <a:srgbClr val="1A2044"/>
          </a:solidFill>
          <a:ln w="9525">
            <a:solidFill>
              <a:srgbClr val="22D3EE"/>
            </a:solidFill>
            <a:prstDash val="solid"/>
          </a:ln>
        </p:spPr>
      </p:sp>
      <p:sp>
        <p:nvSpPr>
          <p:cNvPr id="22" name="Text 20"/>
          <p:cNvSpPr txBox="1"/>
          <p:nvPr/>
        </p:nvSpPr>
        <p:spPr>
          <a:xfrm>
            <a:off x="3913632" y="1389888"/>
            <a:ext cx="457200" cy="502920"/>
          </a:xfrm>
          <a:prstGeom prst="rect">
            <a:avLst/>
          </a:prstGeom>
          <a:noFill/>
          <a:ln/>
        </p:spPr>
        <p:txBody>
          <a:bodyPr wrap="square" lIns="0" tIns="0" rIns="0" bIns="0" rtlCol="0" anchor="t"/>
          <a:lstStyle/>
          <a:p>
            <a:pPr marL="0" indent="0">
              <a:buNone/>
            </a:pPr>
            <a:r>
              <a:rPr lang="en-US" sz="2600" b="1" dirty="0">
                <a:solidFill>
                  <a:srgbClr val="22D3EE"/>
                </a:solidFill>
                <a:latin typeface="Arial" pitchFamily="34" charset="0"/>
                <a:ea typeface="Arial" pitchFamily="34" charset="-122"/>
                <a:cs typeface="Arial" pitchFamily="34" charset="-120"/>
              </a:rPr>
              <a:t>F</a:t>
            </a:r>
            <a:endParaRPr lang="en-US" sz="2600" dirty="0"/>
          </a:p>
        </p:txBody>
      </p:sp>
      <p:sp>
        <p:nvSpPr>
          <p:cNvPr id="23" name="Text 21"/>
          <p:cNvSpPr txBox="1"/>
          <p:nvPr/>
        </p:nvSpPr>
        <p:spPr>
          <a:xfrm>
            <a:off x="4352544" y="1463040"/>
            <a:ext cx="914400" cy="320040"/>
          </a:xfrm>
          <a:prstGeom prst="rect">
            <a:avLst/>
          </a:prstGeom>
          <a:noFill/>
          <a:ln/>
        </p:spPr>
        <p:txBody>
          <a:bodyPr wrap="square" lIns="0" tIns="0" rIns="0" bIns="0" rtlCol="0" anchor="ctr"/>
          <a:lstStyle/>
          <a:p>
            <a:pPr marL="0" indent="0">
              <a:buNone/>
            </a:pPr>
            <a:r>
              <a:rPr lang="en-US" sz="1150" b="1" dirty="0">
                <a:solidFill>
                  <a:srgbClr val="EEF0F8"/>
                </a:solidFill>
                <a:latin typeface="Arial" pitchFamily="34" charset="0"/>
                <a:ea typeface="Arial" pitchFamily="34" charset="-122"/>
                <a:cs typeface="Arial" pitchFamily="34" charset="-120"/>
              </a:rPr>
              <a:t>Focus</a:t>
            </a:r>
            <a:endParaRPr lang="en-US" sz="1150" dirty="0"/>
          </a:p>
        </p:txBody>
      </p:sp>
      <p:sp>
        <p:nvSpPr>
          <p:cNvPr id="24" name="Text 22"/>
          <p:cNvSpPr txBox="1"/>
          <p:nvPr/>
        </p:nvSpPr>
        <p:spPr>
          <a:xfrm>
            <a:off x="3913632" y="1892808"/>
            <a:ext cx="1325880" cy="274320"/>
          </a:xfrm>
          <a:prstGeom prst="rect">
            <a:avLst/>
          </a:prstGeom>
          <a:noFill/>
          <a:ln/>
        </p:spPr>
        <p:txBody>
          <a:bodyPr wrap="square" lIns="0" tIns="0" rIns="0" bIns="0" rtlCol="0" anchor="t"/>
          <a:lstStyle/>
          <a:p>
            <a:pPr marL="0" indent="0">
              <a:buNone/>
            </a:pPr>
            <a:r>
              <a:rPr lang="en-US" sz="1000" dirty="0">
                <a:solidFill>
                  <a:srgbClr val="22D3EE"/>
                </a:solidFill>
                <a:latin typeface="Courier New" pitchFamily="34" charset="0"/>
                <a:ea typeface="Courier New" pitchFamily="34" charset="-122"/>
                <a:cs typeface="Courier New" pitchFamily="34" charset="-120"/>
              </a:rPr>
              <a:t>a:focus</a:t>
            </a:r>
            <a:endParaRPr lang="en-US" sz="1000" dirty="0"/>
          </a:p>
        </p:txBody>
      </p:sp>
      <p:sp>
        <p:nvSpPr>
          <p:cNvPr id="25" name="durum-3"/>
          <p:cNvSpPr/>
          <p:nvPr/>
        </p:nvSpPr>
        <p:spPr>
          <a:xfrm>
            <a:off x="5431536" y="1371600"/>
            <a:ext cx="1508760" cy="914400"/>
          </a:xfrm>
          <a:prstGeom prst="roundRect">
            <a:avLst>
              <a:gd name="adj" fmla="val 8000"/>
            </a:avLst>
          </a:prstGeom>
          <a:solidFill>
            <a:srgbClr val="1A2044"/>
          </a:solidFill>
          <a:ln w="9525">
            <a:solidFill>
              <a:srgbClr val="A3E635"/>
            </a:solidFill>
            <a:prstDash val="solid"/>
          </a:ln>
        </p:spPr>
      </p:sp>
      <p:sp>
        <p:nvSpPr>
          <p:cNvPr id="26" name="Text 24"/>
          <p:cNvSpPr txBox="1"/>
          <p:nvPr/>
        </p:nvSpPr>
        <p:spPr>
          <a:xfrm>
            <a:off x="5541264" y="1389888"/>
            <a:ext cx="457200" cy="502920"/>
          </a:xfrm>
          <a:prstGeom prst="rect">
            <a:avLst/>
          </a:prstGeom>
          <a:noFill/>
          <a:ln/>
        </p:spPr>
        <p:txBody>
          <a:bodyPr wrap="square" lIns="0" tIns="0" rIns="0" bIns="0" rtlCol="0" anchor="t"/>
          <a:lstStyle/>
          <a:p>
            <a:pPr marL="0" indent="0">
              <a:buNone/>
            </a:pPr>
            <a:r>
              <a:rPr lang="en-US" sz="2600" b="1" dirty="0">
                <a:solidFill>
                  <a:srgbClr val="A3E635"/>
                </a:solidFill>
                <a:latin typeface="Arial" pitchFamily="34" charset="0"/>
                <a:ea typeface="Arial" pitchFamily="34" charset="-122"/>
                <a:cs typeface="Arial" pitchFamily="34" charset="-120"/>
              </a:rPr>
              <a:t>H</a:t>
            </a:r>
            <a:endParaRPr lang="en-US" sz="2600" dirty="0"/>
          </a:p>
        </p:txBody>
      </p:sp>
      <p:sp>
        <p:nvSpPr>
          <p:cNvPr id="27" name="Text 25"/>
          <p:cNvSpPr txBox="1"/>
          <p:nvPr/>
        </p:nvSpPr>
        <p:spPr>
          <a:xfrm>
            <a:off x="5980176" y="1463040"/>
            <a:ext cx="914400" cy="320040"/>
          </a:xfrm>
          <a:prstGeom prst="rect">
            <a:avLst/>
          </a:prstGeom>
          <a:noFill/>
          <a:ln/>
        </p:spPr>
        <p:txBody>
          <a:bodyPr wrap="square" lIns="0" tIns="0" rIns="0" bIns="0" rtlCol="0" anchor="ctr"/>
          <a:lstStyle/>
          <a:p>
            <a:pPr marL="0" indent="0">
              <a:buNone/>
            </a:pPr>
            <a:r>
              <a:rPr lang="en-US" sz="1150" b="1" dirty="0">
                <a:solidFill>
                  <a:srgbClr val="EEF0F8"/>
                </a:solidFill>
                <a:latin typeface="Arial" pitchFamily="34" charset="0"/>
                <a:ea typeface="Arial" pitchFamily="34" charset="-122"/>
                <a:cs typeface="Arial" pitchFamily="34" charset="-120"/>
              </a:rPr>
              <a:t>Hover</a:t>
            </a:r>
            <a:endParaRPr lang="en-US" sz="1150" dirty="0"/>
          </a:p>
        </p:txBody>
      </p:sp>
      <p:sp>
        <p:nvSpPr>
          <p:cNvPr id="28" name="Text 26"/>
          <p:cNvSpPr txBox="1"/>
          <p:nvPr/>
        </p:nvSpPr>
        <p:spPr>
          <a:xfrm>
            <a:off x="5541264" y="1892808"/>
            <a:ext cx="1325880" cy="274320"/>
          </a:xfrm>
          <a:prstGeom prst="rect">
            <a:avLst/>
          </a:prstGeom>
          <a:noFill/>
          <a:ln/>
        </p:spPr>
        <p:txBody>
          <a:bodyPr wrap="square" lIns="0" tIns="0" rIns="0" bIns="0" rtlCol="0" anchor="t"/>
          <a:lstStyle/>
          <a:p>
            <a:pPr marL="0" indent="0">
              <a:buNone/>
            </a:pPr>
            <a:r>
              <a:rPr lang="en-US" sz="1000" dirty="0">
                <a:solidFill>
                  <a:srgbClr val="A3E635"/>
                </a:solidFill>
                <a:latin typeface="Courier New" pitchFamily="34" charset="0"/>
                <a:ea typeface="Courier New" pitchFamily="34" charset="-122"/>
                <a:cs typeface="Courier New" pitchFamily="34" charset="-120"/>
              </a:rPr>
              <a:t>a:hover</a:t>
            </a:r>
            <a:endParaRPr lang="en-US" sz="1000" dirty="0"/>
          </a:p>
        </p:txBody>
      </p:sp>
      <p:sp>
        <p:nvSpPr>
          <p:cNvPr id="29" name="durum-4"/>
          <p:cNvSpPr/>
          <p:nvPr/>
        </p:nvSpPr>
        <p:spPr>
          <a:xfrm>
            <a:off x="7059168" y="1371600"/>
            <a:ext cx="1508760" cy="914400"/>
          </a:xfrm>
          <a:prstGeom prst="roundRect">
            <a:avLst>
              <a:gd name="adj" fmla="val 8000"/>
            </a:avLst>
          </a:prstGeom>
          <a:solidFill>
            <a:srgbClr val="1A2044"/>
          </a:solidFill>
          <a:ln w="9525">
            <a:solidFill>
              <a:srgbClr val="FBBF24"/>
            </a:solidFill>
            <a:prstDash val="solid"/>
          </a:ln>
        </p:spPr>
      </p:sp>
      <p:sp>
        <p:nvSpPr>
          <p:cNvPr id="30" name="Text 28"/>
          <p:cNvSpPr txBox="1"/>
          <p:nvPr/>
        </p:nvSpPr>
        <p:spPr>
          <a:xfrm>
            <a:off x="7168896" y="1389888"/>
            <a:ext cx="457200" cy="502920"/>
          </a:xfrm>
          <a:prstGeom prst="rect">
            <a:avLst/>
          </a:prstGeom>
          <a:noFill/>
          <a:ln/>
        </p:spPr>
        <p:txBody>
          <a:bodyPr wrap="square" lIns="0" tIns="0" rIns="0" bIns="0" rtlCol="0" anchor="t"/>
          <a:lstStyle/>
          <a:p>
            <a:pPr marL="0" indent="0">
              <a:buNone/>
            </a:pPr>
            <a:r>
              <a:rPr lang="en-US" sz="2600" b="1" dirty="0">
                <a:solidFill>
                  <a:srgbClr val="FBBF24"/>
                </a:solidFill>
                <a:latin typeface="Arial" pitchFamily="34" charset="0"/>
                <a:ea typeface="Arial" pitchFamily="34" charset="-122"/>
                <a:cs typeface="Arial" pitchFamily="34" charset="-120"/>
              </a:rPr>
              <a:t>A</a:t>
            </a:r>
            <a:endParaRPr lang="en-US" sz="2600" dirty="0"/>
          </a:p>
        </p:txBody>
      </p:sp>
      <p:sp>
        <p:nvSpPr>
          <p:cNvPr id="31" name="Text 29"/>
          <p:cNvSpPr txBox="1"/>
          <p:nvPr/>
        </p:nvSpPr>
        <p:spPr>
          <a:xfrm>
            <a:off x="7607808" y="1463040"/>
            <a:ext cx="914400" cy="320040"/>
          </a:xfrm>
          <a:prstGeom prst="rect">
            <a:avLst/>
          </a:prstGeom>
          <a:noFill/>
          <a:ln/>
        </p:spPr>
        <p:txBody>
          <a:bodyPr wrap="square" lIns="0" tIns="0" rIns="0" bIns="0" rtlCol="0" anchor="ctr"/>
          <a:lstStyle/>
          <a:p>
            <a:pPr marL="0" indent="0">
              <a:buNone/>
            </a:pPr>
            <a:r>
              <a:rPr lang="en-US" sz="1150" b="1" dirty="0">
                <a:solidFill>
                  <a:srgbClr val="EEF0F8"/>
                </a:solidFill>
                <a:latin typeface="Arial" pitchFamily="34" charset="0"/>
                <a:ea typeface="Arial" pitchFamily="34" charset="-122"/>
                <a:cs typeface="Arial" pitchFamily="34" charset="-120"/>
              </a:rPr>
              <a:t>Active</a:t>
            </a:r>
            <a:endParaRPr lang="en-US" sz="1150" dirty="0"/>
          </a:p>
        </p:txBody>
      </p:sp>
      <p:sp>
        <p:nvSpPr>
          <p:cNvPr id="32" name="Text 30"/>
          <p:cNvSpPr txBox="1"/>
          <p:nvPr/>
        </p:nvSpPr>
        <p:spPr>
          <a:xfrm>
            <a:off x="7168896" y="1892808"/>
            <a:ext cx="1325880" cy="274320"/>
          </a:xfrm>
          <a:prstGeom prst="rect">
            <a:avLst/>
          </a:prstGeom>
          <a:noFill/>
          <a:ln/>
        </p:spPr>
        <p:txBody>
          <a:bodyPr wrap="square" lIns="0" tIns="0" rIns="0" bIns="0" rtlCol="0" anchor="t"/>
          <a:lstStyle/>
          <a:p>
            <a:pPr marL="0" indent="0">
              <a:buNone/>
            </a:pPr>
            <a:r>
              <a:rPr lang="en-US" sz="1000" dirty="0">
                <a:solidFill>
                  <a:srgbClr val="FBBF24"/>
                </a:solidFill>
                <a:latin typeface="Courier New" pitchFamily="34" charset="0"/>
                <a:ea typeface="Courier New" pitchFamily="34" charset="-122"/>
                <a:cs typeface="Courier New" pitchFamily="34" charset="-120"/>
              </a:rPr>
              <a:t>a:active</a:t>
            </a:r>
            <a:endParaRPr lang="en-US" sz="1000" dirty="0"/>
          </a:p>
        </p:txBody>
      </p:sp>
      <p:sp>
        <p:nvSpPr>
          <p:cNvPr id="33" name="Text 31"/>
          <p:cNvSpPr txBox="1"/>
          <p:nvPr/>
        </p:nvSpPr>
        <p:spPr>
          <a:xfrm>
            <a:off x="548640" y="2359152"/>
            <a:ext cx="8046720" cy="274320"/>
          </a:xfrm>
          <a:prstGeom prst="rect">
            <a:avLst/>
          </a:prstGeom>
          <a:noFill/>
          <a:ln/>
        </p:spPr>
        <p:txBody>
          <a:bodyPr wrap="square" lIns="0" tIns="0" rIns="0" bIns="0" rtlCol="0" anchor="t"/>
          <a:lstStyle/>
          <a:p>
            <a:pPr marL="0" indent="0">
              <a:buNone/>
            </a:pPr>
            <a:r>
              <a:rPr lang="en-US" sz="1050" dirty="0">
                <a:solidFill>
                  <a:srgbClr val="9AA3C7"/>
                </a:solidFill>
                <a:latin typeface="Arial" pitchFamily="34" charset="0"/>
                <a:ea typeface="Arial" pitchFamily="34" charset="-122"/>
                <a:cs typeface="Arial" pitchFamily="34" charset="-120"/>
              </a:rPr>
              <a:t>Bu sırayla yaz: sonraki kural öncekini ezer. Hafıza cümlesi: LoVe FeArs HAte.</a:t>
            </a:r>
            <a:endParaRPr lang="en-US" sz="1050" dirty="0"/>
          </a:p>
        </p:txBody>
      </p:sp>
      <p:sp>
        <p:nvSpPr>
          <p:cNvPr id="34" name="kart"/>
          <p:cNvSpPr/>
          <p:nvPr/>
        </p:nvSpPr>
        <p:spPr>
          <a:xfrm>
            <a:off x="548640" y="2697480"/>
            <a:ext cx="3931920" cy="1399032"/>
          </a:xfrm>
          <a:prstGeom prst="roundRect">
            <a:avLst>
              <a:gd name="adj" fmla="val 5229"/>
            </a:avLst>
          </a:prstGeom>
          <a:solidFill>
            <a:srgbClr val="1A2044"/>
          </a:solidFill>
          <a:ln w="9525">
            <a:solidFill>
              <a:srgbClr val="2E3768"/>
            </a:solidFill>
            <a:prstDash val="solid"/>
          </a:ln>
        </p:spPr>
      </p:sp>
      <p:sp>
        <p:nvSpPr>
          <p:cNvPr id="35" name="kart-nokta"/>
          <p:cNvSpPr/>
          <p:nvPr/>
        </p:nvSpPr>
        <p:spPr>
          <a:xfrm>
            <a:off x="694944" y="2852928"/>
            <a:ext cx="91440" cy="91440"/>
          </a:xfrm>
          <a:prstGeom prst="ellipse">
            <a:avLst/>
          </a:prstGeom>
          <a:solidFill>
            <a:srgbClr val="F472B6"/>
          </a:solidFill>
          <a:ln/>
        </p:spPr>
      </p:sp>
      <p:sp>
        <p:nvSpPr>
          <p:cNvPr id="36" name="Text 34"/>
          <p:cNvSpPr txBox="1"/>
          <p:nvPr/>
        </p:nvSpPr>
        <p:spPr>
          <a:xfrm>
            <a:off x="859536" y="2770632"/>
            <a:ext cx="3520440" cy="274320"/>
          </a:xfrm>
          <a:prstGeom prst="rect">
            <a:avLst/>
          </a:prstGeom>
          <a:noFill/>
          <a:ln/>
        </p:spPr>
        <p:txBody>
          <a:bodyPr wrap="square" lIns="0" tIns="0" rIns="0" bIns="0" rtlCol="0" anchor="ctr"/>
          <a:lstStyle/>
          <a:p>
            <a:pPr marL="0" indent="0">
              <a:buNone/>
            </a:pPr>
            <a:r>
              <a:rPr lang="en-US" sz="1200" b="1" dirty="0">
                <a:solidFill>
                  <a:srgbClr val="EEF0F8"/>
                </a:solidFill>
                <a:latin typeface="Arial" pitchFamily="34" charset="0"/>
                <a:ea typeface="Arial" pitchFamily="34" charset="-122"/>
                <a:cs typeface="Arial" pitchFamily="34" charset="-120"/>
              </a:rPr>
              <a:t>Kurallar</a:t>
            </a:r>
            <a:endParaRPr lang="en-US" sz="1200" dirty="0"/>
          </a:p>
        </p:txBody>
      </p:sp>
      <p:sp>
        <p:nvSpPr>
          <p:cNvPr id="37" name="Text 35"/>
          <p:cNvSpPr txBox="1"/>
          <p:nvPr/>
        </p:nvSpPr>
        <p:spPr>
          <a:xfrm>
            <a:off x="694944" y="3017520"/>
            <a:ext cx="3657600" cy="1051560"/>
          </a:xfrm>
          <a:prstGeom prst="rect">
            <a:avLst/>
          </a:prstGeom>
          <a:noFill/>
          <a:ln/>
        </p:spPr>
        <p:txBody>
          <a:bodyPr wrap="square" lIns="0" tIns="0" rIns="0" bIns="0" rtlCol="0" anchor="t"/>
          <a:lstStyle/>
          <a:p>
            <a:pPr marL="0" indent="0">
              <a:buNone/>
            </a:pPr>
            <a:r>
              <a:rPr lang="en-US" sz="1000" dirty="0">
                <a:solidFill>
                  <a:srgbClr val="EEF0F8"/>
                </a:solidFill>
                <a:latin typeface="Arial" pitchFamily="34" charset="0"/>
                <a:ea typeface="Arial" pitchFamily="34" charset="-122"/>
                <a:cs typeface="Arial" pitchFamily="34" charset="-120"/>
              </a:rPr>
              <a:t>Linkin altını çiz, başka şeyin altını çizme. Hover/focus ve active'te farklı geri bildirim ver. outline'ı başka bir odak göstergesi koymadan kaldırma; cursor'a dokunma.</a:t>
            </a:r>
            <a:endParaRPr lang="en-US" sz="1000" dirty="0"/>
          </a:p>
        </p:txBody>
      </p:sp>
      <p:sp>
        <p:nvSpPr>
          <p:cNvPr id="38" name="kart"/>
          <p:cNvSpPr/>
          <p:nvPr/>
        </p:nvSpPr>
        <p:spPr>
          <a:xfrm>
            <a:off x="4709160" y="2697480"/>
            <a:ext cx="3886200" cy="1399032"/>
          </a:xfrm>
          <a:prstGeom prst="roundRect">
            <a:avLst>
              <a:gd name="adj" fmla="val 5229"/>
            </a:avLst>
          </a:prstGeom>
          <a:solidFill>
            <a:srgbClr val="1A2044"/>
          </a:solidFill>
          <a:ln w="9525">
            <a:solidFill>
              <a:srgbClr val="2E3768"/>
            </a:solidFill>
            <a:prstDash val="solid"/>
          </a:ln>
        </p:spPr>
      </p:sp>
      <p:sp>
        <p:nvSpPr>
          <p:cNvPr id="39" name="kart-nokta"/>
          <p:cNvSpPr/>
          <p:nvPr/>
        </p:nvSpPr>
        <p:spPr>
          <a:xfrm>
            <a:off x="4855464" y="2852928"/>
            <a:ext cx="91440" cy="91440"/>
          </a:xfrm>
          <a:prstGeom prst="ellipse">
            <a:avLst/>
          </a:prstGeom>
          <a:solidFill>
            <a:srgbClr val="22D3EE"/>
          </a:solidFill>
          <a:ln/>
        </p:spPr>
      </p:sp>
      <p:sp>
        <p:nvSpPr>
          <p:cNvPr id="40" name="Text 38"/>
          <p:cNvSpPr txBox="1"/>
          <p:nvPr/>
        </p:nvSpPr>
        <p:spPr>
          <a:xfrm>
            <a:off x="5020056" y="2770632"/>
            <a:ext cx="3474720" cy="274320"/>
          </a:xfrm>
          <a:prstGeom prst="rect">
            <a:avLst/>
          </a:prstGeom>
          <a:noFill/>
          <a:ln/>
        </p:spPr>
        <p:txBody>
          <a:bodyPr wrap="square" lIns="0" tIns="0" rIns="0" bIns="0" rtlCol="0" anchor="ctr"/>
          <a:lstStyle/>
          <a:p>
            <a:pPr marL="0" indent="0">
              <a:buNone/>
            </a:pPr>
            <a:r>
              <a:rPr lang="en-US" sz="1200" b="1" dirty="0">
                <a:solidFill>
                  <a:srgbClr val="EEF0F8"/>
                </a:solidFill>
                <a:latin typeface="Arial" pitchFamily="34" charset="0"/>
                <a:ea typeface="Arial" pitchFamily="34" charset="-122"/>
                <a:cs typeface="Arial" pitchFamily="34" charset="-120"/>
              </a:rPr>
              <a:t>İkon ve buton linkler</a:t>
            </a:r>
            <a:endParaRPr lang="en-US" sz="1200" dirty="0"/>
          </a:p>
        </p:txBody>
      </p:sp>
      <p:sp>
        <p:nvSpPr>
          <p:cNvPr id="41" name="kod-paneli"/>
          <p:cNvSpPr/>
          <p:nvPr/>
        </p:nvSpPr>
        <p:spPr>
          <a:xfrm>
            <a:off x="4846320" y="3017520"/>
            <a:ext cx="3611880" cy="987552"/>
          </a:xfrm>
          <a:prstGeom prst="roundRect">
            <a:avLst>
              <a:gd name="adj" fmla="val 7407"/>
            </a:avLst>
          </a:prstGeom>
          <a:solidFill>
            <a:srgbClr val="0A0D1F"/>
          </a:solidFill>
          <a:ln w="9525">
            <a:solidFill>
              <a:srgbClr val="2E3768"/>
            </a:solidFill>
            <a:prstDash val="solid"/>
          </a:ln>
        </p:spPr>
      </p:sp>
      <p:sp>
        <p:nvSpPr>
          <p:cNvPr id="42" name="Text 40"/>
          <p:cNvSpPr txBox="1"/>
          <p:nvPr/>
        </p:nvSpPr>
        <p:spPr>
          <a:xfrm>
            <a:off x="4992624" y="3127248"/>
            <a:ext cx="3337560" cy="786384"/>
          </a:xfrm>
          <a:prstGeom prst="rect">
            <a:avLst/>
          </a:prstGeom>
          <a:noFill/>
          <a:ln/>
        </p:spPr>
        <p:txBody>
          <a:bodyPr wrap="square" lIns="0" tIns="0" rIns="0" bIns="0" rtlCol="0" anchor="ctr"/>
          <a:lstStyle/>
          <a:p>
            <a:pPr marL="0" indent="0">
              <a:buNone/>
            </a:pPr>
            <a:r>
              <a:rPr lang="en-US" sz="850" dirty="0">
                <a:solidFill>
                  <a:srgbClr val="F472B6"/>
                </a:solidFill>
                <a:latin typeface="Courier New" pitchFamily="34" charset="0"/>
                <a:ea typeface="Courier New" pitchFamily="34" charset="-122"/>
                <a:cs typeface="Courier New" pitchFamily="34" charset="-120"/>
              </a:rPr>
              <a:t>a[href^="http"]::after </a:t>
            </a:r>
            <a:r>
              <a:rPr lang="en-US" sz="850" dirty="0">
                <a:solidFill>
                  <a:srgbClr val="6C759E"/>
                </a:solidFill>
                <a:latin typeface="Courier New" pitchFamily="34" charset="0"/>
                <a:ea typeface="Courier New" pitchFamily="34" charset="-122"/>
                <a:cs typeface="Courier New" pitchFamily="34" charset="-120"/>
              </a:rPr>
              <a:t>{</a:t>
            </a:r>
            <a:endParaRPr lang="en-US" sz="850" dirty="0"/>
          </a:p>
          <a:p>
            <a:pPr marL="0" indent="0">
              <a:buNone/>
            </a:pPr>
            <a:r>
              <a:rPr lang="en-US" sz="850" dirty="0">
                <a:solidFill>
                  <a:srgbClr val="EEF0F8"/>
                </a:solidFill>
                <a:latin typeface="Courier New" pitchFamily="34" charset="0"/>
                <a:ea typeface="Courier New" pitchFamily="34" charset="-122"/>
                <a:cs typeface="Courier New" pitchFamily="34" charset="-120"/>
              </a:rPr>
              <a:t>  </a:t>
            </a:r>
            <a:r>
              <a:rPr lang="en-US" sz="850" dirty="0">
                <a:solidFill>
                  <a:srgbClr val="22D3EE"/>
                </a:solidFill>
                <a:latin typeface="Courier New" pitchFamily="34" charset="0"/>
                <a:ea typeface="Courier New" pitchFamily="34" charset="-122"/>
                <a:cs typeface="Courier New" pitchFamily="34" charset="-120"/>
              </a:rPr>
              <a:t>content</a:t>
            </a:r>
            <a:r>
              <a:rPr lang="en-US" sz="850" dirty="0">
                <a:solidFill>
                  <a:srgbClr val="6C759E"/>
                </a:solidFill>
                <a:latin typeface="Courier New" pitchFamily="34" charset="0"/>
                <a:ea typeface="Courier New" pitchFamily="34" charset="-122"/>
                <a:cs typeface="Courier New" pitchFamily="34" charset="-120"/>
              </a:rPr>
              <a:t>: </a:t>
            </a:r>
            <a:r>
              <a:rPr lang="en-US" sz="850" dirty="0">
                <a:solidFill>
                  <a:srgbClr val="A3E635"/>
                </a:solidFill>
                <a:latin typeface="Courier New" pitchFamily="34" charset="0"/>
                <a:ea typeface="Courier New" pitchFamily="34" charset="-122"/>
                <a:cs typeface="Courier New" pitchFamily="34" charset="-120"/>
              </a:rPr>
              <a:t>""</a:t>
            </a:r>
            <a:r>
              <a:rPr lang="en-US" sz="850" dirty="0">
                <a:solidFill>
                  <a:srgbClr val="FBBF24"/>
                </a:solidFill>
                <a:latin typeface="Courier New" pitchFamily="34" charset="0"/>
                <a:ea typeface="Courier New" pitchFamily="34" charset="-122"/>
                <a:cs typeface="Courier New" pitchFamily="34" charset="-120"/>
              </a:rPr>
              <a:t>; width: 0.8em; }</a:t>
            </a:r>
            <a:endParaRPr lang="en-US" sz="850" dirty="0"/>
          </a:p>
          <a:p>
            <a:pPr marL="0" indent="0">
              <a:buNone/>
            </a:pPr>
            <a:r>
              <a:rPr lang="en-US" sz="850" dirty="0">
                <a:solidFill>
                  <a:srgbClr val="F472B6"/>
                </a:solidFill>
                <a:latin typeface="Courier New" pitchFamily="34" charset="0"/>
                <a:ea typeface="Courier New" pitchFamily="34" charset="-122"/>
                <a:cs typeface="Courier New" pitchFamily="34" charset="-120"/>
              </a:rPr>
              <a:t>.container </a:t>
            </a:r>
            <a:r>
              <a:rPr lang="en-US" sz="850" dirty="0">
                <a:solidFill>
                  <a:srgbClr val="6C759E"/>
                </a:solidFill>
                <a:latin typeface="Courier New" pitchFamily="34" charset="0"/>
                <a:ea typeface="Courier New" pitchFamily="34" charset="-122"/>
                <a:cs typeface="Courier New" pitchFamily="34" charset="-120"/>
              </a:rPr>
              <a:t>{ </a:t>
            </a:r>
            <a:r>
              <a:rPr lang="en-US" sz="850" dirty="0">
                <a:solidFill>
                  <a:srgbClr val="22D3EE"/>
                </a:solidFill>
                <a:latin typeface="Courier New" pitchFamily="34" charset="0"/>
                <a:ea typeface="Courier New" pitchFamily="34" charset="-122"/>
                <a:cs typeface="Courier New" pitchFamily="34" charset="-120"/>
              </a:rPr>
              <a:t>display</a:t>
            </a:r>
            <a:r>
              <a:rPr lang="en-US" sz="850" dirty="0">
                <a:solidFill>
                  <a:srgbClr val="6C759E"/>
                </a:solidFill>
                <a:latin typeface="Courier New" pitchFamily="34" charset="0"/>
                <a:ea typeface="Courier New" pitchFamily="34" charset="-122"/>
                <a:cs typeface="Courier New" pitchFamily="34" charset="-120"/>
              </a:rPr>
              <a:t>: </a:t>
            </a:r>
            <a:r>
              <a:rPr lang="en-US" sz="850" dirty="0">
                <a:solidFill>
                  <a:srgbClr val="FBBF24"/>
                </a:solidFill>
                <a:latin typeface="Courier New" pitchFamily="34" charset="0"/>
                <a:ea typeface="Courier New" pitchFamily="34" charset="-122"/>
                <a:cs typeface="Courier New" pitchFamily="34" charset="-120"/>
              </a:rPr>
              <a:t>flex</a:t>
            </a:r>
            <a:r>
              <a:rPr lang="en-US" sz="850" dirty="0">
                <a:solidFill>
                  <a:srgbClr val="6C759E"/>
                </a:solidFill>
                <a:latin typeface="Courier New" pitchFamily="34" charset="0"/>
                <a:ea typeface="Courier New" pitchFamily="34" charset="-122"/>
                <a:cs typeface="Courier New" pitchFamily="34" charset="-120"/>
              </a:rPr>
              <a:t>; }</a:t>
            </a:r>
            <a:endParaRPr lang="en-US" sz="850" dirty="0"/>
          </a:p>
          <a:p>
            <a:pPr marL="0" indent="0">
              <a:buNone/>
            </a:pPr>
            <a:r>
              <a:rPr lang="en-US" sz="850" dirty="0">
                <a:solidFill>
                  <a:srgbClr val="F472B6"/>
                </a:solidFill>
                <a:latin typeface="Courier New" pitchFamily="34" charset="0"/>
                <a:ea typeface="Courier New" pitchFamily="34" charset="-122"/>
                <a:cs typeface="Courier New" pitchFamily="34" charset="-120"/>
              </a:rPr>
              <a:t>a </a:t>
            </a:r>
            <a:r>
              <a:rPr lang="en-US" sz="850" dirty="0">
                <a:solidFill>
                  <a:srgbClr val="6C759E"/>
                </a:solidFill>
                <a:latin typeface="Courier New" pitchFamily="34" charset="0"/>
                <a:ea typeface="Courier New" pitchFamily="34" charset="-122"/>
                <a:cs typeface="Courier New" pitchFamily="34" charset="-120"/>
              </a:rPr>
              <a:t>{ </a:t>
            </a:r>
            <a:r>
              <a:rPr lang="en-US" sz="850" dirty="0">
                <a:solidFill>
                  <a:srgbClr val="22D3EE"/>
                </a:solidFill>
                <a:latin typeface="Courier New" pitchFamily="34" charset="0"/>
                <a:ea typeface="Courier New" pitchFamily="34" charset="-122"/>
                <a:cs typeface="Courier New" pitchFamily="34" charset="-120"/>
              </a:rPr>
              <a:t>flex</a:t>
            </a:r>
            <a:r>
              <a:rPr lang="en-US" sz="850" dirty="0">
                <a:solidFill>
                  <a:srgbClr val="6C759E"/>
                </a:solidFill>
                <a:latin typeface="Courier New" pitchFamily="34" charset="0"/>
                <a:ea typeface="Courier New" pitchFamily="34" charset="-122"/>
                <a:cs typeface="Courier New" pitchFamily="34" charset="-120"/>
              </a:rPr>
              <a:t>: </a:t>
            </a:r>
            <a:r>
              <a:rPr lang="en-US" sz="850" dirty="0">
                <a:solidFill>
                  <a:srgbClr val="FBBF24"/>
                </a:solidFill>
                <a:latin typeface="Courier New" pitchFamily="34" charset="0"/>
                <a:ea typeface="Courier New" pitchFamily="34" charset="-122"/>
                <a:cs typeface="Courier New" pitchFamily="34" charset="-120"/>
              </a:rPr>
              <a:t>1</a:t>
            </a:r>
            <a:r>
              <a:rPr lang="en-US" sz="850" dirty="0">
                <a:solidFill>
                  <a:srgbClr val="6C759E"/>
                </a:solidFill>
                <a:latin typeface="Courier New" pitchFamily="34" charset="0"/>
                <a:ea typeface="Courier New" pitchFamily="34" charset="-122"/>
                <a:cs typeface="Courier New" pitchFamily="34" charset="-120"/>
              </a:rPr>
              <a:t>; }</a:t>
            </a:r>
            <a:endParaRPr lang="en-US" sz="850" dirty="0"/>
          </a:p>
        </p:txBody>
      </p:sp>
      <p:sp>
        <p:nvSpPr>
          <p:cNvPr id="43" name="benzetme"/>
          <p:cNvSpPr/>
          <p:nvPr/>
        </p:nvSpPr>
        <p:spPr>
          <a:xfrm>
            <a:off x="548640" y="4224528"/>
            <a:ext cx="8046720" cy="402336"/>
          </a:xfrm>
          <a:prstGeom prst="roundRect">
            <a:avLst>
              <a:gd name="adj" fmla="val 50000"/>
            </a:avLst>
          </a:prstGeom>
          <a:solidFill>
            <a:srgbClr val="232A55"/>
          </a:solidFill>
          <a:ln/>
        </p:spPr>
      </p:sp>
      <p:sp>
        <p:nvSpPr>
          <p:cNvPr id="44" name="benzetme-ikon"/>
          <p:cNvSpPr/>
          <p:nvPr/>
        </p:nvSpPr>
        <p:spPr>
          <a:xfrm>
            <a:off x="621792" y="4261104"/>
            <a:ext cx="329184" cy="329184"/>
          </a:xfrm>
          <a:prstGeom prst="ellipse">
            <a:avLst/>
          </a:prstGeom>
          <a:solidFill>
            <a:srgbClr val="FBBF24"/>
          </a:solidFill>
          <a:ln/>
        </p:spPr>
      </p:sp>
      <p:sp>
        <p:nvSpPr>
          <p:cNvPr id="45" name="Text 43"/>
          <p:cNvSpPr txBox="1"/>
          <p:nvPr/>
        </p:nvSpPr>
        <p:spPr>
          <a:xfrm>
            <a:off x="621792" y="4261104"/>
            <a:ext cx="329184" cy="329184"/>
          </a:xfrm>
          <a:prstGeom prst="rect">
            <a:avLst/>
          </a:prstGeom>
          <a:noFill/>
          <a:ln/>
        </p:spPr>
        <p:txBody>
          <a:bodyPr wrap="square" lIns="0" tIns="0" rIns="0" bIns="0" rtlCol="0" anchor="ctr"/>
          <a:lstStyle/>
          <a:p>
            <a:pPr marL="0" indent="0" algn="ctr">
              <a:buNone/>
            </a:pPr>
            <a:r>
              <a:rPr lang="en-US" sz="1600" b="1" dirty="0">
                <a:solidFill>
                  <a:srgbClr val="10142B"/>
                </a:solidFill>
                <a:latin typeface="Arial" pitchFamily="34" charset="0"/>
                <a:ea typeface="Arial" pitchFamily="34" charset="-122"/>
                <a:cs typeface="Arial" pitchFamily="34" charset="-120"/>
              </a:rPr>
              <a:t>≈</a:t>
            </a:r>
            <a:endParaRPr lang="en-US" sz="1600" dirty="0"/>
          </a:p>
        </p:txBody>
      </p:sp>
      <p:sp>
        <p:nvSpPr>
          <p:cNvPr id="46" name="Text 44"/>
          <p:cNvSpPr txBox="1"/>
          <p:nvPr/>
        </p:nvSpPr>
        <p:spPr>
          <a:xfrm>
            <a:off x="1042416" y="4224528"/>
            <a:ext cx="7452360" cy="402336"/>
          </a:xfrm>
          <a:prstGeom prst="rect">
            <a:avLst/>
          </a:prstGeom>
          <a:noFill/>
          <a:ln/>
        </p:spPr>
        <p:txBody>
          <a:bodyPr wrap="square" lIns="0" tIns="0" rIns="0" bIns="0" rtlCol="0" anchor="ctr"/>
          <a:lstStyle/>
          <a:p>
            <a:pPr marL="0" indent="0">
              <a:buNone/>
            </a:pPr>
            <a:r>
              <a:rPr lang="en-US" sz="1100" b="1" dirty="0">
                <a:solidFill>
                  <a:srgbClr val="FBBF24"/>
                </a:solidFill>
                <a:latin typeface="Arial" pitchFamily="34" charset="0"/>
                <a:ea typeface="Arial" pitchFamily="34" charset="-122"/>
                <a:cs typeface="Arial" pitchFamily="34" charset="-120"/>
              </a:rPr>
              <a:t>Gündelik hayatta: </a:t>
            </a:r>
            <a:r>
              <a:rPr lang="en-US" sz="1100" dirty="0">
                <a:solidFill>
                  <a:srgbClr val="EEF0F8"/>
                </a:solidFill>
                <a:latin typeface="Arial" pitchFamily="34" charset="0"/>
                <a:ea typeface="Arial" pitchFamily="34" charset="-122"/>
                <a:cs typeface="Arial" pitchFamily="34" charset="-120"/>
              </a:rPr>
              <a:t>trafik ışığı gibi: link her durumda farklı renk verir ki kullanıcı nerede olduğunu bilsin.</a:t>
            </a:r>
            <a:endParaRPr lang="en-US" sz="1100" dirty="0"/>
          </a:p>
        </p:txBody>
      </p:sp>
    </p:spTree>
  </p:cSld>
  <p:clrMapOvr>
    <a:masterClrMapping/>
  </p:clrMapOvr>
  <p:transition spd="med">
    <p:pull/>
  </p:transition>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548640" y="256032"/>
            <a:ext cx="4572000" cy="201168"/>
          </a:xfrm>
          <a:prstGeom prst="rect">
            <a:avLst/>
          </a:prstGeom>
          <a:noFill/>
          <a:ln/>
        </p:spPr>
        <p:txBody>
          <a:bodyPr wrap="square" lIns="0" tIns="0" rIns="0" bIns="0" rtlCol="0" anchor="t"/>
          <a:lstStyle/>
          <a:p>
            <a:pPr marL="0" indent="0">
              <a:buNone/>
            </a:pPr>
            <a:r>
              <a:rPr lang="en-US" sz="900" b="1" kern="0" spc="200" dirty="0">
                <a:solidFill>
                  <a:srgbClr val="F472B6"/>
                </a:solidFill>
                <a:latin typeface="Arial" pitchFamily="34" charset="0"/>
                <a:ea typeface="Arial" pitchFamily="34" charset="-122"/>
                <a:cs typeface="Arial" pitchFamily="34" charset="-120"/>
              </a:rPr>
              <a:t>MODÜL 2 · METİN STİLİ</a:t>
            </a:r>
            <a:endParaRPr lang="en-US" sz="900" dirty="0"/>
          </a:p>
        </p:txBody>
      </p:sp>
      <p:sp>
        <p:nvSpPr>
          <p:cNvPr id="3" name="mini-box-0"/>
          <p:cNvSpPr/>
          <p:nvPr/>
        </p:nvSpPr>
        <p:spPr>
          <a:xfrm>
            <a:off x="8229600" y="201168"/>
            <a:ext cx="384048" cy="384048"/>
          </a:xfrm>
          <a:prstGeom prst="rect">
            <a:avLst/>
          </a:prstGeom>
          <a:ln w="9525">
            <a:solidFill>
              <a:srgbClr val="F472B6"/>
            </a:solidFill>
            <a:prstDash val="solid"/>
          </a:ln>
        </p:spPr>
      </p:sp>
      <p:sp>
        <p:nvSpPr>
          <p:cNvPr id="4" name="mini-box-1"/>
          <p:cNvSpPr/>
          <p:nvPr/>
        </p:nvSpPr>
        <p:spPr>
          <a:xfrm>
            <a:off x="8293608" y="265176"/>
            <a:ext cx="256032" cy="256032"/>
          </a:xfrm>
          <a:prstGeom prst="rect">
            <a:avLst/>
          </a:prstGeom>
          <a:ln w="9525">
            <a:solidFill>
              <a:srgbClr val="EEF0F8"/>
            </a:solidFill>
            <a:prstDash val="solid"/>
          </a:ln>
        </p:spPr>
      </p:sp>
      <p:sp>
        <p:nvSpPr>
          <p:cNvPr id="5" name="mini-box-2"/>
          <p:cNvSpPr/>
          <p:nvPr/>
        </p:nvSpPr>
        <p:spPr>
          <a:xfrm>
            <a:off x="8348472" y="320040"/>
            <a:ext cx="146304" cy="146304"/>
          </a:xfrm>
          <a:prstGeom prst="rect">
            <a:avLst/>
          </a:prstGeom>
          <a:solidFill>
            <a:srgbClr val="F472B6"/>
          </a:solidFill>
          <a:ln w="9525">
            <a:solidFill>
              <a:srgbClr val="F472B6"/>
            </a:solidFill>
            <a:prstDash val="solid"/>
          </a:ln>
        </p:spPr>
      </p:sp>
      <p:sp>
        <p:nvSpPr>
          <p:cNvPr id="6" name="ilerleme-zemin"/>
          <p:cNvSpPr/>
          <p:nvPr/>
        </p:nvSpPr>
        <p:spPr>
          <a:xfrm>
            <a:off x="0" y="5070348"/>
            <a:ext cx="9144000" cy="73152"/>
          </a:xfrm>
          <a:prstGeom prst="rect">
            <a:avLst/>
          </a:prstGeom>
          <a:solidFill>
            <a:srgbClr val="1A2044"/>
          </a:solidFill>
          <a:ln/>
        </p:spPr>
      </p:sp>
      <p:sp>
        <p:nvSpPr>
          <p:cNvPr id="7" name="ilerleme"/>
          <p:cNvSpPr/>
          <p:nvPr/>
        </p:nvSpPr>
        <p:spPr>
          <a:xfrm>
            <a:off x="0" y="5070348"/>
            <a:ext cx="6166884" cy="73152"/>
          </a:xfrm>
          <a:prstGeom prst="rect">
            <a:avLst/>
          </a:prstGeom>
          <a:solidFill>
            <a:srgbClr val="F472B6"/>
          </a:solidFill>
          <a:ln/>
        </p:spPr>
      </p:sp>
      <p:sp>
        <p:nvSpPr>
          <p:cNvPr id="8" name="Text 6"/>
          <p:cNvSpPr txBox="1"/>
          <p:nvPr/>
        </p:nvSpPr>
        <p:spPr>
          <a:xfrm>
            <a:off x="548640" y="4791456"/>
            <a:ext cx="3657600" cy="201168"/>
          </a:xfrm>
          <a:prstGeom prst="rect">
            <a:avLst/>
          </a:prstGeom>
          <a:noFill/>
          <a:ln/>
        </p:spPr>
        <p:txBody>
          <a:bodyPr wrap="square" lIns="0" tIns="0" rIns="0" bIns="0" rtlCol="0" anchor="t"/>
          <a:lstStyle/>
          <a:p>
            <a:pPr marL="0" indent="0">
              <a:buNone/>
            </a:pPr>
            <a:r>
              <a:rPr lang="en-US" sz="850" dirty="0">
                <a:solidFill>
                  <a:srgbClr val="6C759E"/>
                </a:solidFill>
                <a:latin typeface="Arial" pitchFamily="34" charset="0"/>
                <a:ea typeface="Arial" pitchFamily="34" charset="-122"/>
                <a:cs typeface="Arial" pitchFamily="34" charset="-120"/>
              </a:rPr>
              <a:t>KCŞ A.Ş.  ·  CSS ile stil ve düzen</a:t>
            </a:r>
            <a:endParaRPr lang="en-US" sz="850" dirty="0"/>
          </a:p>
        </p:txBody>
      </p:sp>
      <p:sp>
        <p:nvSpPr>
          <p:cNvPr id="9" name="Text 7"/>
          <p:cNvSpPr txBox="1"/>
          <p:nvPr/>
        </p:nvSpPr>
        <p:spPr>
          <a:xfrm>
            <a:off x="4206240" y="4791456"/>
            <a:ext cx="3840480" cy="201168"/>
          </a:xfrm>
          <a:prstGeom prst="rect">
            <a:avLst/>
          </a:prstGeom>
          <a:noFill/>
          <a:ln/>
        </p:spPr>
        <p:txBody>
          <a:bodyPr wrap="square" lIns="0" tIns="0" rIns="0" bIns="0" rtlCol="0" anchor="t"/>
          <a:lstStyle/>
          <a:p>
            <a:pPr marL="0" indent="0" algn="r">
              <a:buNone/>
            </a:pPr>
            <a:r>
              <a:rPr lang="en-US" sz="850" dirty="0">
                <a:solidFill>
                  <a:srgbClr val="6C759E"/>
                </a:solidFill>
                <a:latin typeface="Arial" pitchFamily="34" charset="0"/>
                <a:ea typeface="Arial" pitchFamily="34" charset="-122"/>
                <a:cs typeface="Arial" pitchFamily="34" charset="-120"/>
              </a:rPr>
              <a:t>MDN · Web fonts</a:t>
            </a:r>
            <a:endParaRPr lang="en-US" sz="850" dirty="0"/>
          </a:p>
        </p:txBody>
      </p:sp>
      <p:sp>
        <p:nvSpPr>
          <p:cNvPr id="10" name="Text 8"/>
          <p:cNvSpPr txBox="1"/>
          <p:nvPr/>
        </p:nvSpPr>
        <p:spPr>
          <a:xfrm>
            <a:off x="8092440" y="4791456"/>
            <a:ext cx="685800" cy="201168"/>
          </a:xfrm>
          <a:prstGeom prst="rect">
            <a:avLst/>
          </a:prstGeom>
          <a:noFill/>
          <a:ln/>
        </p:spPr>
        <p:txBody>
          <a:bodyPr wrap="square" lIns="0" tIns="0" rIns="0" bIns="0" rtlCol="0" anchor="t"/>
          <a:lstStyle/>
          <a:p>
            <a:pPr marL="0" indent="0" algn="r">
              <a:buNone/>
            </a:pPr>
            <a:r>
              <a:rPr lang="en-US" sz="850" dirty="0">
                <a:solidFill>
                  <a:srgbClr val="9AA3C7"/>
                </a:solidFill>
                <a:latin typeface="Courier New" pitchFamily="34" charset="0"/>
                <a:ea typeface="Courier New" pitchFamily="34" charset="-122"/>
                <a:cs typeface="Courier New" pitchFamily="34" charset="-120"/>
              </a:rPr>
              <a:t>29 / 43</a:t>
            </a:r>
            <a:endParaRPr lang="en-US" sz="850" dirty="0"/>
          </a:p>
        </p:txBody>
      </p:sp>
      <p:sp>
        <p:nvSpPr>
          <p:cNvPr id="11" name="Text 9"/>
          <p:cNvSpPr txBox="1"/>
          <p:nvPr/>
        </p:nvSpPr>
        <p:spPr>
          <a:xfrm>
            <a:off x="548640" y="502920"/>
            <a:ext cx="5943600" cy="237744"/>
          </a:xfrm>
          <a:prstGeom prst="rect">
            <a:avLst/>
          </a:prstGeom>
          <a:noFill/>
          <a:ln/>
        </p:spPr>
        <p:txBody>
          <a:bodyPr wrap="square" lIns="0" tIns="0" rIns="0" bIns="0" rtlCol="0" anchor="t"/>
          <a:lstStyle/>
          <a:p>
            <a:pPr marL="0" indent="0">
              <a:buNone/>
            </a:pPr>
            <a:r>
              <a:rPr lang="en-US" sz="1100" b="1" dirty="0">
                <a:solidFill>
                  <a:srgbClr val="F472B6"/>
                </a:solidFill>
                <a:latin typeface="Courier New" pitchFamily="34" charset="0"/>
                <a:ea typeface="Courier New" pitchFamily="34" charset="-122"/>
                <a:cs typeface="Courier New" pitchFamily="34" charset="-120"/>
              </a:rPr>
              <a:t>@font-face { … }</a:t>
            </a:r>
            <a:endParaRPr lang="en-US" sz="1100" dirty="0"/>
          </a:p>
        </p:txBody>
      </p:sp>
      <p:sp>
        <p:nvSpPr>
          <p:cNvPr id="12" name="Text 10"/>
          <p:cNvSpPr txBox="1"/>
          <p:nvPr/>
        </p:nvSpPr>
        <p:spPr>
          <a:xfrm>
            <a:off x="548640" y="749808"/>
            <a:ext cx="7589520" cy="502920"/>
          </a:xfrm>
          <a:prstGeom prst="rect">
            <a:avLst/>
          </a:prstGeom>
          <a:noFill/>
          <a:ln/>
        </p:spPr>
        <p:txBody>
          <a:bodyPr wrap="square" lIns="0" tIns="0" rIns="0" bIns="0" rtlCol="0" anchor="ctr"/>
          <a:lstStyle/>
          <a:p>
            <a:pPr marL="0" indent="0">
              <a:buNone/>
            </a:pPr>
            <a:r>
              <a:rPr lang="en-US" sz="2400" b="1" dirty="0">
                <a:solidFill>
                  <a:srgbClr val="EEF0F8"/>
                </a:solidFill>
                <a:latin typeface="Arial" pitchFamily="34" charset="0"/>
                <a:ea typeface="Arial" pitchFamily="34" charset="-122"/>
                <a:cs typeface="Arial" pitchFamily="34" charset="-120"/>
              </a:rPr>
              <a:t>Web fontları</a:t>
            </a:r>
            <a:endParaRPr lang="en-US" sz="2400" dirty="0"/>
          </a:p>
        </p:txBody>
      </p:sp>
      <p:sp>
        <p:nvSpPr>
          <p:cNvPr id="13" name="kod-paneli"/>
          <p:cNvSpPr/>
          <p:nvPr/>
        </p:nvSpPr>
        <p:spPr>
          <a:xfrm>
            <a:off x="548640" y="1371600"/>
            <a:ext cx="4114800" cy="1783080"/>
          </a:xfrm>
          <a:prstGeom prst="roundRect">
            <a:avLst>
              <a:gd name="adj" fmla="val 4103"/>
            </a:avLst>
          </a:prstGeom>
          <a:solidFill>
            <a:srgbClr val="0A0D1F"/>
          </a:solidFill>
          <a:ln w="9525">
            <a:solidFill>
              <a:srgbClr val="2E3768"/>
            </a:solidFill>
            <a:prstDash val="solid"/>
          </a:ln>
        </p:spPr>
      </p:sp>
      <p:sp>
        <p:nvSpPr>
          <p:cNvPr id="14" name="Text 12"/>
          <p:cNvSpPr txBox="1"/>
          <p:nvPr/>
        </p:nvSpPr>
        <p:spPr>
          <a:xfrm>
            <a:off x="3200400" y="1426464"/>
            <a:ext cx="1371600" cy="182880"/>
          </a:xfrm>
          <a:prstGeom prst="rect">
            <a:avLst/>
          </a:prstGeom>
          <a:noFill/>
          <a:ln/>
        </p:spPr>
        <p:txBody>
          <a:bodyPr wrap="square" lIns="0" tIns="0" rIns="0" bIns="0" rtlCol="0" anchor="t"/>
          <a:lstStyle/>
          <a:p>
            <a:pPr marL="0" indent="0" algn="r">
              <a:buNone/>
            </a:pPr>
            <a:r>
              <a:rPr lang="en-US" sz="800" dirty="0">
                <a:solidFill>
                  <a:srgbClr val="6C759E"/>
                </a:solidFill>
                <a:latin typeface="Courier New" pitchFamily="34" charset="0"/>
                <a:ea typeface="Courier New" pitchFamily="34" charset="-122"/>
                <a:cs typeface="Courier New" pitchFamily="34" charset="-120"/>
              </a:rPr>
              <a:t>fonts.css</a:t>
            </a:r>
            <a:endParaRPr lang="en-US" sz="800" dirty="0"/>
          </a:p>
        </p:txBody>
      </p:sp>
      <p:sp>
        <p:nvSpPr>
          <p:cNvPr id="15" name="Text 13"/>
          <p:cNvSpPr txBox="1"/>
          <p:nvPr/>
        </p:nvSpPr>
        <p:spPr>
          <a:xfrm>
            <a:off x="694944" y="1609344"/>
            <a:ext cx="3840480" cy="1472184"/>
          </a:xfrm>
          <a:prstGeom prst="rect">
            <a:avLst/>
          </a:prstGeom>
          <a:noFill/>
          <a:ln/>
        </p:spPr>
        <p:txBody>
          <a:bodyPr wrap="square" lIns="0" tIns="0" rIns="0" bIns="0" rtlCol="0" anchor="t"/>
          <a:lstStyle/>
          <a:p>
            <a:pPr marL="0" indent="0">
              <a:buNone/>
            </a:pPr>
            <a:r>
              <a:rPr lang="en-US" sz="950" dirty="0">
                <a:solidFill>
                  <a:srgbClr val="8B7CFF"/>
                </a:solidFill>
                <a:latin typeface="Courier New" pitchFamily="34" charset="0"/>
                <a:ea typeface="Courier New" pitchFamily="34" charset="-122"/>
                <a:cs typeface="Courier New" pitchFamily="34" charset="-120"/>
              </a:rPr>
              <a:t>@font-face </a:t>
            </a:r>
            <a:r>
              <a:rPr lang="en-US" sz="950" dirty="0">
                <a:solidFill>
                  <a:srgbClr val="6C759E"/>
                </a:solidFill>
                <a:latin typeface="Courier New" pitchFamily="34" charset="0"/>
                <a:ea typeface="Courier New" pitchFamily="34" charset="-122"/>
                <a:cs typeface="Courier New" pitchFamily="34" charset="-120"/>
              </a:rPr>
              <a:t>{</a:t>
            </a:r>
            <a:endParaRPr lang="en-US" sz="950" dirty="0"/>
          </a:p>
          <a:p>
            <a:pPr marL="0" indent="0">
              <a:buNone/>
            </a:pPr>
            <a:r>
              <a:rPr lang="en-US" sz="950" dirty="0">
                <a:solidFill>
                  <a:srgbClr val="EEF0F8"/>
                </a:solidFill>
                <a:latin typeface="Courier New" pitchFamily="34" charset="0"/>
                <a:ea typeface="Courier New" pitchFamily="34" charset="-122"/>
                <a:cs typeface="Courier New" pitchFamily="34" charset="-120"/>
              </a:rPr>
              <a:t>  </a:t>
            </a:r>
            <a:r>
              <a:rPr lang="en-US" sz="950" dirty="0">
                <a:solidFill>
                  <a:srgbClr val="22D3EE"/>
                </a:solidFill>
                <a:latin typeface="Courier New" pitchFamily="34" charset="0"/>
                <a:ea typeface="Courier New" pitchFamily="34" charset="-122"/>
                <a:cs typeface="Courier New" pitchFamily="34" charset="-120"/>
              </a:rPr>
              <a:t>font-family</a:t>
            </a:r>
            <a:r>
              <a:rPr lang="en-US" sz="950" dirty="0">
                <a:solidFill>
                  <a:srgbClr val="6C759E"/>
                </a:solidFill>
                <a:latin typeface="Courier New" pitchFamily="34" charset="0"/>
                <a:ea typeface="Courier New" pitchFamily="34" charset="-122"/>
                <a:cs typeface="Courier New" pitchFamily="34" charset="-120"/>
              </a:rPr>
              <a:t>: </a:t>
            </a:r>
            <a:r>
              <a:rPr lang="en-US" sz="950" dirty="0">
                <a:solidFill>
                  <a:srgbClr val="A3E635"/>
                </a:solidFill>
                <a:latin typeface="Courier New" pitchFamily="34" charset="0"/>
                <a:ea typeface="Courier New" pitchFamily="34" charset="-122"/>
                <a:cs typeface="Courier New" pitchFamily="34" charset="-120"/>
              </a:rPr>
              <a:t>"zantrokeregular"</a:t>
            </a:r>
            <a:r>
              <a:rPr lang="en-US" sz="950" dirty="0">
                <a:solidFill>
                  <a:srgbClr val="FBBF24"/>
                </a:solidFill>
                <a:latin typeface="Courier New" pitchFamily="34" charset="0"/>
                <a:ea typeface="Courier New" pitchFamily="34" charset="-122"/>
                <a:cs typeface="Courier New" pitchFamily="34" charset="-120"/>
              </a:rPr>
              <a:t>;</a:t>
            </a:r>
            <a:endParaRPr lang="en-US" sz="950" dirty="0"/>
          </a:p>
          <a:p>
            <a:pPr marL="0" indent="0">
              <a:buNone/>
            </a:pPr>
            <a:r>
              <a:rPr lang="en-US" sz="950" dirty="0">
                <a:solidFill>
                  <a:srgbClr val="EEF0F8"/>
                </a:solidFill>
                <a:latin typeface="Courier New" pitchFamily="34" charset="0"/>
                <a:ea typeface="Courier New" pitchFamily="34" charset="-122"/>
                <a:cs typeface="Courier New" pitchFamily="34" charset="-120"/>
              </a:rPr>
              <a:t>  </a:t>
            </a:r>
            <a:r>
              <a:rPr lang="en-US" sz="950" dirty="0">
                <a:solidFill>
                  <a:srgbClr val="22D3EE"/>
                </a:solidFill>
                <a:latin typeface="Courier New" pitchFamily="34" charset="0"/>
                <a:ea typeface="Courier New" pitchFamily="34" charset="-122"/>
                <a:cs typeface="Courier New" pitchFamily="34" charset="-120"/>
              </a:rPr>
              <a:t>src</a:t>
            </a:r>
            <a:r>
              <a:rPr lang="en-US" sz="950" dirty="0">
                <a:solidFill>
                  <a:srgbClr val="6C759E"/>
                </a:solidFill>
                <a:latin typeface="Courier New" pitchFamily="34" charset="0"/>
                <a:ea typeface="Courier New" pitchFamily="34" charset="-122"/>
                <a:cs typeface="Courier New" pitchFamily="34" charset="-120"/>
              </a:rPr>
              <a:t>: </a:t>
            </a:r>
            <a:r>
              <a:rPr lang="en-US" sz="950" dirty="0">
                <a:solidFill>
                  <a:srgbClr val="FBBF24"/>
                </a:solidFill>
                <a:latin typeface="Courier New" pitchFamily="34" charset="0"/>
                <a:ea typeface="Courier New" pitchFamily="34" charset="-122"/>
                <a:cs typeface="Courier New" pitchFamily="34" charset="-120"/>
              </a:rPr>
              <a:t>url(</a:t>
            </a:r>
            <a:r>
              <a:rPr lang="en-US" sz="950" dirty="0">
                <a:solidFill>
                  <a:srgbClr val="A3E635"/>
                </a:solidFill>
                <a:latin typeface="Courier New" pitchFamily="34" charset="0"/>
                <a:ea typeface="Courier New" pitchFamily="34" charset="-122"/>
                <a:cs typeface="Courier New" pitchFamily="34" charset="-120"/>
              </a:rPr>
              <a:t>"fonts/zantroke.woff2"</a:t>
            </a:r>
            <a:r>
              <a:rPr lang="en-US" sz="950" dirty="0">
                <a:solidFill>
                  <a:srgbClr val="FBBF24"/>
                </a:solidFill>
                <a:latin typeface="Courier New" pitchFamily="34" charset="0"/>
                <a:ea typeface="Courier New" pitchFamily="34" charset="-122"/>
                <a:cs typeface="Courier New" pitchFamily="34" charset="-120"/>
              </a:rPr>
              <a:t>)</a:t>
            </a:r>
            <a:endParaRPr lang="en-US" sz="950" dirty="0"/>
          </a:p>
          <a:p>
            <a:pPr marL="0" indent="0">
              <a:buNone/>
            </a:pPr>
            <a:r>
              <a:rPr lang="en-US" sz="950" dirty="0">
                <a:solidFill>
                  <a:srgbClr val="EEF0F8"/>
                </a:solidFill>
                <a:latin typeface="Courier New" pitchFamily="34" charset="0"/>
                <a:ea typeface="Courier New" pitchFamily="34" charset="-122"/>
                <a:cs typeface="Courier New" pitchFamily="34" charset="-120"/>
              </a:rPr>
              <a:t>       format("woff2");</a:t>
            </a:r>
            <a:endParaRPr lang="en-US" sz="950" dirty="0"/>
          </a:p>
          <a:p>
            <a:pPr marL="0" indent="0">
              <a:buNone/>
            </a:pPr>
            <a:r>
              <a:rPr lang="en-US" sz="950" dirty="0">
                <a:solidFill>
                  <a:srgbClr val="EEF0F8"/>
                </a:solidFill>
                <a:latin typeface="Courier New" pitchFamily="34" charset="0"/>
                <a:ea typeface="Courier New" pitchFamily="34" charset="-122"/>
                <a:cs typeface="Courier New" pitchFamily="34" charset="-120"/>
              </a:rPr>
              <a:t>  </a:t>
            </a:r>
            <a:r>
              <a:rPr lang="en-US" sz="950" dirty="0">
                <a:solidFill>
                  <a:srgbClr val="22D3EE"/>
                </a:solidFill>
                <a:latin typeface="Courier New" pitchFamily="34" charset="0"/>
                <a:ea typeface="Courier New" pitchFamily="34" charset="-122"/>
                <a:cs typeface="Courier New" pitchFamily="34" charset="-120"/>
              </a:rPr>
              <a:t>font-weight</a:t>
            </a:r>
            <a:r>
              <a:rPr lang="en-US" sz="950" dirty="0">
                <a:solidFill>
                  <a:srgbClr val="6C759E"/>
                </a:solidFill>
                <a:latin typeface="Courier New" pitchFamily="34" charset="0"/>
                <a:ea typeface="Courier New" pitchFamily="34" charset="-122"/>
                <a:cs typeface="Courier New" pitchFamily="34" charset="-120"/>
              </a:rPr>
              <a:t>: </a:t>
            </a:r>
            <a:r>
              <a:rPr lang="en-US" sz="950" dirty="0">
                <a:solidFill>
                  <a:srgbClr val="FBBF24"/>
                </a:solidFill>
                <a:latin typeface="Courier New" pitchFamily="34" charset="0"/>
                <a:ea typeface="Courier New" pitchFamily="34" charset="-122"/>
                <a:cs typeface="Courier New" pitchFamily="34" charset="-120"/>
              </a:rPr>
              <a:t>normal;</a:t>
            </a:r>
            <a:endParaRPr lang="en-US" sz="950" dirty="0"/>
          </a:p>
          <a:p>
            <a:pPr marL="0" indent="0">
              <a:buNone/>
            </a:pPr>
            <a:r>
              <a:rPr lang="en-US" sz="950" dirty="0">
                <a:solidFill>
                  <a:srgbClr val="EEF0F8"/>
                </a:solidFill>
                <a:latin typeface="Courier New" pitchFamily="34" charset="0"/>
                <a:ea typeface="Courier New" pitchFamily="34" charset="-122"/>
                <a:cs typeface="Courier New" pitchFamily="34" charset="-120"/>
              </a:rPr>
              <a:t>  </a:t>
            </a:r>
            <a:r>
              <a:rPr lang="en-US" sz="950" dirty="0">
                <a:solidFill>
                  <a:srgbClr val="22D3EE"/>
                </a:solidFill>
                <a:latin typeface="Courier New" pitchFamily="34" charset="0"/>
                <a:ea typeface="Courier New" pitchFamily="34" charset="-122"/>
                <a:cs typeface="Courier New" pitchFamily="34" charset="-120"/>
              </a:rPr>
              <a:t>font-display</a:t>
            </a:r>
            <a:r>
              <a:rPr lang="en-US" sz="950" dirty="0">
                <a:solidFill>
                  <a:srgbClr val="6C759E"/>
                </a:solidFill>
                <a:latin typeface="Courier New" pitchFamily="34" charset="0"/>
                <a:ea typeface="Courier New" pitchFamily="34" charset="-122"/>
                <a:cs typeface="Courier New" pitchFamily="34" charset="-120"/>
              </a:rPr>
              <a:t>: </a:t>
            </a:r>
            <a:r>
              <a:rPr lang="en-US" sz="950" dirty="0">
                <a:solidFill>
                  <a:srgbClr val="FBBF24"/>
                </a:solidFill>
                <a:latin typeface="Courier New" pitchFamily="34" charset="0"/>
                <a:ea typeface="Courier New" pitchFamily="34" charset="-122"/>
                <a:cs typeface="Courier New" pitchFamily="34" charset="-120"/>
              </a:rPr>
              <a:t>swap;</a:t>
            </a:r>
            <a:endParaRPr lang="en-US" sz="950" dirty="0"/>
          </a:p>
          <a:p>
            <a:pPr marL="0" indent="0">
              <a:buNone/>
            </a:pPr>
            <a:r>
              <a:rPr lang="en-US" sz="950" dirty="0">
                <a:solidFill>
                  <a:srgbClr val="6C759E"/>
                </a:solidFill>
                <a:latin typeface="Courier New" pitchFamily="34" charset="0"/>
                <a:ea typeface="Courier New" pitchFamily="34" charset="-122"/>
                <a:cs typeface="Courier New" pitchFamily="34" charset="-120"/>
              </a:rPr>
              <a:t>}</a:t>
            </a:r>
            <a:endParaRPr lang="en-US" sz="950" dirty="0"/>
          </a:p>
        </p:txBody>
      </p:sp>
      <p:sp>
        <p:nvSpPr>
          <p:cNvPr id="16" name="kod-paneli"/>
          <p:cNvSpPr/>
          <p:nvPr/>
        </p:nvSpPr>
        <p:spPr>
          <a:xfrm>
            <a:off x="548640" y="3246120"/>
            <a:ext cx="4114800" cy="822960"/>
          </a:xfrm>
          <a:prstGeom prst="roundRect">
            <a:avLst>
              <a:gd name="adj" fmla="val 8889"/>
            </a:avLst>
          </a:prstGeom>
          <a:solidFill>
            <a:srgbClr val="0A0D1F"/>
          </a:solidFill>
          <a:ln w="9525">
            <a:solidFill>
              <a:srgbClr val="2E3768"/>
            </a:solidFill>
            <a:prstDash val="solid"/>
          </a:ln>
        </p:spPr>
      </p:sp>
      <p:sp>
        <p:nvSpPr>
          <p:cNvPr id="17" name="Text 15"/>
          <p:cNvSpPr txBox="1"/>
          <p:nvPr/>
        </p:nvSpPr>
        <p:spPr>
          <a:xfrm>
            <a:off x="694944" y="3355848"/>
            <a:ext cx="3840480" cy="621792"/>
          </a:xfrm>
          <a:prstGeom prst="rect">
            <a:avLst/>
          </a:prstGeom>
          <a:noFill/>
          <a:ln/>
        </p:spPr>
        <p:txBody>
          <a:bodyPr wrap="square" lIns="0" tIns="0" rIns="0" bIns="0" rtlCol="0" anchor="ctr"/>
          <a:lstStyle/>
          <a:p>
            <a:pPr marL="0" indent="0">
              <a:buNone/>
            </a:pPr>
            <a:r>
              <a:rPr lang="en-US" sz="950" dirty="0">
                <a:solidFill>
                  <a:srgbClr val="F472B6"/>
                </a:solidFill>
                <a:latin typeface="Courier New" pitchFamily="34" charset="0"/>
                <a:ea typeface="Courier New" pitchFamily="34" charset="-122"/>
                <a:cs typeface="Courier New" pitchFamily="34" charset="-120"/>
              </a:rPr>
              <a:t>html </a:t>
            </a:r>
            <a:r>
              <a:rPr lang="en-US" sz="950" dirty="0">
                <a:solidFill>
                  <a:srgbClr val="6C759E"/>
                </a:solidFill>
                <a:latin typeface="Courier New" pitchFamily="34" charset="0"/>
                <a:ea typeface="Courier New" pitchFamily="34" charset="-122"/>
                <a:cs typeface="Courier New" pitchFamily="34" charset="-120"/>
              </a:rPr>
              <a:t>{</a:t>
            </a:r>
            <a:endParaRPr lang="en-US" sz="950" dirty="0"/>
          </a:p>
          <a:p>
            <a:pPr marL="0" indent="0">
              <a:buNone/>
            </a:pPr>
            <a:r>
              <a:rPr lang="en-US" sz="950" dirty="0">
                <a:solidFill>
                  <a:srgbClr val="EEF0F8"/>
                </a:solidFill>
                <a:latin typeface="Courier New" pitchFamily="34" charset="0"/>
                <a:ea typeface="Courier New" pitchFamily="34" charset="-122"/>
                <a:cs typeface="Courier New" pitchFamily="34" charset="-120"/>
              </a:rPr>
              <a:t>  </a:t>
            </a:r>
            <a:r>
              <a:rPr lang="en-US" sz="950" dirty="0">
                <a:solidFill>
                  <a:srgbClr val="22D3EE"/>
                </a:solidFill>
                <a:latin typeface="Courier New" pitchFamily="34" charset="0"/>
                <a:ea typeface="Courier New" pitchFamily="34" charset="-122"/>
                <a:cs typeface="Courier New" pitchFamily="34" charset="-120"/>
              </a:rPr>
              <a:t>font-family</a:t>
            </a:r>
            <a:r>
              <a:rPr lang="en-US" sz="950" dirty="0">
                <a:solidFill>
                  <a:srgbClr val="6C759E"/>
                </a:solidFill>
                <a:latin typeface="Courier New" pitchFamily="34" charset="0"/>
                <a:ea typeface="Courier New" pitchFamily="34" charset="-122"/>
                <a:cs typeface="Courier New" pitchFamily="34" charset="-120"/>
              </a:rPr>
              <a:t>: </a:t>
            </a:r>
            <a:r>
              <a:rPr lang="en-US" sz="950" dirty="0">
                <a:solidFill>
                  <a:srgbClr val="A3E635"/>
                </a:solidFill>
                <a:latin typeface="Courier New" pitchFamily="34" charset="0"/>
                <a:ea typeface="Courier New" pitchFamily="34" charset="-122"/>
                <a:cs typeface="Courier New" pitchFamily="34" charset="-120"/>
              </a:rPr>
              <a:t>"zantrokeregular"</a:t>
            </a:r>
            <a:r>
              <a:rPr lang="en-US" sz="950" dirty="0">
                <a:solidFill>
                  <a:srgbClr val="FBBF24"/>
                </a:solidFill>
                <a:latin typeface="Courier New" pitchFamily="34" charset="0"/>
                <a:ea typeface="Courier New" pitchFamily="34" charset="-122"/>
                <a:cs typeface="Courier New" pitchFamily="34" charset="-120"/>
              </a:rPr>
              <a:t>, serif;</a:t>
            </a:r>
            <a:endParaRPr lang="en-US" sz="950" dirty="0"/>
          </a:p>
          <a:p>
            <a:pPr marL="0" indent="0">
              <a:buNone/>
            </a:pPr>
            <a:r>
              <a:rPr lang="en-US" sz="950" dirty="0">
                <a:solidFill>
                  <a:srgbClr val="6C759E"/>
                </a:solidFill>
                <a:latin typeface="Courier New" pitchFamily="34" charset="0"/>
                <a:ea typeface="Courier New" pitchFamily="34" charset="-122"/>
                <a:cs typeface="Courier New" pitchFamily="34" charset="-120"/>
              </a:rPr>
              <a:t>}</a:t>
            </a:r>
            <a:endParaRPr lang="en-US" sz="950" dirty="0"/>
          </a:p>
        </p:txBody>
      </p:sp>
      <p:sp>
        <p:nvSpPr>
          <p:cNvPr id="18" name="Text 16"/>
          <p:cNvSpPr txBox="1"/>
          <p:nvPr/>
        </p:nvSpPr>
        <p:spPr>
          <a:xfrm>
            <a:off x="4892040" y="1371600"/>
            <a:ext cx="3703320" cy="2743200"/>
          </a:xfrm>
          <a:prstGeom prst="rect">
            <a:avLst/>
          </a:prstGeom>
          <a:noFill/>
          <a:ln/>
        </p:spPr>
        <p:txBody>
          <a:bodyPr wrap="square" lIns="0" tIns="0" rIns="0" bIns="0" rtlCol="0" anchor="t"/>
          <a:lstStyle/>
          <a:p>
            <a:pPr marL="0" indent="0">
              <a:spcAft>
                <a:spcPts val="600"/>
              </a:spcAft>
              <a:buNone/>
            </a:pPr>
            <a:r>
              <a:rPr lang="en-US" sz="1000" b="1" dirty="0">
                <a:solidFill>
                  <a:srgbClr val="F472B6"/>
                </a:solidFill>
                <a:latin typeface="Arial" pitchFamily="34" charset="0"/>
                <a:ea typeface="Arial" pitchFamily="34" charset="-122"/>
                <a:cs typeface="Arial" pitchFamily="34" charset="-120"/>
              </a:rPr>
              <a:t>Ne işe yarar? </a:t>
            </a:r>
            <a:r>
              <a:rPr lang="en-US" sz="1000" dirty="0">
                <a:solidFill>
                  <a:srgbClr val="EEF0F8"/>
                </a:solidFill>
                <a:latin typeface="Arial" pitchFamily="34" charset="0"/>
                <a:ea typeface="Arial" pitchFamily="34" charset="-122"/>
                <a:cs typeface="Arial" pitchFamily="34" charset="-120"/>
              </a:rPr>
              <a:t>Font dosyası sitenle birlikte indirilir; web-safe fontlarla sınırlı kalmazsın.</a:t>
            </a:r>
            <a:endParaRPr lang="en-US" sz="1000" dirty="0"/>
          </a:p>
          <a:p>
            <a:pPr marL="0" indent="0">
              <a:spcAft>
                <a:spcPts val="600"/>
              </a:spcAft>
              <a:buNone/>
            </a:pPr>
            <a:r>
              <a:rPr lang="en-US" sz="1000" b="1" dirty="0">
                <a:solidFill>
                  <a:srgbClr val="F472B6"/>
                </a:solidFill>
                <a:latin typeface="Arial" pitchFamily="34" charset="0"/>
                <a:ea typeface="Arial" pitchFamily="34" charset="-122"/>
                <a:cs typeface="Arial" pitchFamily="34" charset="-120"/>
              </a:rPr>
              <a:t>Format: </a:t>
            </a:r>
            <a:r>
              <a:rPr lang="en-US" sz="1000" dirty="0">
                <a:solidFill>
                  <a:srgbClr val="EEF0F8"/>
                </a:solidFill>
                <a:latin typeface="Arial" pitchFamily="34" charset="0"/>
                <a:ea typeface="Arial" pitchFamily="34" charset="-122"/>
                <a:cs typeface="Arial" pitchFamily="34" charset="-120"/>
              </a:rPr>
              <a:t>tüm modern tarayıcılar WOFF2 destekler; mümkün olan en az dosyayı sun.</a:t>
            </a:r>
            <a:endParaRPr lang="en-US" sz="1000" dirty="0"/>
          </a:p>
          <a:p>
            <a:pPr marL="0" indent="0">
              <a:spcAft>
                <a:spcPts val="600"/>
              </a:spcAft>
              <a:buNone/>
            </a:pPr>
            <a:r>
              <a:rPr lang="en-US" sz="1000" b="1" dirty="0">
                <a:solidFill>
                  <a:srgbClr val="F472B6"/>
                </a:solidFill>
                <a:latin typeface="Arial" pitchFamily="34" charset="0"/>
                <a:ea typeface="Arial" pitchFamily="34" charset="-122"/>
                <a:cs typeface="Arial" pitchFamily="34" charset="-120"/>
              </a:rPr>
              <a:t>Lisans: </a:t>
            </a:r>
            <a:r>
              <a:rPr lang="en-US" sz="1000" dirty="0">
                <a:solidFill>
                  <a:srgbClr val="EEF0F8"/>
                </a:solidFill>
                <a:latin typeface="Arial" pitchFamily="34" charset="0"/>
                <a:ea typeface="Arial" pitchFamily="34" charset="-122"/>
                <a:cs typeface="Arial" pitchFamily="34" charset="-120"/>
              </a:rPr>
              <a:t>fontlar genelde ücretsiz değildir; lisans ve atıf koşullarına uy.</a:t>
            </a:r>
            <a:endParaRPr lang="en-US" sz="1000" dirty="0"/>
          </a:p>
          <a:p>
            <a:pPr marL="0" indent="0">
              <a:spcAft>
                <a:spcPts val="600"/>
              </a:spcAft>
              <a:buNone/>
            </a:pPr>
            <a:r>
              <a:rPr lang="en-US" sz="1000" b="1" dirty="0">
                <a:solidFill>
                  <a:srgbClr val="F472B6"/>
                </a:solidFill>
                <a:latin typeface="Arial" pitchFamily="34" charset="0"/>
                <a:ea typeface="Arial" pitchFamily="34" charset="-122"/>
                <a:cs typeface="Arial" pitchFamily="34" charset="-120"/>
              </a:rPr>
              <a:t>Kendin barındır: </a:t>
            </a:r>
            <a:r>
              <a:rPr lang="en-US" sz="1000" dirty="0">
                <a:solidFill>
                  <a:srgbClr val="EEF0F8"/>
                </a:solidFill>
                <a:latin typeface="Arial" pitchFamily="34" charset="0"/>
                <a:ea typeface="Arial" pitchFamily="34" charset="-122"/>
                <a:cs typeface="Arial" pitchFamily="34" charset="-120"/>
              </a:rPr>
              <a:t>Transfonter ile WOFF2 üret, @font-face'i CSS'in en üstüne koy.</a:t>
            </a:r>
            <a:endParaRPr lang="en-US" sz="1000" dirty="0"/>
          </a:p>
          <a:p>
            <a:pPr marL="0" indent="0">
              <a:spcAft>
                <a:spcPts val="600"/>
              </a:spcAft>
              <a:buNone/>
            </a:pPr>
            <a:r>
              <a:rPr lang="en-US" sz="1000" b="1" dirty="0">
                <a:solidFill>
                  <a:srgbClr val="F472B6"/>
                </a:solidFill>
                <a:latin typeface="Arial" pitchFamily="34" charset="0"/>
                <a:ea typeface="Arial" pitchFamily="34" charset="-122"/>
                <a:cs typeface="Arial" pitchFamily="34" charset="-120"/>
              </a:rPr>
              <a:t>Servis kullan: </a:t>
            </a:r>
            <a:r>
              <a:rPr lang="en-US" sz="1000" dirty="0">
                <a:solidFill>
                  <a:srgbClr val="EEF0F8"/>
                </a:solidFill>
                <a:latin typeface="Arial" pitchFamily="34" charset="0"/>
                <a:ea typeface="Arial" pitchFamily="34" charset="-122"/>
                <a:cs typeface="Arial" pitchFamily="34" charset="-120"/>
              </a:rPr>
              <a:t>Google Fonts'tan &lt;link&gt; kodunu head'e ekle, font-family kuralını CSS'e yaz.</a:t>
            </a:r>
            <a:endParaRPr lang="en-US" sz="1000" dirty="0"/>
          </a:p>
          <a:p>
            <a:pPr marL="0" indent="0">
              <a:spcAft>
                <a:spcPts val="600"/>
              </a:spcAft>
              <a:buNone/>
            </a:pPr>
            <a:r>
              <a:rPr lang="en-US" sz="1000" b="1" dirty="0">
                <a:solidFill>
                  <a:srgbClr val="F472B6"/>
                </a:solidFill>
                <a:latin typeface="Arial" pitchFamily="34" charset="0"/>
                <a:ea typeface="Arial" pitchFamily="34" charset="-122"/>
                <a:cs typeface="Arial" pitchFamily="34" charset="-120"/>
              </a:rPr>
              <a:t>Yedek: </a:t>
            </a:r>
            <a:r>
              <a:rPr lang="en-US" sz="1000" dirty="0">
                <a:solidFill>
                  <a:srgbClr val="EEF0F8"/>
                </a:solidFill>
                <a:latin typeface="Arial" pitchFamily="34" charset="0"/>
                <a:ea typeface="Arial" pitchFamily="34" charset="-122"/>
                <a:cs typeface="Arial" pitchFamily="34" charset="-120"/>
              </a:rPr>
              <a:t>yığının sonuna serif / sans-serif koy; font yüklenmezse sistem fontu devreye girer.</a:t>
            </a:r>
            <a:endParaRPr lang="en-US" sz="1000" dirty="0"/>
          </a:p>
        </p:txBody>
      </p:sp>
      <p:sp>
        <p:nvSpPr>
          <p:cNvPr id="19" name="benzetme"/>
          <p:cNvSpPr/>
          <p:nvPr/>
        </p:nvSpPr>
        <p:spPr>
          <a:xfrm>
            <a:off x="548640" y="4224528"/>
            <a:ext cx="8046720" cy="402336"/>
          </a:xfrm>
          <a:prstGeom prst="roundRect">
            <a:avLst>
              <a:gd name="adj" fmla="val 50000"/>
            </a:avLst>
          </a:prstGeom>
          <a:solidFill>
            <a:srgbClr val="232A55"/>
          </a:solidFill>
          <a:ln/>
        </p:spPr>
      </p:sp>
      <p:sp>
        <p:nvSpPr>
          <p:cNvPr id="20" name="benzetme-ikon"/>
          <p:cNvSpPr/>
          <p:nvPr/>
        </p:nvSpPr>
        <p:spPr>
          <a:xfrm>
            <a:off x="621792" y="4261104"/>
            <a:ext cx="329184" cy="329184"/>
          </a:xfrm>
          <a:prstGeom prst="ellipse">
            <a:avLst/>
          </a:prstGeom>
          <a:solidFill>
            <a:srgbClr val="FBBF24"/>
          </a:solidFill>
          <a:ln/>
        </p:spPr>
      </p:sp>
      <p:sp>
        <p:nvSpPr>
          <p:cNvPr id="21" name="Text 19"/>
          <p:cNvSpPr txBox="1"/>
          <p:nvPr/>
        </p:nvSpPr>
        <p:spPr>
          <a:xfrm>
            <a:off x="621792" y="4261104"/>
            <a:ext cx="329184" cy="329184"/>
          </a:xfrm>
          <a:prstGeom prst="rect">
            <a:avLst/>
          </a:prstGeom>
          <a:noFill/>
          <a:ln/>
        </p:spPr>
        <p:txBody>
          <a:bodyPr wrap="square" lIns="0" tIns="0" rIns="0" bIns="0" rtlCol="0" anchor="ctr"/>
          <a:lstStyle/>
          <a:p>
            <a:pPr marL="0" indent="0" algn="ctr">
              <a:buNone/>
            </a:pPr>
            <a:r>
              <a:rPr lang="en-US" sz="1600" b="1" dirty="0">
                <a:solidFill>
                  <a:srgbClr val="10142B"/>
                </a:solidFill>
                <a:latin typeface="Arial" pitchFamily="34" charset="0"/>
                <a:ea typeface="Arial" pitchFamily="34" charset="-122"/>
                <a:cs typeface="Arial" pitchFamily="34" charset="-120"/>
              </a:rPr>
              <a:t>≈</a:t>
            </a:r>
            <a:endParaRPr lang="en-US" sz="1600" dirty="0"/>
          </a:p>
        </p:txBody>
      </p:sp>
      <p:sp>
        <p:nvSpPr>
          <p:cNvPr id="22" name="Text 20"/>
          <p:cNvSpPr txBox="1"/>
          <p:nvPr/>
        </p:nvSpPr>
        <p:spPr>
          <a:xfrm>
            <a:off x="1042416" y="4224528"/>
            <a:ext cx="7452360" cy="402336"/>
          </a:xfrm>
          <a:prstGeom prst="rect">
            <a:avLst/>
          </a:prstGeom>
          <a:noFill/>
          <a:ln/>
        </p:spPr>
        <p:txBody>
          <a:bodyPr wrap="square" lIns="0" tIns="0" rIns="0" bIns="0" rtlCol="0" anchor="ctr"/>
          <a:lstStyle/>
          <a:p>
            <a:pPr marL="0" indent="0">
              <a:buNone/>
            </a:pPr>
            <a:r>
              <a:rPr lang="en-US" sz="1100" b="1" dirty="0">
                <a:solidFill>
                  <a:srgbClr val="FBBF24"/>
                </a:solidFill>
                <a:latin typeface="Arial" pitchFamily="34" charset="0"/>
                <a:ea typeface="Arial" pitchFamily="34" charset="-122"/>
                <a:cs typeface="Arial" pitchFamily="34" charset="-120"/>
              </a:rPr>
              <a:t>Gündelik hayatta: </a:t>
            </a:r>
            <a:r>
              <a:rPr lang="en-US" sz="1100" dirty="0">
                <a:solidFill>
                  <a:srgbClr val="EEF0F8"/>
                </a:solidFill>
                <a:latin typeface="Arial" pitchFamily="34" charset="0"/>
                <a:ea typeface="Arial" pitchFamily="34" charset="-122"/>
                <a:cs typeface="Arial" pitchFamily="34" charset="-120"/>
              </a:rPr>
              <a:t>misafire kendi terliğini getirmesini beklemek yerine kapıda terlik hazır tutmak gibi: font, siteyle birlikte gelir.</a:t>
            </a:r>
            <a:endParaRPr lang="en-US" sz="1100" dirty="0"/>
          </a:p>
        </p:txBody>
      </p:sp>
    </p:spTree>
  </p:cSld>
  <p:clrMapOvr>
    <a:masterClrMapping/>
  </p:clrMapOvr>
  <p:transition spd="med">
    <p:pull/>
  </p:transition>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548640" y="256032"/>
            <a:ext cx="4572000" cy="201168"/>
          </a:xfrm>
          <a:prstGeom prst="rect">
            <a:avLst/>
          </a:prstGeom>
          <a:noFill/>
          <a:ln/>
        </p:spPr>
        <p:txBody>
          <a:bodyPr wrap="square" lIns="0" tIns="0" rIns="0" bIns="0" rtlCol="0" anchor="t"/>
          <a:lstStyle/>
          <a:p>
            <a:pPr marL="0" indent="0">
              <a:buNone/>
            </a:pPr>
            <a:r>
              <a:rPr lang="en-US" sz="900" b="1" kern="0" spc="200" dirty="0">
                <a:solidFill>
                  <a:srgbClr val="A3E635"/>
                </a:solidFill>
                <a:latin typeface="Arial" pitchFamily="34" charset="0"/>
                <a:ea typeface="Arial" pitchFamily="34" charset="-122"/>
                <a:cs typeface="Arial" pitchFamily="34" charset="-120"/>
              </a:rPr>
              <a:t>MODÜL 3 · CSS DÜZENİ</a:t>
            </a:r>
            <a:endParaRPr lang="en-US" sz="900" dirty="0"/>
          </a:p>
        </p:txBody>
      </p:sp>
      <p:sp>
        <p:nvSpPr>
          <p:cNvPr id="3" name="mini-box-0"/>
          <p:cNvSpPr/>
          <p:nvPr/>
        </p:nvSpPr>
        <p:spPr>
          <a:xfrm>
            <a:off x="8229600" y="201168"/>
            <a:ext cx="384048" cy="384048"/>
          </a:xfrm>
          <a:prstGeom prst="rect">
            <a:avLst/>
          </a:prstGeom>
          <a:ln w="9525">
            <a:solidFill>
              <a:srgbClr val="A3E635"/>
            </a:solidFill>
            <a:prstDash val="solid"/>
          </a:ln>
        </p:spPr>
      </p:sp>
      <p:sp>
        <p:nvSpPr>
          <p:cNvPr id="4" name="mini-box-1"/>
          <p:cNvSpPr/>
          <p:nvPr/>
        </p:nvSpPr>
        <p:spPr>
          <a:xfrm>
            <a:off x="8293608" y="265176"/>
            <a:ext cx="256032" cy="256032"/>
          </a:xfrm>
          <a:prstGeom prst="rect">
            <a:avLst/>
          </a:prstGeom>
          <a:ln w="9525">
            <a:solidFill>
              <a:srgbClr val="EEF0F8"/>
            </a:solidFill>
            <a:prstDash val="solid"/>
          </a:ln>
        </p:spPr>
      </p:sp>
      <p:sp>
        <p:nvSpPr>
          <p:cNvPr id="5" name="mini-box-2"/>
          <p:cNvSpPr/>
          <p:nvPr/>
        </p:nvSpPr>
        <p:spPr>
          <a:xfrm>
            <a:off x="8348472" y="320040"/>
            <a:ext cx="146304" cy="146304"/>
          </a:xfrm>
          <a:prstGeom prst="rect">
            <a:avLst/>
          </a:prstGeom>
          <a:solidFill>
            <a:srgbClr val="A3E635"/>
          </a:solidFill>
          <a:ln w="9525">
            <a:solidFill>
              <a:srgbClr val="A3E635"/>
            </a:solidFill>
            <a:prstDash val="solid"/>
          </a:ln>
        </p:spPr>
      </p:sp>
      <p:sp>
        <p:nvSpPr>
          <p:cNvPr id="6" name="ilerleme-zemin"/>
          <p:cNvSpPr/>
          <p:nvPr/>
        </p:nvSpPr>
        <p:spPr>
          <a:xfrm>
            <a:off x="0" y="5070348"/>
            <a:ext cx="9144000" cy="73152"/>
          </a:xfrm>
          <a:prstGeom prst="rect">
            <a:avLst/>
          </a:prstGeom>
          <a:solidFill>
            <a:srgbClr val="1A2044"/>
          </a:solidFill>
          <a:ln/>
        </p:spPr>
      </p:sp>
      <p:sp>
        <p:nvSpPr>
          <p:cNvPr id="7" name="ilerleme"/>
          <p:cNvSpPr/>
          <p:nvPr/>
        </p:nvSpPr>
        <p:spPr>
          <a:xfrm>
            <a:off x="0" y="5070348"/>
            <a:ext cx="6379535" cy="73152"/>
          </a:xfrm>
          <a:prstGeom prst="rect">
            <a:avLst/>
          </a:prstGeom>
          <a:solidFill>
            <a:srgbClr val="A3E635"/>
          </a:solidFill>
          <a:ln/>
        </p:spPr>
      </p:sp>
      <p:sp>
        <p:nvSpPr>
          <p:cNvPr id="8" name="Text 6"/>
          <p:cNvSpPr txBox="1"/>
          <p:nvPr/>
        </p:nvSpPr>
        <p:spPr>
          <a:xfrm>
            <a:off x="548640" y="4791456"/>
            <a:ext cx="3657600" cy="201168"/>
          </a:xfrm>
          <a:prstGeom prst="rect">
            <a:avLst/>
          </a:prstGeom>
          <a:noFill/>
          <a:ln/>
        </p:spPr>
        <p:txBody>
          <a:bodyPr wrap="square" lIns="0" tIns="0" rIns="0" bIns="0" rtlCol="0" anchor="t"/>
          <a:lstStyle/>
          <a:p>
            <a:pPr marL="0" indent="0">
              <a:buNone/>
            </a:pPr>
            <a:r>
              <a:rPr lang="en-US" sz="850" dirty="0">
                <a:solidFill>
                  <a:srgbClr val="6C759E"/>
                </a:solidFill>
                <a:latin typeface="Arial" pitchFamily="34" charset="0"/>
                <a:ea typeface="Arial" pitchFamily="34" charset="-122"/>
                <a:cs typeface="Arial" pitchFamily="34" charset="-120"/>
              </a:rPr>
              <a:t>KCŞ A.Ş.  ·  CSS ile stil ve düzen</a:t>
            </a:r>
            <a:endParaRPr lang="en-US" sz="850" dirty="0"/>
          </a:p>
        </p:txBody>
      </p:sp>
      <p:sp>
        <p:nvSpPr>
          <p:cNvPr id="9" name="Text 7"/>
          <p:cNvSpPr txBox="1"/>
          <p:nvPr/>
        </p:nvSpPr>
        <p:spPr>
          <a:xfrm>
            <a:off x="4206240" y="4791456"/>
            <a:ext cx="3840480" cy="201168"/>
          </a:xfrm>
          <a:prstGeom prst="rect">
            <a:avLst/>
          </a:prstGeom>
          <a:noFill/>
          <a:ln/>
        </p:spPr>
        <p:txBody>
          <a:bodyPr wrap="square" lIns="0" tIns="0" rIns="0" bIns="0" rtlCol="0" anchor="t"/>
          <a:lstStyle/>
          <a:p>
            <a:pPr marL="0" indent="0" algn="r">
              <a:buNone/>
            </a:pPr>
            <a:r>
              <a:rPr lang="en-US" sz="850" dirty="0">
                <a:solidFill>
                  <a:srgbClr val="6C759E"/>
                </a:solidFill>
                <a:latin typeface="Arial" pitchFamily="34" charset="0"/>
                <a:ea typeface="Arial" pitchFamily="34" charset="-122"/>
                <a:cs typeface="Arial" pitchFamily="34" charset="-120"/>
              </a:rPr>
              <a:t>MDN · CSS layout</a:t>
            </a:r>
            <a:endParaRPr lang="en-US" sz="850" dirty="0"/>
          </a:p>
        </p:txBody>
      </p:sp>
      <p:sp>
        <p:nvSpPr>
          <p:cNvPr id="10" name="Text 8"/>
          <p:cNvSpPr txBox="1"/>
          <p:nvPr/>
        </p:nvSpPr>
        <p:spPr>
          <a:xfrm>
            <a:off x="8092440" y="4791456"/>
            <a:ext cx="685800" cy="201168"/>
          </a:xfrm>
          <a:prstGeom prst="rect">
            <a:avLst/>
          </a:prstGeom>
          <a:noFill/>
          <a:ln/>
        </p:spPr>
        <p:txBody>
          <a:bodyPr wrap="square" lIns="0" tIns="0" rIns="0" bIns="0" rtlCol="0" anchor="t"/>
          <a:lstStyle/>
          <a:p>
            <a:pPr marL="0" indent="0" algn="r">
              <a:buNone/>
            </a:pPr>
            <a:r>
              <a:rPr lang="en-US" sz="850" dirty="0">
                <a:solidFill>
                  <a:srgbClr val="9AA3C7"/>
                </a:solidFill>
                <a:latin typeface="Courier New" pitchFamily="34" charset="0"/>
                <a:ea typeface="Courier New" pitchFamily="34" charset="-122"/>
                <a:cs typeface="Courier New" pitchFamily="34" charset="-120"/>
              </a:rPr>
              <a:t>30 / 43</a:t>
            </a:r>
            <a:endParaRPr lang="en-US" sz="850" dirty="0"/>
          </a:p>
        </p:txBody>
      </p:sp>
      <p:sp>
        <p:nvSpPr>
          <p:cNvPr id="11" name="Text 9"/>
          <p:cNvSpPr txBox="1"/>
          <p:nvPr/>
        </p:nvSpPr>
        <p:spPr>
          <a:xfrm>
            <a:off x="457200" y="822960"/>
            <a:ext cx="2926080" cy="1828800"/>
          </a:xfrm>
          <a:prstGeom prst="rect">
            <a:avLst/>
          </a:prstGeom>
          <a:noFill/>
          <a:ln/>
        </p:spPr>
        <p:txBody>
          <a:bodyPr wrap="square" lIns="0" tIns="0" rIns="0" bIns="0" rtlCol="0" anchor="ctr"/>
          <a:lstStyle/>
          <a:p>
            <a:pPr marL="0" indent="0">
              <a:buNone/>
            </a:pPr>
            <a:r>
              <a:rPr lang="en-US" sz="12000" b="1" dirty="0">
                <a:solidFill>
                  <a:srgbClr val="A3E635"/>
                </a:solidFill>
                <a:latin typeface="Arial" pitchFamily="34" charset="0"/>
                <a:ea typeface="Arial" pitchFamily="34" charset="-122"/>
                <a:cs typeface="Arial" pitchFamily="34" charset="-120"/>
              </a:rPr>
              <a:t>03</a:t>
            </a:r>
            <a:endParaRPr lang="en-US" sz="12000" dirty="0"/>
          </a:p>
        </p:txBody>
      </p:sp>
      <p:sp>
        <p:nvSpPr>
          <p:cNvPr id="12" name="Text 10"/>
          <p:cNvSpPr txBox="1"/>
          <p:nvPr/>
        </p:nvSpPr>
        <p:spPr>
          <a:xfrm>
            <a:off x="3291840" y="1143000"/>
            <a:ext cx="5486400" cy="548640"/>
          </a:xfrm>
          <a:prstGeom prst="rect">
            <a:avLst/>
          </a:prstGeom>
          <a:noFill/>
          <a:ln/>
        </p:spPr>
        <p:txBody>
          <a:bodyPr wrap="square" lIns="0" tIns="0" rIns="0" bIns="0" rtlCol="0" anchor="t"/>
          <a:lstStyle/>
          <a:p>
            <a:pPr marL="0" indent="0">
              <a:buNone/>
            </a:pPr>
            <a:r>
              <a:rPr lang="en-US" sz="3000" b="1" dirty="0">
                <a:solidFill>
                  <a:srgbClr val="EEF0F8"/>
                </a:solidFill>
                <a:latin typeface="Arial" pitchFamily="34" charset="0"/>
                <a:ea typeface="Arial" pitchFamily="34" charset="-122"/>
                <a:cs typeface="Arial" pitchFamily="34" charset="-120"/>
              </a:rPr>
              <a:t>CSS düzeni</a:t>
            </a:r>
            <a:endParaRPr lang="en-US" sz="3000" dirty="0"/>
          </a:p>
        </p:txBody>
      </p:sp>
      <p:sp>
        <p:nvSpPr>
          <p:cNvPr id="13" name="Text 11"/>
          <p:cNvSpPr txBox="1"/>
          <p:nvPr/>
        </p:nvSpPr>
        <p:spPr>
          <a:xfrm>
            <a:off x="3291840" y="1691640"/>
            <a:ext cx="5486400" cy="274320"/>
          </a:xfrm>
          <a:prstGeom prst="rect">
            <a:avLst/>
          </a:prstGeom>
          <a:noFill/>
          <a:ln/>
        </p:spPr>
        <p:txBody>
          <a:bodyPr wrap="square" lIns="0" tIns="0" rIns="0" bIns="0" rtlCol="0" anchor="t"/>
          <a:lstStyle/>
          <a:p>
            <a:pPr marL="0" indent="0">
              <a:buNone/>
            </a:pPr>
            <a:r>
              <a:rPr lang="en-US" sz="1300" dirty="0">
                <a:solidFill>
                  <a:srgbClr val="A3E635"/>
                </a:solidFill>
                <a:latin typeface="Courier New" pitchFamily="34" charset="0"/>
                <a:ea typeface="Courier New" pitchFamily="34" charset="-122"/>
                <a:cs typeface="Courier New" pitchFamily="34" charset="-120"/>
              </a:rPr>
              <a:t>CSS layout</a:t>
            </a:r>
            <a:endParaRPr lang="en-US" sz="1300" dirty="0"/>
          </a:p>
        </p:txBody>
      </p:sp>
      <p:sp>
        <p:nvSpPr>
          <p:cNvPr id="14" name="Text 12"/>
          <p:cNvSpPr txBox="1"/>
          <p:nvPr/>
        </p:nvSpPr>
        <p:spPr>
          <a:xfrm>
            <a:off x="3291840" y="2011680"/>
            <a:ext cx="5486400" cy="274320"/>
          </a:xfrm>
          <a:prstGeom prst="rect">
            <a:avLst/>
          </a:prstGeom>
          <a:noFill/>
          <a:ln/>
        </p:spPr>
        <p:txBody>
          <a:bodyPr wrap="square" lIns="0" tIns="0" rIns="0" bIns="0" rtlCol="0" anchor="t"/>
          <a:lstStyle/>
          <a:p>
            <a:pPr marL="0" indent="0">
              <a:buNone/>
            </a:pPr>
            <a:r>
              <a:rPr lang="en-US" sz="1100" dirty="0">
                <a:solidFill>
                  <a:srgbClr val="9AA3C7"/>
                </a:solidFill>
                <a:latin typeface="Arial" pitchFamily="34" charset="0"/>
                <a:ea typeface="Arial" pitchFamily="34" charset="-122"/>
                <a:cs typeface="Arial" pitchFamily="34" charset="-120"/>
              </a:rPr>
              <a:t>7 ders</a:t>
            </a:r>
            <a:endParaRPr lang="en-US" sz="1100" dirty="0"/>
          </a:p>
        </p:txBody>
      </p:sp>
      <p:sp>
        <p:nvSpPr>
          <p:cNvPr id="15" name="Text 13"/>
          <p:cNvSpPr txBox="1"/>
          <p:nvPr/>
        </p:nvSpPr>
        <p:spPr>
          <a:xfrm>
            <a:off x="548640" y="2743200"/>
            <a:ext cx="2560320" cy="256032"/>
          </a:xfrm>
          <a:prstGeom prst="roundRect">
            <a:avLst>
              <a:gd name="adj" fmla="val 42857"/>
            </a:avLst>
          </a:prstGeom>
          <a:solidFill>
            <a:srgbClr val="1A2044"/>
          </a:solidFill>
          <a:ln w="12700">
            <a:solidFill>
              <a:srgbClr val="A3E635"/>
            </a:solidFill>
          </a:ln>
        </p:spPr>
        <p:txBody>
          <a:bodyPr wrap="square" lIns="0" tIns="0" rIns="0" bIns="0" rtlCol="0" anchor="ctr"/>
          <a:lstStyle/>
          <a:p>
            <a:pPr marL="0" indent="0" algn="ctr">
              <a:buNone/>
            </a:pPr>
            <a:r>
              <a:rPr lang="en-US" sz="950" b="1" dirty="0">
                <a:solidFill>
                  <a:srgbClr val="A3E635"/>
                </a:solidFill>
                <a:latin typeface="Arial" pitchFamily="34" charset="0"/>
                <a:ea typeface="Arial" pitchFamily="34" charset="-122"/>
                <a:cs typeface="Arial" pitchFamily="34" charset="-120"/>
              </a:rPr>
              <a:t>Introduction</a:t>
            </a:r>
            <a:endParaRPr lang="en-US" sz="950" dirty="0"/>
          </a:p>
        </p:txBody>
      </p:sp>
      <p:sp>
        <p:nvSpPr>
          <p:cNvPr id="16" name="Text 14"/>
          <p:cNvSpPr txBox="1"/>
          <p:nvPr/>
        </p:nvSpPr>
        <p:spPr>
          <a:xfrm>
            <a:off x="3246120" y="2743200"/>
            <a:ext cx="2560320" cy="256032"/>
          </a:xfrm>
          <a:prstGeom prst="roundRect">
            <a:avLst>
              <a:gd name="adj" fmla="val 42857"/>
            </a:avLst>
          </a:prstGeom>
          <a:solidFill>
            <a:srgbClr val="1A2044"/>
          </a:solidFill>
          <a:ln w="12700">
            <a:solidFill>
              <a:srgbClr val="A3E635"/>
            </a:solidFill>
          </a:ln>
        </p:spPr>
        <p:txBody>
          <a:bodyPr wrap="square" lIns="0" tIns="0" rIns="0" bIns="0" rtlCol="0" anchor="ctr"/>
          <a:lstStyle/>
          <a:p>
            <a:pPr marL="0" indent="0" algn="ctr">
              <a:buNone/>
            </a:pPr>
            <a:r>
              <a:rPr lang="en-US" sz="950" b="1" dirty="0">
                <a:solidFill>
                  <a:srgbClr val="A3E635"/>
                </a:solidFill>
                <a:latin typeface="Arial" pitchFamily="34" charset="0"/>
                <a:ea typeface="Arial" pitchFamily="34" charset="-122"/>
                <a:cs typeface="Arial" pitchFamily="34" charset="-120"/>
              </a:rPr>
              <a:t>Floats</a:t>
            </a:r>
            <a:endParaRPr lang="en-US" sz="950" dirty="0"/>
          </a:p>
        </p:txBody>
      </p:sp>
      <p:sp>
        <p:nvSpPr>
          <p:cNvPr id="17" name="Text 15"/>
          <p:cNvSpPr txBox="1"/>
          <p:nvPr/>
        </p:nvSpPr>
        <p:spPr>
          <a:xfrm>
            <a:off x="5943600" y="2743200"/>
            <a:ext cx="2560320" cy="256032"/>
          </a:xfrm>
          <a:prstGeom prst="roundRect">
            <a:avLst>
              <a:gd name="adj" fmla="val 42857"/>
            </a:avLst>
          </a:prstGeom>
          <a:solidFill>
            <a:srgbClr val="1A2044"/>
          </a:solidFill>
          <a:ln w="12700">
            <a:solidFill>
              <a:srgbClr val="A3E635"/>
            </a:solidFill>
          </a:ln>
        </p:spPr>
        <p:txBody>
          <a:bodyPr wrap="square" lIns="0" tIns="0" rIns="0" bIns="0" rtlCol="0" anchor="ctr"/>
          <a:lstStyle/>
          <a:p>
            <a:pPr marL="0" indent="0" algn="ctr">
              <a:buNone/>
            </a:pPr>
            <a:r>
              <a:rPr lang="en-US" sz="950" b="1" dirty="0">
                <a:solidFill>
                  <a:srgbClr val="A3E635"/>
                </a:solidFill>
                <a:latin typeface="Arial" pitchFamily="34" charset="0"/>
                <a:ea typeface="Arial" pitchFamily="34" charset="-122"/>
                <a:cs typeface="Arial" pitchFamily="34" charset="-120"/>
              </a:rPr>
              <a:t>Positioning</a:t>
            </a:r>
            <a:endParaRPr lang="en-US" sz="950" dirty="0"/>
          </a:p>
        </p:txBody>
      </p:sp>
      <p:sp>
        <p:nvSpPr>
          <p:cNvPr id="18" name="Text 16"/>
          <p:cNvSpPr txBox="1"/>
          <p:nvPr/>
        </p:nvSpPr>
        <p:spPr>
          <a:xfrm>
            <a:off x="548640" y="3090672"/>
            <a:ext cx="2560320" cy="256032"/>
          </a:xfrm>
          <a:prstGeom prst="roundRect">
            <a:avLst>
              <a:gd name="adj" fmla="val 42857"/>
            </a:avLst>
          </a:prstGeom>
          <a:solidFill>
            <a:srgbClr val="1A2044"/>
          </a:solidFill>
          <a:ln w="12700">
            <a:solidFill>
              <a:srgbClr val="A3E635"/>
            </a:solidFill>
          </a:ln>
        </p:spPr>
        <p:txBody>
          <a:bodyPr wrap="square" lIns="0" tIns="0" rIns="0" bIns="0" rtlCol="0" anchor="ctr"/>
          <a:lstStyle/>
          <a:p>
            <a:pPr marL="0" indent="0" algn="ctr">
              <a:buNone/>
            </a:pPr>
            <a:r>
              <a:rPr lang="en-US" sz="950" b="1" dirty="0">
                <a:solidFill>
                  <a:srgbClr val="A3E635"/>
                </a:solidFill>
                <a:latin typeface="Arial" pitchFamily="34" charset="0"/>
                <a:ea typeface="Arial" pitchFamily="34" charset="-122"/>
                <a:cs typeface="Arial" pitchFamily="34" charset="-120"/>
              </a:rPr>
              <a:t>Flexbox</a:t>
            </a:r>
            <a:endParaRPr lang="en-US" sz="950" dirty="0"/>
          </a:p>
        </p:txBody>
      </p:sp>
      <p:sp>
        <p:nvSpPr>
          <p:cNvPr id="19" name="Text 17"/>
          <p:cNvSpPr txBox="1"/>
          <p:nvPr/>
        </p:nvSpPr>
        <p:spPr>
          <a:xfrm>
            <a:off x="3246120" y="3090672"/>
            <a:ext cx="2560320" cy="256032"/>
          </a:xfrm>
          <a:prstGeom prst="roundRect">
            <a:avLst>
              <a:gd name="adj" fmla="val 42857"/>
            </a:avLst>
          </a:prstGeom>
          <a:solidFill>
            <a:srgbClr val="1A2044"/>
          </a:solidFill>
          <a:ln w="12700">
            <a:solidFill>
              <a:srgbClr val="A3E635"/>
            </a:solidFill>
          </a:ln>
        </p:spPr>
        <p:txBody>
          <a:bodyPr wrap="square" lIns="0" tIns="0" rIns="0" bIns="0" rtlCol="0" anchor="ctr"/>
          <a:lstStyle/>
          <a:p>
            <a:pPr marL="0" indent="0" algn="ctr">
              <a:buNone/>
            </a:pPr>
            <a:r>
              <a:rPr lang="en-US" sz="950" b="1" dirty="0">
                <a:solidFill>
                  <a:srgbClr val="A3E635"/>
                </a:solidFill>
                <a:latin typeface="Arial" pitchFamily="34" charset="0"/>
                <a:ea typeface="Arial" pitchFamily="34" charset="-122"/>
                <a:cs typeface="Arial" pitchFamily="34" charset="-120"/>
              </a:rPr>
              <a:t>CSS grid layout</a:t>
            </a:r>
            <a:endParaRPr lang="en-US" sz="950" dirty="0"/>
          </a:p>
        </p:txBody>
      </p:sp>
      <p:sp>
        <p:nvSpPr>
          <p:cNvPr id="20" name="Text 18"/>
          <p:cNvSpPr txBox="1"/>
          <p:nvPr/>
        </p:nvSpPr>
        <p:spPr>
          <a:xfrm>
            <a:off x="5943600" y="3090672"/>
            <a:ext cx="2560320" cy="256032"/>
          </a:xfrm>
          <a:prstGeom prst="roundRect">
            <a:avLst>
              <a:gd name="adj" fmla="val 42857"/>
            </a:avLst>
          </a:prstGeom>
          <a:solidFill>
            <a:srgbClr val="1A2044"/>
          </a:solidFill>
          <a:ln w="12700">
            <a:solidFill>
              <a:srgbClr val="A3E635"/>
            </a:solidFill>
          </a:ln>
        </p:spPr>
        <p:txBody>
          <a:bodyPr wrap="square" lIns="0" tIns="0" rIns="0" bIns="0" rtlCol="0" anchor="ctr"/>
          <a:lstStyle/>
          <a:p>
            <a:pPr marL="0" indent="0" algn="ctr">
              <a:buNone/>
            </a:pPr>
            <a:r>
              <a:rPr lang="en-US" sz="950" b="1" dirty="0">
                <a:solidFill>
                  <a:srgbClr val="A3E635"/>
                </a:solidFill>
                <a:latin typeface="Arial" pitchFamily="34" charset="0"/>
                <a:ea typeface="Arial" pitchFamily="34" charset="-122"/>
                <a:cs typeface="Arial" pitchFamily="34" charset="-120"/>
              </a:rPr>
              <a:t>Responsive web design</a:t>
            </a:r>
            <a:endParaRPr lang="en-US" sz="950" dirty="0"/>
          </a:p>
        </p:txBody>
      </p:sp>
      <p:sp>
        <p:nvSpPr>
          <p:cNvPr id="21" name="Text 19"/>
          <p:cNvSpPr txBox="1"/>
          <p:nvPr/>
        </p:nvSpPr>
        <p:spPr>
          <a:xfrm>
            <a:off x="548640" y="3438144"/>
            <a:ext cx="2560320" cy="256032"/>
          </a:xfrm>
          <a:prstGeom prst="roundRect">
            <a:avLst>
              <a:gd name="adj" fmla="val 42857"/>
            </a:avLst>
          </a:prstGeom>
          <a:solidFill>
            <a:srgbClr val="1A2044"/>
          </a:solidFill>
          <a:ln w="12700">
            <a:solidFill>
              <a:srgbClr val="A3E635"/>
            </a:solidFill>
          </a:ln>
        </p:spPr>
        <p:txBody>
          <a:bodyPr wrap="square" lIns="0" tIns="0" rIns="0" bIns="0" rtlCol="0" anchor="ctr"/>
          <a:lstStyle/>
          <a:p>
            <a:pPr marL="0" indent="0" algn="ctr">
              <a:buNone/>
            </a:pPr>
            <a:r>
              <a:rPr lang="en-US" sz="950" b="1" dirty="0">
                <a:solidFill>
                  <a:srgbClr val="A3E635"/>
                </a:solidFill>
                <a:latin typeface="Arial" pitchFamily="34" charset="0"/>
                <a:ea typeface="Arial" pitchFamily="34" charset="-122"/>
                <a:cs typeface="Arial" pitchFamily="34" charset="-120"/>
              </a:rPr>
              <a:t>Media queries</a:t>
            </a:r>
            <a:endParaRPr lang="en-US" sz="950" dirty="0"/>
          </a:p>
        </p:txBody>
      </p:sp>
    </p:spTree>
  </p:cSld>
  <p:clrMapOvr>
    <a:masterClrMapping/>
  </p:clrMapOvr>
  <p:transition spd="med">
    <p:pull/>
  </p:transition>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548640" y="256032"/>
            <a:ext cx="4572000" cy="201168"/>
          </a:xfrm>
          <a:prstGeom prst="rect">
            <a:avLst/>
          </a:prstGeom>
          <a:noFill/>
          <a:ln/>
        </p:spPr>
        <p:txBody>
          <a:bodyPr wrap="square" lIns="0" tIns="0" rIns="0" bIns="0" rtlCol="0" anchor="t"/>
          <a:lstStyle/>
          <a:p>
            <a:pPr marL="0" indent="0">
              <a:buNone/>
            </a:pPr>
            <a:r>
              <a:rPr lang="en-US" sz="900" b="1" kern="0" spc="200" dirty="0">
                <a:solidFill>
                  <a:srgbClr val="A3E635"/>
                </a:solidFill>
                <a:latin typeface="Arial" pitchFamily="34" charset="0"/>
                <a:ea typeface="Arial" pitchFamily="34" charset="-122"/>
                <a:cs typeface="Arial" pitchFamily="34" charset="-120"/>
              </a:rPr>
              <a:t>MODÜL 3 · CSS DÜZENİ</a:t>
            </a:r>
            <a:endParaRPr lang="en-US" sz="900" dirty="0"/>
          </a:p>
        </p:txBody>
      </p:sp>
      <p:sp>
        <p:nvSpPr>
          <p:cNvPr id="3" name="mini-box-0"/>
          <p:cNvSpPr/>
          <p:nvPr/>
        </p:nvSpPr>
        <p:spPr>
          <a:xfrm>
            <a:off x="8229600" y="201168"/>
            <a:ext cx="384048" cy="384048"/>
          </a:xfrm>
          <a:prstGeom prst="rect">
            <a:avLst/>
          </a:prstGeom>
          <a:ln w="9525">
            <a:solidFill>
              <a:srgbClr val="A3E635"/>
            </a:solidFill>
            <a:prstDash val="solid"/>
          </a:ln>
        </p:spPr>
      </p:sp>
      <p:sp>
        <p:nvSpPr>
          <p:cNvPr id="4" name="mini-box-1"/>
          <p:cNvSpPr/>
          <p:nvPr/>
        </p:nvSpPr>
        <p:spPr>
          <a:xfrm>
            <a:off x="8293608" y="265176"/>
            <a:ext cx="256032" cy="256032"/>
          </a:xfrm>
          <a:prstGeom prst="rect">
            <a:avLst/>
          </a:prstGeom>
          <a:ln w="9525">
            <a:solidFill>
              <a:srgbClr val="EEF0F8"/>
            </a:solidFill>
            <a:prstDash val="solid"/>
          </a:ln>
        </p:spPr>
      </p:sp>
      <p:sp>
        <p:nvSpPr>
          <p:cNvPr id="5" name="mini-box-2"/>
          <p:cNvSpPr/>
          <p:nvPr/>
        </p:nvSpPr>
        <p:spPr>
          <a:xfrm>
            <a:off x="8348472" y="320040"/>
            <a:ext cx="146304" cy="146304"/>
          </a:xfrm>
          <a:prstGeom prst="rect">
            <a:avLst/>
          </a:prstGeom>
          <a:solidFill>
            <a:srgbClr val="A3E635"/>
          </a:solidFill>
          <a:ln w="9525">
            <a:solidFill>
              <a:srgbClr val="A3E635"/>
            </a:solidFill>
            <a:prstDash val="solid"/>
          </a:ln>
        </p:spPr>
      </p:sp>
      <p:sp>
        <p:nvSpPr>
          <p:cNvPr id="6" name="ilerleme-zemin"/>
          <p:cNvSpPr/>
          <p:nvPr/>
        </p:nvSpPr>
        <p:spPr>
          <a:xfrm>
            <a:off x="0" y="5070348"/>
            <a:ext cx="9144000" cy="73152"/>
          </a:xfrm>
          <a:prstGeom prst="rect">
            <a:avLst/>
          </a:prstGeom>
          <a:solidFill>
            <a:srgbClr val="1A2044"/>
          </a:solidFill>
          <a:ln/>
        </p:spPr>
      </p:sp>
      <p:sp>
        <p:nvSpPr>
          <p:cNvPr id="7" name="ilerleme"/>
          <p:cNvSpPr/>
          <p:nvPr/>
        </p:nvSpPr>
        <p:spPr>
          <a:xfrm>
            <a:off x="0" y="5070348"/>
            <a:ext cx="6592186" cy="73152"/>
          </a:xfrm>
          <a:prstGeom prst="rect">
            <a:avLst/>
          </a:prstGeom>
          <a:solidFill>
            <a:srgbClr val="A3E635"/>
          </a:solidFill>
          <a:ln/>
        </p:spPr>
      </p:sp>
      <p:sp>
        <p:nvSpPr>
          <p:cNvPr id="8" name="Text 6"/>
          <p:cNvSpPr txBox="1"/>
          <p:nvPr/>
        </p:nvSpPr>
        <p:spPr>
          <a:xfrm>
            <a:off x="548640" y="4791456"/>
            <a:ext cx="3657600" cy="201168"/>
          </a:xfrm>
          <a:prstGeom prst="rect">
            <a:avLst/>
          </a:prstGeom>
          <a:noFill/>
          <a:ln/>
        </p:spPr>
        <p:txBody>
          <a:bodyPr wrap="square" lIns="0" tIns="0" rIns="0" bIns="0" rtlCol="0" anchor="t"/>
          <a:lstStyle/>
          <a:p>
            <a:pPr marL="0" indent="0">
              <a:buNone/>
            </a:pPr>
            <a:r>
              <a:rPr lang="en-US" sz="850" dirty="0">
                <a:solidFill>
                  <a:srgbClr val="6C759E"/>
                </a:solidFill>
                <a:latin typeface="Arial" pitchFamily="34" charset="0"/>
                <a:ea typeface="Arial" pitchFamily="34" charset="-122"/>
                <a:cs typeface="Arial" pitchFamily="34" charset="-120"/>
              </a:rPr>
              <a:t>KCŞ A.Ş.  ·  CSS ile stil ve düzen</a:t>
            </a:r>
            <a:endParaRPr lang="en-US" sz="850" dirty="0"/>
          </a:p>
        </p:txBody>
      </p:sp>
      <p:sp>
        <p:nvSpPr>
          <p:cNvPr id="9" name="Text 7"/>
          <p:cNvSpPr txBox="1"/>
          <p:nvPr/>
        </p:nvSpPr>
        <p:spPr>
          <a:xfrm>
            <a:off x="4206240" y="4791456"/>
            <a:ext cx="3840480" cy="201168"/>
          </a:xfrm>
          <a:prstGeom prst="rect">
            <a:avLst/>
          </a:prstGeom>
          <a:noFill/>
          <a:ln/>
        </p:spPr>
        <p:txBody>
          <a:bodyPr wrap="square" lIns="0" tIns="0" rIns="0" bIns="0" rtlCol="0" anchor="t"/>
          <a:lstStyle/>
          <a:p>
            <a:pPr marL="0" indent="0" algn="r">
              <a:buNone/>
            </a:pPr>
            <a:r>
              <a:rPr lang="en-US" sz="850" dirty="0">
                <a:solidFill>
                  <a:srgbClr val="6C759E"/>
                </a:solidFill>
                <a:latin typeface="Arial" pitchFamily="34" charset="0"/>
                <a:ea typeface="Arial" pitchFamily="34" charset="-122"/>
                <a:cs typeface="Arial" pitchFamily="34" charset="-120"/>
              </a:rPr>
              <a:t>MDN · Introduction to CSS layout</a:t>
            </a:r>
            <a:endParaRPr lang="en-US" sz="850" dirty="0"/>
          </a:p>
        </p:txBody>
      </p:sp>
      <p:sp>
        <p:nvSpPr>
          <p:cNvPr id="10" name="Text 8"/>
          <p:cNvSpPr txBox="1"/>
          <p:nvPr/>
        </p:nvSpPr>
        <p:spPr>
          <a:xfrm>
            <a:off x="8092440" y="4791456"/>
            <a:ext cx="685800" cy="201168"/>
          </a:xfrm>
          <a:prstGeom prst="rect">
            <a:avLst/>
          </a:prstGeom>
          <a:noFill/>
          <a:ln/>
        </p:spPr>
        <p:txBody>
          <a:bodyPr wrap="square" lIns="0" tIns="0" rIns="0" bIns="0" rtlCol="0" anchor="t"/>
          <a:lstStyle/>
          <a:p>
            <a:pPr marL="0" indent="0" algn="r">
              <a:buNone/>
            </a:pPr>
            <a:r>
              <a:rPr lang="en-US" sz="850" dirty="0">
                <a:solidFill>
                  <a:srgbClr val="9AA3C7"/>
                </a:solidFill>
                <a:latin typeface="Courier New" pitchFamily="34" charset="0"/>
                <a:ea typeface="Courier New" pitchFamily="34" charset="-122"/>
                <a:cs typeface="Courier New" pitchFamily="34" charset="-120"/>
              </a:rPr>
              <a:t>31 / 43</a:t>
            </a:r>
            <a:endParaRPr lang="en-US" sz="850" dirty="0"/>
          </a:p>
        </p:txBody>
      </p:sp>
      <p:sp>
        <p:nvSpPr>
          <p:cNvPr id="11" name="Text 9"/>
          <p:cNvSpPr txBox="1"/>
          <p:nvPr/>
        </p:nvSpPr>
        <p:spPr>
          <a:xfrm>
            <a:off x="548640" y="502920"/>
            <a:ext cx="5943600" cy="237744"/>
          </a:xfrm>
          <a:prstGeom prst="rect">
            <a:avLst/>
          </a:prstGeom>
          <a:noFill/>
          <a:ln/>
        </p:spPr>
        <p:txBody>
          <a:bodyPr wrap="square" lIns="0" tIns="0" rIns="0" bIns="0" rtlCol="0" anchor="t"/>
          <a:lstStyle/>
          <a:p>
            <a:pPr marL="0" indent="0">
              <a:buNone/>
            </a:pPr>
            <a:r>
              <a:rPr lang="en-US" sz="1100" b="1" dirty="0">
                <a:solidFill>
                  <a:srgbClr val="A3E635"/>
                </a:solidFill>
                <a:latin typeface="Courier New" pitchFamily="34" charset="0"/>
                <a:ea typeface="Courier New" pitchFamily="34" charset="-122"/>
                <a:cs typeface="Courier New" pitchFamily="34" charset="-120"/>
              </a:rPr>
              <a:t>normal flow</a:t>
            </a:r>
            <a:endParaRPr lang="en-US" sz="1100" dirty="0"/>
          </a:p>
        </p:txBody>
      </p:sp>
      <p:sp>
        <p:nvSpPr>
          <p:cNvPr id="12" name="Text 10"/>
          <p:cNvSpPr txBox="1"/>
          <p:nvPr/>
        </p:nvSpPr>
        <p:spPr>
          <a:xfrm>
            <a:off x="548640" y="749808"/>
            <a:ext cx="7589520" cy="502920"/>
          </a:xfrm>
          <a:prstGeom prst="rect">
            <a:avLst/>
          </a:prstGeom>
          <a:noFill/>
          <a:ln/>
        </p:spPr>
        <p:txBody>
          <a:bodyPr wrap="square" lIns="0" tIns="0" rIns="0" bIns="0" rtlCol="0" anchor="ctr"/>
          <a:lstStyle/>
          <a:p>
            <a:pPr marL="0" indent="0">
              <a:buNone/>
            </a:pPr>
            <a:r>
              <a:rPr lang="en-US" sz="2400" b="1" dirty="0">
                <a:solidFill>
                  <a:srgbClr val="EEF0F8"/>
                </a:solidFill>
                <a:latin typeface="Arial" pitchFamily="34" charset="0"/>
                <a:ea typeface="Arial" pitchFamily="34" charset="-122"/>
                <a:cs typeface="Arial" pitchFamily="34" charset="-120"/>
              </a:rPr>
              <a:t>Düzene giriş: normal akış</a:t>
            </a:r>
            <a:endParaRPr lang="en-US" sz="2400" dirty="0"/>
          </a:p>
        </p:txBody>
      </p:sp>
      <p:sp>
        <p:nvSpPr>
          <p:cNvPr id="13" name="kart"/>
          <p:cNvSpPr/>
          <p:nvPr/>
        </p:nvSpPr>
        <p:spPr>
          <a:xfrm>
            <a:off x="548640" y="1371600"/>
            <a:ext cx="3931920" cy="2724912"/>
          </a:xfrm>
          <a:prstGeom prst="roundRect">
            <a:avLst>
              <a:gd name="adj" fmla="val 2685"/>
            </a:avLst>
          </a:prstGeom>
          <a:solidFill>
            <a:srgbClr val="1A2044"/>
          </a:solidFill>
          <a:ln w="9525">
            <a:solidFill>
              <a:srgbClr val="2E3768"/>
            </a:solidFill>
            <a:prstDash val="solid"/>
          </a:ln>
        </p:spPr>
      </p:sp>
      <p:sp>
        <p:nvSpPr>
          <p:cNvPr id="14" name="kart-nokta"/>
          <p:cNvSpPr/>
          <p:nvPr/>
        </p:nvSpPr>
        <p:spPr>
          <a:xfrm>
            <a:off x="694944" y="1527048"/>
            <a:ext cx="91440" cy="91440"/>
          </a:xfrm>
          <a:prstGeom prst="ellipse">
            <a:avLst/>
          </a:prstGeom>
          <a:solidFill>
            <a:srgbClr val="A3E635"/>
          </a:solidFill>
          <a:ln/>
        </p:spPr>
      </p:sp>
      <p:sp>
        <p:nvSpPr>
          <p:cNvPr id="15" name="Text 13"/>
          <p:cNvSpPr txBox="1"/>
          <p:nvPr/>
        </p:nvSpPr>
        <p:spPr>
          <a:xfrm>
            <a:off x="859536" y="1444752"/>
            <a:ext cx="3520440" cy="274320"/>
          </a:xfrm>
          <a:prstGeom prst="rect">
            <a:avLst/>
          </a:prstGeom>
          <a:noFill/>
          <a:ln/>
        </p:spPr>
        <p:txBody>
          <a:bodyPr wrap="square" lIns="0" tIns="0" rIns="0" bIns="0" rtlCol="0" anchor="ctr"/>
          <a:lstStyle/>
          <a:p>
            <a:pPr marL="0" indent="0">
              <a:buNone/>
            </a:pPr>
            <a:r>
              <a:rPr lang="en-US" sz="1300" b="1" dirty="0">
                <a:solidFill>
                  <a:srgbClr val="EEF0F8"/>
                </a:solidFill>
                <a:latin typeface="Arial" pitchFamily="34" charset="0"/>
                <a:ea typeface="Arial" pitchFamily="34" charset="-122"/>
                <a:cs typeface="Arial" pitchFamily="34" charset="-120"/>
              </a:rPr>
              <a:t>Normal akış (normal flow)</a:t>
            </a:r>
            <a:endParaRPr lang="en-US" sz="1300" dirty="0"/>
          </a:p>
        </p:txBody>
      </p:sp>
      <p:sp>
        <p:nvSpPr>
          <p:cNvPr id="16" name="Text 14"/>
          <p:cNvSpPr txBox="1"/>
          <p:nvPr/>
        </p:nvSpPr>
        <p:spPr>
          <a:xfrm>
            <a:off x="694944" y="1737360"/>
            <a:ext cx="3657600" cy="2331720"/>
          </a:xfrm>
          <a:prstGeom prst="rect">
            <a:avLst/>
          </a:prstGeom>
          <a:noFill/>
          <a:ln/>
        </p:spPr>
        <p:txBody>
          <a:bodyPr wrap="square" lIns="0" tIns="0" rIns="0" bIns="0" rtlCol="0" anchor="t"/>
          <a:lstStyle/>
          <a:p>
            <a:pPr marL="139700" indent="-139700">
              <a:spcAft>
                <a:spcPts val="500"/>
              </a:spcAft>
              <a:buSzPct val="100000"/>
              <a:buChar char="▸"/>
            </a:pPr>
            <a:r>
              <a:rPr lang="en-US" sz="1000" dirty="0">
                <a:solidFill>
                  <a:srgbClr val="EEF0F8"/>
                </a:solidFill>
                <a:latin typeface="Arial" pitchFamily="34" charset="0"/>
                <a:ea typeface="Arial" pitchFamily="34" charset="-122"/>
                <a:cs typeface="Arial" pitchFamily="34" charset="-120"/>
              </a:rPr>
              <a:t>CSS değiştirmediği sürece tarayıcı öğeleri kaynak sırasına göre dizer</a:t>
            </a:r>
            <a:endParaRPr lang="en-US" sz="1000" dirty="0"/>
          </a:p>
          <a:p>
            <a:pPr marL="139700" indent="-139700">
              <a:spcAft>
                <a:spcPts val="500"/>
              </a:spcAft>
              <a:buSzPct val="100000"/>
              <a:buChar char="▸"/>
            </a:pPr>
            <a:r>
              <a:rPr lang="en-US" sz="1000" dirty="0">
                <a:solidFill>
                  <a:srgbClr val="EEF0F8"/>
                </a:solidFill>
                <a:latin typeface="Arial" pitchFamily="34" charset="0"/>
                <a:ea typeface="Arial" pitchFamily="34" charset="-122"/>
                <a:cs typeface="Arial" pitchFamily="34" charset="-120"/>
              </a:rPr>
              <a:t>Blok öğeler blok ekseninde (yazı yönüne göre) alt alta, margin'le ayrılarak dizilir</a:t>
            </a:r>
            <a:endParaRPr lang="en-US" sz="1000" dirty="0"/>
          </a:p>
          <a:p>
            <a:pPr marL="139700" indent="-139700">
              <a:spcAft>
                <a:spcPts val="500"/>
              </a:spcAft>
              <a:buSzPct val="100000"/>
              <a:buChar char="▸"/>
            </a:pPr>
            <a:r>
              <a:rPr lang="en-US" sz="1000" dirty="0">
                <a:solidFill>
                  <a:srgbClr val="EEF0F8"/>
                </a:solidFill>
                <a:latin typeface="Arial" pitchFamily="34" charset="0"/>
                <a:ea typeface="Arial" pitchFamily="34" charset="-122"/>
                <a:cs typeface="Arial" pitchFamily="34" charset="-120"/>
              </a:rPr>
              <a:t>Satır içi öğeler yer oldukça aynı satırda durur, sığmayan alt satıra kayar</a:t>
            </a:r>
            <a:endParaRPr lang="en-US" sz="1000" dirty="0"/>
          </a:p>
          <a:p>
            <a:pPr marL="139700" indent="-139700">
              <a:spcAft>
                <a:spcPts val="500"/>
              </a:spcAft>
              <a:buSzPct val="100000"/>
              <a:buChar char="▸"/>
            </a:pPr>
            <a:r>
              <a:rPr lang="en-US" sz="1000" dirty="0">
                <a:solidFill>
                  <a:srgbClr val="EEF0F8"/>
                </a:solidFill>
                <a:latin typeface="Arial" pitchFamily="34" charset="0"/>
                <a:ea typeface="Arial" pitchFamily="34" charset="-122"/>
                <a:cs typeface="Arial" pitchFamily="34" charset="-120"/>
              </a:rPr>
              <a:t>Dikeyde margin'ler çöker</a:t>
            </a:r>
            <a:endParaRPr lang="en-US" sz="1000" dirty="0"/>
          </a:p>
          <a:p>
            <a:pPr marL="139700" indent="-139700">
              <a:spcAft>
                <a:spcPts val="500"/>
              </a:spcAft>
              <a:buSzPct val="100000"/>
              <a:buChar char="▸"/>
            </a:pPr>
            <a:r>
              <a:rPr lang="en-US" sz="1000" dirty="0">
                <a:solidFill>
                  <a:srgbClr val="EEF0F8"/>
                </a:solidFill>
                <a:latin typeface="Arial" pitchFamily="34" charset="0"/>
                <a:ea typeface="Arial" pitchFamily="34" charset="-122"/>
                <a:cs typeface="Arial" pitchFamily="34" charset="-120"/>
              </a:rPr>
              <a:t>İyi yapılandırılmış HTML her ekranda ve ekran okuyucuda okunur; düzene onunla çalışarak başla</a:t>
            </a:r>
            <a:endParaRPr lang="en-US" sz="1000" dirty="0"/>
          </a:p>
        </p:txBody>
      </p:sp>
      <p:sp>
        <p:nvSpPr>
          <p:cNvPr id="17" name="kart"/>
          <p:cNvSpPr/>
          <p:nvPr/>
        </p:nvSpPr>
        <p:spPr>
          <a:xfrm>
            <a:off x="4709160" y="1371600"/>
            <a:ext cx="3886200" cy="2724912"/>
          </a:xfrm>
          <a:prstGeom prst="roundRect">
            <a:avLst>
              <a:gd name="adj" fmla="val 2685"/>
            </a:avLst>
          </a:prstGeom>
          <a:solidFill>
            <a:srgbClr val="1A2044"/>
          </a:solidFill>
          <a:ln w="9525">
            <a:solidFill>
              <a:srgbClr val="2E3768"/>
            </a:solidFill>
            <a:prstDash val="solid"/>
          </a:ln>
        </p:spPr>
      </p:sp>
      <p:sp>
        <p:nvSpPr>
          <p:cNvPr id="18" name="kart-nokta"/>
          <p:cNvSpPr/>
          <p:nvPr/>
        </p:nvSpPr>
        <p:spPr>
          <a:xfrm>
            <a:off x="4855464" y="1527048"/>
            <a:ext cx="91440" cy="91440"/>
          </a:xfrm>
          <a:prstGeom prst="ellipse">
            <a:avLst/>
          </a:prstGeom>
          <a:solidFill>
            <a:srgbClr val="22D3EE"/>
          </a:solidFill>
          <a:ln/>
        </p:spPr>
      </p:sp>
      <p:sp>
        <p:nvSpPr>
          <p:cNvPr id="19" name="Text 17"/>
          <p:cNvSpPr txBox="1"/>
          <p:nvPr/>
        </p:nvSpPr>
        <p:spPr>
          <a:xfrm>
            <a:off x="5020056" y="1444752"/>
            <a:ext cx="3474720" cy="274320"/>
          </a:xfrm>
          <a:prstGeom prst="rect">
            <a:avLst/>
          </a:prstGeom>
          <a:noFill/>
          <a:ln/>
        </p:spPr>
        <p:txBody>
          <a:bodyPr wrap="square" lIns="0" tIns="0" rIns="0" bIns="0" rtlCol="0" anchor="ctr"/>
          <a:lstStyle/>
          <a:p>
            <a:pPr marL="0" indent="0">
              <a:buNone/>
            </a:pPr>
            <a:r>
              <a:rPr lang="en-US" sz="1300" b="1" dirty="0">
                <a:solidFill>
                  <a:srgbClr val="EEF0F8"/>
                </a:solidFill>
                <a:latin typeface="Arial" pitchFamily="34" charset="0"/>
                <a:ea typeface="Arial" pitchFamily="34" charset="-122"/>
                <a:cs typeface="Arial" pitchFamily="34" charset="-120"/>
              </a:rPr>
              <a:t>Akışı değiştiren araçlar</a:t>
            </a:r>
            <a:endParaRPr lang="en-US" sz="1300" dirty="0"/>
          </a:p>
        </p:txBody>
      </p:sp>
      <p:sp>
        <p:nvSpPr>
          <p:cNvPr id="20" name="Text 18"/>
          <p:cNvSpPr txBox="1"/>
          <p:nvPr/>
        </p:nvSpPr>
        <p:spPr>
          <a:xfrm>
            <a:off x="4846320" y="1737360"/>
            <a:ext cx="3611880" cy="2331720"/>
          </a:xfrm>
          <a:prstGeom prst="rect">
            <a:avLst/>
          </a:prstGeom>
          <a:noFill/>
          <a:ln/>
        </p:spPr>
        <p:txBody>
          <a:bodyPr wrap="square" lIns="0" tIns="0" rIns="0" bIns="0" rtlCol="0" anchor="t"/>
          <a:lstStyle/>
          <a:p>
            <a:pPr marL="0" indent="0">
              <a:spcAft>
                <a:spcPts val="600"/>
              </a:spcAft>
              <a:buNone/>
            </a:pPr>
            <a:r>
              <a:rPr lang="en-US" sz="1000" b="1" dirty="0">
                <a:solidFill>
                  <a:srgbClr val="A3E635"/>
                </a:solidFill>
                <a:latin typeface="Arial" pitchFamily="34" charset="0"/>
                <a:ea typeface="Arial" pitchFamily="34" charset="-122"/>
                <a:cs typeface="Arial" pitchFamily="34" charset="-120"/>
              </a:rPr>
              <a:t>display: </a:t>
            </a:r>
            <a:r>
              <a:rPr lang="en-US" sz="1000" dirty="0">
                <a:solidFill>
                  <a:srgbClr val="EEF0F8"/>
                </a:solidFill>
                <a:latin typeface="Arial" pitchFamily="34" charset="0"/>
                <a:ea typeface="Arial" pitchFamily="34" charset="-122"/>
                <a:cs typeface="Arial" pitchFamily="34" charset="-120"/>
              </a:rPr>
              <a:t>block, inline, inline-block; ayrıca flex ve grid</a:t>
            </a:r>
            <a:endParaRPr lang="en-US" sz="1000" dirty="0"/>
          </a:p>
          <a:p>
            <a:pPr marL="0" indent="0">
              <a:spcAft>
                <a:spcPts val="600"/>
              </a:spcAft>
              <a:buNone/>
            </a:pPr>
            <a:r>
              <a:rPr lang="en-US" sz="1000" b="1" dirty="0">
                <a:solidFill>
                  <a:srgbClr val="A3E635"/>
                </a:solidFill>
                <a:latin typeface="Arial" pitchFamily="34" charset="0"/>
                <a:ea typeface="Arial" pitchFamily="34" charset="-122"/>
                <a:cs typeface="Arial" pitchFamily="34" charset="-120"/>
              </a:rPr>
              <a:t>float: </a:t>
            </a:r>
            <a:r>
              <a:rPr lang="en-US" sz="1000" dirty="0">
                <a:solidFill>
                  <a:srgbClr val="EEF0F8"/>
                </a:solidFill>
                <a:latin typeface="Arial" pitchFamily="34" charset="0"/>
                <a:ea typeface="Arial" pitchFamily="34" charset="-122"/>
                <a:cs typeface="Arial" pitchFamily="34" charset="-120"/>
              </a:rPr>
              <a:t>metni bir öğenin etrafına sar</a:t>
            </a:r>
            <a:endParaRPr lang="en-US" sz="1000" dirty="0"/>
          </a:p>
          <a:p>
            <a:pPr marL="0" indent="0">
              <a:spcAft>
                <a:spcPts val="600"/>
              </a:spcAft>
              <a:buNone/>
            </a:pPr>
            <a:r>
              <a:rPr lang="en-US" sz="1000" b="1" dirty="0">
                <a:solidFill>
                  <a:srgbClr val="A3E635"/>
                </a:solidFill>
                <a:latin typeface="Arial" pitchFamily="34" charset="0"/>
                <a:ea typeface="Arial" pitchFamily="34" charset="-122"/>
                <a:cs typeface="Arial" pitchFamily="34" charset="-120"/>
              </a:rPr>
              <a:t>position: </a:t>
            </a:r>
            <a:r>
              <a:rPr lang="en-US" sz="1000" dirty="0">
                <a:solidFill>
                  <a:srgbClr val="EEF0F8"/>
                </a:solidFill>
                <a:latin typeface="Arial" pitchFamily="34" charset="0"/>
                <a:ea typeface="Arial" pitchFamily="34" charset="-122"/>
                <a:cs typeface="Arial" pitchFamily="34" charset="-120"/>
              </a:rPr>
              <a:t>kutuyu tam istediğin yere koy</a:t>
            </a:r>
            <a:endParaRPr lang="en-US" sz="1000" dirty="0"/>
          </a:p>
          <a:p>
            <a:pPr marL="0" indent="0">
              <a:spcAft>
                <a:spcPts val="600"/>
              </a:spcAft>
              <a:buNone/>
            </a:pPr>
            <a:r>
              <a:rPr lang="en-US" sz="1000" b="1" dirty="0">
                <a:solidFill>
                  <a:srgbClr val="A3E635"/>
                </a:solidFill>
                <a:latin typeface="Arial" pitchFamily="34" charset="0"/>
                <a:ea typeface="Arial" pitchFamily="34" charset="-122"/>
                <a:cs typeface="Arial" pitchFamily="34" charset="-120"/>
              </a:rPr>
              <a:t>Flexbox ve Grid: </a:t>
            </a:r>
            <a:r>
              <a:rPr lang="en-US" sz="1000" dirty="0">
                <a:solidFill>
                  <a:srgbClr val="EEF0F8"/>
                </a:solidFill>
                <a:latin typeface="Arial" pitchFamily="34" charset="0"/>
                <a:ea typeface="Arial" pitchFamily="34" charset="-122"/>
                <a:cs typeface="Arial" pitchFamily="34" charset="-120"/>
              </a:rPr>
              <a:t>çocukların yerleşimini yöneten düzen sistemleri</a:t>
            </a:r>
            <a:endParaRPr lang="en-US" sz="1000" dirty="0"/>
          </a:p>
          <a:p>
            <a:pPr marL="0" indent="0">
              <a:spcAft>
                <a:spcPts val="600"/>
              </a:spcAft>
              <a:buNone/>
            </a:pPr>
            <a:r>
              <a:rPr lang="en-US" sz="1000" b="1" dirty="0">
                <a:solidFill>
                  <a:srgbClr val="A3E635"/>
                </a:solidFill>
                <a:latin typeface="Arial" pitchFamily="34" charset="0"/>
                <a:ea typeface="Arial" pitchFamily="34" charset="-122"/>
                <a:cs typeface="Arial" pitchFamily="34" charset="-120"/>
              </a:rPr>
              <a:t>Responsive tasarım: </a:t>
            </a:r>
            <a:r>
              <a:rPr lang="en-US" sz="1000" dirty="0">
                <a:solidFill>
                  <a:srgbClr val="EEF0F8"/>
                </a:solidFill>
                <a:latin typeface="Arial" pitchFamily="34" charset="0"/>
                <a:ea typeface="Arial" pitchFamily="34" charset="-122"/>
                <a:cs typeface="Arial" pitchFamily="34" charset="-120"/>
              </a:rPr>
              <a:t>@media ile cihaza göre farklı düzen</a:t>
            </a:r>
            <a:endParaRPr lang="en-US" sz="1000" dirty="0"/>
          </a:p>
          <a:p>
            <a:pPr marL="0" indent="0">
              <a:spcAft>
                <a:spcPts val="600"/>
              </a:spcAft>
              <a:buNone/>
            </a:pPr>
            <a:r>
              <a:rPr lang="en-US" sz="1000" b="1" dirty="0">
                <a:solidFill>
                  <a:srgbClr val="A3E635"/>
                </a:solidFill>
                <a:latin typeface="Arial" pitchFamily="34" charset="0"/>
                <a:ea typeface="Arial" pitchFamily="34" charset="-122"/>
                <a:cs typeface="Arial" pitchFamily="34" charset="-120"/>
              </a:rPr>
              <a:t>Diğer: </a:t>
            </a:r>
            <a:r>
              <a:rPr lang="en-US" sz="1000" dirty="0">
                <a:solidFill>
                  <a:srgbClr val="EEF0F8"/>
                </a:solidFill>
                <a:latin typeface="Arial" pitchFamily="34" charset="0"/>
                <a:ea typeface="Arial" pitchFamily="34" charset="-122"/>
                <a:cs typeface="Arial" pitchFamily="34" charset="-120"/>
              </a:rPr>
              <a:t>tablo düzeni, çok sütunlu düzen</a:t>
            </a:r>
            <a:endParaRPr lang="en-US" sz="1000" dirty="0"/>
          </a:p>
        </p:txBody>
      </p:sp>
      <p:sp>
        <p:nvSpPr>
          <p:cNvPr id="21" name="benzetme"/>
          <p:cNvSpPr/>
          <p:nvPr/>
        </p:nvSpPr>
        <p:spPr>
          <a:xfrm>
            <a:off x="548640" y="4224528"/>
            <a:ext cx="8046720" cy="402336"/>
          </a:xfrm>
          <a:prstGeom prst="roundRect">
            <a:avLst>
              <a:gd name="adj" fmla="val 50000"/>
            </a:avLst>
          </a:prstGeom>
          <a:solidFill>
            <a:srgbClr val="232A55"/>
          </a:solidFill>
          <a:ln/>
        </p:spPr>
      </p:sp>
      <p:sp>
        <p:nvSpPr>
          <p:cNvPr id="22" name="benzetme-ikon"/>
          <p:cNvSpPr/>
          <p:nvPr/>
        </p:nvSpPr>
        <p:spPr>
          <a:xfrm>
            <a:off x="621792" y="4261104"/>
            <a:ext cx="329184" cy="329184"/>
          </a:xfrm>
          <a:prstGeom prst="ellipse">
            <a:avLst/>
          </a:prstGeom>
          <a:solidFill>
            <a:srgbClr val="FBBF24"/>
          </a:solidFill>
          <a:ln/>
        </p:spPr>
      </p:sp>
      <p:sp>
        <p:nvSpPr>
          <p:cNvPr id="23" name="Text 21"/>
          <p:cNvSpPr txBox="1"/>
          <p:nvPr/>
        </p:nvSpPr>
        <p:spPr>
          <a:xfrm>
            <a:off x="621792" y="4261104"/>
            <a:ext cx="329184" cy="329184"/>
          </a:xfrm>
          <a:prstGeom prst="rect">
            <a:avLst/>
          </a:prstGeom>
          <a:noFill/>
          <a:ln/>
        </p:spPr>
        <p:txBody>
          <a:bodyPr wrap="square" lIns="0" tIns="0" rIns="0" bIns="0" rtlCol="0" anchor="ctr"/>
          <a:lstStyle/>
          <a:p>
            <a:pPr marL="0" indent="0" algn="ctr">
              <a:buNone/>
            </a:pPr>
            <a:r>
              <a:rPr lang="en-US" sz="1600" b="1" dirty="0">
                <a:solidFill>
                  <a:srgbClr val="10142B"/>
                </a:solidFill>
                <a:latin typeface="Arial" pitchFamily="34" charset="0"/>
                <a:ea typeface="Arial" pitchFamily="34" charset="-122"/>
                <a:cs typeface="Arial" pitchFamily="34" charset="-120"/>
              </a:rPr>
              <a:t>≈</a:t>
            </a:r>
            <a:endParaRPr lang="en-US" sz="1600" dirty="0"/>
          </a:p>
        </p:txBody>
      </p:sp>
      <p:sp>
        <p:nvSpPr>
          <p:cNvPr id="24" name="Text 22"/>
          <p:cNvSpPr txBox="1"/>
          <p:nvPr/>
        </p:nvSpPr>
        <p:spPr>
          <a:xfrm>
            <a:off x="1042416" y="4224528"/>
            <a:ext cx="7452360" cy="402336"/>
          </a:xfrm>
          <a:prstGeom prst="rect">
            <a:avLst/>
          </a:prstGeom>
          <a:noFill/>
          <a:ln/>
        </p:spPr>
        <p:txBody>
          <a:bodyPr wrap="square" lIns="0" tIns="0" rIns="0" bIns="0" rtlCol="0" anchor="ctr"/>
          <a:lstStyle/>
          <a:p>
            <a:pPr marL="0" indent="0">
              <a:buNone/>
            </a:pPr>
            <a:r>
              <a:rPr lang="en-US" sz="1100" b="1" dirty="0">
                <a:solidFill>
                  <a:srgbClr val="FBBF24"/>
                </a:solidFill>
                <a:latin typeface="Arial" pitchFamily="34" charset="0"/>
                <a:ea typeface="Arial" pitchFamily="34" charset="-122"/>
                <a:cs typeface="Arial" pitchFamily="34" charset="-120"/>
              </a:rPr>
              <a:t>Gündelik hayatta: </a:t>
            </a:r>
            <a:r>
              <a:rPr lang="en-US" sz="1100" dirty="0">
                <a:solidFill>
                  <a:srgbClr val="EEF0F8"/>
                </a:solidFill>
                <a:latin typeface="Arial" pitchFamily="34" charset="0"/>
                <a:ea typeface="Arial" pitchFamily="34" charset="-122"/>
                <a:cs typeface="Arial" pitchFamily="34" charset="-120"/>
              </a:rPr>
              <a:t>normal akış, yazı yazmak gibidir: kelimeler satırda yan yana, paragraflar alt alta. Düzen araçları ise sayfayı gazete gibi bölmek.</a:t>
            </a:r>
            <a:endParaRPr lang="en-US" sz="1100" dirty="0"/>
          </a:p>
        </p:txBody>
      </p:sp>
    </p:spTree>
  </p:cSld>
  <p:clrMapOvr>
    <a:masterClrMapping/>
  </p:clrMapOvr>
  <p:transition spd="med">
    <p:pull/>
  </p:transition>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548640" y="256032"/>
            <a:ext cx="4572000" cy="201168"/>
          </a:xfrm>
          <a:prstGeom prst="rect">
            <a:avLst/>
          </a:prstGeom>
          <a:noFill/>
          <a:ln/>
        </p:spPr>
        <p:txBody>
          <a:bodyPr wrap="square" lIns="0" tIns="0" rIns="0" bIns="0" rtlCol="0" anchor="t"/>
          <a:lstStyle/>
          <a:p>
            <a:pPr marL="0" indent="0">
              <a:buNone/>
            </a:pPr>
            <a:r>
              <a:rPr lang="en-US" sz="900" b="1" kern="0" spc="200" dirty="0">
                <a:solidFill>
                  <a:srgbClr val="A3E635"/>
                </a:solidFill>
                <a:latin typeface="Arial" pitchFamily="34" charset="0"/>
                <a:ea typeface="Arial" pitchFamily="34" charset="-122"/>
                <a:cs typeface="Arial" pitchFamily="34" charset="-120"/>
              </a:rPr>
              <a:t>MODÜL 3 · CSS DÜZENİ</a:t>
            </a:r>
            <a:endParaRPr lang="en-US" sz="900" dirty="0"/>
          </a:p>
        </p:txBody>
      </p:sp>
      <p:sp>
        <p:nvSpPr>
          <p:cNvPr id="3" name="mini-box-0"/>
          <p:cNvSpPr/>
          <p:nvPr/>
        </p:nvSpPr>
        <p:spPr>
          <a:xfrm>
            <a:off x="8229600" y="201168"/>
            <a:ext cx="384048" cy="384048"/>
          </a:xfrm>
          <a:prstGeom prst="rect">
            <a:avLst/>
          </a:prstGeom>
          <a:ln w="9525">
            <a:solidFill>
              <a:srgbClr val="A3E635"/>
            </a:solidFill>
            <a:prstDash val="solid"/>
          </a:ln>
        </p:spPr>
      </p:sp>
      <p:sp>
        <p:nvSpPr>
          <p:cNvPr id="4" name="mini-box-1"/>
          <p:cNvSpPr/>
          <p:nvPr/>
        </p:nvSpPr>
        <p:spPr>
          <a:xfrm>
            <a:off x="8293608" y="265176"/>
            <a:ext cx="256032" cy="256032"/>
          </a:xfrm>
          <a:prstGeom prst="rect">
            <a:avLst/>
          </a:prstGeom>
          <a:ln w="9525">
            <a:solidFill>
              <a:srgbClr val="EEF0F8"/>
            </a:solidFill>
            <a:prstDash val="solid"/>
          </a:ln>
        </p:spPr>
      </p:sp>
      <p:sp>
        <p:nvSpPr>
          <p:cNvPr id="5" name="mini-box-2"/>
          <p:cNvSpPr/>
          <p:nvPr/>
        </p:nvSpPr>
        <p:spPr>
          <a:xfrm>
            <a:off x="8348472" y="320040"/>
            <a:ext cx="146304" cy="146304"/>
          </a:xfrm>
          <a:prstGeom prst="rect">
            <a:avLst/>
          </a:prstGeom>
          <a:solidFill>
            <a:srgbClr val="A3E635"/>
          </a:solidFill>
          <a:ln w="9525">
            <a:solidFill>
              <a:srgbClr val="A3E635"/>
            </a:solidFill>
            <a:prstDash val="solid"/>
          </a:ln>
        </p:spPr>
      </p:sp>
      <p:sp>
        <p:nvSpPr>
          <p:cNvPr id="6" name="ilerleme-zemin"/>
          <p:cNvSpPr/>
          <p:nvPr/>
        </p:nvSpPr>
        <p:spPr>
          <a:xfrm>
            <a:off x="0" y="5070348"/>
            <a:ext cx="9144000" cy="73152"/>
          </a:xfrm>
          <a:prstGeom prst="rect">
            <a:avLst/>
          </a:prstGeom>
          <a:solidFill>
            <a:srgbClr val="1A2044"/>
          </a:solidFill>
          <a:ln/>
        </p:spPr>
      </p:sp>
      <p:sp>
        <p:nvSpPr>
          <p:cNvPr id="7" name="ilerleme"/>
          <p:cNvSpPr/>
          <p:nvPr/>
        </p:nvSpPr>
        <p:spPr>
          <a:xfrm>
            <a:off x="0" y="5070348"/>
            <a:ext cx="6804837" cy="73152"/>
          </a:xfrm>
          <a:prstGeom prst="rect">
            <a:avLst/>
          </a:prstGeom>
          <a:solidFill>
            <a:srgbClr val="A3E635"/>
          </a:solidFill>
          <a:ln/>
        </p:spPr>
      </p:sp>
      <p:sp>
        <p:nvSpPr>
          <p:cNvPr id="8" name="Text 6"/>
          <p:cNvSpPr txBox="1"/>
          <p:nvPr/>
        </p:nvSpPr>
        <p:spPr>
          <a:xfrm>
            <a:off x="548640" y="4791456"/>
            <a:ext cx="3657600" cy="201168"/>
          </a:xfrm>
          <a:prstGeom prst="rect">
            <a:avLst/>
          </a:prstGeom>
          <a:noFill/>
          <a:ln/>
        </p:spPr>
        <p:txBody>
          <a:bodyPr wrap="square" lIns="0" tIns="0" rIns="0" bIns="0" rtlCol="0" anchor="t"/>
          <a:lstStyle/>
          <a:p>
            <a:pPr marL="0" indent="0">
              <a:buNone/>
            </a:pPr>
            <a:r>
              <a:rPr lang="en-US" sz="850" dirty="0">
                <a:solidFill>
                  <a:srgbClr val="6C759E"/>
                </a:solidFill>
                <a:latin typeface="Arial" pitchFamily="34" charset="0"/>
                <a:ea typeface="Arial" pitchFamily="34" charset="-122"/>
                <a:cs typeface="Arial" pitchFamily="34" charset="-120"/>
              </a:rPr>
              <a:t>KCŞ A.Ş.  ·  CSS ile stil ve düzen</a:t>
            </a:r>
            <a:endParaRPr lang="en-US" sz="850" dirty="0"/>
          </a:p>
        </p:txBody>
      </p:sp>
      <p:sp>
        <p:nvSpPr>
          <p:cNvPr id="9" name="Text 7"/>
          <p:cNvSpPr txBox="1"/>
          <p:nvPr/>
        </p:nvSpPr>
        <p:spPr>
          <a:xfrm>
            <a:off x="4206240" y="4791456"/>
            <a:ext cx="3840480" cy="201168"/>
          </a:xfrm>
          <a:prstGeom prst="rect">
            <a:avLst/>
          </a:prstGeom>
          <a:noFill/>
          <a:ln/>
        </p:spPr>
        <p:txBody>
          <a:bodyPr wrap="square" lIns="0" tIns="0" rIns="0" bIns="0" rtlCol="0" anchor="t"/>
          <a:lstStyle/>
          <a:p>
            <a:pPr marL="0" indent="0" algn="r">
              <a:buNone/>
            </a:pPr>
            <a:r>
              <a:rPr lang="en-US" sz="850" dirty="0">
                <a:solidFill>
                  <a:srgbClr val="6C759E"/>
                </a:solidFill>
                <a:latin typeface="Arial" pitchFamily="34" charset="0"/>
                <a:ea typeface="Arial" pitchFamily="34" charset="-122"/>
                <a:cs typeface="Arial" pitchFamily="34" charset="-120"/>
              </a:rPr>
              <a:t>MDN · Floats</a:t>
            </a:r>
            <a:endParaRPr lang="en-US" sz="850" dirty="0"/>
          </a:p>
        </p:txBody>
      </p:sp>
      <p:sp>
        <p:nvSpPr>
          <p:cNvPr id="10" name="Text 8"/>
          <p:cNvSpPr txBox="1"/>
          <p:nvPr/>
        </p:nvSpPr>
        <p:spPr>
          <a:xfrm>
            <a:off x="8092440" y="4791456"/>
            <a:ext cx="685800" cy="201168"/>
          </a:xfrm>
          <a:prstGeom prst="rect">
            <a:avLst/>
          </a:prstGeom>
          <a:noFill/>
          <a:ln/>
        </p:spPr>
        <p:txBody>
          <a:bodyPr wrap="square" lIns="0" tIns="0" rIns="0" bIns="0" rtlCol="0" anchor="t"/>
          <a:lstStyle/>
          <a:p>
            <a:pPr marL="0" indent="0" algn="r">
              <a:buNone/>
            </a:pPr>
            <a:r>
              <a:rPr lang="en-US" sz="850" dirty="0">
                <a:solidFill>
                  <a:srgbClr val="9AA3C7"/>
                </a:solidFill>
                <a:latin typeface="Courier New" pitchFamily="34" charset="0"/>
                <a:ea typeface="Courier New" pitchFamily="34" charset="-122"/>
                <a:cs typeface="Courier New" pitchFamily="34" charset="-120"/>
              </a:rPr>
              <a:t>32 / 43</a:t>
            </a:r>
            <a:endParaRPr lang="en-US" sz="850" dirty="0"/>
          </a:p>
        </p:txBody>
      </p:sp>
      <p:sp>
        <p:nvSpPr>
          <p:cNvPr id="11" name="Text 9"/>
          <p:cNvSpPr txBox="1"/>
          <p:nvPr/>
        </p:nvSpPr>
        <p:spPr>
          <a:xfrm>
            <a:off x="548640" y="502920"/>
            <a:ext cx="5943600" cy="237744"/>
          </a:xfrm>
          <a:prstGeom prst="rect">
            <a:avLst/>
          </a:prstGeom>
          <a:noFill/>
          <a:ln/>
        </p:spPr>
        <p:txBody>
          <a:bodyPr wrap="square" lIns="0" tIns="0" rIns="0" bIns="0" rtlCol="0" anchor="t"/>
          <a:lstStyle/>
          <a:p>
            <a:pPr marL="0" indent="0">
              <a:buNone/>
            </a:pPr>
            <a:r>
              <a:rPr lang="en-US" sz="1100" b="1" dirty="0">
                <a:solidFill>
                  <a:srgbClr val="A3E635"/>
                </a:solidFill>
                <a:latin typeface="Courier New" pitchFamily="34" charset="0"/>
                <a:ea typeface="Courier New" pitchFamily="34" charset="-122"/>
                <a:cs typeface="Courier New" pitchFamily="34" charset="-120"/>
              </a:rPr>
              <a:t>float: left;  display: flow-root;</a:t>
            </a:r>
            <a:endParaRPr lang="en-US" sz="1100" dirty="0"/>
          </a:p>
        </p:txBody>
      </p:sp>
      <p:sp>
        <p:nvSpPr>
          <p:cNvPr id="12" name="Text 10"/>
          <p:cNvSpPr txBox="1"/>
          <p:nvPr/>
        </p:nvSpPr>
        <p:spPr>
          <a:xfrm>
            <a:off x="548640" y="749808"/>
            <a:ext cx="7589520" cy="502920"/>
          </a:xfrm>
          <a:prstGeom prst="rect">
            <a:avLst/>
          </a:prstGeom>
          <a:noFill/>
          <a:ln/>
        </p:spPr>
        <p:txBody>
          <a:bodyPr wrap="square" lIns="0" tIns="0" rIns="0" bIns="0" rtlCol="0" anchor="ctr"/>
          <a:lstStyle/>
          <a:p>
            <a:pPr marL="0" indent="0">
              <a:buNone/>
            </a:pPr>
            <a:r>
              <a:rPr lang="en-US" sz="2400" b="1" dirty="0">
                <a:solidFill>
                  <a:srgbClr val="EEF0F8"/>
                </a:solidFill>
                <a:latin typeface="Arial" pitchFamily="34" charset="0"/>
                <a:ea typeface="Arial" pitchFamily="34" charset="-122"/>
                <a:cs typeface="Arial" pitchFamily="34" charset="-120"/>
              </a:rPr>
              <a:t>Float: metni etrafına sarmak</a:t>
            </a:r>
            <a:endParaRPr lang="en-US" sz="2400" dirty="0"/>
          </a:p>
        </p:txBody>
      </p:sp>
      <p:sp>
        <p:nvSpPr>
          <p:cNvPr id="13" name="kod-paneli"/>
          <p:cNvSpPr/>
          <p:nvPr/>
        </p:nvSpPr>
        <p:spPr>
          <a:xfrm>
            <a:off x="548640" y="1371600"/>
            <a:ext cx="3931920" cy="1463040"/>
          </a:xfrm>
          <a:prstGeom prst="roundRect">
            <a:avLst>
              <a:gd name="adj" fmla="val 5000"/>
            </a:avLst>
          </a:prstGeom>
          <a:solidFill>
            <a:srgbClr val="0A0D1F"/>
          </a:solidFill>
          <a:ln w="9525">
            <a:solidFill>
              <a:srgbClr val="2E3768"/>
            </a:solidFill>
            <a:prstDash val="solid"/>
          </a:ln>
        </p:spPr>
      </p:sp>
      <p:sp>
        <p:nvSpPr>
          <p:cNvPr id="14" name="Text 12"/>
          <p:cNvSpPr txBox="1"/>
          <p:nvPr/>
        </p:nvSpPr>
        <p:spPr>
          <a:xfrm>
            <a:off x="3017520" y="1426464"/>
            <a:ext cx="1371600" cy="182880"/>
          </a:xfrm>
          <a:prstGeom prst="rect">
            <a:avLst/>
          </a:prstGeom>
          <a:noFill/>
          <a:ln/>
        </p:spPr>
        <p:txBody>
          <a:bodyPr wrap="square" lIns="0" tIns="0" rIns="0" bIns="0" rtlCol="0" anchor="t"/>
          <a:lstStyle/>
          <a:p>
            <a:pPr marL="0" indent="0" algn="r">
              <a:buNone/>
            </a:pPr>
            <a:r>
              <a:rPr lang="en-US" sz="800" dirty="0">
                <a:solidFill>
                  <a:srgbClr val="6C759E"/>
                </a:solidFill>
                <a:latin typeface="Courier New" pitchFamily="34" charset="0"/>
                <a:ea typeface="Courier New" pitchFamily="34" charset="-122"/>
                <a:cs typeface="Courier New" pitchFamily="34" charset="-120"/>
              </a:rPr>
              <a:t>floats.css</a:t>
            </a:r>
            <a:endParaRPr lang="en-US" sz="800" dirty="0"/>
          </a:p>
        </p:txBody>
      </p:sp>
      <p:sp>
        <p:nvSpPr>
          <p:cNvPr id="15" name="Text 13"/>
          <p:cNvSpPr txBox="1"/>
          <p:nvPr/>
        </p:nvSpPr>
        <p:spPr>
          <a:xfrm>
            <a:off x="694944" y="1609344"/>
            <a:ext cx="3657600" cy="1152144"/>
          </a:xfrm>
          <a:prstGeom prst="rect">
            <a:avLst/>
          </a:prstGeom>
          <a:noFill/>
          <a:ln/>
        </p:spPr>
        <p:txBody>
          <a:bodyPr wrap="square" lIns="0" tIns="0" rIns="0" bIns="0" rtlCol="0" anchor="ctr"/>
          <a:lstStyle/>
          <a:p>
            <a:pPr marL="0" indent="0">
              <a:buNone/>
            </a:pPr>
            <a:r>
              <a:rPr lang="en-US" sz="1000" dirty="0">
                <a:solidFill>
                  <a:srgbClr val="F472B6"/>
                </a:solidFill>
                <a:latin typeface="Courier New" pitchFamily="34" charset="0"/>
                <a:ea typeface="Courier New" pitchFamily="34" charset="-122"/>
                <a:cs typeface="Courier New" pitchFamily="34" charset="-120"/>
              </a:rPr>
              <a:t>.box </a:t>
            </a:r>
            <a:r>
              <a:rPr lang="en-US" sz="1000" dirty="0">
                <a:solidFill>
                  <a:srgbClr val="6C759E"/>
                </a:solidFill>
                <a:latin typeface="Courier New" pitchFamily="34" charset="0"/>
                <a:ea typeface="Courier New" pitchFamily="34" charset="-122"/>
                <a:cs typeface="Courier New" pitchFamily="34" charset="-120"/>
              </a:rPr>
              <a:t>{</a:t>
            </a:r>
            <a:endParaRPr lang="en-US" sz="1000" dirty="0"/>
          </a:p>
          <a:p>
            <a:pPr marL="0" indent="0">
              <a:buNone/>
            </a:pPr>
            <a:r>
              <a:rPr lang="en-US" sz="1000" dirty="0">
                <a:solidFill>
                  <a:srgbClr val="EEF0F8"/>
                </a:solidFill>
                <a:latin typeface="Courier New" pitchFamily="34" charset="0"/>
                <a:ea typeface="Courier New" pitchFamily="34" charset="-122"/>
                <a:cs typeface="Courier New" pitchFamily="34" charset="-120"/>
              </a:rPr>
              <a:t>  </a:t>
            </a:r>
            <a:r>
              <a:rPr lang="en-US" sz="1000" dirty="0">
                <a:solidFill>
                  <a:srgbClr val="22D3EE"/>
                </a:solidFill>
                <a:latin typeface="Courier New" pitchFamily="34" charset="0"/>
                <a:ea typeface="Courier New" pitchFamily="34" charset="-122"/>
                <a:cs typeface="Courier New" pitchFamily="34" charset="-120"/>
              </a:rPr>
              <a:t>float</a:t>
            </a:r>
            <a:r>
              <a:rPr lang="en-US" sz="1000" dirty="0">
                <a:solidFill>
                  <a:srgbClr val="6C759E"/>
                </a:solidFill>
                <a:latin typeface="Courier New" pitchFamily="34" charset="0"/>
                <a:ea typeface="Courier New" pitchFamily="34" charset="-122"/>
                <a:cs typeface="Courier New" pitchFamily="34" charset="-120"/>
              </a:rPr>
              <a:t>: </a:t>
            </a:r>
            <a:r>
              <a:rPr lang="en-US" sz="1000" dirty="0">
                <a:solidFill>
                  <a:srgbClr val="FBBF24"/>
                </a:solidFill>
                <a:latin typeface="Courier New" pitchFamily="34" charset="0"/>
                <a:ea typeface="Courier New" pitchFamily="34" charset="-122"/>
                <a:cs typeface="Courier New" pitchFamily="34" charset="-120"/>
              </a:rPr>
              <a:t>left;</a:t>
            </a:r>
            <a:endParaRPr lang="en-US" sz="1000" dirty="0"/>
          </a:p>
          <a:p>
            <a:pPr marL="0" indent="0">
              <a:buNone/>
            </a:pPr>
            <a:r>
              <a:rPr lang="en-US" sz="1000" dirty="0">
                <a:solidFill>
                  <a:srgbClr val="EEF0F8"/>
                </a:solidFill>
                <a:latin typeface="Courier New" pitchFamily="34" charset="0"/>
                <a:ea typeface="Courier New" pitchFamily="34" charset="-122"/>
                <a:cs typeface="Courier New" pitchFamily="34" charset="-120"/>
              </a:rPr>
              <a:t>  </a:t>
            </a:r>
            <a:r>
              <a:rPr lang="en-US" sz="1000" dirty="0">
                <a:solidFill>
                  <a:srgbClr val="22D3EE"/>
                </a:solidFill>
                <a:latin typeface="Courier New" pitchFamily="34" charset="0"/>
                <a:ea typeface="Courier New" pitchFamily="34" charset="-122"/>
                <a:cs typeface="Courier New" pitchFamily="34" charset="-120"/>
              </a:rPr>
              <a:t>margin-right</a:t>
            </a:r>
            <a:r>
              <a:rPr lang="en-US" sz="1000" dirty="0">
                <a:solidFill>
                  <a:srgbClr val="6C759E"/>
                </a:solidFill>
                <a:latin typeface="Courier New" pitchFamily="34" charset="0"/>
                <a:ea typeface="Courier New" pitchFamily="34" charset="-122"/>
                <a:cs typeface="Courier New" pitchFamily="34" charset="-120"/>
              </a:rPr>
              <a:t>: </a:t>
            </a:r>
            <a:r>
              <a:rPr lang="en-US" sz="1000" dirty="0">
                <a:solidFill>
                  <a:srgbClr val="FBBF24"/>
                </a:solidFill>
                <a:latin typeface="Courier New" pitchFamily="34" charset="0"/>
                <a:ea typeface="Courier New" pitchFamily="34" charset="-122"/>
                <a:cs typeface="Courier New" pitchFamily="34" charset="-120"/>
              </a:rPr>
              <a:t>15px;</a:t>
            </a:r>
            <a:endParaRPr lang="en-US" sz="1000" dirty="0"/>
          </a:p>
          <a:p>
            <a:pPr marL="0" indent="0">
              <a:buNone/>
            </a:pPr>
            <a:r>
              <a:rPr lang="en-US" sz="1000" dirty="0">
                <a:solidFill>
                  <a:srgbClr val="EEF0F8"/>
                </a:solidFill>
                <a:latin typeface="Courier New" pitchFamily="34" charset="0"/>
                <a:ea typeface="Courier New" pitchFamily="34" charset="-122"/>
                <a:cs typeface="Courier New" pitchFamily="34" charset="-120"/>
              </a:rPr>
              <a:t>  </a:t>
            </a:r>
            <a:r>
              <a:rPr lang="en-US" sz="1000" dirty="0">
                <a:solidFill>
                  <a:srgbClr val="22D3EE"/>
                </a:solidFill>
                <a:latin typeface="Courier New" pitchFamily="34" charset="0"/>
                <a:ea typeface="Courier New" pitchFamily="34" charset="-122"/>
                <a:cs typeface="Courier New" pitchFamily="34" charset="-120"/>
              </a:rPr>
              <a:t>width</a:t>
            </a:r>
            <a:r>
              <a:rPr lang="en-US" sz="1000" dirty="0">
                <a:solidFill>
                  <a:srgbClr val="6C759E"/>
                </a:solidFill>
                <a:latin typeface="Courier New" pitchFamily="34" charset="0"/>
                <a:ea typeface="Courier New" pitchFamily="34" charset="-122"/>
                <a:cs typeface="Courier New" pitchFamily="34" charset="-120"/>
              </a:rPr>
              <a:t>: </a:t>
            </a:r>
            <a:r>
              <a:rPr lang="en-US" sz="1000" dirty="0">
                <a:solidFill>
                  <a:srgbClr val="FBBF24"/>
                </a:solidFill>
                <a:latin typeface="Courier New" pitchFamily="34" charset="0"/>
                <a:ea typeface="Courier New" pitchFamily="34" charset="-122"/>
                <a:cs typeface="Courier New" pitchFamily="34" charset="-120"/>
              </a:rPr>
              <a:t>150px;</a:t>
            </a:r>
            <a:endParaRPr lang="en-US" sz="1000" dirty="0"/>
          </a:p>
          <a:p>
            <a:pPr marL="0" indent="0">
              <a:buNone/>
            </a:pPr>
            <a:r>
              <a:rPr lang="en-US" sz="1000" dirty="0">
                <a:solidFill>
                  <a:srgbClr val="6C759E"/>
                </a:solidFill>
                <a:latin typeface="Courier New" pitchFamily="34" charset="0"/>
                <a:ea typeface="Courier New" pitchFamily="34" charset="-122"/>
                <a:cs typeface="Courier New" pitchFamily="34" charset="-120"/>
              </a:rPr>
              <a:t>}</a:t>
            </a:r>
            <a:endParaRPr lang="en-US" sz="1000" dirty="0"/>
          </a:p>
        </p:txBody>
      </p:sp>
      <p:sp>
        <p:nvSpPr>
          <p:cNvPr id="16" name="kod-paneli"/>
          <p:cNvSpPr/>
          <p:nvPr/>
        </p:nvSpPr>
        <p:spPr>
          <a:xfrm>
            <a:off x="548640" y="2926080"/>
            <a:ext cx="3931920" cy="1143000"/>
          </a:xfrm>
          <a:prstGeom prst="roundRect">
            <a:avLst>
              <a:gd name="adj" fmla="val 6400"/>
            </a:avLst>
          </a:prstGeom>
          <a:solidFill>
            <a:srgbClr val="0A0D1F"/>
          </a:solidFill>
          <a:ln w="9525">
            <a:solidFill>
              <a:srgbClr val="2E3768"/>
            </a:solidFill>
            <a:prstDash val="solid"/>
          </a:ln>
        </p:spPr>
      </p:sp>
      <p:sp>
        <p:nvSpPr>
          <p:cNvPr id="17" name="Text 15"/>
          <p:cNvSpPr txBox="1"/>
          <p:nvPr/>
        </p:nvSpPr>
        <p:spPr>
          <a:xfrm>
            <a:off x="694944" y="3035808"/>
            <a:ext cx="3657600" cy="941832"/>
          </a:xfrm>
          <a:prstGeom prst="rect">
            <a:avLst/>
          </a:prstGeom>
          <a:noFill/>
          <a:ln/>
        </p:spPr>
        <p:txBody>
          <a:bodyPr wrap="square" lIns="0" tIns="0" rIns="0" bIns="0" rtlCol="0" anchor="ctr"/>
          <a:lstStyle/>
          <a:p>
            <a:pPr marL="0" indent="0">
              <a:buNone/>
            </a:pPr>
            <a:r>
              <a:rPr lang="en-US" sz="1000" dirty="0">
                <a:solidFill>
                  <a:srgbClr val="F472B6"/>
                </a:solidFill>
                <a:latin typeface="Courier New" pitchFamily="34" charset="0"/>
                <a:ea typeface="Courier New" pitchFamily="34" charset="-122"/>
                <a:cs typeface="Courier New" pitchFamily="34" charset="-120"/>
              </a:rPr>
              <a:t>.cleared </a:t>
            </a:r>
            <a:r>
              <a:rPr lang="en-US" sz="1000" dirty="0">
                <a:solidFill>
                  <a:srgbClr val="6C759E"/>
                </a:solidFill>
                <a:latin typeface="Courier New" pitchFamily="34" charset="0"/>
                <a:ea typeface="Courier New" pitchFamily="34" charset="-122"/>
                <a:cs typeface="Courier New" pitchFamily="34" charset="-120"/>
              </a:rPr>
              <a:t>{ </a:t>
            </a:r>
            <a:r>
              <a:rPr lang="en-US" sz="1000" dirty="0">
                <a:solidFill>
                  <a:srgbClr val="22D3EE"/>
                </a:solidFill>
                <a:latin typeface="Courier New" pitchFamily="34" charset="0"/>
                <a:ea typeface="Courier New" pitchFamily="34" charset="-122"/>
                <a:cs typeface="Courier New" pitchFamily="34" charset="-120"/>
              </a:rPr>
              <a:t>clear</a:t>
            </a:r>
            <a:r>
              <a:rPr lang="en-US" sz="1000" dirty="0">
                <a:solidFill>
                  <a:srgbClr val="6C759E"/>
                </a:solidFill>
                <a:latin typeface="Courier New" pitchFamily="34" charset="0"/>
                <a:ea typeface="Courier New" pitchFamily="34" charset="-122"/>
                <a:cs typeface="Courier New" pitchFamily="34" charset="-120"/>
              </a:rPr>
              <a:t>: </a:t>
            </a:r>
            <a:r>
              <a:rPr lang="en-US" sz="1000" dirty="0">
                <a:solidFill>
                  <a:srgbClr val="FBBF24"/>
                </a:solidFill>
                <a:latin typeface="Courier New" pitchFamily="34" charset="0"/>
                <a:ea typeface="Courier New" pitchFamily="34" charset="-122"/>
                <a:cs typeface="Courier New" pitchFamily="34" charset="-120"/>
              </a:rPr>
              <a:t>left</a:t>
            </a:r>
            <a:r>
              <a:rPr lang="en-US" sz="1000" dirty="0">
                <a:solidFill>
                  <a:srgbClr val="6C759E"/>
                </a:solidFill>
                <a:latin typeface="Courier New" pitchFamily="34" charset="0"/>
                <a:ea typeface="Courier New" pitchFamily="34" charset="-122"/>
                <a:cs typeface="Courier New" pitchFamily="34" charset="-120"/>
              </a:rPr>
              <a:t>; }</a:t>
            </a:r>
            <a:endParaRPr lang="en-US" sz="1000" dirty="0"/>
          </a:p>
          <a:p>
            <a:pPr marL="0" indent="0">
              <a:buNone/>
            </a:pPr>
            <a:r>
              <a:rPr lang="en-US" sz="1000" dirty="0">
                <a:solidFill>
                  <a:srgbClr val="F472B6"/>
                </a:solidFill>
                <a:latin typeface="Courier New" pitchFamily="34" charset="0"/>
                <a:ea typeface="Courier New" pitchFamily="34" charset="-122"/>
                <a:cs typeface="Courier New" pitchFamily="34" charset="-120"/>
              </a:rPr>
              <a:t>.wrapper </a:t>
            </a:r>
            <a:r>
              <a:rPr lang="en-US" sz="1000" dirty="0">
                <a:solidFill>
                  <a:srgbClr val="6C759E"/>
                </a:solidFill>
                <a:latin typeface="Courier New" pitchFamily="34" charset="0"/>
                <a:ea typeface="Courier New" pitchFamily="34" charset="-122"/>
                <a:cs typeface="Courier New" pitchFamily="34" charset="-120"/>
              </a:rPr>
              <a:t>{</a:t>
            </a:r>
            <a:endParaRPr lang="en-US" sz="1000" dirty="0"/>
          </a:p>
          <a:p>
            <a:pPr marL="0" indent="0">
              <a:buNone/>
            </a:pPr>
            <a:r>
              <a:rPr lang="en-US" sz="1000" dirty="0">
                <a:solidFill>
                  <a:srgbClr val="EEF0F8"/>
                </a:solidFill>
                <a:latin typeface="Courier New" pitchFamily="34" charset="0"/>
                <a:ea typeface="Courier New" pitchFamily="34" charset="-122"/>
                <a:cs typeface="Courier New" pitchFamily="34" charset="-120"/>
              </a:rPr>
              <a:t>  </a:t>
            </a:r>
            <a:r>
              <a:rPr lang="en-US" sz="1000" dirty="0">
                <a:solidFill>
                  <a:srgbClr val="22D3EE"/>
                </a:solidFill>
                <a:latin typeface="Courier New" pitchFamily="34" charset="0"/>
                <a:ea typeface="Courier New" pitchFamily="34" charset="-122"/>
                <a:cs typeface="Courier New" pitchFamily="34" charset="-120"/>
              </a:rPr>
              <a:t>display</a:t>
            </a:r>
            <a:r>
              <a:rPr lang="en-US" sz="1000" dirty="0">
                <a:solidFill>
                  <a:srgbClr val="6C759E"/>
                </a:solidFill>
                <a:latin typeface="Courier New" pitchFamily="34" charset="0"/>
                <a:ea typeface="Courier New" pitchFamily="34" charset="-122"/>
                <a:cs typeface="Courier New" pitchFamily="34" charset="-120"/>
              </a:rPr>
              <a:t>: </a:t>
            </a:r>
            <a:r>
              <a:rPr lang="en-US" sz="1000" dirty="0">
                <a:solidFill>
                  <a:srgbClr val="FBBF24"/>
                </a:solidFill>
                <a:latin typeface="Courier New" pitchFamily="34" charset="0"/>
                <a:ea typeface="Courier New" pitchFamily="34" charset="-122"/>
                <a:cs typeface="Courier New" pitchFamily="34" charset="-120"/>
              </a:rPr>
              <a:t>flow-root; }</a:t>
            </a:r>
            <a:endParaRPr lang="en-US" sz="1000" dirty="0"/>
          </a:p>
        </p:txBody>
      </p:sp>
      <p:sp>
        <p:nvSpPr>
          <p:cNvPr id="18" name="kart"/>
          <p:cNvSpPr/>
          <p:nvPr/>
        </p:nvSpPr>
        <p:spPr>
          <a:xfrm>
            <a:off x="4709160" y="1371600"/>
            <a:ext cx="3886200" cy="2724912"/>
          </a:xfrm>
          <a:prstGeom prst="roundRect">
            <a:avLst>
              <a:gd name="adj" fmla="val 2685"/>
            </a:avLst>
          </a:prstGeom>
          <a:solidFill>
            <a:srgbClr val="1A2044"/>
          </a:solidFill>
          <a:ln w="9525">
            <a:solidFill>
              <a:srgbClr val="2E3768"/>
            </a:solidFill>
            <a:prstDash val="solid"/>
          </a:ln>
        </p:spPr>
      </p:sp>
      <p:sp>
        <p:nvSpPr>
          <p:cNvPr id="19" name="kart-nokta"/>
          <p:cNvSpPr/>
          <p:nvPr/>
        </p:nvSpPr>
        <p:spPr>
          <a:xfrm>
            <a:off x="4855464" y="1527048"/>
            <a:ext cx="91440" cy="91440"/>
          </a:xfrm>
          <a:prstGeom prst="ellipse">
            <a:avLst/>
          </a:prstGeom>
          <a:solidFill>
            <a:srgbClr val="A3E635"/>
          </a:solidFill>
          <a:ln/>
        </p:spPr>
      </p:sp>
      <p:sp>
        <p:nvSpPr>
          <p:cNvPr id="20" name="Text 18"/>
          <p:cNvSpPr txBox="1"/>
          <p:nvPr/>
        </p:nvSpPr>
        <p:spPr>
          <a:xfrm>
            <a:off x="5020056" y="1444752"/>
            <a:ext cx="3474720" cy="274320"/>
          </a:xfrm>
          <a:prstGeom prst="rect">
            <a:avLst/>
          </a:prstGeom>
          <a:noFill/>
          <a:ln/>
        </p:spPr>
        <p:txBody>
          <a:bodyPr wrap="square" lIns="0" tIns="0" rIns="0" bIns="0" rtlCol="0" anchor="ctr"/>
          <a:lstStyle/>
          <a:p>
            <a:pPr marL="0" indent="0">
              <a:buNone/>
            </a:pPr>
            <a:r>
              <a:rPr lang="en-US" sz="1300" b="1" dirty="0">
                <a:solidFill>
                  <a:srgbClr val="EEF0F8"/>
                </a:solidFill>
                <a:latin typeface="Arial" pitchFamily="34" charset="0"/>
                <a:ea typeface="Arial" pitchFamily="34" charset="-122"/>
                <a:cs typeface="Arial" pitchFamily="34" charset="-120"/>
              </a:rPr>
              <a:t>Bilmen gerekenler</a:t>
            </a:r>
            <a:endParaRPr lang="en-US" sz="1300" dirty="0"/>
          </a:p>
        </p:txBody>
      </p:sp>
      <p:sp>
        <p:nvSpPr>
          <p:cNvPr id="21" name="Text 19"/>
          <p:cNvSpPr txBox="1"/>
          <p:nvPr/>
        </p:nvSpPr>
        <p:spPr>
          <a:xfrm>
            <a:off x="4846320" y="1737360"/>
            <a:ext cx="3611880" cy="2331720"/>
          </a:xfrm>
          <a:prstGeom prst="rect">
            <a:avLst/>
          </a:prstGeom>
          <a:noFill/>
          <a:ln/>
        </p:spPr>
        <p:txBody>
          <a:bodyPr wrap="square" lIns="0" tIns="0" rIns="0" bIns="0" rtlCol="0" anchor="t"/>
          <a:lstStyle/>
          <a:p>
            <a:pPr marL="0" indent="0">
              <a:spcAft>
                <a:spcPts val="600"/>
              </a:spcAft>
              <a:buNone/>
            </a:pPr>
            <a:r>
              <a:rPr lang="en-US" sz="1000" b="1" dirty="0">
                <a:solidFill>
                  <a:srgbClr val="A3E635"/>
                </a:solidFill>
                <a:latin typeface="Arial" pitchFamily="34" charset="0"/>
                <a:ea typeface="Arial" pitchFamily="34" charset="-122"/>
                <a:cs typeface="Arial" pitchFamily="34" charset="-120"/>
              </a:rPr>
              <a:t>Amaç: </a:t>
            </a:r>
            <a:r>
              <a:rPr lang="en-US" sz="1000" dirty="0">
                <a:solidFill>
                  <a:srgbClr val="EEF0F8"/>
                </a:solidFill>
                <a:latin typeface="Arial" pitchFamily="34" charset="0"/>
                <a:ea typeface="Arial" pitchFamily="34" charset="-122"/>
                <a:cs typeface="Arial" pitchFamily="34" charset="-120"/>
              </a:rPr>
              <a:t>gazetedeki gibi resmin etrafına metni sarmak; drop cap ve kenar kutuları.</a:t>
            </a:r>
            <a:endParaRPr lang="en-US" sz="1000" dirty="0"/>
          </a:p>
          <a:p>
            <a:pPr marL="0" indent="0">
              <a:spcAft>
                <a:spcPts val="600"/>
              </a:spcAft>
              <a:buNone/>
            </a:pPr>
            <a:r>
              <a:rPr lang="en-US" sz="1000" b="1" dirty="0">
                <a:solidFill>
                  <a:srgbClr val="A3E635"/>
                </a:solidFill>
                <a:latin typeface="Arial" pitchFamily="34" charset="0"/>
                <a:ea typeface="Arial" pitchFamily="34" charset="-122"/>
                <a:cs typeface="Arial" pitchFamily="34" charset="-120"/>
              </a:rPr>
              <a:t>Margin: </a:t>
            </a:r>
            <a:r>
              <a:rPr lang="en-US" sz="1000" dirty="0">
                <a:solidFill>
                  <a:srgbClr val="EEF0F8"/>
                </a:solidFill>
                <a:latin typeface="Arial" pitchFamily="34" charset="0"/>
                <a:ea typeface="Arial" pitchFamily="34" charset="-122"/>
                <a:cs typeface="Arial" pitchFamily="34" charset="-120"/>
              </a:rPr>
              <a:t>float'a margin vererek metni itersin; metne margin vermek işe yaramaz.</a:t>
            </a:r>
            <a:endParaRPr lang="en-US" sz="1000" dirty="0"/>
          </a:p>
          <a:p>
            <a:pPr marL="0" indent="0">
              <a:spcAft>
                <a:spcPts val="600"/>
              </a:spcAft>
              <a:buNone/>
            </a:pPr>
            <a:r>
              <a:rPr lang="en-US" sz="1000" b="1" dirty="0">
                <a:solidFill>
                  <a:srgbClr val="A3E635"/>
                </a:solidFill>
                <a:latin typeface="Arial" pitchFamily="34" charset="0"/>
                <a:ea typeface="Arial" pitchFamily="34" charset="-122"/>
                <a:cs typeface="Arial" pitchFamily="34" charset="-120"/>
              </a:rPr>
              <a:t>clear: </a:t>
            </a:r>
            <a:r>
              <a:rPr lang="en-US" sz="1000" dirty="0">
                <a:solidFill>
                  <a:srgbClr val="EEF0F8"/>
                </a:solidFill>
                <a:latin typeface="Arial" pitchFamily="34" charset="0"/>
                <a:ea typeface="Arial" pitchFamily="34" charset="-122"/>
                <a:cs typeface="Arial" pitchFamily="34" charset="-120"/>
              </a:rPr>
              <a:t>left, right, both ile sonraki öğenin float'ın yanına çıkmasını engelle.</a:t>
            </a:r>
            <a:endParaRPr lang="en-US" sz="1000" dirty="0"/>
          </a:p>
          <a:p>
            <a:pPr marL="0" indent="0">
              <a:spcAft>
                <a:spcPts val="600"/>
              </a:spcAft>
              <a:buNone/>
            </a:pPr>
            <a:r>
              <a:rPr lang="en-US" sz="1000" b="1" dirty="0">
                <a:solidFill>
                  <a:srgbClr val="A3E635"/>
                </a:solidFill>
                <a:latin typeface="Arial" pitchFamily="34" charset="0"/>
                <a:ea typeface="Arial" pitchFamily="34" charset="-122"/>
                <a:cs typeface="Arial" pitchFamily="34" charset="-120"/>
              </a:rPr>
              <a:t>flow-root: </a:t>
            </a:r>
            <a:r>
              <a:rPr lang="en-US" sz="1000" dirty="0">
                <a:solidFill>
                  <a:srgbClr val="EEF0F8"/>
                </a:solidFill>
                <a:latin typeface="Arial" pitchFamily="34" charset="0"/>
                <a:ea typeface="Arial" pitchFamily="34" charset="-122"/>
                <a:cs typeface="Arial" pitchFamily="34" charset="-120"/>
              </a:rPr>
              <a:t>kapsayıcıyı içindeki float'ları sarmaya zorlar; hack gerektirmez.</a:t>
            </a:r>
            <a:endParaRPr lang="en-US" sz="1000" dirty="0"/>
          </a:p>
          <a:p>
            <a:pPr marL="0" indent="0">
              <a:spcAft>
                <a:spcPts val="600"/>
              </a:spcAft>
              <a:buNone/>
            </a:pPr>
            <a:r>
              <a:rPr lang="en-US" sz="1000" b="1" dirty="0">
                <a:solidFill>
                  <a:srgbClr val="A3E635"/>
                </a:solidFill>
                <a:latin typeface="Arial" pitchFamily="34" charset="0"/>
                <a:ea typeface="Arial" pitchFamily="34" charset="-122"/>
                <a:cs typeface="Arial" pitchFamily="34" charset="-120"/>
              </a:rPr>
              <a:t>Eski yöntem: </a:t>
            </a:r>
            <a:r>
              <a:rPr lang="en-US" sz="1000" dirty="0">
                <a:solidFill>
                  <a:srgbClr val="EEF0F8"/>
                </a:solidFill>
                <a:latin typeface="Arial" pitchFamily="34" charset="0"/>
                <a:ea typeface="Arial" pitchFamily="34" charset="-122"/>
                <a:cs typeface="Arial" pitchFamily="34" charset="-120"/>
              </a:rPr>
              <a:t>float ile sayfa düzeni kurmak artık eski bir tekniktir; bunun için Flexbox ve Grid var.</a:t>
            </a:r>
            <a:endParaRPr lang="en-US" sz="1000" dirty="0"/>
          </a:p>
        </p:txBody>
      </p:sp>
      <p:sp>
        <p:nvSpPr>
          <p:cNvPr id="22" name="benzetme"/>
          <p:cNvSpPr/>
          <p:nvPr/>
        </p:nvSpPr>
        <p:spPr>
          <a:xfrm>
            <a:off x="548640" y="4224528"/>
            <a:ext cx="8046720" cy="402336"/>
          </a:xfrm>
          <a:prstGeom prst="roundRect">
            <a:avLst>
              <a:gd name="adj" fmla="val 50000"/>
            </a:avLst>
          </a:prstGeom>
          <a:solidFill>
            <a:srgbClr val="232A55"/>
          </a:solidFill>
          <a:ln/>
        </p:spPr>
      </p:sp>
      <p:sp>
        <p:nvSpPr>
          <p:cNvPr id="23" name="benzetme-ikon"/>
          <p:cNvSpPr/>
          <p:nvPr/>
        </p:nvSpPr>
        <p:spPr>
          <a:xfrm>
            <a:off x="621792" y="4261104"/>
            <a:ext cx="329184" cy="329184"/>
          </a:xfrm>
          <a:prstGeom prst="ellipse">
            <a:avLst/>
          </a:prstGeom>
          <a:solidFill>
            <a:srgbClr val="FBBF24"/>
          </a:solidFill>
          <a:ln/>
        </p:spPr>
      </p:sp>
      <p:sp>
        <p:nvSpPr>
          <p:cNvPr id="24" name="Text 22"/>
          <p:cNvSpPr txBox="1"/>
          <p:nvPr/>
        </p:nvSpPr>
        <p:spPr>
          <a:xfrm>
            <a:off x="621792" y="4261104"/>
            <a:ext cx="329184" cy="329184"/>
          </a:xfrm>
          <a:prstGeom prst="rect">
            <a:avLst/>
          </a:prstGeom>
          <a:noFill/>
          <a:ln/>
        </p:spPr>
        <p:txBody>
          <a:bodyPr wrap="square" lIns="0" tIns="0" rIns="0" bIns="0" rtlCol="0" anchor="ctr"/>
          <a:lstStyle/>
          <a:p>
            <a:pPr marL="0" indent="0" algn="ctr">
              <a:buNone/>
            </a:pPr>
            <a:r>
              <a:rPr lang="en-US" sz="1600" b="1" dirty="0">
                <a:solidFill>
                  <a:srgbClr val="10142B"/>
                </a:solidFill>
                <a:latin typeface="Arial" pitchFamily="34" charset="0"/>
                <a:ea typeface="Arial" pitchFamily="34" charset="-122"/>
                <a:cs typeface="Arial" pitchFamily="34" charset="-120"/>
              </a:rPr>
              <a:t>≈</a:t>
            </a:r>
            <a:endParaRPr lang="en-US" sz="1600" dirty="0"/>
          </a:p>
        </p:txBody>
      </p:sp>
      <p:sp>
        <p:nvSpPr>
          <p:cNvPr id="25" name="Text 23"/>
          <p:cNvSpPr txBox="1"/>
          <p:nvPr/>
        </p:nvSpPr>
        <p:spPr>
          <a:xfrm>
            <a:off x="1042416" y="4224528"/>
            <a:ext cx="7452360" cy="402336"/>
          </a:xfrm>
          <a:prstGeom prst="rect">
            <a:avLst/>
          </a:prstGeom>
          <a:noFill/>
          <a:ln/>
        </p:spPr>
        <p:txBody>
          <a:bodyPr wrap="square" lIns="0" tIns="0" rIns="0" bIns="0" rtlCol="0" anchor="ctr"/>
          <a:lstStyle/>
          <a:p>
            <a:pPr marL="0" indent="0">
              <a:buNone/>
            </a:pPr>
            <a:r>
              <a:rPr lang="en-US" sz="1100" b="1" dirty="0">
                <a:solidFill>
                  <a:srgbClr val="FBBF24"/>
                </a:solidFill>
                <a:latin typeface="Arial" pitchFamily="34" charset="0"/>
                <a:ea typeface="Arial" pitchFamily="34" charset="-122"/>
                <a:cs typeface="Arial" pitchFamily="34" charset="-120"/>
              </a:rPr>
              <a:t>Gündelik hayatta: </a:t>
            </a:r>
            <a:r>
              <a:rPr lang="en-US" sz="1100" dirty="0">
                <a:solidFill>
                  <a:srgbClr val="EEF0F8"/>
                </a:solidFill>
                <a:latin typeface="Arial" pitchFamily="34" charset="0"/>
                <a:ea typeface="Arial" pitchFamily="34" charset="-122"/>
                <a:cs typeface="Arial" pitchFamily="34" charset="-120"/>
              </a:rPr>
              <a:t>derede duran bir kaya gibi: su (metin) kayanın (float) etrafından akar.</a:t>
            </a:r>
            <a:endParaRPr lang="en-US" sz="1100" dirty="0"/>
          </a:p>
        </p:txBody>
      </p:sp>
    </p:spTree>
  </p:cSld>
  <p:clrMapOvr>
    <a:masterClrMapping/>
  </p:clrMapOvr>
  <p:transition spd="med">
    <p:pull/>
  </p:transition>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548640" y="256032"/>
            <a:ext cx="4572000" cy="201168"/>
          </a:xfrm>
          <a:prstGeom prst="rect">
            <a:avLst/>
          </a:prstGeom>
          <a:noFill/>
          <a:ln/>
        </p:spPr>
        <p:txBody>
          <a:bodyPr wrap="square" lIns="0" tIns="0" rIns="0" bIns="0" rtlCol="0" anchor="t"/>
          <a:lstStyle/>
          <a:p>
            <a:pPr marL="0" indent="0">
              <a:buNone/>
            </a:pPr>
            <a:r>
              <a:rPr lang="en-US" sz="900" b="1" kern="0" spc="200" dirty="0">
                <a:solidFill>
                  <a:srgbClr val="A3E635"/>
                </a:solidFill>
                <a:latin typeface="Arial" pitchFamily="34" charset="0"/>
                <a:ea typeface="Arial" pitchFamily="34" charset="-122"/>
                <a:cs typeface="Arial" pitchFamily="34" charset="-120"/>
              </a:rPr>
              <a:t>MODÜL 3 · CSS DÜZENİ</a:t>
            </a:r>
            <a:endParaRPr lang="en-US" sz="900" dirty="0"/>
          </a:p>
        </p:txBody>
      </p:sp>
      <p:sp>
        <p:nvSpPr>
          <p:cNvPr id="3" name="mini-box-0"/>
          <p:cNvSpPr/>
          <p:nvPr/>
        </p:nvSpPr>
        <p:spPr>
          <a:xfrm>
            <a:off x="8229600" y="201168"/>
            <a:ext cx="384048" cy="384048"/>
          </a:xfrm>
          <a:prstGeom prst="rect">
            <a:avLst/>
          </a:prstGeom>
          <a:ln w="9525">
            <a:solidFill>
              <a:srgbClr val="A3E635"/>
            </a:solidFill>
            <a:prstDash val="solid"/>
          </a:ln>
        </p:spPr>
      </p:sp>
      <p:sp>
        <p:nvSpPr>
          <p:cNvPr id="4" name="mini-box-1"/>
          <p:cNvSpPr/>
          <p:nvPr/>
        </p:nvSpPr>
        <p:spPr>
          <a:xfrm>
            <a:off x="8293608" y="265176"/>
            <a:ext cx="256032" cy="256032"/>
          </a:xfrm>
          <a:prstGeom prst="rect">
            <a:avLst/>
          </a:prstGeom>
          <a:ln w="9525">
            <a:solidFill>
              <a:srgbClr val="EEF0F8"/>
            </a:solidFill>
            <a:prstDash val="solid"/>
          </a:ln>
        </p:spPr>
      </p:sp>
      <p:sp>
        <p:nvSpPr>
          <p:cNvPr id="5" name="mini-box-2"/>
          <p:cNvSpPr/>
          <p:nvPr/>
        </p:nvSpPr>
        <p:spPr>
          <a:xfrm>
            <a:off x="8348472" y="320040"/>
            <a:ext cx="146304" cy="146304"/>
          </a:xfrm>
          <a:prstGeom prst="rect">
            <a:avLst/>
          </a:prstGeom>
          <a:solidFill>
            <a:srgbClr val="A3E635"/>
          </a:solidFill>
          <a:ln w="9525">
            <a:solidFill>
              <a:srgbClr val="A3E635"/>
            </a:solidFill>
            <a:prstDash val="solid"/>
          </a:ln>
        </p:spPr>
      </p:sp>
      <p:sp>
        <p:nvSpPr>
          <p:cNvPr id="6" name="ilerleme-zemin"/>
          <p:cNvSpPr/>
          <p:nvPr/>
        </p:nvSpPr>
        <p:spPr>
          <a:xfrm>
            <a:off x="0" y="5070348"/>
            <a:ext cx="9144000" cy="73152"/>
          </a:xfrm>
          <a:prstGeom prst="rect">
            <a:avLst/>
          </a:prstGeom>
          <a:solidFill>
            <a:srgbClr val="1A2044"/>
          </a:solidFill>
          <a:ln/>
        </p:spPr>
      </p:sp>
      <p:sp>
        <p:nvSpPr>
          <p:cNvPr id="7" name="ilerleme"/>
          <p:cNvSpPr/>
          <p:nvPr/>
        </p:nvSpPr>
        <p:spPr>
          <a:xfrm>
            <a:off x="0" y="5070348"/>
            <a:ext cx="7017488" cy="73152"/>
          </a:xfrm>
          <a:prstGeom prst="rect">
            <a:avLst/>
          </a:prstGeom>
          <a:solidFill>
            <a:srgbClr val="A3E635"/>
          </a:solidFill>
          <a:ln/>
        </p:spPr>
      </p:sp>
      <p:sp>
        <p:nvSpPr>
          <p:cNvPr id="8" name="Text 6"/>
          <p:cNvSpPr txBox="1"/>
          <p:nvPr/>
        </p:nvSpPr>
        <p:spPr>
          <a:xfrm>
            <a:off x="548640" y="4791456"/>
            <a:ext cx="3657600" cy="201168"/>
          </a:xfrm>
          <a:prstGeom prst="rect">
            <a:avLst/>
          </a:prstGeom>
          <a:noFill/>
          <a:ln/>
        </p:spPr>
        <p:txBody>
          <a:bodyPr wrap="square" lIns="0" tIns="0" rIns="0" bIns="0" rtlCol="0" anchor="t"/>
          <a:lstStyle/>
          <a:p>
            <a:pPr marL="0" indent="0">
              <a:buNone/>
            </a:pPr>
            <a:r>
              <a:rPr lang="en-US" sz="850" dirty="0">
                <a:solidFill>
                  <a:srgbClr val="6C759E"/>
                </a:solidFill>
                <a:latin typeface="Arial" pitchFamily="34" charset="0"/>
                <a:ea typeface="Arial" pitchFamily="34" charset="-122"/>
                <a:cs typeface="Arial" pitchFamily="34" charset="-120"/>
              </a:rPr>
              <a:t>KCŞ A.Ş.  ·  CSS ile stil ve düzen</a:t>
            </a:r>
            <a:endParaRPr lang="en-US" sz="850" dirty="0"/>
          </a:p>
        </p:txBody>
      </p:sp>
      <p:sp>
        <p:nvSpPr>
          <p:cNvPr id="9" name="Text 7"/>
          <p:cNvSpPr txBox="1"/>
          <p:nvPr/>
        </p:nvSpPr>
        <p:spPr>
          <a:xfrm>
            <a:off x="4206240" y="4791456"/>
            <a:ext cx="3840480" cy="201168"/>
          </a:xfrm>
          <a:prstGeom prst="rect">
            <a:avLst/>
          </a:prstGeom>
          <a:noFill/>
          <a:ln/>
        </p:spPr>
        <p:txBody>
          <a:bodyPr wrap="square" lIns="0" tIns="0" rIns="0" bIns="0" rtlCol="0" anchor="t"/>
          <a:lstStyle/>
          <a:p>
            <a:pPr marL="0" indent="0" algn="r">
              <a:buNone/>
            </a:pPr>
            <a:r>
              <a:rPr lang="en-US" sz="850" dirty="0">
                <a:solidFill>
                  <a:srgbClr val="6C759E"/>
                </a:solidFill>
                <a:latin typeface="Arial" pitchFamily="34" charset="0"/>
                <a:ea typeface="Arial" pitchFamily="34" charset="-122"/>
                <a:cs typeface="Arial" pitchFamily="34" charset="-120"/>
              </a:rPr>
              <a:t>MDN · Positioning</a:t>
            </a:r>
            <a:endParaRPr lang="en-US" sz="850" dirty="0"/>
          </a:p>
        </p:txBody>
      </p:sp>
      <p:sp>
        <p:nvSpPr>
          <p:cNvPr id="10" name="Text 8"/>
          <p:cNvSpPr txBox="1"/>
          <p:nvPr/>
        </p:nvSpPr>
        <p:spPr>
          <a:xfrm>
            <a:off x="8092440" y="4791456"/>
            <a:ext cx="685800" cy="201168"/>
          </a:xfrm>
          <a:prstGeom prst="rect">
            <a:avLst/>
          </a:prstGeom>
          <a:noFill/>
          <a:ln/>
        </p:spPr>
        <p:txBody>
          <a:bodyPr wrap="square" lIns="0" tIns="0" rIns="0" bIns="0" rtlCol="0" anchor="t"/>
          <a:lstStyle/>
          <a:p>
            <a:pPr marL="0" indent="0" algn="r">
              <a:buNone/>
            </a:pPr>
            <a:r>
              <a:rPr lang="en-US" sz="850" dirty="0">
                <a:solidFill>
                  <a:srgbClr val="9AA3C7"/>
                </a:solidFill>
                <a:latin typeface="Courier New" pitchFamily="34" charset="0"/>
                <a:ea typeface="Courier New" pitchFamily="34" charset="-122"/>
                <a:cs typeface="Courier New" pitchFamily="34" charset="-120"/>
              </a:rPr>
              <a:t>33 / 43</a:t>
            </a:r>
            <a:endParaRPr lang="en-US" sz="850" dirty="0"/>
          </a:p>
        </p:txBody>
      </p:sp>
      <p:sp>
        <p:nvSpPr>
          <p:cNvPr id="11" name="Text 9"/>
          <p:cNvSpPr txBox="1"/>
          <p:nvPr/>
        </p:nvSpPr>
        <p:spPr>
          <a:xfrm>
            <a:off x="548640" y="502920"/>
            <a:ext cx="5943600" cy="237744"/>
          </a:xfrm>
          <a:prstGeom prst="rect">
            <a:avLst/>
          </a:prstGeom>
          <a:noFill/>
          <a:ln/>
        </p:spPr>
        <p:txBody>
          <a:bodyPr wrap="square" lIns="0" tIns="0" rIns="0" bIns="0" rtlCol="0" anchor="t"/>
          <a:lstStyle/>
          <a:p>
            <a:pPr marL="0" indent="0">
              <a:buNone/>
            </a:pPr>
            <a:r>
              <a:rPr lang="en-US" sz="1100" b="1" dirty="0">
                <a:solidFill>
                  <a:srgbClr val="A3E635"/>
                </a:solidFill>
                <a:latin typeface="Courier New" pitchFamily="34" charset="0"/>
                <a:ea typeface="Courier New" pitchFamily="34" charset="-122"/>
                <a:cs typeface="Courier New" pitchFamily="34" charset="-120"/>
              </a:rPr>
              <a:t>position: sticky; top: 0;</a:t>
            </a:r>
            <a:endParaRPr lang="en-US" sz="1100" dirty="0"/>
          </a:p>
        </p:txBody>
      </p:sp>
      <p:sp>
        <p:nvSpPr>
          <p:cNvPr id="12" name="Text 10"/>
          <p:cNvSpPr txBox="1"/>
          <p:nvPr/>
        </p:nvSpPr>
        <p:spPr>
          <a:xfrm>
            <a:off x="548640" y="749808"/>
            <a:ext cx="7589520" cy="502920"/>
          </a:xfrm>
          <a:prstGeom prst="rect">
            <a:avLst/>
          </a:prstGeom>
          <a:noFill/>
          <a:ln/>
        </p:spPr>
        <p:txBody>
          <a:bodyPr wrap="square" lIns="0" tIns="0" rIns="0" bIns="0" rtlCol="0" anchor="ctr"/>
          <a:lstStyle/>
          <a:p>
            <a:pPr marL="0" indent="0">
              <a:buNone/>
            </a:pPr>
            <a:r>
              <a:rPr lang="en-US" sz="2400" b="1" dirty="0">
                <a:solidFill>
                  <a:srgbClr val="EEF0F8"/>
                </a:solidFill>
                <a:latin typeface="Arial" pitchFamily="34" charset="0"/>
                <a:ea typeface="Arial" pitchFamily="34" charset="-122"/>
                <a:cs typeface="Arial" pitchFamily="34" charset="-120"/>
              </a:rPr>
              <a:t>Konumlandırma (positioning)</a:t>
            </a:r>
            <a:endParaRPr lang="en-US" sz="2400" dirty="0"/>
          </a:p>
        </p:txBody>
      </p:sp>
      <p:sp>
        <p:nvSpPr>
          <p:cNvPr id="13" name="Text 11"/>
          <p:cNvSpPr txBox="1"/>
          <p:nvPr/>
        </p:nvSpPr>
        <p:spPr>
          <a:xfrm>
            <a:off x="548640" y="1426464"/>
            <a:ext cx="1188720" cy="292608"/>
          </a:xfrm>
          <a:prstGeom prst="roundRect">
            <a:avLst>
              <a:gd name="adj" fmla="val 37500"/>
            </a:avLst>
          </a:prstGeom>
          <a:solidFill>
            <a:srgbClr val="10142B"/>
          </a:solidFill>
          <a:ln w="12700">
            <a:solidFill>
              <a:srgbClr val="9AA3C7"/>
            </a:solidFill>
          </a:ln>
        </p:spPr>
        <p:txBody>
          <a:bodyPr wrap="square" lIns="0" tIns="0" rIns="0" bIns="0" rtlCol="0" anchor="ctr"/>
          <a:lstStyle/>
          <a:p>
            <a:pPr marL="0" indent="0" algn="ctr">
              <a:buNone/>
            </a:pPr>
            <a:r>
              <a:rPr lang="en-US" sz="1050" b="1" dirty="0">
                <a:solidFill>
                  <a:srgbClr val="9AA3C7"/>
                </a:solidFill>
                <a:latin typeface="Courier New" pitchFamily="34" charset="0"/>
                <a:ea typeface="Courier New" pitchFamily="34" charset="-122"/>
                <a:cs typeface="Courier New" pitchFamily="34" charset="-120"/>
              </a:rPr>
              <a:t>static</a:t>
            </a:r>
            <a:endParaRPr lang="en-US" sz="1050" dirty="0"/>
          </a:p>
        </p:txBody>
      </p:sp>
      <p:sp>
        <p:nvSpPr>
          <p:cNvPr id="14" name="Text 12"/>
          <p:cNvSpPr txBox="1"/>
          <p:nvPr/>
        </p:nvSpPr>
        <p:spPr>
          <a:xfrm>
            <a:off x="1874520" y="1371600"/>
            <a:ext cx="3017520" cy="411480"/>
          </a:xfrm>
          <a:prstGeom prst="rect">
            <a:avLst/>
          </a:prstGeom>
          <a:noFill/>
          <a:ln/>
        </p:spPr>
        <p:txBody>
          <a:bodyPr wrap="square" lIns="0" tIns="0" rIns="0" bIns="0" rtlCol="0" anchor="ctr"/>
          <a:lstStyle/>
          <a:p>
            <a:pPr marL="0" indent="0">
              <a:buNone/>
            </a:pPr>
            <a:r>
              <a:rPr lang="en-US" sz="1050" dirty="0">
                <a:solidFill>
                  <a:srgbClr val="EEF0F8"/>
                </a:solidFill>
                <a:latin typeface="Arial" pitchFamily="34" charset="0"/>
                <a:ea typeface="Arial" pitchFamily="34" charset="-122"/>
                <a:cs typeface="Arial" pitchFamily="34" charset="-120"/>
              </a:rPr>
              <a:t>varsayılan, normal akış</a:t>
            </a:r>
            <a:endParaRPr lang="en-US" sz="1050" dirty="0"/>
          </a:p>
        </p:txBody>
      </p:sp>
      <p:sp>
        <p:nvSpPr>
          <p:cNvPr id="15" name="Text 13"/>
          <p:cNvSpPr txBox="1"/>
          <p:nvPr/>
        </p:nvSpPr>
        <p:spPr>
          <a:xfrm>
            <a:off x="548640" y="1901952"/>
            <a:ext cx="1188720" cy="292608"/>
          </a:xfrm>
          <a:prstGeom prst="roundRect">
            <a:avLst>
              <a:gd name="adj" fmla="val 37500"/>
            </a:avLst>
          </a:prstGeom>
          <a:solidFill>
            <a:srgbClr val="10142B"/>
          </a:solidFill>
          <a:ln w="12700">
            <a:solidFill>
              <a:srgbClr val="22D3EE"/>
            </a:solidFill>
          </a:ln>
        </p:spPr>
        <p:txBody>
          <a:bodyPr wrap="square" lIns="0" tIns="0" rIns="0" bIns="0" rtlCol="0" anchor="ctr"/>
          <a:lstStyle/>
          <a:p>
            <a:pPr marL="0" indent="0" algn="ctr">
              <a:buNone/>
            </a:pPr>
            <a:r>
              <a:rPr lang="en-US" sz="1050" b="1" dirty="0">
                <a:solidFill>
                  <a:srgbClr val="22D3EE"/>
                </a:solidFill>
                <a:latin typeface="Courier New" pitchFamily="34" charset="0"/>
                <a:ea typeface="Courier New" pitchFamily="34" charset="-122"/>
                <a:cs typeface="Courier New" pitchFamily="34" charset="-120"/>
              </a:rPr>
              <a:t>relative</a:t>
            </a:r>
            <a:endParaRPr lang="en-US" sz="1050" dirty="0"/>
          </a:p>
        </p:txBody>
      </p:sp>
      <p:sp>
        <p:nvSpPr>
          <p:cNvPr id="16" name="Text 14"/>
          <p:cNvSpPr txBox="1"/>
          <p:nvPr/>
        </p:nvSpPr>
        <p:spPr>
          <a:xfrm>
            <a:off x="1874520" y="1847088"/>
            <a:ext cx="3017520" cy="411480"/>
          </a:xfrm>
          <a:prstGeom prst="rect">
            <a:avLst/>
          </a:prstGeom>
          <a:noFill/>
          <a:ln/>
        </p:spPr>
        <p:txBody>
          <a:bodyPr wrap="square" lIns="0" tIns="0" rIns="0" bIns="0" rtlCol="0" anchor="ctr"/>
          <a:lstStyle/>
          <a:p>
            <a:pPr marL="0" indent="0">
              <a:buNone/>
            </a:pPr>
            <a:r>
              <a:rPr lang="en-US" sz="1050" dirty="0">
                <a:solidFill>
                  <a:srgbClr val="EEF0F8"/>
                </a:solidFill>
                <a:latin typeface="Arial" pitchFamily="34" charset="0"/>
                <a:ea typeface="Arial" pitchFamily="34" charset="-122"/>
                <a:cs typeface="Arial" pitchFamily="34" charset="-120"/>
              </a:rPr>
              <a:t>akışta kalır, top/left ile kaydırılır, üste binebilir</a:t>
            </a:r>
            <a:endParaRPr lang="en-US" sz="1050" dirty="0"/>
          </a:p>
        </p:txBody>
      </p:sp>
      <p:sp>
        <p:nvSpPr>
          <p:cNvPr id="17" name="Text 15"/>
          <p:cNvSpPr txBox="1"/>
          <p:nvPr/>
        </p:nvSpPr>
        <p:spPr>
          <a:xfrm>
            <a:off x="548640" y="2377440"/>
            <a:ext cx="1188720" cy="292608"/>
          </a:xfrm>
          <a:prstGeom prst="roundRect">
            <a:avLst>
              <a:gd name="adj" fmla="val 37500"/>
            </a:avLst>
          </a:prstGeom>
          <a:solidFill>
            <a:srgbClr val="10142B"/>
          </a:solidFill>
          <a:ln w="12700">
            <a:solidFill>
              <a:srgbClr val="F472B6"/>
            </a:solidFill>
          </a:ln>
        </p:spPr>
        <p:txBody>
          <a:bodyPr wrap="square" lIns="0" tIns="0" rIns="0" bIns="0" rtlCol="0" anchor="ctr"/>
          <a:lstStyle/>
          <a:p>
            <a:pPr marL="0" indent="0" algn="ctr">
              <a:buNone/>
            </a:pPr>
            <a:r>
              <a:rPr lang="en-US" sz="1050" b="1" dirty="0">
                <a:solidFill>
                  <a:srgbClr val="F472B6"/>
                </a:solidFill>
                <a:latin typeface="Courier New" pitchFamily="34" charset="0"/>
                <a:ea typeface="Courier New" pitchFamily="34" charset="-122"/>
                <a:cs typeface="Courier New" pitchFamily="34" charset="-120"/>
              </a:rPr>
              <a:t>absolute</a:t>
            </a:r>
            <a:endParaRPr lang="en-US" sz="1050" dirty="0"/>
          </a:p>
        </p:txBody>
      </p:sp>
      <p:sp>
        <p:nvSpPr>
          <p:cNvPr id="18" name="Text 16"/>
          <p:cNvSpPr txBox="1"/>
          <p:nvPr/>
        </p:nvSpPr>
        <p:spPr>
          <a:xfrm>
            <a:off x="1874520" y="2322576"/>
            <a:ext cx="3017520" cy="411480"/>
          </a:xfrm>
          <a:prstGeom prst="rect">
            <a:avLst/>
          </a:prstGeom>
          <a:noFill/>
          <a:ln/>
        </p:spPr>
        <p:txBody>
          <a:bodyPr wrap="square" lIns="0" tIns="0" rIns="0" bIns="0" rtlCol="0" anchor="ctr"/>
          <a:lstStyle/>
          <a:p>
            <a:pPr marL="0" indent="0">
              <a:buNone/>
            </a:pPr>
            <a:r>
              <a:rPr lang="en-US" sz="1050" dirty="0">
                <a:solidFill>
                  <a:srgbClr val="EEF0F8"/>
                </a:solidFill>
                <a:latin typeface="Arial" pitchFamily="34" charset="0"/>
                <a:ea typeface="Arial" pitchFamily="34" charset="-122"/>
                <a:cs typeface="Arial" pitchFamily="34" charset="-120"/>
              </a:rPr>
              <a:t>akıştan çıkar, konumlu en yakın ataya göre yerleşir</a:t>
            </a:r>
            <a:endParaRPr lang="en-US" sz="1050" dirty="0"/>
          </a:p>
        </p:txBody>
      </p:sp>
      <p:sp>
        <p:nvSpPr>
          <p:cNvPr id="19" name="Text 17"/>
          <p:cNvSpPr txBox="1"/>
          <p:nvPr/>
        </p:nvSpPr>
        <p:spPr>
          <a:xfrm>
            <a:off x="548640" y="2852928"/>
            <a:ext cx="1188720" cy="292608"/>
          </a:xfrm>
          <a:prstGeom prst="roundRect">
            <a:avLst>
              <a:gd name="adj" fmla="val 37500"/>
            </a:avLst>
          </a:prstGeom>
          <a:solidFill>
            <a:srgbClr val="10142B"/>
          </a:solidFill>
          <a:ln w="12700">
            <a:solidFill>
              <a:srgbClr val="A3E635"/>
            </a:solidFill>
          </a:ln>
        </p:spPr>
        <p:txBody>
          <a:bodyPr wrap="square" lIns="0" tIns="0" rIns="0" bIns="0" rtlCol="0" anchor="ctr"/>
          <a:lstStyle/>
          <a:p>
            <a:pPr marL="0" indent="0" algn="ctr">
              <a:buNone/>
            </a:pPr>
            <a:r>
              <a:rPr lang="en-US" sz="1050" b="1" dirty="0">
                <a:solidFill>
                  <a:srgbClr val="A3E635"/>
                </a:solidFill>
                <a:latin typeface="Courier New" pitchFamily="34" charset="0"/>
                <a:ea typeface="Courier New" pitchFamily="34" charset="-122"/>
                <a:cs typeface="Courier New" pitchFamily="34" charset="-120"/>
              </a:rPr>
              <a:t>fixed</a:t>
            </a:r>
            <a:endParaRPr lang="en-US" sz="1050" dirty="0"/>
          </a:p>
        </p:txBody>
      </p:sp>
      <p:sp>
        <p:nvSpPr>
          <p:cNvPr id="20" name="Text 18"/>
          <p:cNvSpPr txBox="1"/>
          <p:nvPr/>
        </p:nvSpPr>
        <p:spPr>
          <a:xfrm>
            <a:off x="1874520" y="2798064"/>
            <a:ext cx="3017520" cy="411480"/>
          </a:xfrm>
          <a:prstGeom prst="rect">
            <a:avLst/>
          </a:prstGeom>
          <a:noFill/>
          <a:ln/>
        </p:spPr>
        <p:txBody>
          <a:bodyPr wrap="square" lIns="0" tIns="0" rIns="0" bIns="0" rtlCol="0" anchor="ctr"/>
          <a:lstStyle/>
          <a:p>
            <a:pPr marL="0" indent="0">
              <a:buNone/>
            </a:pPr>
            <a:r>
              <a:rPr lang="en-US" sz="1050" dirty="0">
                <a:solidFill>
                  <a:srgbClr val="EEF0F8"/>
                </a:solidFill>
                <a:latin typeface="Arial" pitchFamily="34" charset="0"/>
                <a:ea typeface="Arial" pitchFamily="34" charset="-122"/>
                <a:cs typeface="Arial" pitchFamily="34" charset="-120"/>
              </a:rPr>
              <a:t>ekrana (viewport) sabitlenir, kaydırınca kımıldamaz</a:t>
            </a:r>
            <a:endParaRPr lang="en-US" sz="1050" dirty="0"/>
          </a:p>
        </p:txBody>
      </p:sp>
      <p:sp>
        <p:nvSpPr>
          <p:cNvPr id="21" name="Text 19"/>
          <p:cNvSpPr txBox="1"/>
          <p:nvPr/>
        </p:nvSpPr>
        <p:spPr>
          <a:xfrm>
            <a:off x="548640" y="3328416"/>
            <a:ext cx="1188720" cy="292608"/>
          </a:xfrm>
          <a:prstGeom prst="roundRect">
            <a:avLst>
              <a:gd name="adj" fmla="val 37500"/>
            </a:avLst>
          </a:prstGeom>
          <a:solidFill>
            <a:srgbClr val="10142B"/>
          </a:solidFill>
          <a:ln w="12700">
            <a:solidFill>
              <a:srgbClr val="FBBF24"/>
            </a:solidFill>
          </a:ln>
        </p:spPr>
        <p:txBody>
          <a:bodyPr wrap="square" lIns="0" tIns="0" rIns="0" bIns="0" rtlCol="0" anchor="ctr"/>
          <a:lstStyle/>
          <a:p>
            <a:pPr marL="0" indent="0" algn="ctr">
              <a:buNone/>
            </a:pPr>
            <a:r>
              <a:rPr lang="en-US" sz="1050" b="1" dirty="0">
                <a:solidFill>
                  <a:srgbClr val="FBBF24"/>
                </a:solidFill>
                <a:latin typeface="Courier New" pitchFamily="34" charset="0"/>
                <a:ea typeface="Courier New" pitchFamily="34" charset="-122"/>
                <a:cs typeface="Courier New" pitchFamily="34" charset="-120"/>
              </a:rPr>
              <a:t>sticky</a:t>
            </a:r>
            <a:endParaRPr lang="en-US" sz="1050" dirty="0"/>
          </a:p>
        </p:txBody>
      </p:sp>
      <p:sp>
        <p:nvSpPr>
          <p:cNvPr id="22" name="Text 20"/>
          <p:cNvSpPr txBox="1"/>
          <p:nvPr/>
        </p:nvSpPr>
        <p:spPr>
          <a:xfrm>
            <a:off x="1874520" y="3273552"/>
            <a:ext cx="3017520" cy="411480"/>
          </a:xfrm>
          <a:prstGeom prst="rect">
            <a:avLst/>
          </a:prstGeom>
          <a:noFill/>
          <a:ln/>
        </p:spPr>
        <p:txBody>
          <a:bodyPr wrap="square" lIns="0" tIns="0" rIns="0" bIns="0" rtlCol="0" anchor="ctr"/>
          <a:lstStyle/>
          <a:p>
            <a:pPr marL="0" indent="0">
              <a:buNone/>
            </a:pPr>
            <a:r>
              <a:rPr lang="en-US" sz="1050" dirty="0">
                <a:solidFill>
                  <a:srgbClr val="EEF0F8"/>
                </a:solidFill>
                <a:latin typeface="Arial" pitchFamily="34" charset="0"/>
                <a:ea typeface="Arial" pitchFamily="34" charset="-122"/>
                <a:cs typeface="Arial" pitchFamily="34" charset="-120"/>
              </a:rPr>
              <a:t>eşiğe kadar relative, sonra fixed gibi yapışır</a:t>
            </a:r>
            <a:endParaRPr lang="en-US" sz="1050" dirty="0"/>
          </a:p>
        </p:txBody>
      </p:sp>
      <p:sp>
        <p:nvSpPr>
          <p:cNvPr id="23" name="Text 21"/>
          <p:cNvSpPr txBox="1"/>
          <p:nvPr/>
        </p:nvSpPr>
        <p:spPr>
          <a:xfrm>
            <a:off x="548640" y="3749040"/>
            <a:ext cx="4389120" cy="384048"/>
          </a:xfrm>
          <a:prstGeom prst="rect">
            <a:avLst/>
          </a:prstGeom>
          <a:noFill/>
          <a:ln/>
        </p:spPr>
        <p:txBody>
          <a:bodyPr wrap="square" lIns="0" tIns="0" rIns="0" bIns="0" rtlCol="0" anchor="t"/>
          <a:lstStyle/>
          <a:p>
            <a:pPr marL="0" indent="0">
              <a:buNone/>
            </a:pPr>
            <a:r>
              <a:rPr lang="en-US" sz="950" dirty="0">
                <a:solidFill>
                  <a:srgbClr val="9AA3C7"/>
                </a:solidFill>
                <a:latin typeface="Arial" pitchFamily="34" charset="0"/>
                <a:ea typeface="Arial" pitchFamily="34" charset="-122"/>
                <a:cs typeface="Arial" pitchFamily="34" charset="-120"/>
              </a:rPr>
              <a:t>top: 30px üst kenarı aşağı iter: kutu aşağı kayar. Konum bağlamı için bir ataya position: relative ver.</a:t>
            </a:r>
            <a:endParaRPr lang="en-US" sz="950" dirty="0"/>
          </a:p>
        </p:txBody>
      </p:sp>
      <p:sp>
        <p:nvSpPr>
          <p:cNvPr id="24" name="kart"/>
          <p:cNvSpPr/>
          <p:nvPr/>
        </p:nvSpPr>
        <p:spPr>
          <a:xfrm>
            <a:off x="5120640" y="1371600"/>
            <a:ext cx="3474720" cy="1325880"/>
          </a:xfrm>
          <a:prstGeom prst="roundRect">
            <a:avLst>
              <a:gd name="adj" fmla="val 5517"/>
            </a:avLst>
          </a:prstGeom>
          <a:solidFill>
            <a:srgbClr val="1A2044"/>
          </a:solidFill>
          <a:ln w="9525">
            <a:solidFill>
              <a:srgbClr val="2E3768"/>
            </a:solidFill>
            <a:prstDash val="solid"/>
          </a:ln>
        </p:spPr>
      </p:sp>
      <p:sp>
        <p:nvSpPr>
          <p:cNvPr id="25" name="kart-nokta"/>
          <p:cNvSpPr/>
          <p:nvPr/>
        </p:nvSpPr>
        <p:spPr>
          <a:xfrm>
            <a:off x="5266944" y="1527048"/>
            <a:ext cx="91440" cy="91440"/>
          </a:xfrm>
          <a:prstGeom prst="ellipse">
            <a:avLst/>
          </a:prstGeom>
          <a:solidFill>
            <a:srgbClr val="8B7CFF"/>
          </a:solidFill>
          <a:ln/>
        </p:spPr>
      </p:sp>
      <p:sp>
        <p:nvSpPr>
          <p:cNvPr id="26" name="Text 24"/>
          <p:cNvSpPr txBox="1"/>
          <p:nvPr/>
        </p:nvSpPr>
        <p:spPr>
          <a:xfrm>
            <a:off x="5431536" y="1444752"/>
            <a:ext cx="3063240" cy="274320"/>
          </a:xfrm>
          <a:prstGeom prst="rect">
            <a:avLst/>
          </a:prstGeom>
          <a:noFill/>
          <a:ln/>
        </p:spPr>
        <p:txBody>
          <a:bodyPr wrap="square" lIns="0" tIns="0" rIns="0" bIns="0" rtlCol="0" anchor="ctr"/>
          <a:lstStyle/>
          <a:p>
            <a:pPr marL="0" indent="0">
              <a:buNone/>
            </a:pPr>
            <a:r>
              <a:rPr lang="en-US" sz="1200" b="1" dirty="0">
                <a:solidFill>
                  <a:srgbClr val="EEF0F8"/>
                </a:solidFill>
                <a:latin typeface="Courier New" pitchFamily="34" charset="0"/>
                <a:ea typeface="Courier New" pitchFamily="34" charset="-122"/>
                <a:cs typeface="Courier New" pitchFamily="34" charset="-120"/>
              </a:rPr>
              <a:t>z-index</a:t>
            </a:r>
            <a:endParaRPr lang="en-US" sz="1200" dirty="0"/>
          </a:p>
        </p:txBody>
      </p:sp>
      <p:sp>
        <p:nvSpPr>
          <p:cNvPr id="27" name="Text 25"/>
          <p:cNvSpPr txBox="1"/>
          <p:nvPr/>
        </p:nvSpPr>
        <p:spPr>
          <a:xfrm>
            <a:off x="5257800" y="1700784"/>
            <a:ext cx="3200400" cy="960120"/>
          </a:xfrm>
          <a:prstGeom prst="rect">
            <a:avLst/>
          </a:prstGeom>
          <a:noFill/>
          <a:ln/>
        </p:spPr>
        <p:txBody>
          <a:bodyPr wrap="square" lIns="0" tIns="0" rIns="0" bIns="0" rtlCol="0" anchor="t"/>
          <a:lstStyle/>
          <a:p>
            <a:pPr marL="0" indent="0">
              <a:buNone/>
            </a:pPr>
            <a:r>
              <a:rPr lang="en-US" sz="1000" dirty="0">
                <a:solidFill>
                  <a:srgbClr val="EEF0F8"/>
                </a:solidFill>
                <a:latin typeface="Arial" pitchFamily="34" charset="0"/>
                <a:ea typeface="Arial" pitchFamily="34" charset="-122"/>
                <a:cs typeface="Arial" pitchFamily="34" charset="-120"/>
              </a:rPr>
              <a:t>Konumlu öğelerin üst üste sırası. Birimsiz tam sayı; büyük olan üstte. Sadece göreli sıra önemli: 2 ve 3 = 300 ve 40000.</a:t>
            </a:r>
            <a:endParaRPr lang="en-US" sz="1000" dirty="0"/>
          </a:p>
        </p:txBody>
      </p:sp>
      <p:sp>
        <p:nvSpPr>
          <p:cNvPr id="28" name="kod-paneli"/>
          <p:cNvSpPr/>
          <p:nvPr/>
        </p:nvSpPr>
        <p:spPr>
          <a:xfrm>
            <a:off x="5120640" y="2788920"/>
            <a:ext cx="3474720" cy="1307592"/>
          </a:xfrm>
          <a:prstGeom prst="roundRect">
            <a:avLst>
              <a:gd name="adj" fmla="val 5594"/>
            </a:avLst>
          </a:prstGeom>
          <a:solidFill>
            <a:srgbClr val="0A0D1F"/>
          </a:solidFill>
          <a:ln w="9525">
            <a:solidFill>
              <a:srgbClr val="2E3768"/>
            </a:solidFill>
            <a:prstDash val="solid"/>
          </a:ln>
        </p:spPr>
      </p:sp>
      <p:sp>
        <p:nvSpPr>
          <p:cNvPr id="29" name="Text 27"/>
          <p:cNvSpPr txBox="1"/>
          <p:nvPr/>
        </p:nvSpPr>
        <p:spPr>
          <a:xfrm>
            <a:off x="7132320" y="2843784"/>
            <a:ext cx="1371600" cy="182880"/>
          </a:xfrm>
          <a:prstGeom prst="rect">
            <a:avLst/>
          </a:prstGeom>
          <a:noFill/>
          <a:ln/>
        </p:spPr>
        <p:txBody>
          <a:bodyPr wrap="square" lIns="0" tIns="0" rIns="0" bIns="0" rtlCol="0" anchor="t"/>
          <a:lstStyle/>
          <a:p>
            <a:pPr marL="0" indent="0" algn="r">
              <a:buNone/>
            </a:pPr>
            <a:r>
              <a:rPr lang="en-US" sz="800" dirty="0">
                <a:solidFill>
                  <a:srgbClr val="6C759E"/>
                </a:solidFill>
                <a:latin typeface="Courier New" pitchFamily="34" charset="0"/>
                <a:ea typeface="Courier New" pitchFamily="34" charset="-122"/>
                <a:cs typeface="Courier New" pitchFamily="34" charset="-120"/>
              </a:rPr>
              <a:t>sticky.css</a:t>
            </a:r>
            <a:endParaRPr lang="en-US" sz="800" dirty="0"/>
          </a:p>
        </p:txBody>
      </p:sp>
      <p:sp>
        <p:nvSpPr>
          <p:cNvPr id="30" name="Text 28"/>
          <p:cNvSpPr txBox="1"/>
          <p:nvPr/>
        </p:nvSpPr>
        <p:spPr>
          <a:xfrm>
            <a:off x="5266944" y="3026664"/>
            <a:ext cx="3200400" cy="996696"/>
          </a:xfrm>
          <a:prstGeom prst="rect">
            <a:avLst/>
          </a:prstGeom>
          <a:noFill/>
          <a:ln/>
        </p:spPr>
        <p:txBody>
          <a:bodyPr wrap="square" lIns="0" tIns="0" rIns="0" bIns="0" rtlCol="0" anchor="ctr"/>
          <a:lstStyle/>
          <a:p>
            <a:pPr marL="0" indent="0">
              <a:buNone/>
            </a:pPr>
            <a:r>
              <a:rPr lang="en-US" sz="950" dirty="0">
                <a:solidFill>
                  <a:srgbClr val="F472B6"/>
                </a:solidFill>
                <a:latin typeface="Courier New" pitchFamily="34" charset="0"/>
                <a:ea typeface="Courier New" pitchFamily="34" charset="-122"/>
                <a:cs typeface="Courier New" pitchFamily="34" charset="-120"/>
              </a:rPr>
              <a:t>dt </a:t>
            </a:r>
            <a:r>
              <a:rPr lang="en-US" sz="950" dirty="0">
                <a:solidFill>
                  <a:srgbClr val="6C759E"/>
                </a:solidFill>
                <a:latin typeface="Courier New" pitchFamily="34" charset="0"/>
                <a:ea typeface="Courier New" pitchFamily="34" charset="-122"/>
                <a:cs typeface="Courier New" pitchFamily="34" charset="-120"/>
              </a:rPr>
              <a:t>{</a:t>
            </a:r>
            <a:endParaRPr lang="en-US" sz="950" dirty="0"/>
          </a:p>
          <a:p>
            <a:pPr marL="0" indent="0">
              <a:buNone/>
            </a:pPr>
            <a:r>
              <a:rPr lang="en-US" sz="950" dirty="0">
                <a:solidFill>
                  <a:srgbClr val="EEF0F8"/>
                </a:solidFill>
                <a:latin typeface="Courier New" pitchFamily="34" charset="0"/>
                <a:ea typeface="Courier New" pitchFamily="34" charset="-122"/>
                <a:cs typeface="Courier New" pitchFamily="34" charset="-120"/>
              </a:rPr>
              <a:t>  </a:t>
            </a:r>
            <a:r>
              <a:rPr lang="en-US" sz="950" dirty="0">
                <a:solidFill>
                  <a:srgbClr val="22D3EE"/>
                </a:solidFill>
                <a:latin typeface="Courier New" pitchFamily="34" charset="0"/>
                <a:ea typeface="Courier New" pitchFamily="34" charset="-122"/>
                <a:cs typeface="Courier New" pitchFamily="34" charset="-120"/>
              </a:rPr>
              <a:t>position</a:t>
            </a:r>
            <a:r>
              <a:rPr lang="en-US" sz="950" dirty="0">
                <a:solidFill>
                  <a:srgbClr val="6C759E"/>
                </a:solidFill>
                <a:latin typeface="Courier New" pitchFamily="34" charset="0"/>
                <a:ea typeface="Courier New" pitchFamily="34" charset="-122"/>
                <a:cs typeface="Courier New" pitchFamily="34" charset="-120"/>
              </a:rPr>
              <a:t>: </a:t>
            </a:r>
            <a:r>
              <a:rPr lang="en-US" sz="950" dirty="0">
                <a:solidFill>
                  <a:srgbClr val="FBBF24"/>
                </a:solidFill>
                <a:latin typeface="Courier New" pitchFamily="34" charset="0"/>
                <a:ea typeface="Courier New" pitchFamily="34" charset="-122"/>
                <a:cs typeface="Courier New" pitchFamily="34" charset="-120"/>
              </a:rPr>
              <a:t>sticky;</a:t>
            </a:r>
            <a:endParaRPr lang="en-US" sz="950" dirty="0"/>
          </a:p>
          <a:p>
            <a:pPr marL="0" indent="0">
              <a:buNone/>
            </a:pPr>
            <a:r>
              <a:rPr lang="en-US" sz="950" dirty="0">
                <a:solidFill>
                  <a:srgbClr val="EEF0F8"/>
                </a:solidFill>
                <a:latin typeface="Courier New" pitchFamily="34" charset="0"/>
                <a:ea typeface="Courier New" pitchFamily="34" charset="-122"/>
                <a:cs typeface="Courier New" pitchFamily="34" charset="-120"/>
              </a:rPr>
              <a:t>  </a:t>
            </a:r>
            <a:r>
              <a:rPr lang="en-US" sz="950" dirty="0">
                <a:solidFill>
                  <a:srgbClr val="22D3EE"/>
                </a:solidFill>
                <a:latin typeface="Courier New" pitchFamily="34" charset="0"/>
                <a:ea typeface="Courier New" pitchFamily="34" charset="-122"/>
                <a:cs typeface="Courier New" pitchFamily="34" charset="-120"/>
              </a:rPr>
              <a:t>top</a:t>
            </a:r>
            <a:r>
              <a:rPr lang="en-US" sz="950" dirty="0">
                <a:solidFill>
                  <a:srgbClr val="6C759E"/>
                </a:solidFill>
                <a:latin typeface="Courier New" pitchFamily="34" charset="0"/>
                <a:ea typeface="Courier New" pitchFamily="34" charset="-122"/>
                <a:cs typeface="Courier New" pitchFamily="34" charset="-120"/>
              </a:rPr>
              <a:t>: </a:t>
            </a:r>
            <a:r>
              <a:rPr lang="en-US" sz="950" dirty="0">
                <a:solidFill>
                  <a:srgbClr val="FBBF24"/>
                </a:solidFill>
                <a:latin typeface="Courier New" pitchFamily="34" charset="0"/>
                <a:ea typeface="Courier New" pitchFamily="34" charset="-122"/>
                <a:cs typeface="Courier New" pitchFamily="34" charset="-120"/>
              </a:rPr>
              <a:t>0;</a:t>
            </a:r>
            <a:endParaRPr lang="en-US" sz="950" dirty="0"/>
          </a:p>
          <a:p>
            <a:pPr marL="0" indent="0">
              <a:buNone/>
            </a:pPr>
            <a:r>
              <a:rPr lang="en-US" sz="950" dirty="0">
                <a:solidFill>
                  <a:srgbClr val="EEF0F8"/>
                </a:solidFill>
                <a:latin typeface="Courier New" pitchFamily="34" charset="0"/>
                <a:ea typeface="Courier New" pitchFamily="34" charset="-122"/>
                <a:cs typeface="Courier New" pitchFamily="34" charset="-120"/>
              </a:rPr>
              <a:t>  </a:t>
            </a:r>
            <a:r>
              <a:rPr lang="en-US" sz="950" dirty="0">
                <a:solidFill>
                  <a:srgbClr val="22D3EE"/>
                </a:solidFill>
                <a:latin typeface="Courier New" pitchFamily="34" charset="0"/>
                <a:ea typeface="Courier New" pitchFamily="34" charset="-122"/>
                <a:cs typeface="Courier New" pitchFamily="34" charset="-120"/>
              </a:rPr>
              <a:t>background-color</a:t>
            </a:r>
            <a:r>
              <a:rPr lang="en-US" sz="950" dirty="0">
                <a:solidFill>
                  <a:srgbClr val="6C759E"/>
                </a:solidFill>
                <a:latin typeface="Courier New" pitchFamily="34" charset="0"/>
                <a:ea typeface="Courier New" pitchFamily="34" charset="-122"/>
                <a:cs typeface="Courier New" pitchFamily="34" charset="-120"/>
              </a:rPr>
              <a:t>: </a:t>
            </a:r>
            <a:r>
              <a:rPr lang="en-US" sz="950" dirty="0">
                <a:solidFill>
                  <a:srgbClr val="FBBF24"/>
                </a:solidFill>
                <a:latin typeface="Courier New" pitchFamily="34" charset="0"/>
                <a:ea typeface="Courier New" pitchFamily="34" charset="-122"/>
                <a:cs typeface="Courier New" pitchFamily="34" charset="-120"/>
              </a:rPr>
              <a:t>black; }</a:t>
            </a:r>
            <a:endParaRPr lang="en-US" sz="950" dirty="0"/>
          </a:p>
        </p:txBody>
      </p:sp>
      <p:sp>
        <p:nvSpPr>
          <p:cNvPr id="31" name="benzetme"/>
          <p:cNvSpPr/>
          <p:nvPr/>
        </p:nvSpPr>
        <p:spPr>
          <a:xfrm>
            <a:off x="548640" y="4224528"/>
            <a:ext cx="8046720" cy="402336"/>
          </a:xfrm>
          <a:prstGeom prst="roundRect">
            <a:avLst>
              <a:gd name="adj" fmla="val 50000"/>
            </a:avLst>
          </a:prstGeom>
          <a:solidFill>
            <a:srgbClr val="232A55"/>
          </a:solidFill>
          <a:ln/>
        </p:spPr>
      </p:sp>
      <p:sp>
        <p:nvSpPr>
          <p:cNvPr id="32" name="benzetme-ikon"/>
          <p:cNvSpPr/>
          <p:nvPr/>
        </p:nvSpPr>
        <p:spPr>
          <a:xfrm>
            <a:off x="621792" y="4261104"/>
            <a:ext cx="329184" cy="329184"/>
          </a:xfrm>
          <a:prstGeom prst="ellipse">
            <a:avLst/>
          </a:prstGeom>
          <a:solidFill>
            <a:srgbClr val="FBBF24"/>
          </a:solidFill>
          <a:ln/>
        </p:spPr>
      </p:sp>
      <p:sp>
        <p:nvSpPr>
          <p:cNvPr id="33" name="Text 31"/>
          <p:cNvSpPr txBox="1"/>
          <p:nvPr/>
        </p:nvSpPr>
        <p:spPr>
          <a:xfrm>
            <a:off x="621792" y="4261104"/>
            <a:ext cx="329184" cy="329184"/>
          </a:xfrm>
          <a:prstGeom prst="rect">
            <a:avLst/>
          </a:prstGeom>
          <a:noFill/>
          <a:ln/>
        </p:spPr>
        <p:txBody>
          <a:bodyPr wrap="square" lIns="0" tIns="0" rIns="0" bIns="0" rtlCol="0" anchor="ctr"/>
          <a:lstStyle/>
          <a:p>
            <a:pPr marL="0" indent="0" algn="ctr">
              <a:buNone/>
            </a:pPr>
            <a:r>
              <a:rPr lang="en-US" sz="1600" b="1" dirty="0">
                <a:solidFill>
                  <a:srgbClr val="10142B"/>
                </a:solidFill>
                <a:latin typeface="Arial" pitchFamily="34" charset="0"/>
                <a:ea typeface="Arial" pitchFamily="34" charset="-122"/>
                <a:cs typeface="Arial" pitchFamily="34" charset="-120"/>
              </a:rPr>
              <a:t>≈</a:t>
            </a:r>
            <a:endParaRPr lang="en-US" sz="1600" dirty="0"/>
          </a:p>
        </p:txBody>
      </p:sp>
      <p:sp>
        <p:nvSpPr>
          <p:cNvPr id="34" name="Text 32"/>
          <p:cNvSpPr txBox="1"/>
          <p:nvPr/>
        </p:nvSpPr>
        <p:spPr>
          <a:xfrm>
            <a:off x="1042416" y="4224528"/>
            <a:ext cx="7452360" cy="402336"/>
          </a:xfrm>
          <a:prstGeom prst="rect">
            <a:avLst/>
          </a:prstGeom>
          <a:noFill/>
          <a:ln/>
        </p:spPr>
        <p:txBody>
          <a:bodyPr wrap="square" lIns="0" tIns="0" rIns="0" bIns="0" rtlCol="0" anchor="ctr"/>
          <a:lstStyle/>
          <a:p>
            <a:pPr marL="0" indent="0">
              <a:buNone/>
            </a:pPr>
            <a:r>
              <a:rPr lang="en-US" sz="1100" b="1" dirty="0">
                <a:solidFill>
                  <a:srgbClr val="FBBF24"/>
                </a:solidFill>
                <a:latin typeface="Arial" pitchFamily="34" charset="0"/>
                <a:ea typeface="Arial" pitchFamily="34" charset="-122"/>
                <a:cs typeface="Arial" pitchFamily="34" charset="-120"/>
              </a:rPr>
              <a:t>Gündelik hayatta: </a:t>
            </a:r>
            <a:r>
              <a:rPr lang="en-US" sz="1100" dirty="0">
                <a:solidFill>
                  <a:srgbClr val="EEF0F8"/>
                </a:solidFill>
                <a:latin typeface="Arial" pitchFamily="34" charset="0"/>
                <a:ea typeface="Arial" pitchFamily="34" charset="-122"/>
                <a:cs typeface="Arial" pitchFamily="34" charset="-120"/>
              </a:rPr>
              <a:t>relative koltuğunda biraz kaymak, absolute salondan çıkıp sahneye geçmek, fixed ekrana yapışan altyazı, sticky asansördeki kat göstergesi.</a:t>
            </a:r>
            <a:endParaRPr lang="en-US" sz="1100" dirty="0"/>
          </a:p>
        </p:txBody>
      </p:sp>
    </p:spTree>
  </p:cSld>
  <p:clrMapOvr>
    <a:masterClrMapping/>
  </p:clrMapOvr>
  <p:transition spd="med">
    <p:pull/>
  </p:transition>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548640" y="256032"/>
            <a:ext cx="4572000" cy="201168"/>
          </a:xfrm>
          <a:prstGeom prst="rect">
            <a:avLst/>
          </a:prstGeom>
          <a:noFill/>
          <a:ln/>
        </p:spPr>
        <p:txBody>
          <a:bodyPr wrap="square" lIns="0" tIns="0" rIns="0" bIns="0" rtlCol="0" anchor="t"/>
          <a:lstStyle/>
          <a:p>
            <a:pPr marL="0" indent="0">
              <a:buNone/>
            </a:pPr>
            <a:r>
              <a:rPr lang="en-US" sz="900" b="1" kern="0" spc="200" dirty="0">
                <a:solidFill>
                  <a:srgbClr val="A3E635"/>
                </a:solidFill>
                <a:latin typeface="Arial" pitchFamily="34" charset="0"/>
                <a:ea typeface="Arial" pitchFamily="34" charset="-122"/>
                <a:cs typeface="Arial" pitchFamily="34" charset="-120"/>
              </a:rPr>
              <a:t>MODÜL 3 · CSS DÜZENİ</a:t>
            </a:r>
            <a:endParaRPr lang="en-US" sz="900" dirty="0"/>
          </a:p>
        </p:txBody>
      </p:sp>
      <p:sp>
        <p:nvSpPr>
          <p:cNvPr id="3" name="mini-box-0"/>
          <p:cNvSpPr/>
          <p:nvPr/>
        </p:nvSpPr>
        <p:spPr>
          <a:xfrm>
            <a:off x="8229600" y="201168"/>
            <a:ext cx="384048" cy="384048"/>
          </a:xfrm>
          <a:prstGeom prst="rect">
            <a:avLst/>
          </a:prstGeom>
          <a:ln w="9525">
            <a:solidFill>
              <a:srgbClr val="A3E635"/>
            </a:solidFill>
            <a:prstDash val="solid"/>
          </a:ln>
        </p:spPr>
      </p:sp>
      <p:sp>
        <p:nvSpPr>
          <p:cNvPr id="4" name="mini-box-1"/>
          <p:cNvSpPr/>
          <p:nvPr/>
        </p:nvSpPr>
        <p:spPr>
          <a:xfrm>
            <a:off x="8293608" y="265176"/>
            <a:ext cx="256032" cy="256032"/>
          </a:xfrm>
          <a:prstGeom prst="rect">
            <a:avLst/>
          </a:prstGeom>
          <a:ln w="9525">
            <a:solidFill>
              <a:srgbClr val="EEF0F8"/>
            </a:solidFill>
            <a:prstDash val="solid"/>
          </a:ln>
        </p:spPr>
      </p:sp>
      <p:sp>
        <p:nvSpPr>
          <p:cNvPr id="5" name="mini-box-2"/>
          <p:cNvSpPr/>
          <p:nvPr/>
        </p:nvSpPr>
        <p:spPr>
          <a:xfrm>
            <a:off x="8348472" y="320040"/>
            <a:ext cx="146304" cy="146304"/>
          </a:xfrm>
          <a:prstGeom prst="rect">
            <a:avLst/>
          </a:prstGeom>
          <a:solidFill>
            <a:srgbClr val="A3E635"/>
          </a:solidFill>
          <a:ln w="9525">
            <a:solidFill>
              <a:srgbClr val="A3E635"/>
            </a:solidFill>
            <a:prstDash val="solid"/>
          </a:ln>
        </p:spPr>
      </p:sp>
      <p:sp>
        <p:nvSpPr>
          <p:cNvPr id="6" name="ilerleme-zemin"/>
          <p:cNvSpPr/>
          <p:nvPr/>
        </p:nvSpPr>
        <p:spPr>
          <a:xfrm>
            <a:off x="0" y="5070348"/>
            <a:ext cx="9144000" cy="73152"/>
          </a:xfrm>
          <a:prstGeom prst="rect">
            <a:avLst/>
          </a:prstGeom>
          <a:solidFill>
            <a:srgbClr val="1A2044"/>
          </a:solidFill>
          <a:ln/>
        </p:spPr>
      </p:sp>
      <p:sp>
        <p:nvSpPr>
          <p:cNvPr id="7" name="ilerleme"/>
          <p:cNvSpPr/>
          <p:nvPr/>
        </p:nvSpPr>
        <p:spPr>
          <a:xfrm>
            <a:off x="0" y="5070348"/>
            <a:ext cx="7230140" cy="73152"/>
          </a:xfrm>
          <a:prstGeom prst="rect">
            <a:avLst/>
          </a:prstGeom>
          <a:solidFill>
            <a:srgbClr val="A3E635"/>
          </a:solidFill>
          <a:ln/>
        </p:spPr>
      </p:sp>
      <p:sp>
        <p:nvSpPr>
          <p:cNvPr id="8" name="Text 6"/>
          <p:cNvSpPr txBox="1"/>
          <p:nvPr/>
        </p:nvSpPr>
        <p:spPr>
          <a:xfrm>
            <a:off x="548640" y="4791456"/>
            <a:ext cx="3657600" cy="201168"/>
          </a:xfrm>
          <a:prstGeom prst="rect">
            <a:avLst/>
          </a:prstGeom>
          <a:noFill/>
          <a:ln/>
        </p:spPr>
        <p:txBody>
          <a:bodyPr wrap="square" lIns="0" tIns="0" rIns="0" bIns="0" rtlCol="0" anchor="t"/>
          <a:lstStyle/>
          <a:p>
            <a:pPr marL="0" indent="0">
              <a:buNone/>
            </a:pPr>
            <a:r>
              <a:rPr lang="en-US" sz="850" dirty="0">
                <a:solidFill>
                  <a:srgbClr val="6C759E"/>
                </a:solidFill>
                <a:latin typeface="Arial" pitchFamily="34" charset="0"/>
                <a:ea typeface="Arial" pitchFamily="34" charset="-122"/>
                <a:cs typeface="Arial" pitchFamily="34" charset="-120"/>
              </a:rPr>
              <a:t>KCŞ A.Ş.  ·  CSS ile stil ve düzen</a:t>
            </a:r>
            <a:endParaRPr lang="en-US" sz="850" dirty="0"/>
          </a:p>
        </p:txBody>
      </p:sp>
      <p:sp>
        <p:nvSpPr>
          <p:cNvPr id="9" name="Text 7"/>
          <p:cNvSpPr txBox="1"/>
          <p:nvPr/>
        </p:nvSpPr>
        <p:spPr>
          <a:xfrm>
            <a:off x="4206240" y="4791456"/>
            <a:ext cx="3840480" cy="201168"/>
          </a:xfrm>
          <a:prstGeom prst="rect">
            <a:avLst/>
          </a:prstGeom>
          <a:noFill/>
          <a:ln/>
        </p:spPr>
        <p:txBody>
          <a:bodyPr wrap="square" lIns="0" tIns="0" rIns="0" bIns="0" rtlCol="0" anchor="t"/>
          <a:lstStyle/>
          <a:p>
            <a:pPr marL="0" indent="0" algn="r">
              <a:buNone/>
            </a:pPr>
            <a:r>
              <a:rPr lang="en-US" sz="850" dirty="0">
                <a:solidFill>
                  <a:srgbClr val="6C759E"/>
                </a:solidFill>
                <a:latin typeface="Arial" pitchFamily="34" charset="0"/>
                <a:ea typeface="Arial" pitchFamily="34" charset="-122"/>
                <a:cs typeface="Arial" pitchFamily="34" charset="-120"/>
              </a:rPr>
              <a:t>MDN · Flexbox</a:t>
            </a:r>
            <a:endParaRPr lang="en-US" sz="850" dirty="0"/>
          </a:p>
        </p:txBody>
      </p:sp>
      <p:sp>
        <p:nvSpPr>
          <p:cNvPr id="10" name="Text 8"/>
          <p:cNvSpPr txBox="1"/>
          <p:nvPr/>
        </p:nvSpPr>
        <p:spPr>
          <a:xfrm>
            <a:off x="8092440" y="4791456"/>
            <a:ext cx="685800" cy="201168"/>
          </a:xfrm>
          <a:prstGeom prst="rect">
            <a:avLst/>
          </a:prstGeom>
          <a:noFill/>
          <a:ln/>
        </p:spPr>
        <p:txBody>
          <a:bodyPr wrap="square" lIns="0" tIns="0" rIns="0" bIns="0" rtlCol="0" anchor="t"/>
          <a:lstStyle/>
          <a:p>
            <a:pPr marL="0" indent="0" algn="r">
              <a:buNone/>
            </a:pPr>
            <a:r>
              <a:rPr lang="en-US" sz="850" dirty="0">
                <a:solidFill>
                  <a:srgbClr val="9AA3C7"/>
                </a:solidFill>
                <a:latin typeface="Courier New" pitchFamily="34" charset="0"/>
                <a:ea typeface="Courier New" pitchFamily="34" charset="-122"/>
                <a:cs typeface="Courier New" pitchFamily="34" charset="-120"/>
              </a:rPr>
              <a:t>34 / 43</a:t>
            </a:r>
            <a:endParaRPr lang="en-US" sz="850" dirty="0"/>
          </a:p>
        </p:txBody>
      </p:sp>
      <p:sp>
        <p:nvSpPr>
          <p:cNvPr id="11" name="Text 9"/>
          <p:cNvSpPr txBox="1"/>
          <p:nvPr/>
        </p:nvSpPr>
        <p:spPr>
          <a:xfrm>
            <a:off x="548640" y="502920"/>
            <a:ext cx="5943600" cy="237744"/>
          </a:xfrm>
          <a:prstGeom prst="rect">
            <a:avLst/>
          </a:prstGeom>
          <a:noFill/>
          <a:ln/>
        </p:spPr>
        <p:txBody>
          <a:bodyPr wrap="square" lIns="0" tIns="0" rIns="0" bIns="0" rtlCol="0" anchor="t"/>
          <a:lstStyle/>
          <a:p>
            <a:pPr marL="0" indent="0">
              <a:buNone/>
            </a:pPr>
            <a:r>
              <a:rPr lang="en-US" sz="1100" b="1" dirty="0">
                <a:solidFill>
                  <a:srgbClr val="A3E635"/>
                </a:solidFill>
                <a:latin typeface="Courier New" pitchFamily="34" charset="0"/>
                <a:ea typeface="Courier New" pitchFamily="34" charset="-122"/>
                <a:cs typeface="Courier New" pitchFamily="34" charset="-120"/>
              </a:rPr>
              <a:t>display: flex;</a:t>
            </a:r>
            <a:endParaRPr lang="en-US" sz="1100" dirty="0"/>
          </a:p>
        </p:txBody>
      </p:sp>
      <p:sp>
        <p:nvSpPr>
          <p:cNvPr id="12" name="Text 10"/>
          <p:cNvSpPr txBox="1"/>
          <p:nvPr/>
        </p:nvSpPr>
        <p:spPr>
          <a:xfrm>
            <a:off x="548640" y="749808"/>
            <a:ext cx="7589520" cy="502920"/>
          </a:xfrm>
          <a:prstGeom prst="rect">
            <a:avLst/>
          </a:prstGeom>
          <a:noFill/>
          <a:ln/>
        </p:spPr>
        <p:txBody>
          <a:bodyPr wrap="square" lIns="0" tIns="0" rIns="0" bIns="0" rtlCol="0" anchor="ctr"/>
          <a:lstStyle/>
          <a:p>
            <a:pPr marL="0" indent="0">
              <a:buNone/>
            </a:pPr>
            <a:r>
              <a:rPr lang="en-US" sz="2400" b="1" dirty="0">
                <a:solidFill>
                  <a:srgbClr val="EEF0F8"/>
                </a:solidFill>
                <a:latin typeface="Arial" pitchFamily="34" charset="0"/>
                <a:ea typeface="Arial" pitchFamily="34" charset="-122"/>
                <a:cs typeface="Arial" pitchFamily="34" charset="-120"/>
              </a:rPr>
              <a:t>Flexbox 1: tek boyutlu düzen</a:t>
            </a:r>
            <a:endParaRPr lang="en-US" sz="2400" dirty="0"/>
          </a:p>
        </p:txBody>
      </p:sp>
      <p:sp>
        <p:nvSpPr>
          <p:cNvPr id="13" name="flex-diyagram"/>
          <p:cNvSpPr/>
          <p:nvPr/>
        </p:nvSpPr>
        <p:spPr>
          <a:xfrm>
            <a:off x="548640" y="1371600"/>
            <a:ext cx="3931920" cy="2724912"/>
          </a:xfrm>
          <a:prstGeom prst="roundRect">
            <a:avLst>
              <a:gd name="adj" fmla="val 2685"/>
            </a:avLst>
          </a:prstGeom>
          <a:solidFill>
            <a:srgbClr val="1A2044"/>
          </a:solidFill>
          <a:ln w="9525">
            <a:solidFill>
              <a:srgbClr val="2E3768"/>
            </a:solidFill>
            <a:prstDash val="solid"/>
          </a:ln>
        </p:spPr>
      </p:sp>
      <p:sp>
        <p:nvSpPr>
          <p:cNvPr id="14" name="flex-item-0"/>
          <p:cNvSpPr/>
          <p:nvPr/>
        </p:nvSpPr>
        <p:spPr>
          <a:xfrm>
            <a:off x="868680" y="1920240"/>
            <a:ext cx="960120" cy="1234440"/>
          </a:xfrm>
          <a:prstGeom prst="roundRect">
            <a:avLst>
              <a:gd name="adj" fmla="val 5714"/>
            </a:avLst>
          </a:prstGeom>
          <a:solidFill>
            <a:srgbClr val="A3E635">
              <a:alpha val="25000"/>
            </a:srgbClr>
          </a:solidFill>
          <a:ln w="12700">
            <a:solidFill>
              <a:srgbClr val="A3E635"/>
            </a:solidFill>
            <a:prstDash val="solid"/>
          </a:ln>
        </p:spPr>
      </p:sp>
      <p:sp>
        <p:nvSpPr>
          <p:cNvPr id="15" name="Text 13"/>
          <p:cNvSpPr txBox="1"/>
          <p:nvPr/>
        </p:nvSpPr>
        <p:spPr>
          <a:xfrm>
            <a:off x="868680" y="1920240"/>
            <a:ext cx="960120" cy="1234440"/>
          </a:xfrm>
          <a:prstGeom prst="rect">
            <a:avLst/>
          </a:prstGeom>
          <a:noFill/>
          <a:ln/>
        </p:spPr>
        <p:txBody>
          <a:bodyPr wrap="square" lIns="0" tIns="0" rIns="0" bIns="0" rtlCol="0" anchor="ctr"/>
          <a:lstStyle/>
          <a:p>
            <a:pPr marL="0" indent="0" algn="ctr">
              <a:buNone/>
            </a:pPr>
            <a:r>
              <a:rPr lang="en-US" sz="1000" dirty="0">
                <a:solidFill>
                  <a:srgbClr val="A3E635"/>
                </a:solidFill>
                <a:latin typeface="Courier New" pitchFamily="34" charset="0"/>
                <a:ea typeface="Courier New" pitchFamily="34" charset="-122"/>
                <a:cs typeface="Courier New" pitchFamily="34" charset="-120"/>
              </a:rPr>
              <a:t>item</a:t>
            </a:r>
            <a:endParaRPr lang="en-US" sz="1000" dirty="0"/>
          </a:p>
        </p:txBody>
      </p:sp>
      <p:sp>
        <p:nvSpPr>
          <p:cNvPr id="16" name="flex-item-1"/>
          <p:cNvSpPr/>
          <p:nvPr/>
        </p:nvSpPr>
        <p:spPr>
          <a:xfrm>
            <a:off x="2011680" y="1920240"/>
            <a:ext cx="960120" cy="1234440"/>
          </a:xfrm>
          <a:prstGeom prst="roundRect">
            <a:avLst>
              <a:gd name="adj" fmla="val 5714"/>
            </a:avLst>
          </a:prstGeom>
          <a:solidFill>
            <a:srgbClr val="A3E635">
              <a:alpha val="25000"/>
            </a:srgbClr>
          </a:solidFill>
          <a:ln w="12700">
            <a:solidFill>
              <a:srgbClr val="A3E635"/>
            </a:solidFill>
            <a:prstDash val="solid"/>
          </a:ln>
        </p:spPr>
      </p:sp>
      <p:sp>
        <p:nvSpPr>
          <p:cNvPr id="17" name="Text 15"/>
          <p:cNvSpPr txBox="1"/>
          <p:nvPr/>
        </p:nvSpPr>
        <p:spPr>
          <a:xfrm>
            <a:off x="2011680" y="1920240"/>
            <a:ext cx="960120" cy="1234440"/>
          </a:xfrm>
          <a:prstGeom prst="rect">
            <a:avLst/>
          </a:prstGeom>
          <a:noFill/>
          <a:ln/>
        </p:spPr>
        <p:txBody>
          <a:bodyPr wrap="square" lIns="0" tIns="0" rIns="0" bIns="0" rtlCol="0" anchor="ctr"/>
          <a:lstStyle/>
          <a:p>
            <a:pPr marL="0" indent="0" algn="ctr">
              <a:buNone/>
            </a:pPr>
            <a:r>
              <a:rPr lang="en-US" sz="1000" dirty="0">
                <a:solidFill>
                  <a:srgbClr val="A3E635"/>
                </a:solidFill>
                <a:latin typeface="Courier New" pitchFamily="34" charset="0"/>
                <a:ea typeface="Courier New" pitchFamily="34" charset="-122"/>
                <a:cs typeface="Courier New" pitchFamily="34" charset="-120"/>
              </a:rPr>
              <a:t>item</a:t>
            </a:r>
            <a:endParaRPr lang="en-US" sz="1000" dirty="0"/>
          </a:p>
        </p:txBody>
      </p:sp>
      <p:sp>
        <p:nvSpPr>
          <p:cNvPr id="18" name="flex-item-2"/>
          <p:cNvSpPr/>
          <p:nvPr/>
        </p:nvSpPr>
        <p:spPr>
          <a:xfrm>
            <a:off x="3154680" y="1920240"/>
            <a:ext cx="960120" cy="1234440"/>
          </a:xfrm>
          <a:prstGeom prst="roundRect">
            <a:avLst>
              <a:gd name="adj" fmla="val 5714"/>
            </a:avLst>
          </a:prstGeom>
          <a:solidFill>
            <a:srgbClr val="A3E635">
              <a:alpha val="25000"/>
            </a:srgbClr>
          </a:solidFill>
          <a:ln w="12700">
            <a:solidFill>
              <a:srgbClr val="A3E635"/>
            </a:solidFill>
            <a:prstDash val="solid"/>
          </a:ln>
        </p:spPr>
      </p:sp>
      <p:sp>
        <p:nvSpPr>
          <p:cNvPr id="19" name="Text 17"/>
          <p:cNvSpPr txBox="1"/>
          <p:nvPr/>
        </p:nvSpPr>
        <p:spPr>
          <a:xfrm>
            <a:off x="3154680" y="1920240"/>
            <a:ext cx="960120" cy="1234440"/>
          </a:xfrm>
          <a:prstGeom prst="rect">
            <a:avLst/>
          </a:prstGeom>
          <a:noFill/>
          <a:ln/>
        </p:spPr>
        <p:txBody>
          <a:bodyPr wrap="square" lIns="0" tIns="0" rIns="0" bIns="0" rtlCol="0" anchor="ctr"/>
          <a:lstStyle/>
          <a:p>
            <a:pPr marL="0" indent="0" algn="ctr">
              <a:buNone/>
            </a:pPr>
            <a:r>
              <a:rPr lang="en-US" sz="1000" dirty="0">
                <a:solidFill>
                  <a:srgbClr val="A3E635"/>
                </a:solidFill>
                <a:latin typeface="Courier New" pitchFamily="34" charset="0"/>
                <a:ea typeface="Courier New" pitchFamily="34" charset="-122"/>
                <a:cs typeface="Courier New" pitchFamily="34" charset="-120"/>
              </a:rPr>
              <a:t>item</a:t>
            </a:r>
            <a:endParaRPr lang="en-US" sz="1000" dirty="0"/>
          </a:p>
        </p:txBody>
      </p:sp>
      <p:sp>
        <p:nvSpPr>
          <p:cNvPr id="20" name="ana-eksen"/>
          <p:cNvSpPr/>
          <p:nvPr/>
        </p:nvSpPr>
        <p:spPr>
          <a:xfrm>
            <a:off x="777240" y="3429000"/>
            <a:ext cx="3474720" cy="0"/>
          </a:xfrm>
          <a:prstGeom prst="line">
            <a:avLst/>
          </a:prstGeom>
          <a:noFill/>
          <a:ln w="19050">
            <a:solidFill>
              <a:srgbClr val="22D3EE"/>
            </a:solidFill>
            <a:prstDash val="solid"/>
            <a:tailEnd type="triangle"/>
          </a:ln>
        </p:spPr>
      </p:sp>
      <p:sp>
        <p:nvSpPr>
          <p:cNvPr id="21" name="Text 19"/>
          <p:cNvSpPr txBox="1"/>
          <p:nvPr/>
        </p:nvSpPr>
        <p:spPr>
          <a:xfrm>
            <a:off x="777240" y="3474720"/>
            <a:ext cx="3474720" cy="228600"/>
          </a:xfrm>
          <a:prstGeom prst="rect">
            <a:avLst/>
          </a:prstGeom>
          <a:noFill/>
          <a:ln/>
        </p:spPr>
        <p:txBody>
          <a:bodyPr wrap="square" lIns="0" tIns="0" rIns="0" bIns="0" rtlCol="0" anchor="t"/>
          <a:lstStyle/>
          <a:p>
            <a:pPr marL="0" indent="0" algn="ctr">
              <a:buNone/>
            </a:pPr>
            <a:r>
              <a:rPr lang="en-US" sz="950" dirty="0">
                <a:solidFill>
                  <a:srgbClr val="22D3EE"/>
                </a:solidFill>
                <a:latin typeface="Arial" pitchFamily="34" charset="0"/>
                <a:ea typeface="Arial" pitchFamily="34" charset="-122"/>
                <a:cs typeface="Arial" pitchFamily="34" charset="-120"/>
              </a:rPr>
              <a:t>ana eksen (main axis) →</a:t>
            </a:r>
            <a:endParaRPr lang="en-US" sz="950" dirty="0"/>
          </a:p>
        </p:txBody>
      </p:sp>
      <p:sp>
        <p:nvSpPr>
          <p:cNvPr id="22" name="capraz-eksen"/>
          <p:cNvSpPr/>
          <p:nvPr/>
        </p:nvSpPr>
        <p:spPr>
          <a:xfrm>
            <a:off x="4315968" y="1691640"/>
            <a:ext cx="0" cy="1645920"/>
          </a:xfrm>
          <a:prstGeom prst="line">
            <a:avLst/>
          </a:prstGeom>
          <a:noFill/>
          <a:ln w="19050">
            <a:solidFill>
              <a:srgbClr val="F472B6"/>
            </a:solidFill>
            <a:prstDash val="solid"/>
            <a:tailEnd type="triangle"/>
          </a:ln>
        </p:spPr>
      </p:sp>
      <p:sp>
        <p:nvSpPr>
          <p:cNvPr id="23" name="Text 21"/>
          <p:cNvSpPr txBox="1"/>
          <p:nvPr/>
        </p:nvSpPr>
        <p:spPr>
          <a:xfrm>
            <a:off x="3246120" y="1463040"/>
            <a:ext cx="1188720" cy="201168"/>
          </a:xfrm>
          <a:prstGeom prst="rect">
            <a:avLst/>
          </a:prstGeom>
          <a:noFill/>
          <a:ln/>
        </p:spPr>
        <p:txBody>
          <a:bodyPr wrap="square" lIns="0" tIns="0" rIns="0" bIns="0" rtlCol="0" anchor="t"/>
          <a:lstStyle/>
          <a:p>
            <a:pPr marL="0" indent="0" algn="r">
              <a:buNone/>
            </a:pPr>
            <a:r>
              <a:rPr lang="en-US" sz="900" dirty="0">
                <a:solidFill>
                  <a:srgbClr val="F472B6"/>
                </a:solidFill>
                <a:latin typeface="Arial" pitchFamily="34" charset="0"/>
                <a:ea typeface="Arial" pitchFamily="34" charset="-122"/>
                <a:cs typeface="Arial" pitchFamily="34" charset="-120"/>
              </a:rPr>
              <a:t>çapraz eksen</a:t>
            </a:r>
            <a:endParaRPr lang="en-US" sz="900" dirty="0"/>
          </a:p>
        </p:txBody>
      </p:sp>
      <p:sp>
        <p:nvSpPr>
          <p:cNvPr id="24" name="Text 22"/>
          <p:cNvSpPr txBox="1"/>
          <p:nvPr/>
        </p:nvSpPr>
        <p:spPr>
          <a:xfrm>
            <a:off x="685800" y="1444752"/>
            <a:ext cx="2286000" cy="228600"/>
          </a:xfrm>
          <a:prstGeom prst="rect">
            <a:avLst/>
          </a:prstGeom>
          <a:noFill/>
          <a:ln/>
        </p:spPr>
        <p:txBody>
          <a:bodyPr wrap="square" lIns="0" tIns="0" rIns="0" bIns="0" rtlCol="0" anchor="t"/>
          <a:lstStyle/>
          <a:p>
            <a:pPr marL="0" indent="0">
              <a:buNone/>
            </a:pPr>
            <a:r>
              <a:rPr lang="en-US" sz="950" dirty="0">
                <a:solidFill>
                  <a:srgbClr val="9AA3C7"/>
                </a:solidFill>
                <a:latin typeface="Courier New" pitchFamily="34" charset="0"/>
                <a:ea typeface="Courier New" pitchFamily="34" charset="-122"/>
                <a:cs typeface="Courier New" pitchFamily="34" charset="-120"/>
              </a:rPr>
              <a:t>flex container</a:t>
            </a:r>
            <a:endParaRPr lang="en-US" sz="950" dirty="0"/>
          </a:p>
        </p:txBody>
      </p:sp>
      <p:sp>
        <p:nvSpPr>
          <p:cNvPr id="25" name="Text 23"/>
          <p:cNvSpPr txBox="1"/>
          <p:nvPr/>
        </p:nvSpPr>
        <p:spPr>
          <a:xfrm>
            <a:off x="4709160" y="1371600"/>
            <a:ext cx="3886200" cy="2743200"/>
          </a:xfrm>
          <a:prstGeom prst="rect">
            <a:avLst/>
          </a:prstGeom>
          <a:noFill/>
          <a:ln/>
        </p:spPr>
        <p:txBody>
          <a:bodyPr wrap="square" lIns="0" tIns="0" rIns="0" bIns="0" rtlCol="0" anchor="t"/>
          <a:lstStyle/>
          <a:p>
            <a:pPr marL="0" indent="0">
              <a:spcAft>
                <a:spcPts val="600"/>
              </a:spcAft>
              <a:buNone/>
            </a:pPr>
            <a:r>
              <a:rPr lang="en-US" sz="1000" b="1" dirty="0">
                <a:solidFill>
                  <a:srgbClr val="A3E635"/>
                </a:solidFill>
                <a:latin typeface="Arial" pitchFamily="34" charset="0"/>
                <a:ea typeface="Arial" pitchFamily="34" charset="-122"/>
                <a:cs typeface="Arial" pitchFamily="34" charset="-120"/>
              </a:rPr>
              <a:t>Neden? </a:t>
            </a:r>
            <a:r>
              <a:rPr lang="en-US" sz="1000" dirty="0">
                <a:solidFill>
                  <a:srgbClr val="EEF0F8"/>
                </a:solidFill>
                <a:latin typeface="Arial" pitchFamily="34" charset="0"/>
                <a:ea typeface="Arial" pitchFamily="34" charset="-122"/>
                <a:cs typeface="Arial" pitchFamily="34" charset="-120"/>
              </a:rPr>
              <a:t>içeriği dikeyde ortalamak, çocuklara eşit genişlik vermek, içerik farklı olsa da eşit yükseklikte sütunlar.</a:t>
            </a:r>
            <a:endParaRPr lang="en-US" sz="1000" dirty="0"/>
          </a:p>
          <a:p>
            <a:pPr marL="0" indent="0">
              <a:spcAft>
                <a:spcPts val="600"/>
              </a:spcAft>
              <a:buNone/>
            </a:pPr>
            <a:r>
              <a:rPr lang="en-US" sz="1000" b="1" dirty="0">
                <a:solidFill>
                  <a:srgbClr val="A3E635"/>
                </a:solidFill>
                <a:latin typeface="Arial" pitchFamily="34" charset="0"/>
                <a:ea typeface="Arial" pitchFamily="34" charset="-122"/>
                <a:cs typeface="Arial" pitchFamily="34" charset="-120"/>
              </a:rPr>
              <a:t>display: flex: </a:t>
            </a:r>
            <a:r>
              <a:rPr lang="en-US" sz="1000" dirty="0">
                <a:solidFill>
                  <a:srgbClr val="EEF0F8"/>
                </a:solidFill>
                <a:latin typeface="Arial" pitchFamily="34" charset="0"/>
                <a:ea typeface="Arial" pitchFamily="34" charset="-122"/>
                <a:cs typeface="Arial" pitchFamily="34" charset="-120"/>
              </a:rPr>
              <a:t>ebeveyn flex container, çocuklar flex item olur. Tek satırla eşit yükseklikte sütunlar.</a:t>
            </a:r>
            <a:endParaRPr lang="en-US" sz="1000" dirty="0"/>
          </a:p>
          <a:p>
            <a:pPr marL="0" indent="0">
              <a:spcAft>
                <a:spcPts val="600"/>
              </a:spcAft>
              <a:buNone/>
            </a:pPr>
            <a:r>
              <a:rPr lang="en-US" sz="1000" b="1" dirty="0">
                <a:solidFill>
                  <a:srgbClr val="A3E635"/>
                </a:solidFill>
                <a:latin typeface="Arial" pitchFamily="34" charset="0"/>
                <a:ea typeface="Arial" pitchFamily="34" charset="-122"/>
                <a:cs typeface="Arial" pitchFamily="34" charset="-120"/>
              </a:rPr>
              <a:t>flex-direction: </a:t>
            </a:r>
            <a:r>
              <a:rPr lang="en-US" sz="1000" dirty="0">
                <a:solidFill>
                  <a:srgbClr val="EEF0F8"/>
                </a:solidFill>
                <a:latin typeface="Arial" pitchFamily="34" charset="0"/>
                <a:ea typeface="Arial" pitchFamily="34" charset="-122"/>
                <a:cs typeface="Arial" pitchFamily="34" charset="-120"/>
              </a:rPr>
              <a:t>row (varsayılan), column, row-reverse, column-reverse.</a:t>
            </a:r>
            <a:endParaRPr lang="en-US" sz="1000" dirty="0"/>
          </a:p>
          <a:p>
            <a:pPr marL="0" indent="0">
              <a:spcAft>
                <a:spcPts val="600"/>
              </a:spcAft>
              <a:buNone/>
            </a:pPr>
            <a:r>
              <a:rPr lang="en-US" sz="1000" b="1" dirty="0">
                <a:solidFill>
                  <a:srgbClr val="A3E635"/>
                </a:solidFill>
                <a:latin typeface="Arial" pitchFamily="34" charset="0"/>
                <a:ea typeface="Arial" pitchFamily="34" charset="-122"/>
                <a:cs typeface="Arial" pitchFamily="34" charset="-120"/>
              </a:rPr>
              <a:t>flex-wrap: wrap: </a:t>
            </a:r>
            <a:r>
              <a:rPr lang="en-US" sz="1000" dirty="0">
                <a:solidFill>
                  <a:srgbClr val="EEF0F8"/>
                </a:solidFill>
                <a:latin typeface="Arial" pitchFamily="34" charset="0"/>
                <a:ea typeface="Arial" pitchFamily="34" charset="-122"/>
                <a:cs typeface="Arial" pitchFamily="34" charset="-120"/>
              </a:rPr>
              <a:t>sığmayan öğeler alt satıra geçer.</a:t>
            </a:r>
            <a:endParaRPr lang="en-US" sz="1000" dirty="0"/>
          </a:p>
          <a:p>
            <a:pPr marL="0" indent="0">
              <a:spcAft>
                <a:spcPts val="600"/>
              </a:spcAft>
              <a:buNone/>
            </a:pPr>
            <a:r>
              <a:rPr lang="en-US" sz="1000" b="1" dirty="0">
                <a:solidFill>
                  <a:srgbClr val="A3E635"/>
                </a:solidFill>
                <a:latin typeface="Arial" pitchFamily="34" charset="0"/>
                <a:ea typeface="Arial" pitchFamily="34" charset="-122"/>
                <a:cs typeface="Arial" pitchFamily="34" charset="-120"/>
              </a:rPr>
              <a:t>flex-flow: </a:t>
            </a:r>
            <a:r>
              <a:rPr lang="en-US" sz="1000" dirty="0">
                <a:solidFill>
                  <a:srgbClr val="EEF0F8"/>
                </a:solidFill>
                <a:latin typeface="Arial" pitchFamily="34" charset="0"/>
                <a:ea typeface="Arial" pitchFamily="34" charset="-122"/>
                <a:cs typeface="Arial" pitchFamily="34" charset="-120"/>
              </a:rPr>
              <a:t>kısayol: flex-flow: row wrap;</a:t>
            </a:r>
            <a:endParaRPr lang="en-US" sz="1000" dirty="0"/>
          </a:p>
        </p:txBody>
      </p:sp>
      <p:sp>
        <p:nvSpPr>
          <p:cNvPr id="26" name="benzetme"/>
          <p:cNvSpPr/>
          <p:nvPr/>
        </p:nvSpPr>
        <p:spPr>
          <a:xfrm>
            <a:off x="548640" y="4224528"/>
            <a:ext cx="8046720" cy="402336"/>
          </a:xfrm>
          <a:prstGeom prst="roundRect">
            <a:avLst>
              <a:gd name="adj" fmla="val 50000"/>
            </a:avLst>
          </a:prstGeom>
          <a:solidFill>
            <a:srgbClr val="232A55"/>
          </a:solidFill>
          <a:ln/>
        </p:spPr>
      </p:sp>
      <p:sp>
        <p:nvSpPr>
          <p:cNvPr id="27" name="benzetme-ikon"/>
          <p:cNvSpPr/>
          <p:nvPr/>
        </p:nvSpPr>
        <p:spPr>
          <a:xfrm>
            <a:off x="621792" y="4261104"/>
            <a:ext cx="329184" cy="329184"/>
          </a:xfrm>
          <a:prstGeom prst="ellipse">
            <a:avLst/>
          </a:prstGeom>
          <a:solidFill>
            <a:srgbClr val="FBBF24"/>
          </a:solidFill>
          <a:ln/>
        </p:spPr>
      </p:sp>
      <p:sp>
        <p:nvSpPr>
          <p:cNvPr id="28" name="Text 26"/>
          <p:cNvSpPr txBox="1"/>
          <p:nvPr/>
        </p:nvSpPr>
        <p:spPr>
          <a:xfrm>
            <a:off x="621792" y="4261104"/>
            <a:ext cx="329184" cy="329184"/>
          </a:xfrm>
          <a:prstGeom prst="rect">
            <a:avLst/>
          </a:prstGeom>
          <a:noFill/>
          <a:ln/>
        </p:spPr>
        <p:txBody>
          <a:bodyPr wrap="square" lIns="0" tIns="0" rIns="0" bIns="0" rtlCol="0" anchor="ctr"/>
          <a:lstStyle/>
          <a:p>
            <a:pPr marL="0" indent="0" algn="ctr">
              <a:buNone/>
            </a:pPr>
            <a:r>
              <a:rPr lang="en-US" sz="1600" b="1" dirty="0">
                <a:solidFill>
                  <a:srgbClr val="10142B"/>
                </a:solidFill>
                <a:latin typeface="Arial" pitchFamily="34" charset="0"/>
                <a:ea typeface="Arial" pitchFamily="34" charset="-122"/>
                <a:cs typeface="Arial" pitchFamily="34" charset="-120"/>
              </a:rPr>
              <a:t>≈</a:t>
            </a:r>
            <a:endParaRPr lang="en-US" sz="1600" dirty="0"/>
          </a:p>
        </p:txBody>
      </p:sp>
      <p:sp>
        <p:nvSpPr>
          <p:cNvPr id="29" name="Text 27"/>
          <p:cNvSpPr txBox="1"/>
          <p:nvPr/>
        </p:nvSpPr>
        <p:spPr>
          <a:xfrm>
            <a:off x="1042416" y="4224528"/>
            <a:ext cx="7452360" cy="402336"/>
          </a:xfrm>
          <a:prstGeom prst="rect">
            <a:avLst/>
          </a:prstGeom>
          <a:noFill/>
          <a:ln/>
        </p:spPr>
        <p:txBody>
          <a:bodyPr wrap="square" lIns="0" tIns="0" rIns="0" bIns="0" rtlCol="0" anchor="ctr"/>
          <a:lstStyle/>
          <a:p>
            <a:pPr marL="0" indent="0">
              <a:buNone/>
            </a:pPr>
            <a:r>
              <a:rPr lang="en-US" sz="1100" b="1" dirty="0">
                <a:solidFill>
                  <a:srgbClr val="FBBF24"/>
                </a:solidFill>
                <a:latin typeface="Arial" pitchFamily="34" charset="0"/>
                <a:ea typeface="Arial" pitchFamily="34" charset="-122"/>
                <a:cs typeface="Arial" pitchFamily="34" charset="-120"/>
              </a:rPr>
              <a:t>Gündelik hayatta: </a:t>
            </a:r>
            <a:r>
              <a:rPr lang="en-US" sz="1100" dirty="0">
                <a:solidFill>
                  <a:srgbClr val="EEF0F8"/>
                </a:solidFill>
                <a:latin typeface="Arial" pitchFamily="34" charset="0"/>
                <a:ea typeface="Arial" pitchFamily="34" charset="-122"/>
                <a:cs typeface="Arial" pitchFamily="34" charset="-120"/>
              </a:rPr>
              <a:t>flex, otobüs koltuğu gibi: herkes tek sırada (tek boyut) oturur, boş yer varsa paylaşılır, yer yoksa sıkışılır ya da arka sıraya geçilir (wrap).</a:t>
            </a:r>
            <a:endParaRPr lang="en-US" sz="1100" dirty="0"/>
          </a:p>
        </p:txBody>
      </p:sp>
    </p:spTree>
  </p:cSld>
  <p:clrMapOvr>
    <a:masterClrMapping/>
  </p:clrMapOvr>
  <p:transition spd="med">
    <p:pull/>
  </p:transition>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txBox="1"/>
          <p:nvPr/>
        </p:nvSpPr>
        <p:spPr>
          <a:xfrm>
            <a:off x="548640" y="256032"/>
            <a:ext cx="4572000" cy="201168"/>
          </a:xfrm>
          <a:prstGeom prst="rect">
            <a:avLst/>
          </a:prstGeom>
          <a:noFill/>
          <a:ln/>
        </p:spPr>
        <p:txBody>
          <a:bodyPr wrap="square" lIns="0" tIns="0" rIns="0" bIns="0" rtlCol="0" anchor="t"/>
          <a:lstStyle/>
          <a:p>
            <a:pPr marL="0" indent="0">
              <a:buNone/>
            </a:pPr>
            <a:r>
              <a:rPr lang="en-US" sz="900" b="1" kern="0" spc="200" dirty="0">
                <a:solidFill>
                  <a:srgbClr val="A3E635"/>
                </a:solidFill>
                <a:latin typeface="Arial" pitchFamily="34" charset="0"/>
                <a:ea typeface="Arial" pitchFamily="34" charset="-122"/>
                <a:cs typeface="Arial" pitchFamily="34" charset="-120"/>
              </a:rPr>
              <a:t>MODÜL 3 · CSS DÜZENİ</a:t>
            </a:r>
            <a:endParaRPr lang="en-US" sz="900" dirty="0"/>
          </a:p>
        </p:txBody>
      </p:sp>
      <p:sp>
        <p:nvSpPr>
          <p:cNvPr id="3" name="mini-box-0"/>
          <p:cNvSpPr/>
          <p:nvPr/>
        </p:nvSpPr>
        <p:spPr>
          <a:xfrm>
            <a:off x="8229600" y="201168"/>
            <a:ext cx="384048" cy="384048"/>
          </a:xfrm>
          <a:prstGeom prst="rect">
            <a:avLst/>
          </a:prstGeom>
          <a:ln w="9525">
            <a:solidFill>
              <a:srgbClr val="A3E635"/>
            </a:solidFill>
            <a:prstDash val="solid"/>
          </a:ln>
        </p:spPr>
      </p:sp>
      <p:sp>
        <p:nvSpPr>
          <p:cNvPr id="4" name="mini-box-1"/>
          <p:cNvSpPr/>
          <p:nvPr/>
        </p:nvSpPr>
        <p:spPr>
          <a:xfrm>
            <a:off x="8293608" y="265176"/>
            <a:ext cx="256032" cy="256032"/>
          </a:xfrm>
          <a:prstGeom prst="rect">
            <a:avLst/>
          </a:prstGeom>
          <a:ln w="9525">
            <a:solidFill>
              <a:srgbClr val="EEF0F8"/>
            </a:solidFill>
            <a:prstDash val="solid"/>
          </a:ln>
        </p:spPr>
      </p:sp>
      <p:sp>
        <p:nvSpPr>
          <p:cNvPr id="5" name="mini-box-2"/>
          <p:cNvSpPr/>
          <p:nvPr/>
        </p:nvSpPr>
        <p:spPr>
          <a:xfrm>
            <a:off x="8348472" y="320040"/>
            <a:ext cx="146304" cy="146304"/>
          </a:xfrm>
          <a:prstGeom prst="rect">
            <a:avLst/>
          </a:prstGeom>
          <a:solidFill>
            <a:srgbClr val="A3E635"/>
          </a:solidFill>
          <a:ln w="9525">
            <a:solidFill>
              <a:srgbClr val="A3E635"/>
            </a:solidFill>
            <a:prstDash val="solid"/>
          </a:ln>
        </p:spPr>
      </p:sp>
      <p:sp>
        <p:nvSpPr>
          <p:cNvPr id="6" name="ilerleme-zemin"/>
          <p:cNvSpPr/>
          <p:nvPr/>
        </p:nvSpPr>
        <p:spPr>
          <a:xfrm>
            <a:off x="0" y="5070348"/>
            <a:ext cx="9144000" cy="73152"/>
          </a:xfrm>
          <a:prstGeom prst="rect">
            <a:avLst/>
          </a:prstGeom>
          <a:solidFill>
            <a:srgbClr val="1A2044"/>
          </a:solidFill>
          <a:ln/>
        </p:spPr>
      </p:sp>
      <p:sp>
        <p:nvSpPr>
          <p:cNvPr id="7" name="ilerleme"/>
          <p:cNvSpPr/>
          <p:nvPr/>
        </p:nvSpPr>
        <p:spPr>
          <a:xfrm>
            <a:off x="0" y="5070348"/>
            <a:ext cx="7442791" cy="73152"/>
          </a:xfrm>
          <a:prstGeom prst="rect">
            <a:avLst/>
          </a:prstGeom>
          <a:solidFill>
            <a:srgbClr val="A3E635"/>
          </a:solidFill>
          <a:ln/>
        </p:spPr>
      </p:sp>
      <p:sp>
        <p:nvSpPr>
          <p:cNvPr id="8" name="Text 6"/>
          <p:cNvSpPr txBox="1"/>
          <p:nvPr/>
        </p:nvSpPr>
        <p:spPr>
          <a:xfrm>
            <a:off x="548640" y="4791456"/>
            <a:ext cx="3657600" cy="201168"/>
          </a:xfrm>
          <a:prstGeom prst="rect">
            <a:avLst/>
          </a:prstGeom>
          <a:noFill/>
          <a:ln/>
        </p:spPr>
        <p:txBody>
          <a:bodyPr wrap="square" lIns="0" tIns="0" rIns="0" bIns="0" rtlCol="0" anchor="t"/>
          <a:lstStyle/>
          <a:p>
            <a:pPr marL="0" indent="0">
              <a:buNone/>
            </a:pPr>
            <a:r>
              <a:rPr lang="en-US" sz="850" dirty="0">
                <a:solidFill>
                  <a:srgbClr val="6C759E"/>
                </a:solidFill>
                <a:latin typeface="Arial" pitchFamily="34" charset="0"/>
                <a:ea typeface="Arial" pitchFamily="34" charset="-122"/>
                <a:cs typeface="Arial" pitchFamily="34" charset="-120"/>
              </a:rPr>
              <a:t>KCŞ A.Ş.  ·  CSS ile stil ve düzen</a:t>
            </a:r>
            <a:endParaRPr lang="en-US" sz="850" dirty="0"/>
          </a:p>
        </p:txBody>
      </p:sp>
      <p:sp>
        <p:nvSpPr>
          <p:cNvPr id="9" name="Text 7"/>
          <p:cNvSpPr txBox="1"/>
          <p:nvPr/>
        </p:nvSpPr>
        <p:spPr>
          <a:xfrm>
            <a:off x="4206240" y="4791456"/>
            <a:ext cx="3840480" cy="201168"/>
          </a:xfrm>
          <a:prstGeom prst="rect">
            <a:avLst/>
          </a:prstGeom>
          <a:noFill/>
          <a:ln/>
        </p:spPr>
        <p:txBody>
          <a:bodyPr wrap="square" lIns="0" tIns="0" rIns="0" bIns="0" rtlCol="0" anchor="t"/>
          <a:lstStyle/>
          <a:p>
            <a:pPr marL="0" indent="0" algn="r">
              <a:buNone/>
            </a:pPr>
            <a:r>
              <a:rPr lang="en-US" sz="850" dirty="0">
                <a:solidFill>
                  <a:srgbClr val="6C759E"/>
                </a:solidFill>
                <a:latin typeface="Arial" pitchFamily="34" charset="0"/>
                <a:ea typeface="Arial" pitchFamily="34" charset="-122"/>
                <a:cs typeface="Arial" pitchFamily="34" charset="-120"/>
              </a:rPr>
              <a:t>MDN · Flexbox</a:t>
            </a:r>
            <a:endParaRPr lang="en-US" sz="850" dirty="0"/>
          </a:p>
        </p:txBody>
      </p:sp>
      <p:sp>
        <p:nvSpPr>
          <p:cNvPr id="10" name="Text 8"/>
          <p:cNvSpPr txBox="1"/>
          <p:nvPr/>
        </p:nvSpPr>
        <p:spPr>
          <a:xfrm>
            <a:off x="8092440" y="4791456"/>
            <a:ext cx="685800" cy="201168"/>
          </a:xfrm>
          <a:prstGeom prst="rect">
            <a:avLst/>
          </a:prstGeom>
          <a:noFill/>
          <a:ln/>
        </p:spPr>
        <p:txBody>
          <a:bodyPr wrap="square" lIns="0" tIns="0" rIns="0" bIns="0" rtlCol="0" anchor="t"/>
          <a:lstStyle/>
          <a:p>
            <a:pPr marL="0" indent="0" algn="r">
              <a:buNone/>
            </a:pPr>
            <a:r>
              <a:rPr lang="en-US" sz="850" dirty="0">
                <a:solidFill>
                  <a:srgbClr val="9AA3C7"/>
                </a:solidFill>
                <a:latin typeface="Courier New" pitchFamily="34" charset="0"/>
                <a:ea typeface="Courier New" pitchFamily="34" charset="-122"/>
                <a:cs typeface="Courier New" pitchFamily="34" charset="-120"/>
              </a:rPr>
              <a:t>35 / 43</a:t>
            </a:r>
            <a:endParaRPr lang="en-US" sz="850" dirty="0"/>
          </a:p>
        </p:txBody>
      </p:sp>
      <p:sp>
        <p:nvSpPr>
          <p:cNvPr id="11" name="Text 9"/>
          <p:cNvSpPr txBox="1"/>
          <p:nvPr/>
        </p:nvSpPr>
        <p:spPr>
          <a:xfrm>
            <a:off x="548640" y="502920"/>
            <a:ext cx="5943600" cy="237744"/>
          </a:xfrm>
          <a:prstGeom prst="rect">
            <a:avLst/>
          </a:prstGeom>
          <a:noFill/>
          <a:ln/>
        </p:spPr>
        <p:txBody>
          <a:bodyPr wrap="square" lIns="0" tIns="0" rIns="0" bIns="0" rtlCol="0" anchor="t"/>
          <a:lstStyle/>
          <a:p>
            <a:pPr marL="0" indent="0">
              <a:buNone/>
            </a:pPr>
            <a:r>
              <a:rPr lang="en-US" sz="1100" b="1" dirty="0">
                <a:solidFill>
                  <a:srgbClr val="A3E635"/>
                </a:solidFill>
                <a:latin typeface="Courier New" pitchFamily="34" charset="0"/>
                <a:ea typeface="Courier New" pitchFamily="34" charset="-122"/>
                <a:cs typeface="Courier New" pitchFamily="34" charset="-120"/>
              </a:rPr>
              <a:t>justify-content · align-items · order</a:t>
            </a:r>
            <a:endParaRPr lang="en-US" sz="1100" dirty="0"/>
          </a:p>
        </p:txBody>
      </p:sp>
      <p:sp>
        <p:nvSpPr>
          <p:cNvPr id="12" name="Text 10"/>
          <p:cNvSpPr txBox="1"/>
          <p:nvPr/>
        </p:nvSpPr>
        <p:spPr>
          <a:xfrm>
            <a:off x="548640" y="749808"/>
            <a:ext cx="7589520" cy="502920"/>
          </a:xfrm>
          <a:prstGeom prst="rect">
            <a:avLst/>
          </a:prstGeom>
          <a:noFill/>
          <a:ln/>
        </p:spPr>
        <p:txBody>
          <a:bodyPr wrap="square" lIns="0" tIns="0" rIns="0" bIns="0" rtlCol="0" anchor="ctr"/>
          <a:lstStyle/>
          <a:p>
            <a:pPr marL="0" indent="0">
              <a:buNone/>
            </a:pPr>
            <a:r>
              <a:rPr lang="en-US" sz="2400" b="1" dirty="0">
                <a:solidFill>
                  <a:srgbClr val="EEF0F8"/>
                </a:solidFill>
                <a:latin typeface="Arial" pitchFamily="34" charset="0"/>
                <a:ea typeface="Arial" pitchFamily="34" charset="-122"/>
                <a:cs typeface="Arial" pitchFamily="34" charset="-120"/>
              </a:rPr>
              <a:t>Flexbox 2: boyut, hizalama, sıra</a:t>
            </a:r>
            <a:endParaRPr lang="en-US" sz="2400" dirty="0"/>
          </a:p>
        </p:txBody>
      </p:sp>
      <p:sp>
        <p:nvSpPr>
          <p:cNvPr id="13" name="kart"/>
          <p:cNvSpPr/>
          <p:nvPr/>
        </p:nvSpPr>
        <p:spPr>
          <a:xfrm>
            <a:off x="548640" y="1371600"/>
            <a:ext cx="2606040" cy="2724912"/>
          </a:xfrm>
          <a:prstGeom prst="roundRect">
            <a:avLst>
              <a:gd name="adj" fmla="val 2807"/>
            </a:avLst>
          </a:prstGeom>
          <a:solidFill>
            <a:srgbClr val="1A2044"/>
          </a:solidFill>
          <a:ln w="9525">
            <a:solidFill>
              <a:srgbClr val="2E3768"/>
            </a:solidFill>
            <a:prstDash val="solid"/>
          </a:ln>
        </p:spPr>
      </p:sp>
      <p:sp>
        <p:nvSpPr>
          <p:cNvPr id="14" name="kart-nokta"/>
          <p:cNvSpPr/>
          <p:nvPr/>
        </p:nvSpPr>
        <p:spPr>
          <a:xfrm>
            <a:off x="694944" y="1527048"/>
            <a:ext cx="91440" cy="91440"/>
          </a:xfrm>
          <a:prstGeom prst="ellipse">
            <a:avLst/>
          </a:prstGeom>
          <a:solidFill>
            <a:srgbClr val="A3E635"/>
          </a:solidFill>
          <a:ln/>
        </p:spPr>
      </p:sp>
      <p:sp>
        <p:nvSpPr>
          <p:cNvPr id="15" name="Text 13"/>
          <p:cNvSpPr txBox="1"/>
          <p:nvPr/>
        </p:nvSpPr>
        <p:spPr>
          <a:xfrm>
            <a:off x="859536" y="1444752"/>
            <a:ext cx="2194560" cy="274320"/>
          </a:xfrm>
          <a:prstGeom prst="rect">
            <a:avLst/>
          </a:prstGeom>
          <a:noFill/>
          <a:ln/>
        </p:spPr>
        <p:txBody>
          <a:bodyPr wrap="square" lIns="0" tIns="0" rIns="0" bIns="0" rtlCol="0" anchor="ctr"/>
          <a:lstStyle/>
          <a:p>
            <a:pPr marL="0" indent="0">
              <a:buNone/>
            </a:pPr>
            <a:r>
              <a:rPr lang="en-US" sz="1300" b="1" dirty="0">
                <a:solidFill>
                  <a:srgbClr val="EEF0F8"/>
                </a:solidFill>
                <a:latin typeface="Arial" pitchFamily="34" charset="0"/>
                <a:ea typeface="Arial" pitchFamily="34" charset="-122"/>
                <a:cs typeface="Arial" pitchFamily="34" charset="-120"/>
              </a:rPr>
              <a:t>Esnek boyut</a:t>
            </a:r>
            <a:endParaRPr lang="en-US" sz="1300" dirty="0"/>
          </a:p>
        </p:txBody>
      </p:sp>
      <p:sp>
        <p:nvSpPr>
          <p:cNvPr id="16" name="kod-paneli"/>
          <p:cNvSpPr/>
          <p:nvPr/>
        </p:nvSpPr>
        <p:spPr>
          <a:xfrm>
            <a:off x="676656" y="1719072"/>
            <a:ext cx="2359152" cy="914400"/>
          </a:xfrm>
          <a:prstGeom prst="roundRect">
            <a:avLst>
              <a:gd name="adj" fmla="val 8000"/>
            </a:avLst>
          </a:prstGeom>
          <a:solidFill>
            <a:srgbClr val="0A0D1F"/>
          </a:solidFill>
          <a:ln w="9525">
            <a:solidFill>
              <a:srgbClr val="2E3768"/>
            </a:solidFill>
            <a:prstDash val="solid"/>
          </a:ln>
        </p:spPr>
      </p:sp>
      <p:sp>
        <p:nvSpPr>
          <p:cNvPr id="17" name="Text 15"/>
          <p:cNvSpPr txBox="1"/>
          <p:nvPr/>
        </p:nvSpPr>
        <p:spPr>
          <a:xfrm>
            <a:off x="822960" y="1828800"/>
            <a:ext cx="2084832" cy="713232"/>
          </a:xfrm>
          <a:prstGeom prst="rect">
            <a:avLst/>
          </a:prstGeom>
          <a:noFill/>
          <a:ln/>
        </p:spPr>
        <p:txBody>
          <a:bodyPr wrap="square" lIns="0" tIns="0" rIns="0" bIns="0" rtlCol="0" anchor="ctr"/>
          <a:lstStyle/>
          <a:p>
            <a:pPr marL="0" indent="0">
              <a:buNone/>
            </a:pPr>
            <a:r>
              <a:rPr lang="en-US" sz="850" dirty="0">
                <a:solidFill>
                  <a:srgbClr val="F472B6"/>
                </a:solidFill>
                <a:latin typeface="Courier New" pitchFamily="34" charset="0"/>
                <a:ea typeface="Courier New" pitchFamily="34" charset="-122"/>
                <a:cs typeface="Courier New" pitchFamily="34" charset="-120"/>
              </a:rPr>
              <a:t>article </a:t>
            </a:r>
            <a:r>
              <a:rPr lang="en-US" sz="850" dirty="0">
                <a:solidFill>
                  <a:srgbClr val="6C759E"/>
                </a:solidFill>
                <a:latin typeface="Courier New" pitchFamily="34" charset="0"/>
                <a:ea typeface="Courier New" pitchFamily="34" charset="-122"/>
                <a:cs typeface="Courier New" pitchFamily="34" charset="-120"/>
              </a:rPr>
              <a:t>{ </a:t>
            </a:r>
            <a:r>
              <a:rPr lang="en-US" sz="850" dirty="0">
                <a:solidFill>
                  <a:srgbClr val="22D3EE"/>
                </a:solidFill>
                <a:latin typeface="Courier New" pitchFamily="34" charset="0"/>
                <a:ea typeface="Courier New" pitchFamily="34" charset="-122"/>
                <a:cs typeface="Courier New" pitchFamily="34" charset="-120"/>
              </a:rPr>
              <a:t>flex</a:t>
            </a:r>
            <a:r>
              <a:rPr lang="en-US" sz="850" dirty="0">
                <a:solidFill>
                  <a:srgbClr val="6C759E"/>
                </a:solidFill>
                <a:latin typeface="Courier New" pitchFamily="34" charset="0"/>
                <a:ea typeface="Courier New" pitchFamily="34" charset="-122"/>
                <a:cs typeface="Courier New" pitchFamily="34" charset="-120"/>
              </a:rPr>
              <a:t>: </a:t>
            </a:r>
            <a:r>
              <a:rPr lang="en-US" sz="850" dirty="0">
                <a:solidFill>
                  <a:srgbClr val="FBBF24"/>
                </a:solidFill>
                <a:latin typeface="Courier New" pitchFamily="34" charset="0"/>
                <a:ea typeface="Courier New" pitchFamily="34" charset="-122"/>
                <a:cs typeface="Courier New" pitchFamily="34" charset="-120"/>
              </a:rPr>
              <a:t>1 100px</a:t>
            </a:r>
            <a:r>
              <a:rPr lang="en-US" sz="850" dirty="0">
                <a:solidFill>
                  <a:srgbClr val="6C759E"/>
                </a:solidFill>
                <a:latin typeface="Courier New" pitchFamily="34" charset="0"/>
                <a:ea typeface="Courier New" pitchFamily="34" charset="-122"/>
                <a:cs typeface="Courier New" pitchFamily="34" charset="-120"/>
              </a:rPr>
              <a:t>; }</a:t>
            </a:r>
            <a:endParaRPr lang="en-US" sz="850" dirty="0"/>
          </a:p>
          <a:p>
            <a:pPr marL="0" indent="0">
              <a:buNone/>
            </a:pPr>
            <a:r>
              <a:rPr lang="en-US" sz="850" dirty="0">
                <a:solidFill>
                  <a:srgbClr val="F472B6"/>
                </a:solidFill>
                <a:latin typeface="Courier New" pitchFamily="34" charset="0"/>
                <a:ea typeface="Courier New" pitchFamily="34" charset="-122"/>
                <a:cs typeface="Courier New" pitchFamily="34" charset="-120"/>
              </a:rPr>
              <a:t>article:nth-of-type(3) </a:t>
            </a:r>
            <a:r>
              <a:rPr lang="en-US" sz="850" dirty="0">
                <a:solidFill>
                  <a:srgbClr val="6C759E"/>
                </a:solidFill>
                <a:latin typeface="Courier New" pitchFamily="34" charset="0"/>
                <a:ea typeface="Courier New" pitchFamily="34" charset="-122"/>
                <a:cs typeface="Courier New" pitchFamily="34" charset="-120"/>
              </a:rPr>
              <a:t>{</a:t>
            </a:r>
            <a:endParaRPr lang="en-US" sz="850" dirty="0"/>
          </a:p>
          <a:p>
            <a:pPr marL="0" indent="0">
              <a:buNone/>
            </a:pPr>
            <a:r>
              <a:rPr lang="en-US" sz="850" dirty="0">
                <a:solidFill>
                  <a:srgbClr val="EEF0F8"/>
                </a:solidFill>
                <a:latin typeface="Courier New" pitchFamily="34" charset="0"/>
                <a:ea typeface="Courier New" pitchFamily="34" charset="-122"/>
                <a:cs typeface="Courier New" pitchFamily="34" charset="-120"/>
              </a:rPr>
              <a:t>  </a:t>
            </a:r>
            <a:r>
              <a:rPr lang="en-US" sz="850" dirty="0">
                <a:solidFill>
                  <a:srgbClr val="22D3EE"/>
                </a:solidFill>
                <a:latin typeface="Courier New" pitchFamily="34" charset="0"/>
                <a:ea typeface="Courier New" pitchFamily="34" charset="-122"/>
                <a:cs typeface="Courier New" pitchFamily="34" charset="-120"/>
              </a:rPr>
              <a:t>flex</a:t>
            </a:r>
            <a:r>
              <a:rPr lang="en-US" sz="850" dirty="0">
                <a:solidFill>
                  <a:srgbClr val="6C759E"/>
                </a:solidFill>
                <a:latin typeface="Courier New" pitchFamily="34" charset="0"/>
                <a:ea typeface="Courier New" pitchFamily="34" charset="-122"/>
                <a:cs typeface="Courier New" pitchFamily="34" charset="-120"/>
              </a:rPr>
              <a:t>: </a:t>
            </a:r>
            <a:r>
              <a:rPr lang="en-US" sz="850" dirty="0">
                <a:solidFill>
                  <a:srgbClr val="FBBF24"/>
                </a:solidFill>
                <a:latin typeface="Courier New" pitchFamily="34" charset="0"/>
                <a:ea typeface="Courier New" pitchFamily="34" charset="-122"/>
                <a:cs typeface="Courier New" pitchFamily="34" charset="-120"/>
              </a:rPr>
              <a:t>2 100px; }</a:t>
            </a:r>
            <a:endParaRPr lang="en-US" sz="850" dirty="0"/>
          </a:p>
        </p:txBody>
      </p:sp>
      <p:sp>
        <p:nvSpPr>
          <p:cNvPr id="18" name="Text 16"/>
          <p:cNvSpPr txBox="1"/>
          <p:nvPr/>
        </p:nvSpPr>
        <p:spPr>
          <a:xfrm>
            <a:off x="694944" y="2697480"/>
            <a:ext cx="2359152" cy="1353312"/>
          </a:xfrm>
          <a:prstGeom prst="rect">
            <a:avLst/>
          </a:prstGeom>
          <a:noFill/>
          <a:ln/>
        </p:spPr>
        <p:txBody>
          <a:bodyPr wrap="square" lIns="0" tIns="0" rIns="0" bIns="0" rtlCol="0" anchor="t"/>
          <a:lstStyle/>
          <a:p>
            <a:pPr marL="0" indent="0">
              <a:buNone/>
            </a:pPr>
            <a:r>
              <a:rPr lang="en-US" sz="950" dirty="0">
                <a:solidFill>
                  <a:srgbClr val="9AA3C7"/>
                </a:solidFill>
                <a:latin typeface="Arial" pitchFamily="34" charset="0"/>
                <a:ea typeface="Arial" pitchFamily="34" charset="-122"/>
                <a:cs typeface="Arial" pitchFamily="34" charset="-120"/>
              </a:rPr>
              <a:t>flex: grow shrink basis. 1, 1, 2 → boş alanın ¼, ¼, ½'si. Önce her öğe 100px alır, kalan oranla paylaşılır. Uzun hali yerine kısayolu kullan.</a:t>
            </a:r>
            <a:endParaRPr lang="en-US" sz="950" dirty="0"/>
          </a:p>
        </p:txBody>
      </p:sp>
      <p:sp>
        <p:nvSpPr>
          <p:cNvPr id="19" name="kart"/>
          <p:cNvSpPr/>
          <p:nvPr/>
        </p:nvSpPr>
        <p:spPr>
          <a:xfrm>
            <a:off x="3273552" y="1371600"/>
            <a:ext cx="2606040" cy="2724912"/>
          </a:xfrm>
          <a:prstGeom prst="roundRect">
            <a:avLst>
              <a:gd name="adj" fmla="val 2807"/>
            </a:avLst>
          </a:prstGeom>
          <a:solidFill>
            <a:srgbClr val="1A2044"/>
          </a:solidFill>
          <a:ln w="9525">
            <a:solidFill>
              <a:srgbClr val="2E3768"/>
            </a:solidFill>
            <a:prstDash val="solid"/>
          </a:ln>
        </p:spPr>
      </p:sp>
      <p:sp>
        <p:nvSpPr>
          <p:cNvPr id="20" name="kart-nokta"/>
          <p:cNvSpPr/>
          <p:nvPr/>
        </p:nvSpPr>
        <p:spPr>
          <a:xfrm>
            <a:off x="3419856" y="1527048"/>
            <a:ext cx="91440" cy="91440"/>
          </a:xfrm>
          <a:prstGeom prst="ellipse">
            <a:avLst/>
          </a:prstGeom>
          <a:solidFill>
            <a:srgbClr val="22D3EE"/>
          </a:solidFill>
          <a:ln/>
        </p:spPr>
      </p:sp>
      <p:sp>
        <p:nvSpPr>
          <p:cNvPr id="21" name="Text 19"/>
          <p:cNvSpPr txBox="1"/>
          <p:nvPr/>
        </p:nvSpPr>
        <p:spPr>
          <a:xfrm>
            <a:off x="3584448" y="1444752"/>
            <a:ext cx="2194560" cy="274320"/>
          </a:xfrm>
          <a:prstGeom prst="rect">
            <a:avLst/>
          </a:prstGeom>
          <a:noFill/>
          <a:ln/>
        </p:spPr>
        <p:txBody>
          <a:bodyPr wrap="square" lIns="0" tIns="0" rIns="0" bIns="0" rtlCol="0" anchor="ctr"/>
          <a:lstStyle/>
          <a:p>
            <a:pPr marL="0" indent="0">
              <a:buNone/>
            </a:pPr>
            <a:r>
              <a:rPr lang="en-US" sz="1300" b="1" dirty="0">
                <a:solidFill>
                  <a:srgbClr val="EEF0F8"/>
                </a:solidFill>
                <a:latin typeface="Arial" pitchFamily="34" charset="0"/>
                <a:ea typeface="Arial" pitchFamily="34" charset="-122"/>
                <a:cs typeface="Arial" pitchFamily="34" charset="-120"/>
              </a:rPr>
              <a:t>Hizalama</a:t>
            </a:r>
            <a:endParaRPr lang="en-US" sz="1300" dirty="0"/>
          </a:p>
        </p:txBody>
      </p:sp>
      <p:sp>
        <p:nvSpPr>
          <p:cNvPr id="22" name="Text 20"/>
          <p:cNvSpPr txBox="1"/>
          <p:nvPr/>
        </p:nvSpPr>
        <p:spPr>
          <a:xfrm>
            <a:off x="3410712" y="1737360"/>
            <a:ext cx="2377440" cy="2286000"/>
          </a:xfrm>
          <a:prstGeom prst="rect">
            <a:avLst/>
          </a:prstGeom>
          <a:noFill/>
          <a:ln/>
        </p:spPr>
        <p:txBody>
          <a:bodyPr wrap="square" lIns="0" tIns="0" rIns="0" bIns="0" rtlCol="0" anchor="t"/>
          <a:lstStyle/>
          <a:p>
            <a:pPr marL="0" indent="0">
              <a:spcAft>
                <a:spcPts val="600"/>
              </a:spcAft>
              <a:buNone/>
            </a:pPr>
            <a:r>
              <a:rPr lang="en-US" sz="950" b="1" dirty="0">
                <a:solidFill>
                  <a:srgbClr val="22D3EE"/>
                </a:solidFill>
                <a:latin typeface="Courier New" pitchFamily="34" charset="0"/>
                <a:ea typeface="Courier New" pitchFamily="34" charset="-122"/>
                <a:cs typeface="Courier New" pitchFamily="34" charset="-120"/>
              </a:rPr>
              <a:t>align-items: </a:t>
            </a:r>
            <a:r>
              <a:rPr lang="en-US" sz="950" dirty="0">
                <a:solidFill>
                  <a:srgbClr val="EEF0F8"/>
                </a:solidFill>
                <a:latin typeface="Arial" pitchFamily="34" charset="0"/>
                <a:ea typeface="Arial" pitchFamily="34" charset="-122"/>
                <a:cs typeface="Arial" pitchFamily="34" charset="-120"/>
              </a:rPr>
              <a:t>çapraz eksen: stretch, center, flex-start, flex-end, baseline</a:t>
            </a:r>
            <a:endParaRPr lang="en-US" sz="950" dirty="0"/>
          </a:p>
          <a:p>
            <a:pPr marL="0" indent="0">
              <a:spcAft>
                <a:spcPts val="600"/>
              </a:spcAft>
              <a:buNone/>
            </a:pPr>
            <a:r>
              <a:rPr lang="en-US" sz="950" b="1" dirty="0">
                <a:solidFill>
                  <a:srgbClr val="22D3EE"/>
                </a:solidFill>
                <a:latin typeface="Courier New" pitchFamily="34" charset="0"/>
                <a:ea typeface="Courier New" pitchFamily="34" charset="-122"/>
                <a:cs typeface="Courier New" pitchFamily="34" charset="-120"/>
              </a:rPr>
              <a:t>align-self: </a:t>
            </a:r>
            <a:r>
              <a:rPr lang="en-US" sz="950" dirty="0">
                <a:solidFill>
                  <a:srgbClr val="EEF0F8"/>
                </a:solidFill>
                <a:latin typeface="Arial" pitchFamily="34" charset="0"/>
                <a:ea typeface="Arial" pitchFamily="34" charset="-122"/>
                <a:cs typeface="Arial" pitchFamily="34" charset="-120"/>
              </a:rPr>
              <a:t>tek öğe için geçersiz kıl</a:t>
            </a:r>
            <a:endParaRPr lang="en-US" sz="950" dirty="0"/>
          </a:p>
          <a:p>
            <a:pPr marL="0" indent="0">
              <a:spcAft>
                <a:spcPts val="600"/>
              </a:spcAft>
              <a:buNone/>
            </a:pPr>
            <a:r>
              <a:rPr lang="en-US" sz="950" b="1" dirty="0">
                <a:solidFill>
                  <a:srgbClr val="22D3EE"/>
                </a:solidFill>
                <a:latin typeface="Courier New" pitchFamily="34" charset="0"/>
                <a:ea typeface="Courier New" pitchFamily="34" charset="-122"/>
                <a:cs typeface="Courier New" pitchFamily="34" charset="-120"/>
              </a:rPr>
              <a:t>justify-content: </a:t>
            </a:r>
            <a:r>
              <a:rPr lang="en-US" sz="950" dirty="0">
                <a:solidFill>
                  <a:srgbClr val="EEF0F8"/>
                </a:solidFill>
                <a:latin typeface="Arial" pitchFamily="34" charset="0"/>
                <a:ea typeface="Arial" pitchFamily="34" charset="-122"/>
                <a:cs typeface="Arial" pitchFamily="34" charset="-120"/>
              </a:rPr>
              <a:t>ana eksen: center, space-between, space-around</a:t>
            </a:r>
            <a:endParaRPr lang="en-US" sz="950" dirty="0"/>
          </a:p>
        </p:txBody>
      </p:sp>
      <p:sp>
        <p:nvSpPr>
          <p:cNvPr id="23" name="kart"/>
          <p:cNvSpPr/>
          <p:nvPr/>
        </p:nvSpPr>
        <p:spPr>
          <a:xfrm>
            <a:off x="5998464" y="1371600"/>
            <a:ext cx="2596896" cy="2724912"/>
          </a:xfrm>
          <a:prstGeom prst="roundRect">
            <a:avLst>
              <a:gd name="adj" fmla="val 2817"/>
            </a:avLst>
          </a:prstGeom>
          <a:solidFill>
            <a:srgbClr val="1A2044"/>
          </a:solidFill>
          <a:ln w="9525">
            <a:solidFill>
              <a:srgbClr val="2E3768"/>
            </a:solidFill>
            <a:prstDash val="solid"/>
          </a:ln>
        </p:spPr>
      </p:sp>
      <p:sp>
        <p:nvSpPr>
          <p:cNvPr id="24" name="kart-nokta"/>
          <p:cNvSpPr/>
          <p:nvPr/>
        </p:nvSpPr>
        <p:spPr>
          <a:xfrm>
            <a:off x="6144768" y="1527048"/>
            <a:ext cx="91440" cy="91440"/>
          </a:xfrm>
          <a:prstGeom prst="ellipse">
            <a:avLst/>
          </a:prstGeom>
          <a:solidFill>
            <a:srgbClr val="FBBF24"/>
          </a:solidFill>
          <a:ln/>
        </p:spPr>
      </p:sp>
      <p:sp>
        <p:nvSpPr>
          <p:cNvPr id="25" name="Text 23"/>
          <p:cNvSpPr txBox="1"/>
          <p:nvPr/>
        </p:nvSpPr>
        <p:spPr>
          <a:xfrm>
            <a:off x="6309360" y="1444752"/>
            <a:ext cx="2185416" cy="274320"/>
          </a:xfrm>
          <a:prstGeom prst="rect">
            <a:avLst/>
          </a:prstGeom>
          <a:noFill/>
          <a:ln/>
        </p:spPr>
        <p:txBody>
          <a:bodyPr wrap="square" lIns="0" tIns="0" rIns="0" bIns="0" rtlCol="0" anchor="ctr"/>
          <a:lstStyle/>
          <a:p>
            <a:pPr marL="0" indent="0">
              <a:buNone/>
            </a:pPr>
            <a:r>
              <a:rPr lang="en-US" sz="1300" b="1" dirty="0">
                <a:solidFill>
                  <a:srgbClr val="EEF0F8"/>
                </a:solidFill>
                <a:latin typeface="Arial" pitchFamily="34" charset="0"/>
                <a:ea typeface="Arial" pitchFamily="34" charset="-122"/>
                <a:cs typeface="Arial" pitchFamily="34" charset="-120"/>
              </a:rPr>
              <a:t>Sıralama</a:t>
            </a:r>
            <a:endParaRPr lang="en-US" sz="1300" dirty="0"/>
          </a:p>
        </p:txBody>
      </p:sp>
      <p:sp>
        <p:nvSpPr>
          <p:cNvPr id="26" name="kod-paneli"/>
          <p:cNvSpPr/>
          <p:nvPr/>
        </p:nvSpPr>
        <p:spPr>
          <a:xfrm>
            <a:off x="6126480" y="1719072"/>
            <a:ext cx="2350008" cy="566928"/>
          </a:xfrm>
          <a:prstGeom prst="roundRect">
            <a:avLst>
              <a:gd name="adj" fmla="val 12903"/>
            </a:avLst>
          </a:prstGeom>
          <a:solidFill>
            <a:srgbClr val="0A0D1F"/>
          </a:solidFill>
          <a:ln w="9525">
            <a:solidFill>
              <a:srgbClr val="2E3768"/>
            </a:solidFill>
            <a:prstDash val="solid"/>
          </a:ln>
        </p:spPr>
      </p:sp>
      <p:sp>
        <p:nvSpPr>
          <p:cNvPr id="27" name="Text 25"/>
          <p:cNvSpPr txBox="1"/>
          <p:nvPr/>
        </p:nvSpPr>
        <p:spPr>
          <a:xfrm>
            <a:off x="6272784" y="1828800"/>
            <a:ext cx="2075688" cy="365760"/>
          </a:xfrm>
          <a:prstGeom prst="rect">
            <a:avLst/>
          </a:prstGeom>
          <a:noFill/>
          <a:ln/>
        </p:spPr>
        <p:txBody>
          <a:bodyPr wrap="square" lIns="0" tIns="0" rIns="0" bIns="0" rtlCol="0" anchor="ctr"/>
          <a:lstStyle/>
          <a:p>
            <a:pPr marL="0" indent="0">
              <a:buNone/>
            </a:pPr>
            <a:r>
              <a:rPr lang="en-US" sz="850" dirty="0">
                <a:solidFill>
                  <a:srgbClr val="F472B6"/>
                </a:solidFill>
                <a:latin typeface="Courier New" pitchFamily="34" charset="0"/>
                <a:ea typeface="Courier New" pitchFamily="34" charset="-122"/>
                <a:cs typeface="Courier New" pitchFamily="34" charset="-120"/>
              </a:rPr>
              <a:t>button:first-child </a:t>
            </a:r>
            <a:r>
              <a:rPr lang="en-US" sz="850" dirty="0">
                <a:solidFill>
                  <a:srgbClr val="6C759E"/>
                </a:solidFill>
                <a:latin typeface="Courier New" pitchFamily="34" charset="0"/>
                <a:ea typeface="Courier New" pitchFamily="34" charset="-122"/>
                <a:cs typeface="Courier New" pitchFamily="34" charset="-120"/>
              </a:rPr>
              <a:t>{</a:t>
            </a:r>
            <a:endParaRPr lang="en-US" sz="850" dirty="0"/>
          </a:p>
          <a:p>
            <a:pPr marL="0" indent="0">
              <a:buNone/>
            </a:pPr>
            <a:r>
              <a:rPr lang="en-US" sz="850" dirty="0">
                <a:solidFill>
                  <a:srgbClr val="EEF0F8"/>
                </a:solidFill>
                <a:latin typeface="Courier New" pitchFamily="34" charset="0"/>
                <a:ea typeface="Courier New" pitchFamily="34" charset="-122"/>
                <a:cs typeface="Courier New" pitchFamily="34" charset="-120"/>
              </a:rPr>
              <a:t>  </a:t>
            </a:r>
            <a:r>
              <a:rPr lang="en-US" sz="850" dirty="0">
                <a:solidFill>
                  <a:srgbClr val="22D3EE"/>
                </a:solidFill>
                <a:latin typeface="Courier New" pitchFamily="34" charset="0"/>
                <a:ea typeface="Courier New" pitchFamily="34" charset="-122"/>
                <a:cs typeface="Courier New" pitchFamily="34" charset="-120"/>
              </a:rPr>
              <a:t>order</a:t>
            </a:r>
            <a:r>
              <a:rPr lang="en-US" sz="850" dirty="0">
                <a:solidFill>
                  <a:srgbClr val="6C759E"/>
                </a:solidFill>
                <a:latin typeface="Courier New" pitchFamily="34" charset="0"/>
                <a:ea typeface="Courier New" pitchFamily="34" charset="-122"/>
                <a:cs typeface="Courier New" pitchFamily="34" charset="-120"/>
              </a:rPr>
              <a:t>: </a:t>
            </a:r>
            <a:r>
              <a:rPr lang="en-US" sz="850" dirty="0">
                <a:solidFill>
                  <a:srgbClr val="FBBF24"/>
                </a:solidFill>
                <a:latin typeface="Courier New" pitchFamily="34" charset="0"/>
                <a:ea typeface="Courier New" pitchFamily="34" charset="-122"/>
                <a:cs typeface="Courier New" pitchFamily="34" charset="-120"/>
              </a:rPr>
              <a:t>1; }</a:t>
            </a:r>
            <a:endParaRPr lang="en-US" sz="850" dirty="0"/>
          </a:p>
        </p:txBody>
      </p:sp>
      <p:sp>
        <p:nvSpPr>
          <p:cNvPr id="28" name="Text 26"/>
          <p:cNvSpPr txBox="1"/>
          <p:nvPr/>
        </p:nvSpPr>
        <p:spPr>
          <a:xfrm>
            <a:off x="6144768" y="2359152"/>
            <a:ext cx="2350008" cy="1700784"/>
          </a:xfrm>
          <a:prstGeom prst="rect">
            <a:avLst/>
          </a:prstGeom>
          <a:noFill/>
          <a:ln/>
        </p:spPr>
        <p:txBody>
          <a:bodyPr wrap="square" lIns="0" tIns="0" rIns="0" bIns="0" rtlCol="0" anchor="t"/>
          <a:lstStyle/>
          <a:p>
            <a:pPr marL="0" indent="0">
              <a:buNone/>
            </a:pPr>
            <a:r>
              <a:rPr lang="en-US" sz="950" dirty="0">
                <a:solidFill>
                  <a:srgbClr val="9AA3C7"/>
                </a:solidFill>
                <a:latin typeface="Arial" pitchFamily="34" charset="0"/>
                <a:ea typeface="Arial" pitchFamily="34" charset="-122"/>
                <a:cs typeface="Arial" pitchFamily="34" charset="-120"/>
              </a:rPr>
              <a:t>Varsayılan 0; büyük değer sona gider, negatif öne. Uyarı: order Tab sırasını değiştirmez, klavye kullanıcısı kaynak sırasıyla gezer. Flex item'ın kendisi de flex container olabilir.</a:t>
            </a:r>
            <a:endParaRPr lang="en-US" sz="950" dirty="0"/>
          </a:p>
        </p:txBody>
      </p:sp>
      <p:sp>
        <p:nvSpPr>
          <p:cNvPr id="29" name="benzetme"/>
          <p:cNvSpPr/>
          <p:nvPr/>
        </p:nvSpPr>
        <p:spPr>
          <a:xfrm>
            <a:off x="548640" y="4224528"/>
            <a:ext cx="8046720" cy="402336"/>
          </a:xfrm>
          <a:prstGeom prst="roundRect">
            <a:avLst>
              <a:gd name="adj" fmla="val 50000"/>
            </a:avLst>
          </a:prstGeom>
          <a:solidFill>
            <a:srgbClr val="232A55"/>
          </a:solidFill>
          <a:ln/>
        </p:spPr>
      </p:sp>
      <p:sp>
        <p:nvSpPr>
          <p:cNvPr id="30" name="benzetme-ikon"/>
          <p:cNvSpPr/>
          <p:nvPr/>
        </p:nvSpPr>
        <p:spPr>
          <a:xfrm>
            <a:off x="621792" y="4261104"/>
            <a:ext cx="329184" cy="329184"/>
          </a:xfrm>
          <a:prstGeom prst="ellipse">
            <a:avLst/>
          </a:prstGeom>
          <a:solidFill>
            <a:srgbClr val="FBBF24"/>
          </a:solidFill>
          <a:ln/>
        </p:spPr>
      </p:sp>
      <p:sp>
        <p:nvSpPr>
          <p:cNvPr id="31" name="Text 29"/>
          <p:cNvSpPr txBox="1"/>
          <p:nvPr/>
        </p:nvSpPr>
        <p:spPr>
          <a:xfrm>
            <a:off x="621792" y="4261104"/>
            <a:ext cx="329184" cy="329184"/>
          </a:xfrm>
          <a:prstGeom prst="rect">
            <a:avLst/>
          </a:prstGeom>
          <a:noFill/>
          <a:ln/>
        </p:spPr>
        <p:txBody>
          <a:bodyPr wrap="square" lIns="0" tIns="0" rIns="0" bIns="0" rtlCol="0" anchor="ctr"/>
          <a:lstStyle/>
          <a:p>
            <a:pPr marL="0" indent="0" algn="ctr">
              <a:buNone/>
            </a:pPr>
            <a:r>
              <a:rPr lang="en-US" sz="1600" b="1" dirty="0">
                <a:solidFill>
                  <a:srgbClr val="10142B"/>
                </a:solidFill>
                <a:latin typeface="Arial" pitchFamily="34" charset="0"/>
                <a:ea typeface="Arial" pitchFamily="34" charset="-122"/>
                <a:cs typeface="Arial" pitchFamily="34" charset="-120"/>
              </a:rPr>
              <a:t>≈</a:t>
            </a:r>
            <a:endParaRPr lang="en-US" sz="1600" dirty="0"/>
          </a:p>
        </p:txBody>
      </p:sp>
      <p:sp>
        <p:nvSpPr>
          <p:cNvPr id="32" name="Text 30"/>
          <p:cNvSpPr txBox="1"/>
          <p:nvPr/>
        </p:nvSpPr>
        <p:spPr>
          <a:xfrm>
            <a:off x="1042416" y="4224528"/>
            <a:ext cx="7452360" cy="402336"/>
          </a:xfrm>
          <a:prstGeom prst="rect">
            <a:avLst/>
          </a:prstGeom>
          <a:noFill/>
          <a:ln/>
        </p:spPr>
        <p:txBody>
          <a:bodyPr wrap="square" lIns="0" tIns="0" rIns="0" bIns="0" rtlCol="0" anchor="ctr"/>
          <a:lstStyle/>
          <a:p>
            <a:pPr marL="0" indent="0">
              <a:buNone/>
            </a:pPr>
            <a:r>
              <a:rPr lang="en-US" sz="1100" b="1" dirty="0">
                <a:solidFill>
                  <a:srgbClr val="FBBF24"/>
                </a:solidFill>
                <a:latin typeface="Arial" pitchFamily="34" charset="0"/>
                <a:ea typeface="Arial" pitchFamily="34" charset="-122"/>
                <a:cs typeface="Arial" pitchFamily="34" charset="-120"/>
              </a:rPr>
              <a:t>Gündelik hayatta: </a:t>
            </a:r>
            <a:r>
              <a:rPr lang="en-US" sz="1100" dirty="0">
                <a:solidFill>
                  <a:srgbClr val="EEF0F8"/>
                </a:solidFill>
                <a:latin typeface="Arial" pitchFamily="34" charset="0"/>
                <a:ea typeface="Arial" pitchFamily="34" charset="-122"/>
                <a:cs typeface="Arial" pitchFamily="34" charset="-120"/>
              </a:rPr>
              <a:t>flex-grow pasta paylaşmak gibi: 1-1-2 diyen üç kişiden sonuncusu iki dilim alır.</a:t>
            </a:r>
            <a:endParaRPr lang="en-US" sz="1100" dirty="0"/>
          </a:p>
        </p:txBody>
      </p:sp>
    </p:spTree>
  </p:cSld>
  <p:clrMapOvr>
    <a:masterClrMapping/>
  </p:clrMapOvr>
  <p:transition spd="med">
    <p:pull/>
  </p:transition>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txBox="1"/>
          <p:nvPr/>
        </p:nvSpPr>
        <p:spPr>
          <a:xfrm>
            <a:off x="548640" y="256032"/>
            <a:ext cx="4572000" cy="201168"/>
          </a:xfrm>
          <a:prstGeom prst="rect">
            <a:avLst/>
          </a:prstGeom>
          <a:noFill/>
          <a:ln/>
        </p:spPr>
        <p:txBody>
          <a:bodyPr wrap="square" lIns="0" tIns="0" rIns="0" bIns="0" rtlCol="0" anchor="t"/>
          <a:lstStyle/>
          <a:p>
            <a:pPr marL="0" indent="0">
              <a:buNone/>
            </a:pPr>
            <a:r>
              <a:rPr lang="en-US" sz="900" b="1" kern="0" spc="200" dirty="0">
                <a:solidFill>
                  <a:srgbClr val="A3E635"/>
                </a:solidFill>
                <a:latin typeface="Arial" pitchFamily="34" charset="0"/>
                <a:ea typeface="Arial" pitchFamily="34" charset="-122"/>
                <a:cs typeface="Arial" pitchFamily="34" charset="-120"/>
              </a:rPr>
              <a:t>MODÜL 3 · CSS DÜZENİ</a:t>
            </a:r>
            <a:endParaRPr lang="en-US" sz="900" dirty="0"/>
          </a:p>
        </p:txBody>
      </p:sp>
      <p:sp>
        <p:nvSpPr>
          <p:cNvPr id="3" name="mini-box-0"/>
          <p:cNvSpPr/>
          <p:nvPr/>
        </p:nvSpPr>
        <p:spPr>
          <a:xfrm>
            <a:off x="8229600" y="201168"/>
            <a:ext cx="384048" cy="384048"/>
          </a:xfrm>
          <a:prstGeom prst="rect">
            <a:avLst/>
          </a:prstGeom>
          <a:ln w="9525">
            <a:solidFill>
              <a:srgbClr val="A3E635"/>
            </a:solidFill>
            <a:prstDash val="solid"/>
          </a:ln>
        </p:spPr>
      </p:sp>
      <p:sp>
        <p:nvSpPr>
          <p:cNvPr id="4" name="mini-box-1"/>
          <p:cNvSpPr/>
          <p:nvPr/>
        </p:nvSpPr>
        <p:spPr>
          <a:xfrm>
            <a:off x="8293608" y="265176"/>
            <a:ext cx="256032" cy="256032"/>
          </a:xfrm>
          <a:prstGeom prst="rect">
            <a:avLst/>
          </a:prstGeom>
          <a:ln w="9525">
            <a:solidFill>
              <a:srgbClr val="EEF0F8"/>
            </a:solidFill>
            <a:prstDash val="solid"/>
          </a:ln>
        </p:spPr>
      </p:sp>
      <p:sp>
        <p:nvSpPr>
          <p:cNvPr id="5" name="mini-box-2"/>
          <p:cNvSpPr/>
          <p:nvPr/>
        </p:nvSpPr>
        <p:spPr>
          <a:xfrm>
            <a:off x="8348472" y="320040"/>
            <a:ext cx="146304" cy="146304"/>
          </a:xfrm>
          <a:prstGeom prst="rect">
            <a:avLst/>
          </a:prstGeom>
          <a:solidFill>
            <a:srgbClr val="A3E635"/>
          </a:solidFill>
          <a:ln w="9525">
            <a:solidFill>
              <a:srgbClr val="A3E635"/>
            </a:solidFill>
            <a:prstDash val="solid"/>
          </a:ln>
        </p:spPr>
      </p:sp>
      <p:sp>
        <p:nvSpPr>
          <p:cNvPr id="6" name="ilerleme-zemin"/>
          <p:cNvSpPr/>
          <p:nvPr/>
        </p:nvSpPr>
        <p:spPr>
          <a:xfrm>
            <a:off x="0" y="5070348"/>
            <a:ext cx="9144000" cy="73152"/>
          </a:xfrm>
          <a:prstGeom prst="rect">
            <a:avLst/>
          </a:prstGeom>
          <a:solidFill>
            <a:srgbClr val="1A2044"/>
          </a:solidFill>
          <a:ln/>
        </p:spPr>
      </p:sp>
      <p:sp>
        <p:nvSpPr>
          <p:cNvPr id="7" name="ilerleme"/>
          <p:cNvSpPr/>
          <p:nvPr/>
        </p:nvSpPr>
        <p:spPr>
          <a:xfrm>
            <a:off x="0" y="5070348"/>
            <a:ext cx="7655442" cy="73152"/>
          </a:xfrm>
          <a:prstGeom prst="rect">
            <a:avLst/>
          </a:prstGeom>
          <a:solidFill>
            <a:srgbClr val="A3E635"/>
          </a:solidFill>
          <a:ln/>
        </p:spPr>
      </p:sp>
      <p:sp>
        <p:nvSpPr>
          <p:cNvPr id="8" name="Text 6"/>
          <p:cNvSpPr txBox="1"/>
          <p:nvPr/>
        </p:nvSpPr>
        <p:spPr>
          <a:xfrm>
            <a:off x="548640" y="4791456"/>
            <a:ext cx="3657600" cy="201168"/>
          </a:xfrm>
          <a:prstGeom prst="rect">
            <a:avLst/>
          </a:prstGeom>
          <a:noFill/>
          <a:ln/>
        </p:spPr>
        <p:txBody>
          <a:bodyPr wrap="square" lIns="0" tIns="0" rIns="0" bIns="0" rtlCol="0" anchor="t"/>
          <a:lstStyle/>
          <a:p>
            <a:pPr marL="0" indent="0">
              <a:buNone/>
            </a:pPr>
            <a:r>
              <a:rPr lang="en-US" sz="850" dirty="0">
                <a:solidFill>
                  <a:srgbClr val="6C759E"/>
                </a:solidFill>
                <a:latin typeface="Arial" pitchFamily="34" charset="0"/>
                <a:ea typeface="Arial" pitchFamily="34" charset="-122"/>
                <a:cs typeface="Arial" pitchFamily="34" charset="-120"/>
              </a:rPr>
              <a:t>KCŞ A.Ş.  ·  CSS ile stil ve düzen</a:t>
            </a:r>
            <a:endParaRPr lang="en-US" sz="850" dirty="0"/>
          </a:p>
        </p:txBody>
      </p:sp>
      <p:sp>
        <p:nvSpPr>
          <p:cNvPr id="9" name="Text 7"/>
          <p:cNvSpPr txBox="1"/>
          <p:nvPr/>
        </p:nvSpPr>
        <p:spPr>
          <a:xfrm>
            <a:off x="4206240" y="4791456"/>
            <a:ext cx="3840480" cy="201168"/>
          </a:xfrm>
          <a:prstGeom prst="rect">
            <a:avLst/>
          </a:prstGeom>
          <a:noFill/>
          <a:ln/>
        </p:spPr>
        <p:txBody>
          <a:bodyPr wrap="square" lIns="0" tIns="0" rIns="0" bIns="0" rtlCol="0" anchor="t"/>
          <a:lstStyle/>
          <a:p>
            <a:pPr marL="0" indent="0" algn="r">
              <a:buNone/>
            </a:pPr>
            <a:r>
              <a:rPr lang="en-US" sz="850" dirty="0">
                <a:solidFill>
                  <a:srgbClr val="6C759E"/>
                </a:solidFill>
                <a:latin typeface="Arial" pitchFamily="34" charset="0"/>
                <a:ea typeface="Arial" pitchFamily="34" charset="-122"/>
                <a:cs typeface="Arial" pitchFamily="34" charset="-120"/>
              </a:rPr>
              <a:t>MDN · CSS grid layout</a:t>
            </a:r>
            <a:endParaRPr lang="en-US" sz="850" dirty="0"/>
          </a:p>
        </p:txBody>
      </p:sp>
      <p:sp>
        <p:nvSpPr>
          <p:cNvPr id="10" name="Text 8"/>
          <p:cNvSpPr txBox="1"/>
          <p:nvPr/>
        </p:nvSpPr>
        <p:spPr>
          <a:xfrm>
            <a:off x="8092440" y="4791456"/>
            <a:ext cx="685800" cy="201168"/>
          </a:xfrm>
          <a:prstGeom prst="rect">
            <a:avLst/>
          </a:prstGeom>
          <a:noFill/>
          <a:ln/>
        </p:spPr>
        <p:txBody>
          <a:bodyPr wrap="square" lIns="0" tIns="0" rIns="0" bIns="0" rtlCol="0" anchor="t"/>
          <a:lstStyle/>
          <a:p>
            <a:pPr marL="0" indent="0" algn="r">
              <a:buNone/>
            </a:pPr>
            <a:r>
              <a:rPr lang="en-US" sz="850" dirty="0">
                <a:solidFill>
                  <a:srgbClr val="9AA3C7"/>
                </a:solidFill>
                <a:latin typeface="Courier New" pitchFamily="34" charset="0"/>
                <a:ea typeface="Courier New" pitchFamily="34" charset="-122"/>
                <a:cs typeface="Courier New" pitchFamily="34" charset="-120"/>
              </a:rPr>
              <a:t>36 / 43</a:t>
            </a:r>
            <a:endParaRPr lang="en-US" sz="850" dirty="0"/>
          </a:p>
        </p:txBody>
      </p:sp>
      <p:sp>
        <p:nvSpPr>
          <p:cNvPr id="11" name="Text 9"/>
          <p:cNvSpPr txBox="1"/>
          <p:nvPr/>
        </p:nvSpPr>
        <p:spPr>
          <a:xfrm>
            <a:off x="548640" y="502920"/>
            <a:ext cx="5943600" cy="237744"/>
          </a:xfrm>
          <a:prstGeom prst="rect">
            <a:avLst/>
          </a:prstGeom>
          <a:noFill/>
          <a:ln/>
        </p:spPr>
        <p:txBody>
          <a:bodyPr wrap="square" lIns="0" tIns="0" rIns="0" bIns="0" rtlCol="0" anchor="t"/>
          <a:lstStyle/>
          <a:p>
            <a:pPr marL="0" indent="0">
              <a:buNone/>
            </a:pPr>
            <a:r>
              <a:rPr lang="en-US" sz="1100" b="1" dirty="0">
                <a:solidFill>
                  <a:srgbClr val="A3E635"/>
                </a:solidFill>
                <a:latin typeface="Courier New" pitchFamily="34" charset="0"/>
                <a:ea typeface="Courier New" pitchFamily="34" charset="-122"/>
                <a:cs typeface="Courier New" pitchFamily="34" charset="-120"/>
              </a:rPr>
              <a:t>grid-template-columns: repeat(3, 1fr);</a:t>
            </a:r>
            <a:endParaRPr lang="en-US" sz="1100" dirty="0"/>
          </a:p>
        </p:txBody>
      </p:sp>
      <p:sp>
        <p:nvSpPr>
          <p:cNvPr id="12" name="Text 10"/>
          <p:cNvSpPr txBox="1"/>
          <p:nvPr/>
        </p:nvSpPr>
        <p:spPr>
          <a:xfrm>
            <a:off x="548640" y="749808"/>
            <a:ext cx="7589520" cy="502920"/>
          </a:xfrm>
          <a:prstGeom prst="rect">
            <a:avLst/>
          </a:prstGeom>
          <a:noFill/>
          <a:ln/>
        </p:spPr>
        <p:txBody>
          <a:bodyPr wrap="square" lIns="0" tIns="0" rIns="0" bIns="0" rtlCol="0" anchor="ctr"/>
          <a:lstStyle/>
          <a:p>
            <a:pPr marL="0" indent="0">
              <a:buNone/>
            </a:pPr>
            <a:r>
              <a:rPr lang="en-US" sz="2400" b="1" dirty="0">
                <a:solidFill>
                  <a:srgbClr val="EEF0F8"/>
                </a:solidFill>
                <a:latin typeface="Arial" pitchFamily="34" charset="0"/>
                <a:ea typeface="Arial" pitchFamily="34" charset="-122"/>
                <a:cs typeface="Arial" pitchFamily="34" charset="-120"/>
              </a:rPr>
              <a:t>Grid 1: iki boyutlu düzen</a:t>
            </a:r>
            <a:endParaRPr lang="en-US" sz="2400" dirty="0"/>
          </a:p>
        </p:txBody>
      </p:sp>
      <p:sp>
        <p:nvSpPr>
          <p:cNvPr id="13" name="grid-diyagram"/>
          <p:cNvSpPr/>
          <p:nvPr/>
        </p:nvSpPr>
        <p:spPr>
          <a:xfrm>
            <a:off x="548640" y="1371600"/>
            <a:ext cx="3383280" cy="2724912"/>
          </a:xfrm>
          <a:prstGeom prst="roundRect">
            <a:avLst>
              <a:gd name="adj" fmla="val 2685"/>
            </a:avLst>
          </a:prstGeom>
          <a:solidFill>
            <a:srgbClr val="1A2044"/>
          </a:solidFill>
          <a:ln w="9525">
            <a:solidFill>
              <a:srgbClr val="2E3768"/>
            </a:solidFill>
            <a:prstDash val="solid"/>
          </a:ln>
        </p:spPr>
      </p:sp>
      <p:sp>
        <p:nvSpPr>
          <p:cNvPr id="14" name="hucre-00"/>
          <p:cNvSpPr/>
          <p:nvPr/>
        </p:nvSpPr>
        <p:spPr>
          <a:xfrm>
            <a:off x="731520" y="1572768"/>
            <a:ext cx="896112" cy="676656"/>
          </a:xfrm>
          <a:prstGeom prst="roundRect">
            <a:avLst>
              <a:gd name="adj" fmla="val 6757"/>
            </a:avLst>
          </a:prstGeom>
          <a:solidFill>
            <a:srgbClr val="A3E635">
              <a:alpha val="25000"/>
            </a:srgbClr>
          </a:solidFill>
          <a:ln w="9525">
            <a:solidFill>
              <a:srgbClr val="A3E635"/>
            </a:solidFill>
            <a:prstDash val="solid"/>
          </a:ln>
        </p:spPr>
      </p:sp>
      <p:sp>
        <p:nvSpPr>
          <p:cNvPr id="15" name="hucre-01"/>
          <p:cNvSpPr/>
          <p:nvPr/>
        </p:nvSpPr>
        <p:spPr>
          <a:xfrm>
            <a:off x="1755648" y="1572768"/>
            <a:ext cx="896112" cy="676656"/>
          </a:xfrm>
          <a:prstGeom prst="roundRect">
            <a:avLst>
              <a:gd name="adj" fmla="val 6757"/>
            </a:avLst>
          </a:prstGeom>
          <a:solidFill>
            <a:srgbClr val="22D3EE">
              <a:alpha val="25000"/>
            </a:srgbClr>
          </a:solidFill>
          <a:ln w="9525">
            <a:solidFill>
              <a:srgbClr val="22D3EE"/>
            </a:solidFill>
            <a:prstDash val="solid"/>
          </a:ln>
        </p:spPr>
      </p:sp>
      <p:sp>
        <p:nvSpPr>
          <p:cNvPr id="16" name="hucre-02"/>
          <p:cNvSpPr/>
          <p:nvPr/>
        </p:nvSpPr>
        <p:spPr>
          <a:xfrm>
            <a:off x="2779776" y="1572768"/>
            <a:ext cx="896112" cy="676656"/>
          </a:xfrm>
          <a:prstGeom prst="roundRect">
            <a:avLst>
              <a:gd name="adj" fmla="val 6757"/>
            </a:avLst>
          </a:prstGeom>
          <a:solidFill>
            <a:srgbClr val="22D3EE">
              <a:alpha val="25000"/>
            </a:srgbClr>
          </a:solidFill>
          <a:ln w="9525">
            <a:solidFill>
              <a:srgbClr val="22D3EE"/>
            </a:solidFill>
            <a:prstDash val="solid"/>
          </a:ln>
        </p:spPr>
      </p:sp>
      <p:sp>
        <p:nvSpPr>
          <p:cNvPr id="17" name="hucre-10"/>
          <p:cNvSpPr/>
          <p:nvPr/>
        </p:nvSpPr>
        <p:spPr>
          <a:xfrm>
            <a:off x="731520" y="2377440"/>
            <a:ext cx="896112" cy="676656"/>
          </a:xfrm>
          <a:prstGeom prst="roundRect">
            <a:avLst>
              <a:gd name="adj" fmla="val 6757"/>
            </a:avLst>
          </a:prstGeom>
          <a:solidFill>
            <a:srgbClr val="A3E635">
              <a:alpha val="25000"/>
            </a:srgbClr>
          </a:solidFill>
          <a:ln w="9525">
            <a:solidFill>
              <a:srgbClr val="A3E635"/>
            </a:solidFill>
            <a:prstDash val="solid"/>
          </a:ln>
        </p:spPr>
      </p:sp>
      <p:sp>
        <p:nvSpPr>
          <p:cNvPr id="18" name="hucre-11"/>
          <p:cNvSpPr/>
          <p:nvPr/>
        </p:nvSpPr>
        <p:spPr>
          <a:xfrm>
            <a:off x="1755648" y="2377440"/>
            <a:ext cx="896112" cy="676656"/>
          </a:xfrm>
          <a:prstGeom prst="roundRect">
            <a:avLst>
              <a:gd name="adj" fmla="val 6757"/>
            </a:avLst>
          </a:prstGeom>
          <a:solidFill>
            <a:srgbClr val="22D3EE">
              <a:alpha val="25000"/>
            </a:srgbClr>
          </a:solidFill>
          <a:ln w="9525">
            <a:solidFill>
              <a:srgbClr val="22D3EE"/>
            </a:solidFill>
            <a:prstDash val="solid"/>
          </a:ln>
        </p:spPr>
      </p:sp>
      <p:sp>
        <p:nvSpPr>
          <p:cNvPr id="19" name="hucre-12"/>
          <p:cNvSpPr/>
          <p:nvPr/>
        </p:nvSpPr>
        <p:spPr>
          <a:xfrm>
            <a:off x="2779776" y="2377440"/>
            <a:ext cx="896112" cy="676656"/>
          </a:xfrm>
          <a:prstGeom prst="roundRect">
            <a:avLst>
              <a:gd name="adj" fmla="val 6757"/>
            </a:avLst>
          </a:prstGeom>
          <a:solidFill>
            <a:srgbClr val="22D3EE">
              <a:alpha val="25000"/>
            </a:srgbClr>
          </a:solidFill>
          <a:ln w="9525">
            <a:solidFill>
              <a:srgbClr val="22D3EE"/>
            </a:solidFill>
            <a:prstDash val="solid"/>
          </a:ln>
        </p:spPr>
      </p:sp>
      <p:sp>
        <p:nvSpPr>
          <p:cNvPr id="20" name="hucre-20"/>
          <p:cNvSpPr/>
          <p:nvPr/>
        </p:nvSpPr>
        <p:spPr>
          <a:xfrm>
            <a:off x="731520" y="3182112"/>
            <a:ext cx="896112" cy="676656"/>
          </a:xfrm>
          <a:prstGeom prst="roundRect">
            <a:avLst>
              <a:gd name="adj" fmla="val 6757"/>
            </a:avLst>
          </a:prstGeom>
          <a:solidFill>
            <a:srgbClr val="A3E635">
              <a:alpha val="25000"/>
            </a:srgbClr>
          </a:solidFill>
          <a:ln w="9525">
            <a:solidFill>
              <a:srgbClr val="A3E635"/>
            </a:solidFill>
            <a:prstDash val="solid"/>
          </a:ln>
        </p:spPr>
      </p:sp>
      <p:sp>
        <p:nvSpPr>
          <p:cNvPr id="21" name="hucre-21"/>
          <p:cNvSpPr/>
          <p:nvPr/>
        </p:nvSpPr>
        <p:spPr>
          <a:xfrm>
            <a:off x="1755648" y="3182112"/>
            <a:ext cx="896112" cy="676656"/>
          </a:xfrm>
          <a:prstGeom prst="roundRect">
            <a:avLst>
              <a:gd name="adj" fmla="val 6757"/>
            </a:avLst>
          </a:prstGeom>
          <a:solidFill>
            <a:srgbClr val="22D3EE">
              <a:alpha val="25000"/>
            </a:srgbClr>
          </a:solidFill>
          <a:ln w="9525">
            <a:solidFill>
              <a:srgbClr val="22D3EE"/>
            </a:solidFill>
            <a:prstDash val="solid"/>
          </a:ln>
        </p:spPr>
      </p:sp>
      <p:sp>
        <p:nvSpPr>
          <p:cNvPr id="22" name="hucre-22"/>
          <p:cNvSpPr/>
          <p:nvPr/>
        </p:nvSpPr>
        <p:spPr>
          <a:xfrm>
            <a:off x="2779776" y="3182112"/>
            <a:ext cx="896112" cy="676656"/>
          </a:xfrm>
          <a:prstGeom prst="roundRect">
            <a:avLst>
              <a:gd name="adj" fmla="val 6757"/>
            </a:avLst>
          </a:prstGeom>
          <a:solidFill>
            <a:srgbClr val="22D3EE">
              <a:alpha val="25000"/>
            </a:srgbClr>
          </a:solidFill>
          <a:ln w="9525">
            <a:solidFill>
              <a:srgbClr val="22D3EE"/>
            </a:solidFill>
            <a:prstDash val="solid"/>
          </a:ln>
        </p:spPr>
      </p:sp>
      <p:sp>
        <p:nvSpPr>
          <p:cNvPr id="23" name="Text 21"/>
          <p:cNvSpPr txBox="1"/>
          <p:nvPr/>
        </p:nvSpPr>
        <p:spPr>
          <a:xfrm>
            <a:off x="731520" y="1591056"/>
            <a:ext cx="896112" cy="274320"/>
          </a:xfrm>
          <a:prstGeom prst="rect">
            <a:avLst/>
          </a:prstGeom>
          <a:noFill/>
          <a:ln/>
        </p:spPr>
        <p:txBody>
          <a:bodyPr wrap="square" lIns="0" tIns="0" rIns="0" bIns="0" rtlCol="0" anchor="t"/>
          <a:lstStyle/>
          <a:p>
            <a:pPr marL="0" indent="0" algn="ctr">
              <a:buNone/>
            </a:pPr>
            <a:r>
              <a:rPr lang="en-US" sz="900" dirty="0">
                <a:solidFill>
                  <a:srgbClr val="A3E635"/>
                </a:solidFill>
                <a:latin typeface="Courier New" pitchFamily="34" charset="0"/>
                <a:ea typeface="Courier New" pitchFamily="34" charset="-122"/>
                <a:cs typeface="Courier New" pitchFamily="34" charset="-120"/>
              </a:rPr>
              <a:t>2fr</a:t>
            </a:r>
            <a:endParaRPr lang="en-US" sz="900" dirty="0"/>
          </a:p>
        </p:txBody>
      </p:sp>
      <p:sp>
        <p:nvSpPr>
          <p:cNvPr id="24" name="Text 22"/>
          <p:cNvSpPr txBox="1"/>
          <p:nvPr/>
        </p:nvSpPr>
        <p:spPr>
          <a:xfrm>
            <a:off x="1755648" y="1591056"/>
            <a:ext cx="896112" cy="274320"/>
          </a:xfrm>
          <a:prstGeom prst="rect">
            <a:avLst/>
          </a:prstGeom>
          <a:noFill/>
          <a:ln/>
        </p:spPr>
        <p:txBody>
          <a:bodyPr wrap="square" lIns="0" tIns="0" rIns="0" bIns="0" rtlCol="0" anchor="t"/>
          <a:lstStyle/>
          <a:p>
            <a:pPr marL="0" indent="0" algn="ctr">
              <a:buNone/>
            </a:pPr>
            <a:r>
              <a:rPr lang="en-US" sz="900" dirty="0">
                <a:solidFill>
                  <a:srgbClr val="22D3EE"/>
                </a:solidFill>
                <a:latin typeface="Courier New" pitchFamily="34" charset="0"/>
                <a:ea typeface="Courier New" pitchFamily="34" charset="-122"/>
                <a:cs typeface="Courier New" pitchFamily="34" charset="-120"/>
              </a:rPr>
              <a:t>1fr</a:t>
            </a:r>
            <a:endParaRPr lang="en-US" sz="900" dirty="0"/>
          </a:p>
        </p:txBody>
      </p:sp>
      <p:sp>
        <p:nvSpPr>
          <p:cNvPr id="25" name="kod-paneli"/>
          <p:cNvSpPr/>
          <p:nvPr/>
        </p:nvSpPr>
        <p:spPr>
          <a:xfrm>
            <a:off x="4114800" y="1371600"/>
            <a:ext cx="4480560" cy="1325880"/>
          </a:xfrm>
          <a:prstGeom prst="roundRect">
            <a:avLst>
              <a:gd name="adj" fmla="val 5517"/>
            </a:avLst>
          </a:prstGeom>
          <a:solidFill>
            <a:srgbClr val="0A0D1F"/>
          </a:solidFill>
          <a:ln w="9525">
            <a:solidFill>
              <a:srgbClr val="2E3768"/>
            </a:solidFill>
            <a:prstDash val="solid"/>
          </a:ln>
        </p:spPr>
      </p:sp>
      <p:sp>
        <p:nvSpPr>
          <p:cNvPr id="26" name="Text 24"/>
          <p:cNvSpPr txBox="1"/>
          <p:nvPr/>
        </p:nvSpPr>
        <p:spPr>
          <a:xfrm>
            <a:off x="7132320" y="1426464"/>
            <a:ext cx="1371600" cy="182880"/>
          </a:xfrm>
          <a:prstGeom prst="rect">
            <a:avLst/>
          </a:prstGeom>
          <a:noFill/>
          <a:ln/>
        </p:spPr>
        <p:txBody>
          <a:bodyPr wrap="square" lIns="0" tIns="0" rIns="0" bIns="0" rtlCol="0" anchor="t"/>
          <a:lstStyle/>
          <a:p>
            <a:pPr marL="0" indent="0" algn="r">
              <a:buNone/>
            </a:pPr>
            <a:r>
              <a:rPr lang="en-US" sz="800" dirty="0">
                <a:solidFill>
                  <a:srgbClr val="6C759E"/>
                </a:solidFill>
                <a:latin typeface="Courier New" pitchFamily="34" charset="0"/>
                <a:ea typeface="Courier New" pitchFamily="34" charset="-122"/>
                <a:cs typeface="Courier New" pitchFamily="34" charset="-120"/>
              </a:rPr>
              <a:t>grid.css</a:t>
            </a:r>
            <a:endParaRPr lang="en-US" sz="800" dirty="0"/>
          </a:p>
        </p:txBody>
      </p:sp>
      <p:sp>
        <p:nvSpPr>
          <p:cNvPr id="27" name="Text 25"/>
          <p:cNvSpPr txBox="1"/>
          <p:nvPr/>
        </p:nvSpPr>
        <p:spPr>
          <a:xfrm>
            <a:off x="4261104" y="1609344"/>
            <a:ext cx="4206240" cy="1014984"/>
          </a:xfrm>
          <a:prstGeom prst="rect">
            <a:avLst/>
          </a:prstGeom>
          <a:noFill/>
          <a:ln/>
        </p:spPr>
        <p:txBody>
          <a:bodyPr wrap="square" lIns="0" tIns="0" rIns="0" bIns="0" rtlCol="0" anchor="ctr"/>
          <a:lstStyle/>
          <a:p>
            <a:pPr marL="0" indent="0">
              <a:buNone/>
            </a:pPr>
            <a:r>
              <a:rPr lang="en-US" sz="850" dirty="0">
                <a:solidFill>
                  <a:srgbClr val="F472B6"/>
                </a:solidFill>
                <a:latin typeface="Courier New" pitchFamily="34" charset="0"/>
                <a:ea typeface="Courier New" pitchFamily="34" charset="-122"/>
                <a:cs typeface="Courier New" pitchFamily="34" charset="-120"/>
              </a:rPr>
              <a:t>.container </a:t>
            </a:r>
            <a:r>
              <a:rPr lang="en-US" sz="850" dirty="0">
                <a:solidFill>
                  <a:srgbClr val="6C759E"/>
                </a:solidFill>
                <a:latin typeface="Courier New" pitchFamily="34" charset="0"/>
                <a:ea typeface="Courier New" pitchFamily="34" charset="-122"/>
                <a:cs typeface="Courier New" pitchFamily="34" charset="-120"/>
              </a:rPr>
              <a:t>{</a:t>
            </a:r>
            <a:endParaRPr lang="en-US" sz="850" dirty="0"/>
          </a:p>
          <a:p>
            <a:pPr marL="0" indent="0">
              <a:buNone/>
            </a:pPr>
            <a:r>
              <a:rPr lang="en-US" sz="850" dirty="0">
                <a:solidFill>
                  <a:srgbClr val="EEF0F8"/>
                </a:solidFill>
                <a:latin typeface="Courier New" pitchFamily="34" charset="0"/>
                <a:ea typeface="Courier New" pitchFamily="34" charset="-122"/>
                <a:cs typeface="Courier New" pitchFamily="34" charset="-120"/>
              </a:rPr>
              <a:t>  </a:t>
            </a:r>
            <a:r>
              <a:rPr lang="en-US" sz="850" dirty="0">
                <a:solidFill>
                  <a:srgbClr val="22D3EE"/>
                </a:solidFill>
                <a:latin typeface="Courier New" pitchFamily="34" charset="0"/>
                <a:ea typeface="Courier New" pitchFamily="34" charset="-122"/>
                <a:cs typeface="Courier New" pitchFamily="34" charset="-120"/>
              </a:rPr>
              <a:t>display</a:t>
            </a:r>
            <a:r>
              <a:rPr lang="en-US" sz="850" dirty="0">
                <a:solidFill>
                  <a:srgbClr val="6C759E"/>
                </a:solidFill>
                <a:latin typeface="Courier New" pitchFamily="34" charset="0"/>
                <a:ea typeface="Courier New" pitchFamily="34" charset="-122"/>
                <a:cs typeface="Courier New" pitchFamily="34" charset="-120"/>
              </a:rPr>
              <a:t>: </a:t>
            </a:r>
            <a:r>
              <a:rPr lang="en-US" sz="850" dirty="0">
                <a:solidFill>
                  <a:srgbClr val="FBBF24"/>
                </a:solidFill>
                <a:latin typeface="Courier New" pitchFamily="34" charset="0"/>
                <a:ea typeface="Courier New" pitchFamily="34" charset="-122"/>
                <a:cs typeface="Courier New" pitchFamily="34" charset="-120"/>
              </a:rPr>
              <a:t>grid;</a:t>
            </a:r>
            <a:endParaRPr lang="en-US" sz="850" dirty="0"/>
          </a:p>
          <a:p>
            <a:pPr marL="0" indent="0">
              <a:buNone/>
            </a:pPr>
            <a:r>
              <a:rPr lang="en-US" sz="850" dirty="0">
                <a:solidFill>
                  <a:srgbClr val="EEF0F8"/>
                </a:solidFill>
                <a:latin typeface="Courier New" pitchFamily="34" charset="0"/>
                <a:ea typeface="Courier New" pitchFamily="34" charset="-122"/>
                <a:cs typeface="Courier New" pitchFamily="34" charset="-120"/>
              </a:rPr>
              <a:t>  </a:t>
            </a:r>
            <a:r>
              <a:rPr lang="en-US" sz="850" dirty="0">
                <a:solidFill>
                  <a:srgbClr val="22D3EE"/>
                </a:solidFill>
                <a:latin typeface="Courier New" pitchFamily="34" charset="0"/>
                <a:ea typeface="Courier New" pitchFamily="34" charset="-122"/>
                <a:cs typeface="Courier New" pitchFamily="34" charset="-120"/>
              </a:rPr>
              <a:t>grid-template-columns</a:t>
            </a:r>
            <a:r>
              <a:rPr lang="en-US" sz="850" dirty="0">
                <a:solidFill>
                  <a:srgbClr val="6C759E"/>
                </a:solidFill>
                <a:latin typeface="Courier New" pitchFamily="34" charset="0"/>
                <a:ea typeface="Courier New" pitchFamily="34" charset="-122"/>
                <a:cs typeface="Courier New" pitchFamily="34" charset="-120"/>
              </a:rPr>
              <a:t>: </a:t>
            </a:r>
            <a:r>
              <a:rPr lang="en-US" sz="850" dirty="0">
                <a:solidFill>
                  <a:srgbClr val="FBBF24"/>
                </a:solidFill>
                <a:latin typeface="Courier New" pitchFamily="34" charset="0"/>
                <a:ea typeface="Courier New" pitchFamily="34" charset="-122"/>
                <a:cs typeface="Courier New" pitchFamily="34" charset="-120"/>
              </a:rPr>
              <a:t>repeat(auto-fit, minmax(230px, 1fr));</a:t>
            </a:r>
            <a:endParaRPr lang="en-US" sz="850" dirty="0"/>
          </a:p>
          <a:p>
            <a:pPr marL="0" indent="0">
              <a:buNone/>
            </a:pPr>
            <a:r>
              <a:rPr lang="en-US" sz="850" dirty="0">
                <a:solidFill>
                  <a:srgbClr val="EEF0F8"/>
                </a:solidFill>
                <a:latin typeface="Courier New" pitchFamily="34" charset="0"/>
                <a:ea typeface="Courier New" pitchFamily="34" charset="-122"/>
                <a:cs typeface="Courier New" pitchFamily="34" charset="-120"/>
              </a:rPr>
              <a:t>  </a:t>
            </a:r>
            <a:r>
              <a:rPr lang="en-US" sz="850" dirty="0">
                <a:solidFill>
                  <a:srgbClr val="22D3EE"/>
                </a:solidFill>
                <a:latin typeface="Courier New" pitchFamily="34" charset="0"/>
                <a:ea typeface="Courier New" pitchFamily="34" charset="-122"/>
                <a:cs typeface="Courier New" pitchFamily="34" charset="-120"/>
              </a:rPr>
              <a:t>grid-auto-rows</a:t>
            </a:r>
            <a:r>
              <a:rPr lang="en-US" sz="850" dirty="0">
                <a:solidFill>
                  <a:srgbClr val="6C759E"/>
                </a:solidFill>
                <a:latin typeface="Courier New" pitchFamily="34" charset="0"/>
                <a:ea typeface="Courier New" pitchFamily="34" charset="-122"/>
                <a:cs typeface="Courier New" pitchFamily="34" charset="-120"/>
              </a:rPr>
              <a:t>: </a:t>
            </a:r>
            <a:r>
              <a:rPr lang="en-US" sz="850" dirty="0">
                <a:solidFill>
                  <a:srgbClr val="FBBF24"/>
                </a:solidFill>
                <a:latin typeface="Courier New" pitchFamily="34" charset="0"/>
                <a:ea typeface="Courier New" pitchFamily="34" charset="-122"/>
                <a:cs typeface="Courier New" pitchFamily="34" charset="-120"/>
              </a:rPr>
              <a:t>minmax(50px, auto);</a:t>
            </a:r>
            <a:endParaRPr lang="en-US" sz="850" dirty="0"/>
          </a:p>
          <a:p>
            <a:pPr marL="0" indent="0">
              <a:buNone/>
            </a:pPr>
            <a:r>
              <a:rPr lang="en-US" sz="850" dirty="0">
                <a:solidFill>
                  <a:srgbClr val="EEF0F8"/>
                </a:solidFill>
                <a:latin typeface="Courier New" pitchFamily="34" charset="0"/>
                <a:ea typeface="Courier New" pitchFamily="34" charset="-122"/>
                <a:cs typeface="Courier New" pitchFamily="34" charset="-120"/>
              </a:rPr>
              <a:t>  </a:t>
            </a:r>
            <a:r>
              <a:rPr lang="en-US" sz="850" dirty="0">
                <a:solidFill>
                  <a:srgbClr val="22D3EE"/>
                </a:solidFill>
                <a:latin typeface="Courier New" pitchFamily="34" charset="0"/>
                <a:ea typeface="Courier New" pitchFamily="34" charset="-122"/>
                <a:cs typeface="Courier New" pitchFamily="34" charset="-120"/>
              </a:rPr>
              <a:t>gap</a:t>
            </a:r>
            <a:r>
              <a:rPr lang="en-US" sz="850" dirty="0">
                <a:solidFill>
                  <a:srgbClr val="6C759E"/>
                </a:solidFill>
                <a:latin typeface="Courier New" pitchFamily="34" charset="0"/>
                <a:ea typeface="Courier New" pitchFamily="34" charset="-122"/>
                <a:cs typeface="Courier New" pitchFamily="34" charset="-120"/>
              </a:rPr>
              <a:t>: </a:t>
            </a:r>
            <a:r>
              <a:rPr lang="en-US" sz="850" dirty="0">
                <a:solidFill>
                  <a:srgbClr val="FBBF24"/>
                </a:solidFill>
                <a:latin typeface="Courier New" pitchFamily="34" charset="0"/>
                <a:ea typeface="Courier New" pitchFamily="34" charset="-122"/>
                <a:cs typeface="Courier New" pitchFamily="34" charset="-120"/>
              </a:rPr>
              <a:t>20px; }</a:t>
            </a:r>
            <a:endParaRPr lang="en-US" sz="850" dirty="0"/>
          </a:p>
        </p:txBody>
      </p:sp>
      <p:sp>
        <p:nvSpPr>
          <p:cNvPr id="28" name="Text 26"/>
          <p:cNvSpPr txBox="1"/>
          <p:nvPr/>
        </p:nvSpPr>
        <p:spPr>
          <a:xfrm>
            <a:off x="4114800" y="2788920"/>
            <a:ext cx="4480560" cy="1325880"/>
          </a:xfrm>
          <a:prstGeom prst="rect">
            <a:avLst/>
          </a:prstGeom>
          <a:noFill/>
          <a:ln/>
        </p:spPr>
        <p:txBody>
          <a:bodyPr wrap="square" lIns="0" tIns="0" rIns="0" bIns="0" rtlCol="0" anchor="t"/>
          <a:lstStyle/>
          <a:p>
            <a:pPr marL="0" indent="0">
              <a:spcAft>
                <a:spcPts val="600"/>
              </a:spcAft>
              <a:buNone/>
            </a:pPr>
            <a:r>
              <a:rPr lang="en-US" sz="950" b="1" dirty="0">
                <a:solidFill>
                  <a:srgbClr val="A3E635"/>
                </a:solidFill>
                <a:latin typeface="Arial" pitchFamily="34" charset="0"/>
                <a:ea typeface="Arial" pitchFamily="34" charset="-122"/>
                <a:cs typeface="Arial" pitchFamily="34" charset="-120"/>
              </a:rPr>
              <a:t>fr: </a:t>
            </a:r>
            <a:r>
              <a:rPr lang="en-US" sz="950" dirty="0">
                <a:solidFill>
                  <a:srgbClr val="EEF0F8"/>
                </a:solidFill>
                <a:latin typeface="Arial" pitchFamily="34" charset="0"/>
                <a:ea typeface="Arial" pitchFamily="34" charset="-122"/>
                <a:cs typeface="Arial" pitchFamily="34" charset="-120"/>
              </a:rPr>
              <a:t>kullanılabilir alanı oranla böler; sabit izler önce, kalan fr'lere.</a:t>
            </a:r>
            <a:endParaRPr lang="en-US" sz="950" dirty="0"/>
          </a:p>
          <a:p>
            <a:pPr marL="0" indent="0">
              <a:spcAft>
                <a:spcPts val="600"/>
              </a:spcAft>
              <a:buNone/>
            </a:pPr>
            <a:r>
              <a:rPr lang="en-US" sz="950" b="1" dirty="0">
                <a:solidFill>
                  <a:srgbClr val="A3E635"/>
                </a:solidFill>
                <a:latin typeface="Arial" pitchFamily="34" charset="0"/>
                <a:ea typeface="Arial" pitchFamily="34" charset="-122"/>
                <a:cs typeface="Arial" pitchFamily="34" charset="-120"/>
              </a:rPr>
              <a:t>gap: </a:t>
            </a:r>
            <a:r>
              <a:rPr lang="en-US" sz="950" dirty="0">
                <a:solidFill>
                  <a:srgbClr val="EEF0F8"/>
                </a:solidFill>
                <a:latin typeface="Arial" pitchFamily="34" charset="0"/>
                <a:ea typeface="Arial" pitchFamily="34" charset="-122"/>
                <a:cs typeface="Arial" pitchFamily="34" charset="-120"/>
              </a:rPr>
              <a:t>satır/sütun arası boşluk (gutter). fr kullanılamaz.</a:t>
            </a:r>
            <a:endParaRPr lang="en-US" sz="950" dirty="0"/>
          </a:p>
          <a:p>
            <a:pPr marL="0" indent="0">
              <a:spcAft>
                <a:spcPts val="600"/>
              </a:spcAft>
              <a:buNone/>
            </a:pPr>
            <a:r>
              <a:rPr lang="en-US" sz="950" b="1" dirty="0">
                <a:solidFill>
                  <a:srgbClr val="A3E635"/>
                </a:solidFill>
                <a:latin typeface="Arial" pitchFamily="34" charset="0"/>
                <a:ea typeface="Arial" pitchFamily="34" charset="-122"/>
                <a:cs typeface="Arial" pitchFamily="34" charset="-120"/>
              </a:rPr>
              <a:t>repeat(): </a:t>
            </a:r>
            <a:r>
              <a:rPr lang="en-US" sz="950" dirty="0">
                <a:solidFill>
                  <a:srgbClr val="EEF0F8"/>
                </a:solidFill>
                <a:latin typeface="Arial" pitchFamily="34" charset="0"/>
                <a:ea typeface="Arial" pitchFamily="34" charset="-122"/>
                <a:cs typeface="Arial" pitchFamily="34" charset="-120"/>
              </a:rPr>
              <a:t>repeat(3, 1fr) = 1fr 1fr 1fr.</a:t>
            </a:r>
            <a:endParaRPr lang="en-US" sz="950" dirty="0"/>
          </a:p>
          <a:p>
            <a:pPr marL="0" indent="0">
              <a:spcAft>
                <a:spcPts val="600"/>
              </a:spcAft>
              <a:buNone/>
            </a:pPr>
            <a:r>
              <a:rPr lang="en-US" sz="950" b="1" dirty="0">
                <a:solidFill>
                  <a:srgbClr val="A3E635"/>
                </a:solidFill>
                <a:latin typeface="Arial" pitchFamily="34" charset="0"/>
                <a:ea typeface="Arial" pitchFamily="34" charset="-122"/>
                <a:cs typeface="Arial" pitchFamily="34" charset="-120"/>
              </a:rPr>
              <a:t>Açık / örtük ızgara: </a:t>
            </a:r>
            <a:r>
              <a:rPr lang="en-US" sz="950" dirty="0">
                <a:solidFill>
                  <a:srgbClr val="EEF0F8"/>
                </a:solidFill>
                <a:latin typeface="Arial" pitchFamily="34" charset="0"/>
                <a:ea typeface="Arial" pitchFamily="34" charset="-122"/>
                <a:cs typeface="Arial" pitchFamily="34" charset="-120"/>
              </a:rPr>
              <a:t>template ile tanımladığın açık; taşan içerik için otomatik oluşan örtük (grid-auto-rows).</a:t>
            </a:r>
            <a:endParaRPr lang="en-US" sz="950" dirty="0"/>
          </a:p>
          <a:p>
            <a:pPr marL="0" indent="0">
              <a:spcAft>
                <a:spcPts val="600"/>
              </a:spcAft>
              <a:buNone/>
            </a:pPr>
            <a:r>
              <a:rPr lang="en-US" sz="950" b="1" dirty="0">
                <a:solidFill>
                  <a:srgbClr val="A3E635"/>
                </a:solidFill>
                <a:latin typeface="Arial" pitchFamily="34" charset="0"/>
                <a:ea typeface="Arial" pitchFamily="34" charset="-122"/>
                <a:cs typeface="Arial" pitchFamily="34" charset="-120"/>
              </a:rPr>
              <a:t>minmax() + auto-fit: </a:t>
            </a:r>
            <a:r>
              <a:rPr lang="en-US" sz="950" dirty="0">
                <a:solidFill>
                  <a:srgbClr val="EEF0F8"/>
                </a:solidFill>
                <a:latin typeface="Arial" pitchFamily="34" charset="0"/>
                <a:ea typeface="Arial" pitchFamily="34" charset="-122"/>
                <a:cs typeface="Arial" pitchFamily="34" charset="-120"/>
              </a:rPr>
              <a:t>sığdığı kadar sütun; medya sorgusu gerekmeden duyarlı.</a:t>
            </a:r>
            <a:endParaRPr lang="en-US" sz="950" dirty="0"/>
          </a:p>
        </p:txBody>
      </p:sp>
      <p:sp>
        <p:nvSpPr>
          <p:cNvPr id="29" name="benzetme"/>
          <p:cNvSpPr/>
          <p:nvPr/>
        </p:nvSpPr>
        <p:spPr>
          <a:xfrm>
            <a:off x="548640" y="4224528"/>
            <a:ext cx="8046720" cy="402336"/>
          </a:xfrm>
          <a:prstGeom prst="roundRect">
            <a:avLst>
              <a:gd name="adj" fmla="val 50000"/>
            </a:avLst>
          </a:prstGeom>
          <a:solidFill>
            <a:srgbClr val="232A55"/>
          </a:solidFill>
          <a:ln/>
        </p:spPr>
      </p:sp>
      <p:sp>
        <p:nvSpPr>
          <p:cNvPr id="30" name="benzetme-ikon"/>
          <p:cNvSpPr/>
          <p:nvPr/>
        </p:nvSpPr>
        <p:spPr>
          <a:xfrm>
            <a:off x="621792" y="4261104"/>
            <a:ext cx="329184" cy="329184"/>
          </a:xfrm>
          <a:prstGeom prst="ellipse">
            <a:avLst/>
          </a:prstGeom>
          <a:solidFill>
            <a:srgbClr val="FBBF24"/>
          </a:solidFill>
          <a:ln/>
        </p:spPr>
      </p:sp>
      <p:sp>
        <p:nvSpPr>
          <p:cNvPr id="31" name="Text 29"/>
          <p:cNvSpPr txBox="1"/>
          <p:nvPr/>
        </p:nvSpPr>
        <p:spPr>
          <a:xfrm>
            <a:off x="621792" y="4261104"/>
            <a:ext cx="329184" cy="329184"/>
          </a:xfrm>
          <a:prstGeom prst="rect">
            <a:avLst/>
          </a:prstGeom>
          <a:noFill/>
          <a:ln/>
        </p:spPr>
        <p:txBody>
          <a:bodyPr wrap="square" lIns="0" tIns="0" rIns="0" bIns="0" rtlCol="0" anchor="ctr"/>
          <a:lstStyle/>
          <a:p>
            <a:pPr marL="0" indent="0" algn="ctr">
              <a:buNone/>
            </a:pPr>
            <a:r>
              <a:rPr lang="en-US" sz="1600" b="1" dirty="0">
                <a:solidFill>
                  <a:srgbClr val="10142B"/>
                </a:solidFill>
                <a:latin typeface="Arial" pitchFamily="34" charset="0"/>
                <a:ea typeface="Arial" pitchFamily="34" charset="-122"/>
                <a:cs typeface="Arial" pitchFamily="34" charset="-120"/>
              </a:rPr>
              <a:t>≈</a:t>
            </a:r>
            <a:endParaRPr lang="en-US" sz="1600" dirty="0"/>
          </a:p>
        </p:txBody>
      </p:sp>
      <p:sp>
        <p:nvSpPr>
          <p:cNvPr id="32" name="Text 30"/>
          <p:cNvSpPr txBox="1"/>
          <p:nvPr/>
        </p:nvSpPr>
        <p:spPr>
          <a:xfrm>
            <a:off x="1042416" y="4224528"/>
            <a:ext cx="7452360" cy="402336"/>
          </a:xfrm>
          <a:prstGeom prst="rect">
            <a:avLst/>
          </a:prstGeom>
          <a:noFill/>
          <a:ln/>
        </p:spPr>
        <p:txBody>
          <a:bodyPr wrap="square" lIns="0" tIns="0" rIns="0" bIns="0" rtlCol="0" anchor="ctr"/>
          <a:lstStyle/>
          <a:p>
            <a:pPr marL="0" indent="0">
              <a:buNone/>
            </a:pPr>
            <a:r>
              <a:rPr lang="en-US" sz="1100" b="1" dirty="0">
                <a:solidFill>
                  <a:srgbClr val="FBBF24"/>
                </a:solidFill>
                <a:latin typeface="Arial" pitchFamily="34" charset="0"/>
                <a:ea typeface="Arial" pitchFamily="34" charset="-122"/>
                <a:cs typeface="Arial" pitchFamily="34" charset="-120"/>
              </a:rPr>
              <a:t>Gündelik hayatta: </a:t>
            </a:r>
            <a:r>
              <a:rPr lang="en-US" sz="1100" dirty="0">
                <a:solidFill>
                  <a:srgbClr val="EEF0F8"/>
                </a:solidFill>
                <a:latin typeface="Arial" pitchFamily="34" charset="0"/>
                <a:ea typeface="Arial" pitchFamily="34" charset="-122"/>
                <a:cs typeface="Arial" pitchFamily="34" charset="-120"/>
              </a:rPr>
              <a:t>grid, satranç tahtası ya da Excel sayfası gibidir: hem satırlar hem sütunlar aynı anda kontrol edilir (iki boyut).</a:t>
            </a:r>
            <a:endParaRPr lang="en-US" sz="1100" dirty="0"/>
          </a:p>
        </p:txBody>
      </p:sp>
    </p:spTree>
  </p:cSld>
  <p:clrMapOvr>
    <a:masterClrMapping/>
  </p:clrMapOvr>
  <p:transition spd="med">
    <p:pull/>
  </p:transition>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txBox="1"/>
          <p:nvPr/>
        </p:nvSpPr>
        <p:spPr>
          <a:xfrm>
            <a:off x="548640" y="256032"/>
            <a:ext cx="4572000" cy="201168"/>
          </a:xfrm>
          <a:prstGeom prst="rect">
            <a:avLst/>
          </a:prstGeom>
          <a:noFill/>
          <a:ln/>
        </p:spPr>
        <p:txBody>
          <a:bodyPr wrap="square" lIns="0" tIns="0" rIns="0" bIns="0" rtlCol="0" anchor="t"/>
          <a:lstStyle/>
          <a:p>
            <a:pPr marL="0" indent="0">
              <a:buNone/>
            </a:pPr>
            <a:r>
              <a:rPr lang="en-US" sz="900" b="1" kern="0" spc="200" dirty="0">
                <a:solidFill>
                  <a:srgbClr val="A3E635"/>
                </a:solidFill>
                <a:latin typeface="Arial" pitchFamily="34" charset="0"/>
                <a:ea typeface="Arial" pitchFamily="34" charset="-122"/>
                <a:cs typeface="Arial" pitchFamily="34" charset="-120"/>
              </a:rPr>
              <a:t>MODÜL 3 · CSS DÜZENİ</a:t>
            </a:r>
            <a:endParaRPr lang="en-US" sz="900" dirty="0"/>
          </a:p>
        </p:txBody>
      </p:sp>
      <p:sp>
        <p:nvSpPr>
          <p:cNvPr id="3" name="mini-box-0"/>
          <p:cNvSpPr/>
          <p:nvPr/>
        </p:nvSpPr>
        <p:spPr>
          <a:xfrm>
            <a:off x="8229600" y="201168"/>
            <a:ext cx="384048" cy="384048"/>
          </a:xfrm>
          <a:prstGeom prst="rect">
            <a:avLst/>
          </a:prstGeom>
          <a:ln w="9525">
            <a:solidFill>
              <a:srgbClr val="A3E635"/>
            </a:solidFill>
            <a:prstDash val="solid"/>
          </a:ln>
        </p:spPr>
      </p:sp>
      <p:sp>
        <p:nvSpPr>
          <p:cNvPr id="4" name="mini-box-1"/>
          <p:cNvSpPr/>
          <p:nvPr/>
        </p:nvSpPr>
        <p:spPr>
          <a:xfrm>
            <a:off x="8293608" y="265176"/>
            <a:ext cx="256032" cy="256032"/>
          </a:xfrm>
          <a:prstGeom prst="rect">
            <a:avLst/>
          </a:prstGeom>
          <a:ln w="9525">
            <a:solidFill>
              <a:srgbClr val="EEF0F8"/>
            </a:solidFill>
            <a:prstDash val="solid"/>
          </a:ln>
        </p:spPr>
      </p:sp>
      <p:sp>
        <p:nvSpPr>
          <p:cNvPr id="5" name="mini-box-2"/>
          <p:cNvSpPr/>
          <p:nvPr/>
        </p:nvSpPr>
        <p:spPr>
          <a:xfrm>
            <a:off x="8348472" y="320040"/>
            <a:ext cx="146304" cy="146304"/>
          </a:xfrm>
          <a:prstGeom prst="rect">
            <a:avLst/>
          </a:prstGeom>
          <a:solidFill>
            <a:srgbClr val="A3E635"/>
          </a:solidFill>
          <a:ln w="9525">
            <a:solidFill>
              <a:srgbClr val="A3E635"/>
            </a:solidFill>
            <a:prstDash val="solid"/>
          </a:ln>
        </p:spPr>
      </p:sp>
      <p:sp>
        <p:nvSpPr>
          <p:cNvPr id="6" name="ilerleme-zemin"/>
          <p:cNvSpPr/>
          <p:nvPr/>
        </p:nvSpPr>
        <p:spPr>
          <a:xfrm>
            <a:off x="0" y="5070348"/>
            <a:ext cx="9144000" cy="73152"/>
          </a:xfrm>
          <a:prstGeom prst="rect">
            <a:avLst/>
          </a:prstGeom>
          <a:solidFill>
            <a:srgbClr val="1A2044"/>
          </a:solidFill>
          <a:ln/>
        </p:spPr>
      </p:sp>
      <p:sp>
        <p:nvSpPr>
          <p:cNvPr id="7" name="ilerleme"/>
          <p:cNvSpPr/>
          <p:nvPr/>
        </p:nvSpPr>
        <p:spPr>
          <a:xfrm>
            <a:off x="0" y="5070348"/>
            <a:ext cx="7868093" cy="73152"/>
          </a:xfrm>
          <a:prstGeom prst="rect">
            <a:avLst/>
          </a:prstGeom>
          <a:solidFill>
            <a:srgbClr val="A3E635"/>
          </a:solidFill>
          <a:ln/>
        </p:spPr>
      </p:sp>
      <p:sp>
        <p:nvSpPr>
          <p:cNvPr id="8" name="Text 6"/>
          <p:cNvSpPr txBox="1"/>
          <p:nvPr/>
        </p:nvSpPr>
        <p:spPr>
          <a:xfrm>
            <a:off x="548640" y="4791456"/>
            <a:ext cx="3657600" cy="201168"/>
          </a:xfrm>
          <a:prstGeom prst="rect">
            <a:avLst/>
          </a:prstGeom>
          <a:noFill/>
          <a:ln/>
        </p:spPr>
        <p:txBody>
          <a:bodyPr wrap="square" lIns="0" tIns="0" rIns="0" bIns="0" rtlCol="0" anchor="t"/>
          <a:lstStyle/>
          <a:p>
            <a:pPr marL="0" indent="0">
              <a:buNone/>
            </a:pPr>
            <a:r>
              <a:rPr lang="en-US" sz="850" dirty="0">
                <a:solidFill>
                  <a:srgbClr val="6C759E"/>
                </a:solidFill>
                <a:latin typeface="Arial" pitchFamily="34" charset="0"/>
                <a:ea typeface="Arial" pitchFamily="34" charset="-122"/>
                <a:cs typeface="Arial" pitchFamily="34" charset="-120"/>
              </a:rPr>
              <a:t>KCŞ A.Ş.  ·  CSS ile stil ve düzen</a:t>
            </a:r>
            <a:endParaRPr lang="en-US" sz="850" dirty="0"/>
          </a:p>
        </p:txBody>
      </p:sp>
      <p:sp>
        <p:nvSpPr>
          <p:cNvPr id="9" name="Text 7"/>
          <p:cNvSpPr txBox="1"/>
          <p:nvPr/>
        </p:nvSpPr>
        <p:spPr>
          <a:xfrm>
            <a:off x="4206240" y="4791456"/>
            <a:ext cx="3840480" cy="201168"/>
          </a:xfrm>
          <a:prstGeom prst="rect">
            <a:avLst/>
          </a:prstGeom>
          <a:noFill/>
          <a:ln/>
        </p:spPr>
        <p:txBody>
          <a:bodyPr wrap="square" lIns="0" tIns="0" rIns="0" bIns="0" rtlCol="0" anchor="t"/>
          <a:lstStyle/>
          <a:p>
            <a:pPr marL="0" indent="0" algn="r">
              <a:buNone/>
            </a:pPr>
            <a:r>
              <a:rPr lang="en-US" sz="850" dirty="0">
                <a:solidFill>
                  <a:srgbClr val="6C759E"/>
                </a:solidFill>
                <a:latin typeface="Arial" pitchFamily="34" charset="0"/>
                <a:ea typeface="Arial" pitchFamily="34" charset="-122"/>
                <a:cs typeface="Arial" pitchFamily="34" charset="-120"/>
              </a:rPr>
              <a:t>MDN · CSS grid layout</a:t>
            </a:r>
            <a:endParaRPr lang="en-US" sz="850" dirty="0"/>
          </a:p>
        </p:txBody>
      </p:sp>
      <p:sp>
        <p:nvSpPr>
          <p:cNvPr id="10" name="Text 8"/>
          <p:cNvSpPr txBox="1"/>
          <p:nvPr/>
        </p:nvSpPr>
        <p:spPr>
          <a:xfrm>
            <a:off x="8092440" y="4791456"/>
            <a:ext cx="685800" cy="201168"/>
          </a:xfrm>
          <a:prstGeom prst="rect">
            <a:avLst/>
          </a:prstGeom>
          <a:noFill/>
          <a:ln/>
        </p:spPr>
        <p:txBody>
          <a:bodyPr wrap="square" lIns="0" tIns="0" rIns="0" bIns="0" rtlCol="0" anchor="t"/>
          <a:lstStyle/>
          <a:p>
            <a:pPr marL="0" indent="0" algn="r">
              <a:buNone/>
            </a:pPr>
            <a:r>
              <a:rPr lang="en-US" sz="850" dirty="0">
                <a:solidFill>
                  <a:srgbClr val="9AA3C7"/>
                </a:solidFill>
                <a:latin typeface="Courier New" pitchFamily="34" charset="0"/>
                <a:ea typeface="Courier New" pitchFamily="34" charset="-122"/>
                <a:cs typeface="Courier New" pitchFamily="34" charset="-120"/>
              </a:rPr>
              <a:t>37 / 43</a:t>
            </a:r>
            <a:endParaRPr lang="en-US" sz="850" dirty="0"/>
          </a:p>
        </p:txBody>
      </p:sp>
      <p:sp>
        <p:nvSpPr>
          <p:cNvPr id="11" name="Text 9"/>
          <p:cNvSpPr txBox="1"/>
          <p:nvPr/>
        </p:nvSpPr>
        <p:spPr>
          <a:xfrm>
            <a:off x="548640" y="502920"/>
            <a:ext cx="5943600" cy="237744"/>
          </a:xfrm>
          <a:prstGeom prst="rect">
            <a:avLst/>
          </a:prstGeom>
          <a:noFill/>
          <a:ln/>
        </p:spPr>
        <p:txBody>
          <a:bodyPr wrap="square" lIns="0" tIns="0" rIns="0" bIns="0" rtlCol="0" anchor="t"/>
          <a:lstStyle/>
          <a:p>
            <a:pPr marL="0" indent="0">
              <a:buNone/>
            </a:pPr>
            <a:r>
              <a:rPr lang="en-US" sz="1100" b="1" dirty="0">
                <a:solidFill>
                  <a:srgbClr val="A3E635"/>
                </a:solidFill>
                <a:latin typeface="Courier New" pitchFamily="34" charset="0"/>
                <a:ea typeface="Courier New" pitchFamily="34" charset="-122"/>
                <a:cs typeface="Courier New" pitchFamily="34" charset="-120"/>
              </a:rPr>
              <a:t>grid-template-areas: "header header" …</a:t>
            </a:r>
            <a:endParaRPr lang="en-US" sz="1100" dirty="0"/>
          </a:p>
        </p:txBody>
      </p:sp>
      <p:sp>
        <p:nvSpPr>
          <p:cNvPr id="12" name="Text 10"/>
          <p:cNvSpPr txBox="1"/>
          <p:nvPr/>
        </p:nvSpPr>
        <p:spPr>
          <a:xfrm>
            <a:off x="548640" y="749808"/>
            <a:ext cx="7589520" cy="502920"/>
          </a:xfrm>
          <a:prstGeom prst="rect">
            <a:avLst/>
          </a:prstGeom>
          <a:noFill/>
          <a:ln/>
        </p:spPr>
        <p:txBody>
          <a:bodyPr wrap="square" lIns="0" tIns="0" rIns="0" bIns="0" rtlCol="0" anchor="ctr"/>
          <a:lstStyle/>
          <a:p>
            <a:pPr marL="0" indent="0">
              <a:buNone/>
            </a:pPr>
            <a:r>
              <a:rPr lang="en-US" sz="2400" b="1" dirty="0">
                <a:solidFill>
                  <a:srgbClr val="EEF0F8"/>
                </a:solidFill>
                <a:latin typeface="Arial" pitchFamily="34" charset="0"/>
                <a:ea typeface="Arial" pitchFamily="34" charset="-122"/>
                <a:cs typeface="Arial" pitchFamily="34" charset="-120"/>
              </a:rPr>
              <a:t>Grid 2: öğeleri ızgaraya yerleştirmek</a:t>
            </a:r>
            <a:endParaRPr lang="en-US" sz="2400" dirty="0"/>
          </a:p>
        </p:txBody>
      </p:sp>
      <p:sp>
        <p:nvSpPr>
          <p:cNvPr id="13" name="kod-paneli"/>
          <p:cNvSpPr/>
          <p:nvPr/>
        </p:nvSpPr>
        <p:spPr>
          <a:xfrm>
            <a:off x="548640" y="1371600"/>
            <a:ext cx="3931920" cy="1234440"/>
          </a:xfrm>
          <a:prstGeom prst="roundRect">
            <a:avLst>
              <a:gd name="adj" fmla="val 5926"/>
            </a:avLst>
          </a:prstGeom>
          <a:solidFill>
            <a:srgbClr val="0A0D1F"/>
          </a:solidFill>
          <a:ln w="9525">
            <a:solidFill>
              <a:srgbClr val="2E3768"/>
            </a:solidFill>
            <a:prstDash val="solid"/>
          </a:ln>
        </p:spPr>
      </p:sp>
      <p:sp>
        <p:nvSpPr>
          <p:cNvPr id="14" name="Text 12"/>
          <p:cNvSpPr txBox="1"/>
          <p:nvPr/>
        </p:nvSpPr>
        <p:spPr>
          <a:xfrm>
            <a:off x="3017520" y="1426464"/>
            <a:ext cx="1371600" cy="182880"/>
          </a:xfrm>
          <a:prstGeom prst="rect">
            <a:avLst/>
          </a:prstGeom>
          <a:noFill/>
          <a:ln/>
        </p:spPr>
        <p:txBody>
          <a:bodyPr wrap="square" lIns="0" tIns="0" rIns="0" bIns="0" rtlCol="0" anchor="t"/>
          <a:lstStyle/>
          <a:p>
            <a:pPr marL="0" indent="0" algn="r">
              <a:buNone/>
            </a:pPr>
            <a:r>
              <a:rPr lang="en-US" sz="800" dirty="0">
                <a:solidFill>
                  <a:srgbClr val="6C759E"/>
                </a:solidFill>
                <a:latin typeface="Courier New" pitchFamily="34" charset="0"/>
                <a:ea typeface="Courier New" pitchFamily="34" charset="-122"/>
                <a:cs typeface="Courier New" pitchFamily="34" charset="-120"/>
              </a:rPr>
              <a:t>cizgiler.css</a:t>
            </a:r>
            <a:endParaRPr lang="en-US" sz="800" dirty="0"/>
          </a:p>
        </p:txBody>
      </p:sp>
      <p:sp>
        <p:nvSpPr>
          <p:cNvPr id="15" name="Text 13"/>
          <p:cNvSpPr txBox="1"/>
          <p:nvPr/>
        </p:nvSpPr>
        <p:spPr>
          <a:xfrm>
            <a:off x="694944" y="1609344"/>
            <a:ext cx="3657600" cy="923544"/>
          </a:xfrm>
          <a:prstGeom prst="rect">
            <a:avLst/>
          </a:prstGeom>
          <a:noFill/>
          <a:ln/>
        </p:spPr>
        <p:txBody>
          <a:bodyPr wrap="square" lIns="0" tIns="0" rIns="0" bIns="0" rtlCol="0" anchor="ctr"/>
          <a:lstStyle/>
          <a:p>
            <a:pPr marL="0" indent="0">
              <a:buNone/>
            </a:pPr>
            <a:r>
              <a:rPr lang="en-US" sz="850" dirty="0">
                <a:solidFill>
                  <a:srgbClr val="F472B6"/>
                </a:solidFill>
                <a:latin typeface="Courier New" pitchFamily="34" charset="0"/>
                <a:ea typeface="Courier New" pitchFamily="34" charset="-122"/>
                <a:cs typeface="Courier New" pitchFamily="34" charset="-120"/>
              </a:rPr>
              <a:t>header </a:t>
            </a:r>
            <a:r>
              <a:rPr lang="en-US" sz="850" dirty="0">
                <a:solidFill>
                  <a:srgbClr val="6C759E"/>
                </a:solidFill>
                <a:latin typeface="Courier New" pitchFamily="34" charset="0"/>
                <a:ea typeface="Courier New" pitchFamily="34" charset="-122"/>
                <a:cs typeface="Courier New" pitchFamily="34" charset="-120"/>
              </a:rPr>
              <a:t>{ </a:t>
            </a:r>
            <a:r>
              <a:rPr lang="en-US" sz="850" dirty="0">
                <a:solidFill>
                  <a:srgbClr val="22D3EE"/>
                </a:solidFill>
                <a:latin typeface="Courier New" pitchFamily="34" charset="0"/>
                <a:ea typeface="Courier New" pitchFamily="34" charset="-122"/>
                <a:cs typeface="Courier New" pitchFamily="34" charset="-120"/>
              </a:rPr>
              <a:t>grid-column</a:t>
            </a:r>
            <a:r>
              <a:rPr lang="en-US" sz="850" dirty="0">
                <a:solidFill>
                  <a:srgbClr val="6C759E"/>
                </a:solidFill>
                <a:latin typeface="Courier New" pitchFamily="34" charset="0"/>
                <a:ea typeface="Courier New" pitchFamily="34" charset="-122"/>
                <a:cs typeface="Courier New" pitchFamily="34" charset="-120"/>
              </a:rPr>
              <a:t>: </a:t>
            </a:r>
            <a:r>
              <a:rPr lang="en-US" sz="850" dirty="0">
                <a:solidFill>
                  <a:srgbClr val="FBBF24"/>
                </a:solidFill>
                <a:latin typeface="Courier New" pitchFamily="34" charset="0"/>
                <a:ea typeface="Courier New" pitchFamily="34" charset="-122"/>
                <a:cs typeface="Courier New" pitchFamily="34" charset="-120"/>
              </a:rPr>
              <a:t>1 / 3</a:t>
            </a:r>
            <a:r>
              <a:rPr lang="en-US" sz="850" dirty="0">
                <a:solidFill>
                  <a:srgbClr val="6C759E"/>
                </a:solidFill>
                <a:latin typeface="Courier New" pitchFamily="34" charset="0"/>
                <a:ea typeface="Courier New" pitchFamily="34" charset="-122"/>
                <a:cs typeface="Courier New" pitchFamily="34" charset="-120"/>
              </a:rPr>
              <a:t>; </a:t>
            </a:r>
            <a:r>
              <a:rPr lang="en-US" sz="850" dirty="0">
                <a:solidFill>
                  <a:srgbClr val="22D3EE"/>
                </a:solidFill>
                <a:latin typeface="Courier New" pitchFamily="34" charset="0"/>
                <a:ea typeface="Courier New" pitchFamily="34" charset="-122"/>
                <a:cs typeface="Courier New" pitchFamily="34" charset="-120"/>
              </a:rPr>
              <a:t>grid-row</a:t>
            </a:r>
            <a:r>
              <a:rPr lang="en-US" sz="850" dirty="0">
                <a:solidFill>
                  <a:srgbClr val="6C759E"/>
                </a:solidFill>
                <a:latin typeface="Courier New" pitchFamily="34" charset="0"/>
                <a:ea typeface="Courier New" pitchFamily="34" charset="-122"/>
                <a:cs typeface="Courier New" pitchFamily="34" charset="-120"/>
              </a:rPr>
              <a:t>: </a:t>
            </a:r>
            <a:r>
              <a:rPr lang="en-US" sz="850" dirty="0">
                <a:solidFill>
                  <a:srgbClr val="FBBF24"/>
                </a:solidFill>
                <a:latin typeface="Courier New" pitchFamily="34" charset="0"/>
                <a:ea typeface="Courier New" pitchFamily="34" charset="-122"/>
                <a:cs typeface="Courier New" pitchFamily="34" charset="-120"/>
              </a:rPr>
              <a:t>1</a:t>
            </a:r>
            <a:r>
              <a:rPr lang="en-US" sz="850" dirty="0">
                <a:solidFill>
                  <a:srgbClr val="6C759E"/>
                </a:solidFill>
                <a:latin typeface="Courier New" pitchFamily="34" charset="0"/>
                <a:ea typeface="Courier New" pitchFamily="34" charset="-122"/>
                <a:cs typeface="Courier New" pitchFamily="34" charset="-120"/>
              </a:rPr>
              <a:t>; }</a:t>
            </a:r>
            <a:endParaRPr lang="en-US" sz="850" dirty="0"/>
          </a:p>
          <a:p>
            <a:pPr marL="0" indent="0">
              <a:buNone/>
            </a:pPr>
            <a:r>
              <a:rPr lang="en-US" sz="850" dirty="0">
                <a:solidFill>
                  <a:srgbClr val="F472B6"/>
                </a:solidFill>
                <a:latin typeface="Courier New" pitchFamily="34" charset="0"/>
                <a:ea typeface="Courier New" pitchFamily="34" charset="-122"/>
                <a:cs typeface="Courier New" pitchFamily="34" charset="-120"/>
              </a:rPr>
              <a:t>aside  </a:t>
            </a:r>
            <a:r>
              <a:rPr lang="en-US" sz="850" dirty="0">
                <a:solidFill>
                  <a:srgbClr val="6C759E"/>
                </a:solidFill>
                <a:latin typeface="Courier New" pitchFamily="34" charset="0"/>
                <a:ea typeface="Courier New" pitchFamily="34" charset="-122"/>
                <a:cs typeface="Courier New" pitchFamily="34" charset="-120"/>
              </a:rPr>
              <a:t>{ </a:t>
            </a:r>
            <a:r>
              <a:rPr lang="en-US" sz="850" dirty="0">
                <a:solidFill>
                  <a:srgbClr val="22D3EE"/>
                </a:solidFill>
                <a:latin typeface="Courier New" pitchFamily="34" charset="0"/>
                <a:ea typeface="Courier New" pitchFamily="34" charset="-122"/>
                <a:cs typeface="Courier New" pitchFamily="34" charset="-120"/>
              </a:rPr>
              <a:t>grid-column</a:t>
            </a:r>
            <a:r>
              <a:rPr lang="en-US" sz="850" dirty="0">
                <a:solidFill>
                  <a:srgbClr val="6C759E"/>
                </a:solidFill>
                <a:latin typeface="Courier New" pitchFamily="34" charset="0"/>
                <a:ea typeface="Courier New" pitchFamily="34" charset="-122"/>
                <a:cs typeface="Courier New" pitchFamily="34" charset="-120"/>
              </a:rPr>
              <a:t>: </a:t>
            </a:r>
            <a:r>
              <a:rPr lang="en-US" sz="850" dirty="0">
                <a:solidFill>
                  <a:srgbClr val="FBBF24"/>
                </a:solidFill>
                <a:latin typeface="Courier New" pitchFamily="34" charset="0"/>
                <a:ea typeface="Courier New" pitchFamily="34" charset="-122"/>
                <a:cs typeface="Courier New" pitchFamily="34" charset="-120"/>
              </a:rPr>
              <a:t>1</a:t>
            </a:r>
            <a:r>
              <a:rPr lang="en-US" sz="850" dirty="0">
                <a:solidFill>
                  <a:srgbClr val="6C759E"/>
                </a:solidFill>
                <a:latin typeface="Courier New" pitchFamily="34" charset="0"/>
                <a:ea typeface="Courier New" pitchFamily="34" charset="-122"/>
                <a:cs typeface="Courier New" pitchFamily="34" charset="-120"/>
              </a:rPr>
              <a:t>;     </a:t>
            </a:r>
            <a:r>
              <a:rPr lang="en-US" sz="850" dirty="0">
                <a:solidFill>
                  <a:srgbClr val="22D3EE"/>
                </a:solidFill>
                <a:latin typeface="Courier New" pitchFamily="34" charset="0"/>
                <a:ea typeface="Courier New" pitchFamily="34" charset="-122"/>
                <a:cs typeface="Courier New" pitchFamily="34" charset="-120"/>
              </a:rPr>
              <a:t>grid-row</a:t>
            </a:r>
            <a:r>
              <a:rPr lang="en-US" sz="850" dirty="0">
                <a:solidFill>
                  <a:srgbClr val="6C759E"/>
                </a:solidFill>
                <a:latin typeface="Courier New" pitchFamily="34" charset="0"/>
                <a:ea typeface="Courier New" pitchFamily="34" charset="-122"/>
                <a:cs typeface="Courier New" pitchFamily="34" charset="-120"/>
              </a:rPr>
              <a:t>: </a:t>
            </a:r>
            <a:r>
              <a:rPr lang="en-US" sz="850" dirty="0">
                <a:solidFill>
                  <a:srgbClr val="FBBF24"/>
                </a:solidFill>
                <a:latin typeface="Courier New" pitchFamily="34" charset="0"/>
                <a:ea typeface="Courier New" pitchFamily="34" charset="-122"/>
                <a:cs typeface="Courier New" pitchFamily="34" charset="-120"/>
              </a:rPr>
              <a:t>2</a:t>
            </a:r>
            <a:r>
              <a:rPr lang="en-US" sz="850" dirty="0">
                <a:solidFill>
                  <a:srgbClr val="6C759E"/>
                </a:solidFill>
                <a:latin typeface="Courier New" pitchFamily="34" charset="0"/>
                <a:ea typeface="Courier New" pitchFamily="34" charset="-122"/>
                <a:cs typeface="Courier New" pitchFamily="34" charset="-120"/>
              </a:rPr>
              <a:t>; }</a:t>
            </a:r>
            <a:endParaRPr lang="en-US" sz="850" dirty="0"/>
          </a:p>
          <a:p>
            <a:pPr marL="0" indent="0">
              <a:buNone/>
            </a:pPr>
            <a:r>
              <a:rPr lang="en-US" sz="850" dirty="0">
                <a:solidFill>
                  <a:srgbClr val="F472B6"/>
                </a:solidFill>
                <a:latin typeface="Courier New" pitchFamily="34" charset="0"/>
                <a:ea typeface="Courier New" pitchFamily="34" charset="-122"/>
                <a:cs typeface="Courier New" pitchFamily="34" charset="-120"/>
              </a:rPr>
              <a:t>main   </a:t>
            </a:r>
            <a:r>
              <a:rPr lang="en-US" sz="850" dirty="0">
                <a:solidFill>
                  <a:srgbClr val="6C759E"/>
                </a:solidFill>
                <a:latin typeface="Courier New" pitchFamily="34" charset="0"/>
                <a:ea typeface="Courier New" pitchFamily="34" charset="-122"/>
                <a:cs typeface="Courier New" pitchFamily="34" charset="-120"/>
              </a:rPr>
              <a:t>{ </a:t>
            </a:r>
            <a:r>
              <a:rPr lang="en-US" sz="850" dirty="0">
                <a:solidFill>
                  <a:srgbClr val="22D3EE"/>
                </a:solidFill>
                <a:latin typeface="Courier New" pitchFamily="34" charset="0"/>
                <a:ea typeface="Courier New" pitchFamily="34" charset="-122"/>
                <a:cs typeface="Courier New" pitchFamily="34" charset="-120"/>
              </a:rPr>
              <a:t>grid-column</a:t>
            </a:r>
            <a:r>
              <a:rPr lang="en-US" sz="850" dirty="0">
                <a:solidFill>
                  <a:srgbClr val="6C759E"/>
                </a:solidFill>
                <a:latin typeface="Courier New" pitchFamily="34" charset="0"/>
                <a:ea typeface="Courier New" pitchFamily="34" charset="-122"/>
                <a:cs typeface="Courier New" pitchFamily="34" charset="-120"/>
              </a:rPr>
              <a:t>: </a:t>
            </a:r>
            <a:r>
              <a:rPr lang="en-US" sz="850" dirty="0">
                <a:solidFill>
                  <a:srgbClr val="FBBF24"/>
                </a:solidFill>
                <a:latin typeface="Courier New" pitchFamily="34" charset="0"/>
                <a:ea typeface="Courier New" pitchFamily="34" charset="-122"/>
                <a:cs typeface="Courier New" pitchFamily="34" charset="-120"/>
              </a:rPr>
              <a:t>2</a:t>
            </a:r>
            <a:r>
              <a:rPr lang="en-US" sz="850" dirty="0">
                <a:solidFill>
                  <a:srgbClr val="6C759E"/>
                </a:solidFill>
                <a:latin typeface="Courier New" pitchFamily="34" charset="0"/>
                <a:ea typeface="Courier New" pitchFamily="34" charset="-122"/>
                <a:cs typeface="Courier New" pitchFamily="34" charset="-120"/>
              </a:rPr>
              <a:t>;     </a:t>
            </a:r>
            <a:r>
              <a:rPr lang="en-US" sz="850" dirty="0">
                <a:solidFill>
                  <a:srgbClr val="22D3EE"/>
                </a:solidFill>
                <a:latin typeface="Courier New" pitchFamily="34" charset="0"/>
                <a:ea typeface="Courier New" pitchFamily="34" charset="-122"/>
                <a:cs typeface="Courier New" pitchFamily="34" charset="-120"/>
              </a:rPr>
              <a:t>grid-row</a:t>
            </a:r>
            <a:r>
              <a:rPr lang="en-US" sz="850" dirty="0">
                <a:solidFill>
                  <a:srgbClr val="6C759E"/>
                </a:solidFill>
                <a:latin typeface="Courier New" pitchFamily="34" charset="0"/>
                <a:ea typeface="Courier New" pitchFamily="34" charset="-122"/>
                <a:cs typeface="Courier New" pitchFamily="34" charset="-120"/>
              </a:rPr>
              <a:t>: </a:t>
            </a:r>
            <a:r>
              <a:rPr lang="en-US" sz="850" dirty="0">
                <a:solidFill>
                  <a:srgbClr val="FBBF24"/>
                </a:solidFill>
                <a:latin typeface="Courier New" pitchFamily="34" charset="0"/>
                <a:ea typeface="Courier New" pitchFamily="34" charset="-122"/>
                <a:cs typeface="Courier New" pitchFamily="34" charset="-120"/>
              </a:rPr>
              <a:t>2</a:t>
            </a:r>
            <a:r>
              <a:rPr lang="en-US" sz="850" dirty="0">
                <a:solidFill>
                  <a:srgbClr val="6C759E"/>
                </a:solidFill>
                <a:latin typeface="Courier New" pitchFamily="34" charset="0"/>
                <a:ea typeface="Courier New" pitchFamily="34" charset="-122"/>
                <a:cs typeface="Courier New" pitchFamily="34" charset="-120"/>
              </a:rPr>
              <a:t>; }</a:t>
            </a:r>
            <a:endParaRPr lang="en-US" sz="850" dirty="0"/>
          </a:p>
          <a:p>
            <a:pPr marL="0" indent="0">
              <a:buNone/>
            </a:pPr>
            <a:r>
              <a:rPr lang="en-US" sz="850" dirty="0">
                <a:solidFill>
                  <a:srgbClr val="F472B6"/>
                </a:solidFill>
                <a:latin typeface="Courier New" pitchFamily="34" charset="0"/>
                <a:ea typeface="Courier New" pitchFamily="34" charset="-122"/>
                <a:cs typeface="Courier New" pitchFamily="34" charset="-120"/>
              </a:rPr>
              <a:t>footer </a:t>
            </a:r>
            <a:r>
              <a:rPr lang="en-US" sz="850" dirty="0">
                <a:solidFill>
                  <a:srgbClr val="6C759E"/>
                </a:solidFill>
                <a:latin typeface="Courier New" pitchFamily="34" charset="0"/>
                <a:ea typeface="Courier New" pitchFamily="34" charset="-122"/>
                <a:cs typeface="Courier New" pitchFamily="34" charset="-120"/>
              </a:rPr>
              <a:t>{ </a:t>
            </a:r>
            <a:r>
              <a:rPr lang="en-US" sz="850" dirty="0">
                <a:solidFill>
                  <a:srgbClr val="22D3EE"/>
                </a:solidFill>
                <a:latin typeface="Courier New" pitchFamily="34" charset="0"/>
                <a:ea typeface="Courier New" pitchFamily="34" charset="-122"/>
                <a:cs typeface="Courier New" pitchFamily="34" charset="-120"/>
              </a:rPr>
              <a:t>grid-column</a:t>
            </a:r>
            <a:r>
              <a:rPr lang="en-US" sz="850" dirty="0">
                <a:solidFill>
                  <a:srgbClr val="6C759E"/>
                </a:solidFill>
                <a:latin typeface="Courier New" pitchFamily="34" charset="0"/>
                <a:ea typeface="Courier New" pitchFamily="34" charset="-122"/>
                <a:cs typeface="Courier New" pitchFamily="34" charset="-120"/>
              </a:rPr>
              <a:t>: </a:t>
            </a:r>
            <a:r>
              <a:rPr lang="en-US" sz="850" dirty="0">
                <a:solidFill>
                  <a:srgbClr val="FBBF24"/>
                </a:solidFill>
                <a:latin typeface="Courier New" pitchFamily="34" charset="0"/>
                <a:ea typeface="Courier New" pitchFamily="34" charset="-122"/>
                <a:cs typeface="Courier New" pitchFamily="34" charset="-120"/>
              </a:rPr>
              <a:t>1 / -1</a:t>
            </a:r>
            <a:r>
              <a:rPr lang="en-US" sz="850" dirty="0">
                <a:solidFill>
                  <a:srgbClr val="6C759E"/>
                </a:solidFill>
                <a:latin typeface="Courier New" pitchFamily="34" charset="0"/>
                <a:ea typeface="Courier New" pitchFamily="34" charset="-122"/>
                <a:cs typeface="Courier New" pitchFamily="34" charset="-120"/>
              </a:rPr>
              <a:t>; }</a:t>
            </a:r>
            <a:endParaRPr lang="en-US" sz="850" dirty="0"/>
          </a:p>
        </p:txBody>
      </p:sp>
      <p:sp>
        <p:nvSpPr>
          <p:cNvPr id="16" name="Text 14"/>
          <p:cNvSpPr txBox="1"/>
          <p:nvPr/>
        </p:nvSpPr>
        <p:spPr>
          <a:xfrm>
            <a:off x="548640" y="2670048"/>
            <a:ext cx="3931920" cy="502920"/>
          </a:xfrm>
          <a:prstGeom prst="rect">
            <a:avLst/>
          </a:prstGeom>
          <a:noFill/>
          <a:ln/>
        </p:spPr>
        <p:txBody>
          <a:bodyPr wrap="square" lIns="0" tIns="0" rIns="0" bIns="0" rtlCol="0" anchor="t"/>
          <a:lstStyle/>
          <a:p>
            <a:pPr marL="0" indent="0">
              <a:buNone/>
            </a:pPr>
            <a:r>
              <a:rPr lang="en-US" sz="950" dirty="0">
                <a:solidFill>
                  <a:srgbClr val="9AA3C7"/>
                </a:solidFill>
                <a:latin typeface="Arial" pitchFamily="34" charset="0"/>
                <a:ea typeface="Arial" pitchFamily="34" charset="-122"/>
                <a:cs typeface="Arial" pitchFamily="34" charset="-120"/>
              </a:rPr>
              <a:t>Çizgi tabanlı yerleşim: çizgiler 1'den başlar, yazı yönünü izler. start / end yazılır; -1 açık ızgaranın son çizgisidir.</a:t>
            </a:r>
            <a:endParaRPr lang="en-US" sz="950" dirty="0"/>
          </a:p>
        </p:txBody>
      </p:sp>
      <p:sp>
        <p:nvSpPr>
          <p:cNvPr id="17" name="kod-paneli"/>
          <p:cNvSpPr/>
          <p:nvPr/>
        </p:nvSpPr>
        <p:spPr>
          <a:xfrm>
            <a:off x="548640" y="3200400"/>
            <a:ext cx="3931920" cy="896112"/>
          </a:xfrm>
          <a:prstGeom prst="roundRect">
            <a:avLst>
              <a:gd name="adj" fmla="val 8163"/>
            </a:avLst>
          </a:prstGeom>
          <a:solidFill>
            <a:srgbClr val="0A0D1F"/>
          </a:solidFill>
          <a:ln w="9525">
            <a:solidFill>
              <a:srgbClr val="2E3768"/>
            </a:solidFill>
            <a:prstDash val="solid"/>
          </a:ln>
        </p:spPr>
      </p:sp>
      <p:sp>
        <p:nvSpPr>
          <p:cNvPr id="18" name="Text 16"/>
          <p:cNvSpPr txBox="1"/>
          <p:nvPr/>
        </p:nvSpPr>
        <p:spPr>
          <a:xfrm>
            <a:off x="694944" y="3310128"/>
            <a:ext cx="3657600" cy="694944"/>
          </a:xfrm>
          <a:prstGeom prst="rect">
            <a:avLst/>
          </a:prstGeom>
          <a:noFill/>
          <a:ln/>
        </p:spPr>
        <p:txBody>
          <a:bodyPr wrap="square" lIns="0" tIns="0" rIns="0" bIns="0" rtlCol="0" anchor="ctr"/>
          <a:lstStyle/>
          <a:p>
            <a:pPr marL="0" indent="0">
              <a:buNone/>
            </a:pPr>
            <a:r>
              <a:rPr lang="en-US" sz="850" dirty="0">
                <a:solidFill>
                  <a:srgbClr val="F472B6"/>
                </a:solidFill>
                <a:latin typeface="Courier New" pitchFamily="34" charset="0"/>
                <a:ea typeface="Courier New" pitchFamily="34" charset="-122"/>
                <a:cs typeface="Courier New" pitchFamily="34" charset="-120"/>
              </a:rPr>
              <a:t>.container </a:t>
            </a:r>
            <a:r>
              <a:rPr lang="en-US" sz="850" dirty="0">
                <a:solidFill>
                  <a:srgbClr val="6C759E"/>
                </a:solidFill>
                <a:latin typeface="Courier New" pitchFamily="34" charset="0"/>
                <a:ea typeface="Courier New" pitchFamily="34" charset="-122"/>
                <a:cs typeface="Courier New" pitchFamily="34" charset="-120"/>
              </a:rPr>
              <a:t>{ </a:t>
            </a:r>
            <a:r>
              <a:rPr lang="en-US" sz="850" dirty="0">
                <a:solidFill>
                  <a:srgbClr val="22D3EE"/>
                </a:solidFill>
                <a:latin typeface="Courier New" pitchFamily="34" charset="0"/>
                <a:ea typeface="Courier New" pitchFamily="34" charset="-122"/>
                <a:cs typeface="Courier New" pitchFamily="34" charset="-120"/>
              </a:rPr>
              <a:t>grid-template-areas</a:t>
            </a:r>
            <a:r>
              <a:rPr lang="en-US" sz="850" dirty="0">
                <a:solidFill>
                  <a:srgbClr val="6C759E"/>
                </a:solidFill>
                <a:latin typeface="Courier New" pitchFamily="34" charset="0"/>
                <a:ea typeface="Courier New" pitchFamily="34" charset="-122"/>
                <a:cs typeface="Courier New" pitchFamily="34" charset="-120"/>
              </a:rPr>
              <a:t>:</a:t>
            </a:r>
            <a:endParaRPr lang="en-US" sz="850" dirty="0"/>
          </a:p>
          <a:p>
            <a:pPr marL="0" indent="0">
              <a:buNone/>
            </a:pPr>
            <a:r>
              <a:rPr lang="en-US" sz="850" dirty="0">
                <a:solidFill>
                  <a:srgbClr val="EEF0F8"/>
                </a:solidFill>
                <a:latin typeface="Courier New" pitchFamily="34" charset="0"/>
                <a:ea typeface="Courier New" pitchFamily="34" charset="-122"/>
                <a:cs typeface="Courier New" pitchFamily="34" charset="-120"/>
              </a:rPr>
              <a:t>  "header header"</a:t>
            </a:r>
            <a:endParaRPr lang="en-US" sz="850" dirty="0"/>
          </a:p>
          <a:p>
            <a:pPr marL="0" indent="0">
              <a:buNone/>
            </a:pPr>
            <a:r>
              <a:rPr lang="en-US" sz="850" dirty="0">
                <a:solidFill>
                  <a:srgbClr val="EEF0F8"/>
                </a:solidFill>
                <a:latin typeface="Courier New" pitchFamily="34" charset="0"/>
                <a:ea typeface="Courier New" pitchFamily="34" charset="-122"/>
                <a:cs typeface="Courier New" pitchFamily="34" charset="-120"/>
              </a:rPr>
              <a:t>  "sidebar content"</a:t>
            </a:r>
            <a:endParaRPr lang="en-US" sz="850" dirty="0"/>
          </a:p>
          <a:p>
            <a:pPr marL="0" indent="0">
              <a:buNone/>
            </a:pPr>
            <a:r>
              <a:rPr lang="en-US" sz="850" dirty="0">
                <a:solidFill>
                  <a:srgbClr val="EEF0F8"/>
                </a:solidFill>
                <a:latin typeface="Courier New" pitchFamily="34" charset="0"/>
                <a:ea typeface="Courier New" pitchFamily="34" charset="-122"/>
                <a:cs typeface="Courier New" pitchFamily="34" charset="-120"/>
              </a:rPr>
              <a:t>  "footer footer"; }</a:t>
            </a:r>
            <a:endParaRPr lang="en-US" sz="850" dirty="0"/>
          </a:p>
        </p:txBody>
      </p:sp>
      <p:sp>
        <p:nvSpPr>
          <p:cNvPr id="19" name="Text 17"/>
          <p:cNvSpPr txBox="1"/>
          <p:nvPr/>
        </p:nvSpPr>
        <p:spPr>
          <a:xfrm>
            <a:off x="4709160" y="1371600"/>
            <a:ext cx="2615184" cy="347472"/>
          </a:xfrm>
          <a:prstGeom prst="roundRect">
            <a:avLst>
              <a:gd name="adj" fmla="val 13158"/>
            </a:avLst>
          </a:prstGeom>
          <a:solidFill>
            <a:srgbClr val="A3E635">
              <a:alpha val="30000"/>
            </a:srgbClr>
          </a:solidFill>
          <a:ln w="9525">
            <a:solidFill>
              <a:srgbClr val="A3E635"/>
            </a:solidFill>
          </a:ln>
        </p:spPr>
        <p:txBody>
          <a:bodyPr wrap="square" lIns="0" tIns="0" rIns="0" bIns="0" rtlCol="0" anchor="ctr"/>
          <a:lstStyle/>
          <a:p>
            <a:pPr marL="0" indent="0" algn="ctr">
              <a:buNone/>
            </a:pPr>
            <a:r>
              <a:rPr lang="en-US" sz="950" dirty="0">
                <a:solidFill>
                  <a:srgbClr val="EEF0F8"/>
                </a:solidFill>
                <a:latin typeface="Courier New" pitchFamily="34" charset="0"/>
                <a:ea typeface="Courier New" pitchFamily="34" charset="-122"/>
                <a:cs typeface="Courier New" pitchFamily="34" charset="-120"/>
              </a:rPr>
              <a:t>header</a:t>
            </a:r>
            <a:endParaRPr lang="en-US" sz="950" dirty="0"/>
          </a:p>
        </p:txBody>
      </p:sp>
      <p:sp>
        <p:nvSpPr>
          <p:cNvPr id="20" name="Text 18"/>
          <p:cNvSpPr txBox="1"/>
          <p:nvPr/>
        </p:nvSpPr>
        <p:spPr>
          <a:xfrm>
            <a:off x="4709160" y="1783080"/>
            <a:ext cx="1271016" cy="347472"/>
          </a:xfrm>
          <a:prstGeom prst="roundRect">
            <a:avLst>
              <a:gd name="adj" fmla="val 13158"/>
            </a:avLst>
          </a:prstGeom>
          <a:solidFill>
            <a:srgbClr val="22D3EE">
              <a:alpha val="30000"/>
            </a:srgbClr>
          </a:solidFill>
          <a:ln w="9525">
            <a:solidFill>
              <a:srgbClr val="22D3EE"/>
            </a:solidFill>
          </a:ln>
        </p:spPr>
        <p:txBody>
          <a:bodyPr wrap="square" lIns="0" tIns="0" rIns="0" bIns="0" rtlCol="0" anchor="ctr"/>
          <a:lstStyle/>
          <a:p>
            <a:pPr marL="0" indent="0" algn="ctr">
              <a:buNone/>
            </a:pPr>
            <a:r>
              <a:rPr lang="en-US" sz="950" dirty="0">
                <a:solidFill>
                  <a:srgbClr val="EEF0F8"/>
                </a:solidFill>
                <a:latin typeface="Courier New" pitchFamily="34" charset="0"/>
                <a:ea typeface="Courier New" pitchFamily="34" charset="-122"/>
                <a:cs typeface="Courier New" pitchFamily="34" charset="-120"/>
              </a:rPr>
              <a:t>sidebar</a:t>
            </a:r>
            <a:endParaRPr lang="en-US" sz="950" dirty="0"/>
          </a:p>
        </p:txBody>
      </p:sp>
      <p:sp>
        <p:nvSpPr>
          <p:cNvPr id="21" name="Text 19"/>
          <p:cNvSpPr txBox="1"/>
          <p:nvPr/>
        </p:nvSpPr>
        <p:spPr>
          <a:xfrm>
            <a:off x="6053328" y="1783080"/>
            <a:ext cx="1271016" cy="347472"/>
          </a:xfrm>
          <a:prstGeom prst="roundRect">
            <a:avLst>
              <a:gd name="adj" fmla="val 13158"/>
            </a:avLst>
          </a:prstGeom>
          <a:solidFill>
            <a:srgbClr val="F472B6">
              <a:alpha val="30000"/>
            </a:srgbClr>
          </a:solidFill>
          <a:ln w="9525">
            <a:solidFill>
              <a:srgbClr val="F472B6"/>
            </a:solidFill>
          </a:ln>
        </p:spPr>
        <p:txBody>
          <a:bodyPr wrap="square" lIns="0" tIns="0" rIns="0" bIns="0" rtlCol="0" anchor="ctr"/>
          <a:lstStyle/>
          <a:p>
            <a:pPr marL="0" indent="0" algn="ctr">
              <a:buNone/>
            </a:pPr>
            <a:r>
              <a:rPr lang="en-US" sz="950" dirty="0">
                <a:solidFill>
                  <a:srgbClr val="EEF0F8"/>
                </a:solidFill>
                <a:latin typeface="Courier New" pitchFamily="34" charset="0"/>
                <a:ea typeface="Courier New" pitchFamily="34" charset="-122"/>
                <a:cs typeface="Courier New" pitchFamily="34" charset="-120"/>
              </a:rPr>
              <a:t>content</a:t>
            </a:r>
            <a:endParaRPr lang="en-US" sz="950" dirty="0"/>
          </a:p>
        </p:txBody>
      </p:sp>
      <p:sp>
        <p:nvSpPr>
          <p:cNvPr id="22" name="Text 20"/>
          <p:cNvSpPr txBox="1"/>
          <p:nvPr/>
        </p:nvSpPr>
        <p:spPr>
          <a:xfrm>
            <a:off x="4709160" y="2194560"/>
            <a:ext cx="2615184" cy="347472"/>
          </a:xfrm>
          <a:prstGeom prst="roundRect">
            <a:avLst>
              <a:gd name="adj" fmla="val 13158"/>
            </a:avLst>
          </a:prstGeom>
          <a:solidFill>
            <a:srgbClr val="FBBF24">
              <a:alpha val="30000"/>
            </a:srgbClr>
          </a:solidFill>
          <a:ln w="9525">
            <a:solidFill>
              <a:srgbClr val="FBBF24"/>
            </a:solidFill>
          </a:ln>
        </p:spPr>
        <p:txBody>
          <a:bodyPr wrap="square" lIns="0" tIns="0" rIns="0" bIns="0" rtlCol="0" anchor="ctr"/>
          <a:lstStyle/>
          <a:p>
            <a:pPr marL="0" indent="0" algn="ctr">
              <a:buNone/>
            </a:pPr>
            <a:r>
              <a:rPr lang="en-US" sz="950" dirty="0">
                <a:solidFill>
                  <a:srgbClr val="EEF0F8"/>
                </a:solidFill>
                <a:latin typeface="Courier New" pitchFamily="34" charset="0"/>
                <a:ea typeface="Courier New" pitchFamily="34" charset="-122"/>
                <a:cs typeface="Courier New" pitchFamily="34" charset="-120"/>
              </a:rPr>
              <a:t>footer</a:t>
            </a:r>
            <a:endParaRPr lang="en-US" sz="950" dirty="0"/>
          </a:p>
        </p:txBody>
      </p:sp>
      <p:sp>
        <p:nvSpPr>
          <p:cNvPr id="23" name="kart"/>
          <p:cNvSpPr/>
          <p:nvPr/>
        </p:nvSpPr>
        <p:spPr>
          <a:xfrm>
            <a:off x="7452360" y="1371600"/>
            <a:ext cx="1143000" cy="1170432"/>
          </a:xfrm>
          <a:prstGeom prst="roundRect">
            <a:avLst>
              <a:gd name="adj" fmla="val 6400"/>
            </a:avLst>
          </a:prstGeom>
          <a:solidFill>
            <a:srgbClr val="1A2044"/>
          </a:solidFill>
          <a:ln w="9525">
            <a:solidFill>
              <a:srgbClr val="2E3768"/>
            </a:solidFill>
            <a:prstDash val="solid"/>
          </a:ln>
        </p:spPr>
      </p:sp>
      <p:sp>
        <p:nvSpPr>
          <p:cNvPr id="24" name="Text 22"/>
          <p:cNvSpPr txBox="1"/>
          <p:nvPr/>
        </p:nvSpPr>
        <p:spPr>
          <a:xfrm>
            <a:off x="7498080" y="1463040"/>
            <a:ext cx="1051560" cy="1005840"/>
          </a:xfrm>
          <a:prstGeom prst="rect">
            <a:avLst/>
          </a:prstGeom>
          <a:noFill/>
          <a:ln/>
        </p:spPr>
        <p:txBody>
          <a:bodyPr wrap="square" lIns="0" tIns="0" rIns="0" bIns="0" rtlCol="0" anchor="ctr"/>
          <a:lstStyle/>
          <a:p>
            <a:pPr marL="0" indent="0" algn="ctr">
              <a:buNone/>
            </a:pPr>
            <a:r>
              <a:rPr lang="en-US" sz="900" dirty="0">
                <a:solidFill>
                  <a:srgbClr val="9AA3C7"/>
                </a:solidFill>
                <a:latin typeface="Arial" pitchFamily="34" charset="0"/>
                <a:ea typeface="Arial" pitchFamily="34" charset="-122"/>
                <a:cs typeface="Arial" pitchFamily="34" charset="-120"/>
              </a:rPr>
              <a:t>harita gibi okunur</a:t>
            </a:r>
            <a:endParaRPr lang="en-US" sz="900" dirty="0"/>
          </a:p>
        </p:txBody>
      </p:sp>
      <p:sp>
        <p:nvSpPr>
          <p:cNvPr id="25" name="Text 23"/>
          <p:cNvSpPr txBox="1"/>
          <p:nvPr/>
        </p:nvSpPr>
        <p:spPr>
          <a:xfrm>
            <a:off x="4709160" y="2697480"/>
            <a:ext cx="3886200" cy="1417320"/>
          </a:xfrm>
          <a:prstGeom prst="rect">
            <a:avLst/>
          </a:prstGeom>
          <a:noFill/>
          <a:ln/>
        </p:spPr>
        <p:txBody>
          <a:bodyPr wrap="square" lIns="0" tIns="0" rIns="0" bIns="0" rtlCol="0" anchor="t"/>
          <a:lstStyle/>
          <a:p>
            <a:pPr marL="0" indent="0">
              <a:spcAft>
                <a:spcPts val="600"/>
              </a:spcAft>
              <a:buNone/>
            </a:pPr>
            <a:r>
              <a:rPr lang="en-US" sz="950" b="1" dirty="0">
                <a:solidFill>
                  <a:srgbClr val="A3E635"/>
                </a:solidFill>
                <a:latin typeface="Arial" pitchFamily="34" charset="0"/>
                <a:ea typeface="Arial" pitchFamily="34" charset="-122"/>
                <a:cs typeface="Arial" pitchFamily="34" charset="-120"/>
              </a:rPr>
              <a:t>Alan kuralları: </a:t>
            </a:r>
            <a:r>
              <a:rPr lang="en-US" sz="950" dirty="0">
                <a:solidFill>
                  <a:srgbClr val="EEF0F8"/>
                </a:solidFill>
                <a:latin typeface="Arial" pitchFamily="34" charset="0"/>
                <a:ea typeface="Arial" pitchFamily="34" charset="-122"/>
                <a:cs typeface="Arial" pitchFamily="34" charset="-120"/>
              </a:rPr>
              <a:t>her hücre dolu olmalı; . boş hücre; alanlar dikdörtgen olmalı (L şekli yok); aynı ad iki ayrı yerde olamaz.</a:t>
            </a:r>
            <a:endParaRPr lang="en-US" sz="950" dirty="0"/>
          </a:p>
          <a:p>
            <a:pPr marL="0" indent="0">
              <a:spcAft>
                <a:spcPts val="600"/>
              </a:spcAft>
              <a:buNone/>
            </a:pPr>
            <a:r>
              <a:rPr lang="en-US" sz="950" b="1" dirty="0">
                <a:solidFill>
                  <a:srgbClr val="A3E635"/>
                </a:solidFill>
                <a:latin typeface="Arial" pitchFamily="34" charset="0"/>
                <a:ea typeface="Arial" pitchFamily="34" charset="-122"/>
                <a:cs typeface="Arial" pitchFamily="34" charset="-120"/>
              </a:rPr>
              <a:t>İç içe grid ve subgrid: </a:t>
            </a:r>
            <a:r>
              <a:rPr lang="en-US" sz="950" dirty="0">
                <a:solidFill>
                  <a:srgbClr val="EEF0F8"/>
                </a:solidFill>
                <a:latin typeface="Arial" pitchFamily="34" charset="0"/>
                <a:ea typeface="Arial" pitchFamily="34" charset="-122"/>
                <a:cs typeface="Arial" pitchFamily="34" charset="-120"/>
              </a:rPr>
              <a:t>grid içindeki öğe de grid olabilir; grid-template-columns: subgrid ebeveynin izlerini devralır.</a:t>
            </a:r>
            <a:endParaRPr lang="en-US" sz="950" dirty="0"/>
          </a:p>
          <a:p>
            <a:pPr marL="0" indent="0">
              <a:spcAft>
                <a:spcPts val="600"/>
              </a:spcAft>
              <a:buNone/>
            </a:pPr>
            <a:r>
              <a:rPr lang="en-US" sz="950" b="1" dirty="0">
                <a:solidFill>
                  <a:srgbClr val="A3E635"/>
                </a:solidFill>
                <a:latin typeface="Arial" pitchFamily="34" charset="0"/>
                <a:ea typeface="Arial" pitchFamily="34" charset="-122"/>
                <a:cs typeface="Arial" pitchFamily="34" charset="-120"/>
              </a:rPr>
              <a:t>Framework gerekmez: </a:t>
            </a:r>
            <a:r>
              <a:rPr lang="en-US" sz="950" dirty="0">
                <a:solidFill>
                  <a:srgbClr val="EEF0F8"/>
                </a:solidFill>
                <a:latin typeface="Arial" pitchFamily="34" charset="0"/>
                <a:ea typeface="Arial" pitchFamily="34" charset="-122"/>
                <a:cs typeface="Arial" pitchFamily="34" charset="-120"/>
              </a:rPr>
              <a:t>repeat(12, 1fr) ile 12 sütunlu düzen yerleşik CSS'te var.</a:t>
            </a:r>
            <a:endParaRPr lang="en-US" sz="950" dirty="0"/>
          </a:p>
        </p:txBody>
      </p:sp>
      <p:sp>
        <p:nvSpPr>
          <p:cNvPr id="26" name="benzetme"/>
          <p:cNvSpPr/>
          <p:nvPr/>
        </p:nvSpPr>
        <p:spPr>
          <a:xfrm>
            <a:off x="548640" y="4224528"/>
            <a:ext cx="8046720" cy="402336"/>
          </a:xfrm>
          <a:prstGeom prst="roundRect">
            <a:avLst>
              <a:gd name="adj" fmla="val 50000"/>
            </a:avLst>
          </a:prstGeom>
          <a:solidFill>
            <a:srgbClr val="232A55"/>
          </a:solidFill>
          <a:ln/>
        </p:spPr>
      </p:sp>
      <p:sp>
        <p:nvSpPr>
          <p:cNvPr id="27" name="benzetme-ikon"/>
          <p:cNvSpPr/>
          <p:nvPr/>
        </p:nvSpPr>
        <p:spPr>
          <a:xfrm>
            <a:off x="621792" y="4261104"/>
            <a:ext cx="329184" cy="329184"/>
          </a:xfrm>
          <a:prstGeom prst="ellipse">
            <a:avLst/>
          </a:prstGeom>
          <a:solidFill>
            <a:srgbClr val="FBBF24"/>
          </a:solidFill>
          <a:ln/>
        </p:spPr>
      </p:sp>
      <p:sp>
        <p:nvSpPr>
          <p:cNvPr id="28" name="Text 26"/>
          <p:cNvSpPr txBox="1"/>
          <p:nvPr/>
        </p:nvSpPr>
        <p:spPr>
          <a:xfrm>
            <a:off x="621792" y="4261104"/>
            <a:ext cx="329184" cy="329184"/>
          </a:xfrm>
          <a:prstGeom prst="rect">
            <a:avLst/>
          </a:prstGeom>
          <a:noFill/>
          <a:ln/>
        </p:spPr>
        <p:txBody>
          <a:bodyPr wrap="square" lIns="0" tIns="0" rIns="0" bIns="0" rtlCol="0" anchor="ctr"/>
          <a:lstStyle/>
          <a:p>
            <a:pPr marL="0" indent="0" algn="ctr">
              <a:buNone/>
            </a:pPr>
            <a:r>
              <a:rPr lang="en-US" sz="1600" b="1" dirty="0">
                <a:solidFill>
                  <a:srgbClr val="10142B"/>
                </a:solidFill>
                <a:latin typeface="Arial" pitchFamily="34" charset="0"/>
                <a:ea typeface="Arial" pitchFamily="34" charset="-122"/>
                <a:cs typeface="Arial" pitchFamily="34" charset="-120"/>
              </a:rPr>
              <a:t>≈</a:t>
            </a:r>
            <a:endParaRPr lang="en-US" sz="1600" dirty="0"/>
          </a:p>
        </p:txBody>
      </p:sp>
      <p:sp>
        <p:nvSpPr>
          <p:cNvPr id="29" name="Text 27"/>
          <p:cNvSpPr txBox="1"/>
          <p:nvPr/>
        </p:nvSpPr>
        <p:spPr>
          <a:xfrm>
            <a:off x="1042416" y="4224528"/>
            <a:ext cx="7452360" cy="402336"/>
          </a:xfrm>
          <a:prstGeom prst="rect">
            <a:avLst/>
          </a:prstGeom>
          <a:noFill/>
          <a:ln/>
        </p:spPr>
        <p:txBody>
          <a:bodyPr wrap="square" lIns="0" tIns="0" rIns="0" bIns="0" rtlCol="0" anchor="ctr"/>
          <a:lstStyle/>
          <a:p>
            <a:pPr marL="0" indent="0">
              <a:buNone/>
            </a:pPr>
            <a:r>
              <a:rPr lang="en-US" sz="1100" b="1" dirty="0">
                <a:solidFill>
                  <a:srgbClr val="FBBF24"/>
                </a:solidFill>
                <a:latin typeface="Arial" pitchFamily="34" charset="0"/>
                <a:ea typeface="Arial" pitchFamily="34" charset="-122"/>
                <a:cs typeface="Arial" pitchFamily="34" charset="-120"/>
              </a:rPr>
              <a:t>Gündelik hayatta: </a:t>
            </a:r>
            <a:r>
              <a:rPr lang="en-US" sz="1100" dirty="0">
                <a:solidFill>
                  <a:srgbClr val="EEF0F8"/>
                </a:solidFill>
                <a:latin typeface="Arial" pitchFamily="34" charset="0"/>
                <a:ea typeface="Arial" pitchFamily="34" charset="-122"/>
                <a:cs typeface="Arial" pitchFamily="34" charset="-120"/>
              </a:rPr>
              <a:t>sinema bileti gibi: “3. sıra, 1'den 3'e kadar koltuklar” (çizgiler) ya da “VIP bölümü” (alan adı).</a:t>
            </a:r>
            <a:endParaRPr lang="en-US" sz="1100" dirty="0"/>
          </a:p>
        </p:txBody>
      </p:sp>
    </p:spTree>
  </p:cSld>
  <p:clrMapOvr>
    <a:masterClrMapping/>
  </p:clrMapOvr>
  <p:transition spd="med">
    <p:pull/>
  </p:transition>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txBox="1"/>
          <p:nvPr/>
        </p:nvSpPr>
        <p:spPr>
          <a:xfrm>
            <a:off x="548640" y="256032"/>
            <a:ext cx="4572000" cy="201168"/>
          </a:xfrm>
          <a:prstGeom prst="rect">
            <a:avLst/>
          </a:prstGeom>
          <a:noFill/>
          <a:ln/>
        </p:spPr>
        <p:txBody>
          <a:bodyPr wrap="square" lIns="0" tIns="0" rIns="0" bIns="0" rtlCol="0" anchor="t"/>
          <a:lstStyle/>
          <a:p>
            <a:pPr marL="0" indent="0">
              <a:buNone/>
            </a:pPr>
            <a:r>
              <a:rPr lang="en-US" sz="900" b="1" kern="0" spc="200" dirty="0">
                <a:solidFill>
                  <a:srgbClr val="A3E635"/>
                </a:solidFill>
                <a:latin typeface="Arial" pitchFamily="34" charset="0"/>
                <a:ea typeface="Arial" pitchFamily="34" charset="-122"/>
                <a:cs typeface="Arial" pitchFamily="34" charset="-120"/>
              </a:rPr>
              <a:t>MODÜL 3 · CSS DÜZENİ</a:t>
            </a:r>
            <a:endParaRPr lang="en-US" sz="900" dirty="0"/>
          </a:p>
        </p:txBody>
      </p:sp>
      <p:sp>
        <p:nvSpPr>
          <p:cNvPr id="3" name="mini-box-0"/>
          <p:cNvSpPr/>
          <p:nvPr/>
        </p:nvSpPr>
        <p:spPr>
          <a:xfrm>
            <a:off x="8229600" y="201168"/>
            <a:ext cx="384048" cy="384048"/>
          </a:xfrm>
          <a:prstGeom prst="rect">
            <a:avLst/>
          </a:prstGeom>
          <a:ln w="9525">
            <a:solidFill>
              <a:srgbClr val="A3E635"/>
            </a:solidFill>
            <a:prstDash val="solid"/>
          </a:ln>
        </p:spPr>
      </p:sp>
      <p:sp>
        <p:nvSpPr>
          <p:cNvPr id="4" name="mini-box-1"/>
          <p:cNvSpPr/>
          <p:nvPr/>
        </p:nvSpPr>
        <p:spPr>
          <a:xfrm>
            <a:off x="8293608" y="265176"/>
            <a:ext cx="256032" cy="256032"/>
          </a:xfrm>
          <a:prstGeom prst="rect">
            <a:avLst/>
          </a:prstGeom>
          <a:ln w="9525">
            <a:solidFill>
              <a:srgbClr val="EEF0F8"/>
            </a:solidFill>
            <a:prstDash val="solid"/>
          </a:ln>
        </p:spPr>
      </p:sp>
      <p:sp>
        <p:nvSpPr>
          <p:cNvPr id="5" name="mini-box-2"/>
          <p:cNvSpPr/>
          <p:nvPr/>
        </p:nvSpPr>
        <p:spPr>
          <a:xfrm>
            <a:off x="8348472" y="320040"/>
            <a:ext cx="146304" cy="146304"/>
          </a:xfrm>
          <a:prstGeom prst="rect">
            <a:avLst/>
          </a:prstGeom>
          <a:solidFill>
            <a:srgbClr val="A3E635"/>
          </a:solidFill>
          <a:ln w="9525">
            <a:solidFill>
              <a:srgbClr val="A3E635"/>
            </a:solidFill>
            <a:prstDash val="solid"/>
          </a:ln>
        </p:spPr>
      </p:sp>
      <p:sp>
        <p:nvSpPr>
          <p:cNvPr id="6" name="ilerleme-zemin"/>
          <p:cNvSpPr/>
          <p:nvPr/>
        </p:nvSpPr>
        <p:spPr>
          <a:xfrm>
            <a:off x="0" y="5070348"/>
            <a:ext cx="9144000" cy="73152"/>
          </a:xfrm>
          <a:prstGeom prst="rect">
            <a:avLst/>
          </a:prstGeom>
          <a:solidFill>
            <a:srgbClr val="1A2044"/>
          </a:solidFill>
          <a:ln/>
        </p:spPr>
      </p:sp>
      <p:sp>
        <p:nvSpPr>
          <p:cNvPr id="7" name="ilerleme"/>
          <p:cNvSpPr/>
          <p:nvPr/>
        </p:nvSpPr>
        <p:spPr>
          <a:xfrm>
            <a:off x="0" y="5070348"/>
            <a:ext cx="8080744" cy="73152"/>
          </a:xfrm>
          <a:prstGeom prst="rect">
            <a:avLst/>
          </a:prstGeom>
          <a:solidFill>
            <a:srgbClr val="A3E635"/>
          </a:solidFill>
          <a:ln/>
        </p:spPr>
      </p:sp>
      <p:sp>
        <p:nvSpPr>
          <p:cNvPr id="8" name="Text 6"/>
          <p:cNvSpPr txBox="1"/>
          <p:nvPr/>
        </p:nvSpPr>
        <p:spPr>
          <a:xfrm>
            <a:off x="548640" y="4791456"/>
            <a:ext cx="3657600" cy="201168"/>
          </a:xfrm>
          <a:prstGeom prst="rect">
            <a:avLst/>
          </a:prstGeom>
          <a:noFill/>
          <a:ln/>
        </p:spPr>
        <p:txBody>
          <a:bodyPr wrap="square" lIns="0" tIns="0" rIns="0" bIns="0" rtlCol="0" anchor="t"/>
          <a:lstStyle/>
          <a:p>
            <a:pPr marL="0" indent="0">
              <a:buNone/>
            </a:pPr>
            <a:r>
              <a:rPr lang="en-US" sz="850" dirty="0">
                <a:solidFill>
                  <a:srgbClr val="6C759E"/>
                </a:solidFill>
                <a:latin typeface="Arial" pitchFamily="34" charset="0"/>
                <a:ea typeface="Arial" pitchFamily="34" charset="-122"/>
                <a:cs typeface="Arial" pitchFamily="34" charset="-120"/>
              </a:rPr>
              <a:t>KCŞ A.Ş.  ·  CSS ile stil ve düzen</a:t>
            </a:r>
            <a:endParaRPr lang="en-US" sz="850" dirty="0"/>
          </a:p>
        </p:txBody>
      </p:sp>
      <p:sp>
        <p:nvSpPr>
          <p:cNvPr id="9" name="Text 7"/>
          <p:cNvSpPr txBox="1"/>
          <p:nvPr/>
        </p:nvSpPr>
        <p:spPr>
          <a:xfrm>
            <a:off x="4206240" y="4791456"/>
            <a:ext cx="3840480" cy="201168"/>
          </a:xfrm>
          <a:prstGeom prst="rect">
            <a:avLst/>
          </a:prstGeom>
          <a:noFill/>
          <a:ln/>
        </p:spPr>
        <p:txBody>
          <a:bodyPr wrap="square" lIns="0" tIns="0" rIns="0" bIns="0" rtlCol="0" anchor="t"/>
          <a:lstStyle/>
          <a:p>
            <a:pPr marL="0" indent="0" algn="r">
              <a:buNone/>
            </a:pPr>
            <a:r>
              <a:rPr lang="en-US" sz="850" dirty="0">
                <a:solidFill>
                  <a:srgbClr val="6C759E"/>
                </a:solidFill>
                <a:latin typeface="Arial" pitchFamily="34" charset="0"/>
                <a:ea typeface="Arial" pitchFamily="34" charset="-122"/>
                <a:cs typeface="Arial" pitchFamily="34" charset="-120"/>
              </a:rPr>
              <a:t>MDN · Responsive web design</a:t>
            </a:r>
            <a:endParaRPr lang="en-US" sz="850" dirty="0"/>
          </a:p>
        </p:txBody>
      </p:sp>
      <p:sp>
        <p:nvSpPr>
          <p:cNvPr id="10" name="Text 8"/>
          <p:cNvSpPr txBox="1"/>
          <p:nvPr/>
        </p:nvSpPr>
        <p:spPr>
          <a:xfrm>
            <a:off x="8092440" y="4791456"/>
            <a:ext cx="685800" cy="201168"/>
          </a:xfrm>
          <a:prstGeom prst="rect">
            <a:avLst/>
          </a:prstGeom>
          <a:noFill/>
          <a:ln/>
        </p:spPr>
        <p:txBody>
          <a:bodyPr wrap="square" lIns="0" tIns="0" rIns="0" bIns="0" rtlCol="0" anchor="t"/>
          <a:lstStyle/>
          <a:p>
            <a:pPr marL="0" indent="0" algn="r">
              <a:buNone/>
            </a:pPr>
            <a:r>
              <a:rPr lang="en-US" sz="850" dirty="0">
                <a:solidFill>
                  <a:srgbClr val="9AA3C7"/>
                </a:solidFill>
                <a:latin typeface="Courier New" pitchFamily="34" charset="0"/>
                <a:ea typeface="Courier New" pitchFamily="34" charset="-122"/>
                <a:cs typeface="Courier New" pitchFamily="34" charset="-120"/>
              </a:rPr>
              <a:t>38 / 43</a:t>
            </a:r>
            <a:endParaRPr lang="en-US" sz="850" dirty="0"/>
          </a:p>
        </p:txBody>
      </p:sp>
      <p:sp>
        <p:nvSpPr>
          <p:cNvPr id="11" name="Text 9"/>
          <p:cNvSpPr txBox="1"/>
          <p:nvPr/>
        </p:nvSpPr>
        <p:spPr>
          <a:xfrm>
            <a:off x="548640" y="502920"/>
            <a:ext cx="5943600" cy="237744"/>
          </a:xfrm>
          <a:prstGeom prst="rect">
            <a:avLst/>
          </a:prstGeom>
          <a:noFill/>
          <a:ln/>
        </p:spPr>
        <p:txBody>
          <a:bodyPr wrap="square" lIns="0" tIns="0" rIns="0" bIns="0" rtlCol="0" anchor="t"/>
          <a:lstStyle/>
          <a:p>
            <a:pPr marL="0" indent="0">
              <a:buNone/>
            </a:pPr>
            <a:r>
              <a:rPr lang="en-US" sz="1100" b="1" dirty="0">
                <a:solidFill>
                  <a:srgbClr val="A3E635"/>
                </a:solidFill>
                <a:latin typeface="Courier New" pitchFamily="34" charset="0"/>
                <a:ea typeface="Courier New" pitchFamily="34" charset="-122"/>
                <a:cs typeface="Courier New" pitchFamily="34" charset="-120"/>
              </a:rPr>
              <a:t>&lt;meta name="viewport" content="width=device-width"&gt;</a:t>
            </a:r>
            <a:endParaRPr lang="en-US" sz="1100" dirty="0"/>
          </a:p>
        </p:txBody>
      </p:sp>
      <p:sp>
        <p:nvSpPr>
          <p:cNvPr id="12" name="Text 10"/>
          <p:cNvSpPr txBox="1"/>
          <p:nvPr/>
        </p:nvSpPr>
        <p:spPr>
          <a:xfrm>
            <a:off x="548640" y="749808"/>
            <a:ext cx="7589520" cy="502920"/>
          </a:xfrm>
          <a:prstGeom prst="rect">
            <a:avLst/>
          </a:prstGeom>
          <a:noFill/>
          <a:ln/>
        </p:spPr>
        <p:txBody>
          <a:bodyPr wrap="square" lIns="0" tIns="0" rIns="0" bIns="0" rtlCol="0" anchor="ctr"/>
          <a:lstStyle/>
          <a:p>
            <a:pPr marL="0" indent="0">
              <a:buNone/>
            </a:pPr>
            <a:r>
              <a:rPr lang="en-US" sz="2400" b="1" dirty="0">
                <a:solidFill>
                  <a:srgbClr val="EEF0F8"/>
                </a:solidFill>
                <a:latin typeface="Arial" pitchFamily="34" charset="0"/>
                <a:ea typeface="Arial" pitchFamily="34" charset="-122"/>
                <a:cs typeface="Arial" pitchFamily="34" charset="-120"/>
              </a:rPr>
              <a:t>Duyarlı (responsive) web tasarımı</a:t>
            </a:r>
            <a:endParaRPr lang="en-US" sz="2400" dirty="0"/>
          </a:p>
        </p:txBody>
      </p:sp>
      <p:sp>
        <p:nvSpPr>
          <p:cNvPr id="13" name="kart"/>
          <p:cNvSpPr/>
          <p:nvPr/>
        </p:nvSpPr>
        <p:spPr>
          <a:xfrm>
            <a:off x="548640" y="1371600"/>
            <a:ext cx="3931920" cy="2724912"/>
          </a:xfrm>
          <a:prstGeom prst="roundRect">
            <a:avLst>
              <a:gd name="adj" fmla="val 2685"/>
            </a:avLst>
          </a:prstGeom>
          <a:solidFill>
            <a:srgbClr val="1A2044"/>
          </a:solidFill>
          <a:ln w="9525">
            <a:solidFill>
              <a:srgbClr val="2E3768"/>
            </a:solidFill>
            <a:prstDash val="solid"/>
          </a:ln>
        </p:spPr>
      </p:sp>
      <p:sp>
        <p:nvSpPr>
          <p:cNvPr id="14" name="kart-nokta"/>
          <p:cNvSpPr/>
          <p:nvPr/>
        </p:nvSpPr>
        <p:spPr>
          <a:xfrm>
            <a:off x="694944" y="1527048"/>
            <a:ext cx="91440" cy="91440"/>
          </a:xfrm>
          <a:prstGeom prst="ellipse">
            <a:avLst/>
          </a:prstGeom>
          <a:solidFill>
            <a:srgbClr val="A3E635"/>
          </a:solidFill>
          <a:ln/>
        </p:spPr>
      </p:sp>
      <p:sp>
        <p:nvSpPr>
          <p:cNvPr id="15" name="Text 13"/>
          <p:cNvSpPr txBox="1"/>
          <p:nvPr/>
        </p:nvSpPr>
        <p:spPr>
          <a:xfrm>
            <a:off x="859536" y="1444752"/>
            <a:ext cx="3520440" cy="274320"/>
          </a:xfrm>
          <a:prstGeom prst="rect">
            <a:avLst/>
          </a:prstGeom>
          <a:noFill/>
          <a:ln/>
        </p:spPr>
        <p:txBody>
          <a:bodyPr wrap="square" lIns="0" tIns="0" rIns="0" bIns="0" rtlCol="0" anchor="ctr"/>
          <a:lstStyle/>
          <a:p>
            <a:pPr marL="0" indent="0">
              <a:buNone/>
            </a:pPr>
            <a:r>
              <a:rPr lang="en-US" sz="1300" b="1" dirty="0">
                <a:solidFill>
                  <a:srgbClr val="EEF0F8"/>
                </a:solidFill>
                <a:latin typeface="Arial" pitchFamily="34" charset="0"/>
                <a:ea typeface="Arial" pitchFamily="34" charset="-122"/>
                <a:cs typeface="Arial" pitchFamily="34" charset="-120"/>
              </a:rPr>
              <a:t>Bir teknoloji değil, yaklaşım</a:t>
            </a:r>
            <a:endParaRPr lang="en-US" sz="1300" dirty="0"/>
          </a:p>
        </p:txBody>
      </p:sp>
      <p:sp>
        <p:nvSpPr>
          <p:cNvPr id="16" name="Text 14"/>
          <p:cNvSpPr txBox="1"/>
          <p:nvPr/>
        </p:nvSpPr>
        <p:spPr>
          <a:xfrm>
            <a:off x="694944" y="1737360"/>
            <a:ext cx="3657600" cy="1188720"/>
          </a:xfrm>
          <a:prstGeom prst="rect">
            <a:avLst/>
          </a:prstGeom>
          <a:noFill/>
          <a:ln/>
        </p:spPr>
        <p:txBody>
          <a:bodyPr wrap="square" lIns="0" tIns="0" rIns="0" bIns="0" rtlCol="0" anchor="t"/>
          <a:lstStyle/>
          <a:p>
            <a:pPr marL="0" indent="0">
              <a:buNone/>
            </a:pPr>
            <a:r>
              <a:rPr lang="en-US" sz="1050" dirty="0">
                <a:solidFill>
                  <a:srgbClr val="EEF0F8"/>
                </a:solidFill>
                <a:latin typeface="Arial" pitchFamily="34" charset="0"/>
                <a:ea typeface="Arial" pitchFamily="34" charset="-122"/>
                <a:cs typeface="Arial" pitchFamily="34" charset="-120"/>
              </a:rPr>
              <a:t>2010'da Ethan Marcotte adını koydu: akışkan ızgaralar, akışkan resimler (max-width: 100%) ve media queries. Bugün Flexbox ve Grid kendiliğinden duyarlıdır; mobile özel ayrı site yerine tek esnek düzen.</a:t>
            </a:r>
            <a:endParaRPr lang="en-US" sz="1050" dirty="0"/>
          </a:p>
        </p:txBody>
      </p:sp>
      <p:sp>
        <p:nvSpPr>
          <p:cNvPr id="17" name="kod-paneli"/>
          <p:cNvSpPr/>
          <p:nvPr/>
        </p:nvSpPr>
        <p:spPr>
          <a:xfrm>
            <a:off x="694944" y="2990088"/>
            <a:ext cx="3657600" cy="1005840"/>
          </a:xfrm>
          <a:prstGeom prst="roundRect">
            <a:avLst>
              <a:gd name="adj" fmla="val 7273"/>
            </a:avLst>
          </a:prstGeom>
          <a:solidFill>
            <a:srgbClr val="0A0D1F"/>
          </a:solidFill>
          <a:ln w="9525">
            <a:solidFill>
              <a:srgbClr val="2E3768"/>
            </a:solidFill>
            <a:prstDash val="solid"/>
          </a:ln>
        </p:spPr>
      </p:sp>
      <p:sp>
        <p:nvSpPr>
          <p:cNvPr id="18" name="Text 16"/>
          <p:cNvSpPr txBox="1"/>
          <p:nvPr/>
        </p:nvSpPr>
        <p:spPr>
          <a:xfrm>
            <a:off x="841248" y="3099816"/>
            <a:ext cx="3383280" cy="804672"/>
          </a:xfrm>
          <a:prstGeom prst="rect">
            <a:avLst/>
          </a:prstGeom>
          <a:noFill/>
          <a:ln/>
        </p:spPr>
        <p:txBody>
          <a:bodyPr wrap="square" lIns="0" tIns="0" rIns="0" bIns="0" rtlCol="0" anchor="ctr"/>
          <a:lstStyle/>
          <a:p>
            <a:pPr marL="0" indent="0">
              <a:buNone/>
            </a:pPr>
            <a:r>
              <a:rPr lang="en-US" sz="850" dirty="0">
                <a:solidFill>
                  <a:srgbClr val="8B7CFF"/>
                </a:solidFill>
                <a:latin typeface="Courier New" pitchFamily="34" charset="0"/>
                <a:ea typeface="Courier New" pitchFamily="34" charset="-122"/>
                <a:cs typeface="Courier New" pitchFamily="34" charset="-120"/>
              </a:rPr>
              <a:t>@media screen and (width &gt;= 600px) </a:t>
            </a:r>
            <a:r>
              <a:rPr lang="en-US" sz="850" dirty="0">
                <a:solidFill>
                  <a:srgbClr val="6C759E"/>
                </a:solidFill>
                <a:latin typeface="Courier New" pitchFamily="34" charset="0"/>
                <a:ea typeface="Courier New" pitchFamily="34" charset="-122"/>
                <a:cs typeface="Courier New" pitchFamily="34" charset="-120"/>
              </a:rPr>
              <a:t>{</a:t>
            </a:r>
            <a:endParaRPr lang="en-US" sz="850" dirty="0"/>
          </a:p>
          <a:p>
            <a:pPr marL="0" indent="0">
              <a:buNone/>
            </a:pPr>
            <a:r>
              <a:rPr lang="en-US" sz="850" dirty="0">
                <a:solidFill>
                  <a:srgbClr val="F472B6"/>
                </a:solidFill>
                <a:latin typeface="Courier New" pitchFamily="34" charset="0"/>
                <a:ea typeface="Courier New" pitchFamily="34" charset="-122"/>
                <a:cs typeface="Courier New" pitchFamily="34" charset="-120"/>
              </a:rPr>
              <a:t>  .wrapper </a:t>
            </a:r>
            <a:r>
              <a:rPr lang="en-US" sz="850" dirty="0">
                <a:solidFill>
                  <a:srgbClr val="6C759E"/>
                </a:solidFill>
                <a:latin typeface="Courier New" pitchFamily="34" charset="0"/>
                <a:ea typeface="Courier New" pitchFamily="34" charset="-122"/>
                <a:cs typeface="Courier New" pitchFamily="34" charset="-120"/>
              </a:rPr>
              <a:t>{ </a:t>
            </a:r>
            <a:r>
              <a:rPr lang="en-US" sz="850" dirty="0">
                <a:solidFill>
                  <a:srgbClr val="22D3EE"/>
                </a:solidFill>
                <a:latin typeface="Courier New" pitchFamily="34" charset="0"/>
                <a:ea typeface="Courier New" pitchFamily="34" charset="-122"/>
                <a:cs typeface="Courier New" pitchFamily="34" charset="-120"/>
              </a:rPr>
              <a:t>display</a:t>
            </a:r>
            <a:r>
              <a:rPr lang="en-US" sz="850" dirty="0">
                <a:solidFill>
                  <a:srgbClr val="6C759E"/>
                </a:solidFill>
                <a:latin typeface="Courier New" pitchFamily="34" charset="0"/>
                <a:ea typeface="Courier New" pitchFamily="34" charset="-122"/>
                <a:cs typeface="Courier New" pitchFamily="34" charset="-120"/>
              </a:rPr>
              <a:t>: </a:t>
            </a:r>
            <a:r>
              <a:rPr lang="en-US" sz="850" dirty="0">
                <a:solidFill>
                  <a:srgbClr val="FBBF24"/>
                </a:solidFill>
                <a:latin typeface="Courier New" pitchFamily="34" charset="0"/>
                <a:ea typeface="Courier New" pitchFamily="34" charset="-122"/>
                <a:cs typeface="Courier New" pitchFamily="34" charset="-120"/>
              </a:rPr>
              <a:t>grid</a:t>
            </a:r>
            <a:r>
              <a:rPr lang="en-US" sz="850" dirty="0">
                <a:solidFill>
                  <a:srgbClr val="6C759E"/>
                </a:solidFill>
                <a:latin typeface="Courier New" pitchFamily="34" charset="0"/>
                <a:ea typeface="Courier New" pitchFamily="34" charset="-122"/>
                <a:cs typeface="Courier New" pitchFamily="34" charset="-120"/>
              </a:rPr>
              <a:t>;</a:t>
            </a:r>
            <a:endParaRPr lang="en-US" sz="850" dirty="0"/>
          </a:p>
          <a:p>
            <a:pPr marL="0" indent="0">
              <a:buNone/>
            </a:pPr>
            <a:r>
              <a:rPr lang="en-US" sz="850" dirty="0">
                <a:solidFill>
                  <a:srgbClr val="EEF0F8"/>
                </a:solidFill>
                <a:latin typeface="Courier New" pitchFamily="34" charset="0"/>
                <a:ea typeface="Courier New" pitchFamily="34" charset="-122"/>
                <a:cs typeface="Courier New" pitchFamily="34" charset="-120"/>
              </a:rPr>
              <a:t>    </a:t>
            </a:r>
            <a:r>
              <a:rPr lang="en-US" sz="850" dirty="0">
                <a:solidFill>
                  <a:srgbClr val="22D3EE"/>
                </a:solidFill>
                <a:latin typeface="Courier New" pitchFamily="34" charset="0"/>
                <a:ea typeface="Courier New" pitchFamily="34" charset="-122"/>
                <a:cs typeface="Courier New" pitchFamily="34" charset="-120"/>
              </a:rPr>
              <a:t>grid-template-columns</a:t>
            </a:r>
            <a:r>
              <a:rPr lang="en-US" sz="850" dirty="0">
                <a:solidFill>
                  <a:srgbClr val="6C759E"/>
                </a:solidFill>
                <a:latin typeface="Courier New" pitchFamily="34" charset="0"/>
                <a:ea typeface="Courier New" pitchFamily="34" charset="-122"/>
                <a:cs typeface="Courier New" pitchFamily="34" charset="-120"/>
              </a:rPr>
              <a:t>: </a:t>
            </a:r>
            <a:r>
              <a:rPr lang="en-US" sz="850" dirty="0">
                <a:solidFill>
                  <a:srgbClr val="FBBF24"/>
                </a:solidFill>
                <a:latin typeface="Courier New" pitchFamily="34" charset="0"/>
                <a:ea typeface="Courier New" pitchFamily="34" charset="-122"/>
                <a:cs typeface="Courier New" pitchFamily="34" charset="-120"/>
              </a:rPr>
              <a:t>1fr 2fr; }</a:t>
            </a:r>
            <a:endParaRPr lang="en-US" sz="850" dirty="0"/>
          </a:p>
          <a:p>
            <a:pPr marL="0" indent="0">
              <a:buNone/>
            </a:pPr>
            <a:r>
              <a:rPr lang="en-US" sz="850" dirty="0">
                <a:solidFill>
                  <a:srgbClr val="6C759E"/>
                </a:solidFill>
                <a:latin typeface="Courier New" pitchFamily="34" charset="0"/>
                <a:ea typeface="Courier New" pitchFamily="34" charset="-122"/>
                <a:cs typeface="Courier New" pitchFamily="34" charset="-120"/>
              </a:rPr>
              <a:t>}</a:t>
            </a:r>
            <a:endParaRPr lang="en-US" sz="850" dirty="0"/>
          </a:p>
        </p:txBody>
      </p:sp>
      <p:sp>
        <p:nvSpPr>
          <p:cNvPr id="19" name="Text 17"/>
          <p:cNvSpPr txBox="1"/>
          <p:nvPr/>
        </p:nvSpPr>
        <p:spPr>
          <a:xfrm>
            <a:off x="4709160" y="1371600"/>
            <a:ext cx="3886200" cy="2743200"/>
          </a:xfrm>
          <a:prstGeom prst="rect">
            <a:avLst/>
          </a:prstGeom>
          <a:noFill/>
          <a:ln/>
        </p:spPr>
        <p:txBody>
          <a:bodyPr wrap="square" lIns="0" tIns="0" rIns="0" bIns="0" rtlCol="0" anchor="t"/>
          <a:lstStyle/>
          <a:p>
            <a:pPr marL="0" indent="0">
              <a:spcAft>
                <a:spcPts val="600"/>
              </a:spcAft>
              <a:buNone/>
            </a:pPr>
            <a:r>
              <a:rPr lang="en-US" sz="1000" b="1" dirty="0">
                <a:solidFill>
                  <a:srgbClr val="A3E635"/>
                </a:solidFill>
                <a:latin typeface="Arial" pitchFamily="34" charset="0"/>
                <a:ea typeface="Arial" pitchFamily="34" charset="-122"/>
                <a:cs typeface="Arial" pitchFamily="34" charset="-120"/>
              </a:rPr>
              <a:t>Resimler: </a:t>
            </a:r>
            <a:r>
              <a:rPr lang="en-US" sz="1000" dirty="0">
                <a:solidFill>
                  <a:srgbClr val="EEF0F8"/>
                </a:solidFill>
                <a:latin typeface="Arial" pitchFamily="34" charset="0"/>
                <a:ea typeface="Arial" pitchFamily="34" charset="-122"/>
                <a:cs typeface="Arial" pitchFamily="34" charset="-120"/>
              </a:rPr>
              <a:t>img, picture, video { max-width: 100%; }; büyük resmi küçültmek yerine srcset / &lt;picture&gt; ile uygun dosyayı sun.</a:t>
            </a:r>
            <a:endParaRPr lang="en-US" sz="1000" dirty="0"/>
          </a:p>
          <a:p>
            <a:pPr marL="0" indent="0">
              <a:spcAft>
                <a:spcPts val="600"/>
              </a:spcAft>
              <a:buNone/>
            </a:pPr>
            <a:r>
              <a:rPr lang="en-US" sz="1000" b="1" dirty="0">
                <a:solidFill>
                  <a:srgbClr val="A3E635"/>
                </a:solidFill>
                <a:latin typeface="Arial" pitchFamily="34" charset="0"/>
                <a:ea typeface="Arial" pitchFamily="34" charset="-122"/>
                <a:cs typeface="Arial" pitchFamily="34" charset="-120"/>
              </a:rPr>
              <a:t>Tipografi: </a:t>
            </a:r>
            <a:r>
              <a:rPr lang="en-US" sz="1000" dirty="0">
                <a:solidFill>
                  <a:srgbClr val="EEF0F8"/>
                </a:solidFill>
                <a:latin typeface="Arial" pitchFamily="34" charset="0"/>
                <a:ea typeface="Arial" pitchFamily="34" charset="-122"/>
                <a:cs typeface="Arial" pitchFamily="34" charset="-120"/>
              </a:rPr>
              <a:t>media query ile başlığı büyüt; ya da font-size: calc(1.5rem + 4vw).</a:t>
            </a:r>
            <a:endParaRPr lang="en-US" sz="1000" dirty="0"/>
          </a:p>
          <a:p>
            <a:pPr marL="0" indent="0">
              <a:spcAft>
                <a:spcPts val="600"/>
              </a:spcAft>
              <a:buNone/>
            </a:pPr>
            <a:r>
              <a:rPr lang="en-US" sz="1000" b="1" dirty="0">
                <a:solidFill>
                  <a:srgbClr val="A3E635"/>
                </a:solidFill>
                <a:latin typeface="Arial" pitchFamily="34" charset="0"/>
                <a:ea typeface="Arial" pitchFamily="34" charset="-122"/>
                <a:cs typeface="Arial" pitchFamily="34" charset="-120"/>
              </a:rPr>
              <a:t>Uyarı: </a:t>
            </a:r>
            <a:r>
              <a:rPr lang="en-US" sz="1000" dirty="0">
                <a:solidFill>
                  <a:srgbClr val="EEF0F8"/>
                </a:solidFill>
                <a:latin typeface="Arial" pitchFamily="34" charset="0"/>
                <a:ea typeface="Arial" pitchFamily="34" charset="-122"/>
                <a:cs typeface="Arial" pitchFamily="34" charset="-120"/>
              </a:rPr>
              <a:t>metni sadece vw ile boyutlandırma: kullanıcı yakınlaştıramaz.</a:t>
            </a:r>
            <a:endParaRPr lang="en-US" sz="1000" dirty="0"/>
          </a:p>
          <a:p>
            <a:pPr marL="0" indent="0">
              <a:spcAft>
                <a:spcPts val="600"/>
              </a:spcAft>
              <a:buNone/>
            </a:pPr>
            <a:r>
              <a:rPr lang="en-US" sz="1000" b="1" dirty="0">
                <a:solidFill>
                  <a:srgbClr val="A3E635"/>
                </a:solidFill>
                <a:latin typeface="Arial" pitchFamily="34" charset="0"/>
                <a:ea typeface="Arial" pitchFamily="34" charset="-122"/>
                <a:cs typeface="Arial" pitchFamily="34" charset="-120"/>
              </a:rPr>
              <a:t>Viewport meta: </a:t>
            </a:r>
            <a:r>
              <a:rPr lang="en-US" sz="1000" dirty="0">
                <a:solidFill>
                  <a:srgbClr val="EEF0F8"/>
                </a:solidFill>
                <a:latin typeface="Arial" pitchFamily="34" charset="0"/>
                <a:ea typeface="Arial" pitchFamily="34" charset="-122"/>
                <a:cs typeface="Arial" pitchFamily="34" charset="-120"/>
              </a:rPr>
              <a:t>olmazsa mobil tarayıcı sayfayı ~980px sanıp uzaklaştırır, dar ekran kuralların hiç çalışmaz. Her zaman head'e ekle.</a:t>
            </a:r>
            <a:endParaRPr lang="en-US" sz="1000" dirty="0"/>
          </a:p>
        </p:txBody>
      </p:sp>
      <p:sp>
        <p:nvSpPr>
          <p:cNvPr id="20" name="benzetme"/>
          <p:cNvSpPr/>
          <p:nvPr/>
        </p:nvSpPr>
        <p:spPr>
          <a:xfrm>
            <a:off x="548640" y="4224528"/>
            <a:ext cx="8046720" cy="402336"/>
          </a:xfrm>
          <a:prstGeom prst="roundRect">
            <a:avLst>
              <a:gd name="adj" fmla="val 50000"/>
            </a:avLst>
          </a:prstGeom>
          <a:solidFill>
            <a:srgbClr val="232A55"/>
          </a:solidFill>
          <a:ln/>
        </p:spPr>
      </p:sp>
      <p:sp>
        <p:nvSpPr>
          <p:cNvPr id="21" name="benzetme-ikon"/>
          <p:cNvSpPr/>
          <p:nvPr/>
        </p:nvSpPr>
        <p:spPr>
          <a:xfrm>
            <a:off x="621792" y="4261104"/>
            <a:ext cx="329184" cy="329184"/>
          </a:xfrm>
          <a:prstGeom prst="ellipse">
            <a:avLst/>
          </a:prstGeom>
          <a:solidFill>
            <a:srgbClr val="FBBF24"/>
          </a:solidFill>
          <a:ln/>
        </p:spPr>
      </p:sp>
      <p:sp>
        <p:nvSpPr>
          <p:cNvPr id="22" name="Text 20"/>
          <p:cNvSpPr txBox="1"/>
          <p:nvPr/>
        </p:nvSpPr>
        <p:spPr>
          <a:xfrm>
            <a:off x="621792" y="4261104"/>
            <a:ext cx="329184" cy="329184"/>
          </a:xfrm>
          <a:prstGeom prst="rect">
            <a:avLst/>
          </a:prstGeom>
          <a:noFill/>
          <a:ln/>
        </p:spPr>
        <p:txBody>
          <a:bodyPr wrap="square" lIns="0" tIns="0" rIns="0" bIns="0" rtlCol="0" anchor="ctr"/>
          <a:lstStyle/>
          <a:p>
            <a:pPr marL="0" indent="0" algn="ctr">
              <a:buNone/>
            </a:pPr>
            <a:r>
              <a:rPr lang="en-US" sz="1600" b="1" dirty="0">
                <a:solidFill>
                  <a:srgbClr val="10142B"/>
                </a:solidFill>
                <a:latin typeface="Arial" pitchFamily="34" charset="0"/>
                <a:ea typeface="Arial" pitchFamily="34" charset="-122"/>
                <a:cs typeface="Arial" pitchFamily="34" charset="-120"/>
              </a:rPr>
              <a:t>≈</a:t>
            </a:r>
            <a:endParaRPr lang="en-US" sz="1600" dirty="0"/>
          </a:p>
        </p:txBody>
      </p:sp>
      <p:sp>
        <p:nvSpPr>
          <p:cNvPr id="23" name="Text 21"/>
          <p:cNvSpPr txBox="1"/>
          <p:nvPr/>
        </p:nvSpPr>
        <p:spPr>
          <a:xfrm>
            <a:off x="1042416" y="4224528"/>
            <a:ext cx="7452360" cy="402336"/>
          </a:xfrm>
          <a:prstGeom prst="rect">
            <a:avLst/>
          </a:prstGeom>
          <a:noFill/>
          <a:ln/>
        </p:spPr>
        <p:txBody>
          <a:bodyPr wrap="square" lIns="0" tIns="0" rIns="0" bIns="0" rtlCol="0" anchor="ctr"/>
          <a:lstStyle/>
          <a:p>
            <a:pPr marL="0" indent="0">
              <a:buNone/>
            </a:pPr>
            <a:r>
              <a:rPr lang="en-US" sz="1100" b="1" dirty="0">
                <a:solidFill>
                  <a:srgbClr val="FBBF24"/>
                </a:solidFill>
                <a:latin typeface="Arial" pitchFamily="34" charset="0"/>
                <a:ea typeface="Arial" pitchFamily="34" charset="-122"/>
                <a:cs typeface="Arial" pitchFamily="34" charset="-120"/>
              </a:rPr>
              <a:t>Gündelik hayatta: </a:t>
            </a:r>
            <a:r>
              <a:rPr lang="en-US" sz="1100" dirty="0">
                <a:solidFill>
                  <a:srgbClr val="EEF0F8"/>
                </a:solidFill>
                <a:latin typeface="Arial" pitchFamily="34" charset="0"/>
                <a:ea typeface="Arial" pitchFamily="34" charset="-122"/>
                <a:cs typeface="Arial" pitchFamily="34" charset="-120"/>
              </a:rPr>
              <a:t>su gibi: hangi bardağa koyarsan onun şeklini alır. Duyarlı sayfa da telefon, tablet, ekran fark etmeden kabına uyar.</a:t>
            </a:r>
            <a:endParaRPr lang="en-US" sz="1100" dirty="0"/>
          </a:p>
        </p:txBody>
      </p:sp>
    </p:spTree>
  </p:cSld>
  <p:clrMapOvr>
    <a:masterClrMapping/>
  </p:clrMapOvr>
  <p:transition spd="med">
    <p:pull/>
  </p:transition>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txBox="1"/>
          <p:nvPr/>
        </p:nvSpPr>
        <p:spPr>
          <a:xfrm>
            <a:off x="548640" y="256032"/>
            <a:ext cx="4572000" cy="201168"/>
          </a:xfrm>
          <a:prstGeom prst="rect">
            <a:avLst/>
          </a:prstGeom>
          <a:noFill/>
          <a:ln/>
        </p:spPr>
        <p:txBody>
          <a:bodyPr wrap="square" lIns="0" tIns="0" rIns="0" bIns="0" rtlCol="0" anchor="t"/>
          <a:lstStyle/>
          <a:p>
            <a:pPr marL="0" indent="0">
              <a:buNone/>
            </a:pPr>
            <a:r>
              <a:rPr lang="en-US" sz="900" b="1" kern="0" spc="200" dirty="0">
                <a:solidFill>
                  <a:srgbClr val="A3E635"/>
                </a:solidFill>
                <a:latin typeface="Arial" pitchFamily="34" charset="0"/>
                <a:ea typeface="Arial" pitchFamily="34" charset="-122"/>
                <a:cs typeface="Arial" pitchFamily="34" charset="-120"/>
              </a:rPr>
              <a:t>MODÜL 3 · CSS DÜZENİ</a:t>
            </a:r>
            <a:endParaRPr lang="en-US" sz="900" dirty="0"/>
          </a:p>
        </p:txBody>
      </p:sp>
      <p:sp>
        <p:nvSpPr>
          <p:cNvPr id="3" name="mini-box-0"/>
          <p:cNvSpPr/>
          <p:nvPr/>
        </p:nvSpPr>
        <p:spPr>
          <a:xfrm>
            <a:off x="8229600" y="201168"/>
            <a:ext cx="384048" cy="384048"/>
          </a:xfrm>
          <a:prstGeom prst="rect">
            <a:avLst/>
          </a:prstGeom>
          <a:ln w="9525">
            <a:solidFill>
              <a:srgbClr val="A3E635"/>
            </a:solidFill>
            <a:prstDash val="solid"/>
          </a:ln>
        </p:spPr>
      </p:sp>
      <p:sp>
        <p:nvSpPr>
          <p:cNvPr id="4" name="mini-box-1"/>
          <p:cNvSpPr/>
          <p:nvPr/>
        </p:nvSpPr>
        <p:spPr>
          <a:xfrm>
            <a:off x="8293608" y="265176"/>
            <a:ext cx="256032" cy="256032"/>
          </a:xfrm>
          <a:prstGeom prst="rect">
            <a:avLst/>
          </a:prstGeom>
          <a:ln w="9525">
            <a:solidFill>
              <a:srgbClr val="EEF0F8"/>
            </a:solidFill>
            <a:prstDash val="solid"/>
          </a:ln>
        </p:spPr>
      </p:sp>
      <p:sp>
        <p:nvSpPr>
          <p:cNvPr id="5" name="mini-box-2"/>
          <p:cNvSpPr/>
          <p:nvPr/>
        </p:nvSpPr>
        <p:spPr>
          <a:xfrm>
            <a:off x="8348472" y="320040"/>
            <a:ext cx="146304" cy="146304"/>
          </a:xfrm>
          <a:prstGeom prst="rect">
            <a:avLst/>
          </a:prstGeom>
          <a:solidFill>
            <a:srgbClr val="A3E635"/>
          </a:solidFill>
          <a:ln w="9525">
            <a:solidFill>
              <a:srgbClr val="A3E635"/>
            </a:solidFill>
            <a:prstDash val="solid"/>
          </a:ln>
        </p:spPr>
      </p:sp>
      <p:sp>
        <p:nvSpPr>
          <p:cNvPr id="6" name="ilerleme-zemin"/>
          <p:cNvSpPr/>
          <p:nvPr/>
        </p:nvSpPr>
        <p:spPr>
          <a:xfrm>
            <a:off x="0" y="5070348"/>
            <a:ext cx="9144000" cy="73152"/>
          </a:xfrm>
          <a:prstGeom prst="rect">
            <a:avLst/>
          </a:prstGeom>
          <a:solidFill>
            <a:srgbClr val="1A2044"/>
          </a:solidFill>
          <a:ln/>
        </p:spPr>
      </p:sp>
      <p:sp>
        <p:nvSpPr>
          <p:cNvPr id="7" name="ilerleme"/>
          <p:cNvSpPr/>
          <p:nvPr/>
        </p:nvSpPr>
        <p:spPr>
          <a:xfrm>
            <a:off x="0" y="5070348"/>
            <a:ext cx="8293395" cy="73152"/>
          </a:xfrm>
          <a:prstGeom prst="rect">
            <a:avLst/>
          </a:prstGeom>
          <a:solidFill>
            <a:srgbClr val="A3E635"/>
          </a:solidFill>
          <a:ln/>
        </p:spPr>
      </p:sp>
      <p:sp>
        <p:nvSpPr>
          <p:cNvPr id="8" name="Text 6"/>
          <p:cNvSpPr txBox="1"/>
          <p:nvPr/>
        </p:nvSpPr>
        <p:spPr>
          <a:xfrm>
            <a:off x="548640" y="4791456"/>
            <a:ext cx="3657600" cy="201168"/>
          </a:xfrm>
          <a:prstGeom prst="rect">
            <a:avLst/>
          </a:prstGeom>
          <a:noFill/>
          <a:ln/>
        </p:spPr>
        <p:txBody>
          <a:bodyPr wrap="square" lIns="0" tIns="0" rIns="0" bIns="0" rtlCol="0" anchor="t"/>
          <a:lstStyle/>
          <a:p>
            <a:pPr marL="0" indent="0">
              <a:buNone/>
            </a:pPr>
            <a:r>
              <a:rPr lang="en-US" sz="850" dirty="0">
                <a:solidFill>
                  <a:srgbClr val="6C759E"/>
                </a:solidFill>
                <a:latin typeface="Arial" pitchFamily="34" charset="0"/>
                <a:ea typeface="Arial" pitchFamily="34" charset="-122"/>
                <a:cs typeface="Arial" pitchFamily="34" charset="-120"/>
              </a:rPr>
              <a:t>KCŞ A.Ş.  ·  CSS ile stil ve düzen</a:t>
            </a:r>
            <a:endParaRPr lang="en-US" sz="850" dirty="0"/>
          </a:p>
        </p:txBody>
      </p:sp>
      <p:sp>
        <p:nvSpPr>
          <p:cNvPr id="9" name="Text 7"/>
          <p:cNvSpPr txBox="1"/>
          <p:nvPr/>
        </p:nvSpPr>
        <p:spPr>
          <a:xfrm>
            <a:off x="4206240" y="4791456"/>
            <a:ext cx="3840480" cy="201168"/>
          </a:xfrm>
          <a:prstGeom prst="rect">
            <a:avLst/>
          </a:prstGeom>
          <a:noFill/>
          <a:ln/>
        </p:spPr>
        <p:txBody>
          <a:bodyPr wrap="square" lIns="0" tIns="0" rIns="0" bIns="0" rtlCol="0" anchor="t"/>
          <a:lstStyle/>
          <a:p>
            <a:pPr marL="0" indent="0" algn="r">
              <a:buNone/>
            </a:pPr>
            <a:r>
              <a:rPr lang="en-US" sz="850" dirty="0">
                <a:solidFill>
                  <a:srgbClr val="6C759E"/>
                </a:solidFill>
                <a:latin typeface="Arial" pitchFamily="34" charset="0"/>
                <a:ea typeface="Arial" pitchFamily="34" charset="-122"/>
                <a:cs typeface="Arial" pitchFamily="34" charset="-120"/>
              </a:rPr>
              <a:t>MDN · Media query fundamentals</a:t>
            </a:r>
            <a:endParaRPr lang="en-US" sz="850" dirty="0"/>
          </a:p>
        </p:txBody>
      </p:sp>
      <p:sp>
        <p:nvSpPr>
          <p:cNvPr id="10" name="Text 8"/>
          <p:cNvSpPr txBox="1"/>
          <p:nvPr/>
        </p:nvSpPr>
        <p:spPr>
          <a:xfrm>
            <a:off x="8092440" y="4791456"/>
            <a:ext cx="685800" cy="201168"/>
          </a:xfrm>
          <a:prstGeom prst="rect">
            <a:avLst/>
          </a:prstGeom>
          <a:noFill/>
          <a:ln/>
        </p:spPr>
        <p:txBody>
          <a:bodyPr wrap="square" lIns="0" tIns="0" rIns="0" bIns="0" rtlCol="0" anchor="t"/>
          <a:lstStyle/>
          <a:p>
            <a:pPr marL="0" indent="0" algn="r">
              <a:buNone/>
            </a:pPr>
            <a:r>
              <a:rPr lang="en-US" sz="850" dirty="0">
                <a:solidFill>
                  <a:srgbClr val="9AA3C7"/>
                </a:solidFill>
                <a:latin typeface="Courier New" pitchFamily="34" charset="0"/>
                <a:ea typeface="Courier New" pitchFamily="34" charset="-122"/>
                <a:cs typeface="Courier New" pitchFamily="34" charset="-120"/>
              </a:rPr>
              <a:t>39 / 43</a:t>
            </a:r>
            <a:endParaRPr lang="en-US" sz="850" dirty="0"/>
          </a:p>
        </p:txBody>
      </p:sp>
      <p:sp>
        <p:nvSpPr>
          <p:cNvPr id="11" name="Text 9"/>
          <p:cNvSpPr txBox="1"/>
          <p:nvPr/>
        </p:nvSpPr>
        <p:spPr>
          <a:xfrm>
            <a:off x="548640" y="502920"/>
            <a:ext cx="5943600" cy="237744"/>
          </a:xfrm>
          <a:prstGeom prst="rect">
            <a:avLst/>
          </a:prstGeom>
          <a:noFill/>
          <a:ln/>
        </p:spPr>
        <p:txBody>
          <a:bodyPr wrap="square" lIns="0" tIns="0" rIns="0" bIns="0" rtlCol="0" anchor="t"/>
          <a:lstStyle/>
          <a:p>
            <a:pPr marL="0" indent="0">
              <a:buNone/>
            </a:pPr>
            <a:r>
              <a:rPr lang="en-US" sz="1100" b="1" dirty="0">
                <a:solidFill>
                  <a:srgbClr val="A3E635"/>
                </a:solidFill>
                <a:latin typeface="Courier New" pitchFamily="34" charset="0"/>
                <a:ea typeface="Courier New" pitchFamily="34" charset="-122"/>
                <a:cs typeface="Courier New" pitchFamily="34" charset="-120"/>
              </a:rPr>
              <a:t>@media (30em &lt;= width &lt;= 50em)</a:t>
            </a:r>
            <a:endParaRPr lang="en-US" sz="1100" dirty="0"/>
          </a:p>
        </p:txBody>
      </p:sp>
      <p:sp>
        <p:nvSpPr>
          <p:cNvPr id="12" name="Text 10"/>
          <p:cNvSpPr txBox="1"/>
          <p:nvPr/>
        </p:nvSpPr>
        <p:spPr>
          <a:xfrm>
            <a:off x="548640" y="749808"/>
            <a:ext cx="7589520" cy="502920"/>
          </a:xfrm>
          <a:prstGeom prst="rect">
            <a:avLst/>
          </a:prstGeom>
          <a:noFill/>
          <a:ln/>
        </p:spPr>
        <p:txBody>
          <a:bodyPr wrap="square" lIns="0" tIns="0" rIns="0" bIns="0" rtlCol="0" anchor="ctr"/>
          <a:lstStyle/>
          <a:p>
            <a:pPr marL="0" indent="0">
              <a:buNone/>
            </a:pPr>
            <a:r>
              <a:rPr lang="en-US" sz="2400" b="1" dirty="0">
                <a:solidFill>
                  <a:srgbClr val="EEF0F8"/>
                </a:solidFill>
                <a:latin typeface="Arial" pitchFamily="34" charset="0"/>
                <a:ea typeface="Arial" pitchFamily="34" charset="-122"/>
                <a:cs typeface="Arial" pitchFamily="34" charset="-120"/>
              </a:rPr>
              <a:t>Medya sorguları ve mobil öncelikli tasarım</a:t>
            </a:r>
            <a:endParaRPr lang="en-US" sz="2400" dirty="0"/>
          </a:p>
        </p:txBody>
      </p:sp>
      <p:sp>
        <p:nvSpPr>
          <p:cNvPr id="13" name="kod-paneli"/>
          <p:cNvSpPr/>
          <p:nvPr/>
        </p:nvSpPr>
        <p:spPr>
          <a:xfrm>
            <a:off x="548640" y="1371600"/>
            <a:ext cx="3931920" cy="1143000"/>
          </a:xfrm>
          <a:prstGeom prst="roundRect">
            <a:avLst>
              <a:gd name="adj" fmla="val 6400"/>
            </a:avLst>
          </a:prstGeom>
          <a:solidFill>
            <a:srgbClr val="0A0D1F"/>
          </a:solidFill>
          <a:ln w="9525">
            <a:solidFill>
              <a:srgbClr val="2E3768"/>
            </a:solidFill>
            <a:prstDash val="solid"/>
          </a:ln>
        </p:spPr>
      </p:sp>
      <p:sp>
        <p:nvSpPr>
          <p:cNvPr id="14" name="Text 12"/>
          <p:cNvSpPr txBox="1"/>
          <p:nvPr/>
        </p:nvSpPr>
        <p:spPr>
          <a:xfrm>
            <a:off x="3017520" y="1426464"/>
            <a:ext cx="1371600" cy="182880"/>
          </a:xfrm>
          <a:prstGeom prst="rect">
            <a:avLst/>
          </a:prstGeom>
          <a:noFill/>
          <a:ln/>
        </p:spPr>
        <p:txBody>
          <a:bodyPr wrap="square" lIns="0" tIns="0" rIns="0" bIns="0" rtlCol="0" anchor="t"/>
          <a:lstStyle/>
          <a:p>
            <a:pPr marL="0" indent="0" algn="r">
              <a:buNone/>
            </a:pPr>
            <a:r>
              <a:rPr lang="en-US" sz="800" dirty="0">
                <a:solidFill>
                  <a:srgbClr val="6C759E"/>
                </a:solidFill>
                <a:latin typeface="Courier New" pitchFamily="34" charset="0"/>
                <a:ea typeface="Courier New" pitchFamily="34" charset="-122"/>
                <a:cs typeface="Courier New" pitchFamily="34" charset="-120"/>
              </a:rPr>
              <a:t>media.css</a:t>
            </a:r>
            <a:endParaRPr lang="en-US" sz="800" dirty="0"/>
          </a:p>
        </p:txBody>
      </p:sp>
      <p:sp>
        <p:nvSpPr>
          <p:cNvPr id="15" name="Text 13"/>
          <p:cNvSpPr txBox="1"/>
          <p:nvPr/>
        </p:nvSpPr>
        <p:spPr>
          <a:xfrm>
            <a:off x="694944" y="1609344"/>
            <a:ext cx="3657600" cy="832104"/>
          </a:xfrm>
          <a:prstGeom prst="rect">
            <a:avLst/>
          </a:prstGeom>
          <a:noFill/>
          <a:ln/>
        </p:spPr>
        <p:txBody>
          <a:bodyPr wrap="square" lIns="0" tIns="0" rIns="0" bIns="0" rtlCol="0" anchor="ctr"/>
          <a:lstStyle/>
          <a:p>
            <a:pPr marL="0" indent="0">
              <a:buNone/>
            </a:pPr>
            <a:r>
              <a:rPr lang="en-US" sz="900" dirty="0">
                <a:solidFill>
                  <a:srgbClr val="8B7CFF"/>
                </a:solidFill>
                <a:latin typeface="Courier New" pitchFamily="34" charset="0"/>
                <a:ea typeface="Courier New" pitchFamily="34" charset="-122"/>
                <a:cs typeface="Courier New" pitchFamily="34" charset="-120"/>
              </a:rPr>
              <a:t>@media media-type and (kural) </a:t>
            </a:r>
            <a:r>
              <a:rPr lang="en-US" sz="900" dirty="0">
                <a:solidFill>
                  <a:srgbClr val="6C759E"/>
                </a:solidFill>
                <a:latin typeface="Courier New" pitchFamily="34" charset="0"/>
                <a:ea typeface="Courier New" pitchFamily="34" charset="-122"/>
                <a:cs typeface="Courier New" pitchFamily="34" charset="-120"/>
              </a:rPr>
              <a:t>{</a:t>
            </a:r>
            <a:endParaRPr lang="en-US" sz="900" dirty="0"/>
          </a:p>
          <a:p>
            <a:pPr marL="0" indent="0">
              <a:buNone/>
            </a:pPr>
            <a:r>
              <a:rPr lang="en-US" sz="900" dirty="0">
                <a:solidFill>
                  <a:srgbClr val="6C759E"/>
                </a:solidFill>
                <a:latin typeface="Courier New" pitchFamily="34" charset="0"/>
                <a:ea typeface="Courier New" pitchFamily="34" charset="-122"/>
                <a:cs typeface="Courier New" pitchFamily="34" charset="-120"/>
              </a:rPr>
              <a:t>  /* koşul sağlanınca */</a:t>
            </a:r>
            <a:endParaRPr lang="en-US" sz="900" dirty="0"/>
          </a:p>
          <a:p>
            <a:pPr marL="0" indent="0">
              <a:buNone/>
            </a:pPr>
            <a:r>
              <a:rPr lang="en-US" sz="900" dirty="0">
                <a:solidFill>
                  <a:srgbClr val="6C759E"/>
                </a:solidFill>
                <a:latin typeface="Courier New" pitchFamily="34" charset="0"/>
                <a:ea typeface="Courier New" pitchFamily="34" charset="-122"/>
                <a:cs typeface="Courier New" pitchFamily="34" charset="-120"/>
              </a:rPr>
              <a:t>}</a:t>
            </a:r>
            <a:endParaRPr lang="en-US" sz="900" dirty="0"/>
          </a:p>
          <a:p>
            <a:pPr marL="0" indent="0">
              <a:buNone/>
            </a:pPr>
            <a:r>
              <a:rPr lang="en-US" sz="900" dirty="0">
                <a:solidFill>
                  <a:srgbClr val="8B7CFF"/>
                </a:solidFill>
                <a:latin typeface="Courier New" pitchFamily="34" charset="0"/>
                <a:ea typeface="Courier New" pitchFamily="34" charset="-122"/>
                <a:cs typeface="Courier New" pitchFamily="34" charset="-120"/>
              </a:rPr>
              <a:t>@media print </a:t>
            </a:r>
            <a:r>
              <a:rPr lang="en-US" sz="900" dirty="0">
                <a:solidFill>
                  <a:srgbClr val="6C759E"/>
                </a:solidFill>
                <a:latin typeface="Courier New" pitchFamily="34" charset="0"/>
                <a:ea typeface="Courier New" pitchFamily="34" charset="-122"/>
                <a:cs typeface="Courier New" pitchFamily="34" charset="-120"/>
              </a:rPr>
              <a:t>{ body { font-size: 12pt; } }</a:t>
            </a:r>
            <a:endParaRPr lang="en-US" sz="900" dirty="0"/>
          </a:p>
        </p:txBody>
      </p:sp>
      <p:sp>
        <p:nvSpPr>
          <p:cNvPr id="16" name="Text 14"/>
          <p:cNvSpPr txBox="1"/>
          <p:nvPr/>
        </p:nvSpPr>
        <p:spPr>
          <a:xfrm>
            <a:off x="548640" y="2606040"/>
            <a:ext cx="3931920" cy="1508760"/>
          </a:xfrm>
          <a:prstGeom prst="rect">
            <a:avLst/>
          </a:prstGeom>
          <a:noFill/>
          <a:ln/>
        </p:spPr>
        <p:txBody>
          <a:bodyPr wrap="square" lIns="0" tIns="0" rIns="0" bIns="0" rtlCol="0" anchor="t"/>
          <a:lstStyle/>
          <a:p>
            <a:pPr marL="0" indent="0">
              <a:spcAft>
                <a:spcPts val="600"/>
              </a:spcAft>
              <a:buNone/>
            </a:pPr>
            <a:r>
              <a:rPr lang="en-US" sz="1000" b="1" dirty="0">
                <a:solidFill>
                  <a:srgbClr val="A3E635"/>
                </a:solidFill>
                <a:latin typeface="Arial" pitchFamily="34" charset="0"/>
                <a:ea typeface="Arial" pitchFamily="34" charset="-122"/>
                <a:cs typeface="Arial" pitchFamily="34" charset="-120"/>
              </a:rPr>
              <a:t>Türler: </a:t>
            </a:r>
            <a:r>
              <a:rPr lang="en-US" sz="1000" dirty="0">
                <a:solidFill>
                  <a:srgbClr val="EEF0F8"/>
                </a:solidFill>
                <a:latin typeface="Arial" pitchFamily="34" charset="0"/>
                <a:ea typeface="Arial" pitchFamily="34" charset="-122"/>
                <a:cs typeface="Arial" pitchFamily="34" charset="-120"/>
              </a:rPr>
              <a:t>all (varsayılan), screen, print</a:t>
            </a:r>
            <a:endParaRPr lang="en-US" sz="1000" dirty="0"/>
          </a:p>
          <a:p>
            <a:pPr marL="0" indent="0">
              <a:spcAft>
                <a:spcPts val="600"/>
              </a:spcAft>
              <a:buNone/>
            </a:pPr>
            <a:r>
              <a:rPr lang="en-US" sz="1000" b="1" dirty="0">
                <a:solidFill>
                  <a:srgbClr val="A3E635"/>
                </a:solidFill>
                <a:latin typeface="Arial" pitchFamily="34" charset="0"/>
                <a:ea typeface="Arial" pitchFamily="34" charset="-122"/>
                <a:cs typeface="Arial" pitchFamily="34" charset="-120"/>
              </a:rPr>
              <a:t>Özellikler: </a:t>
            </a:r>
            <a:r>
              <a:rPr lang="en-US" sz="1000" dirty="0">
                <a:solidFill>
                  <a:srgbClr val="EEF0F8"/>
                </a:solidFill>
                <a:latin typeface="Arial" pitchFamily="34" charset="0"/>
                <a:ea typeface="Arial" pitchFamily="34" charset="-122"/>
                <a:cs typeface="Arial" pitchFamily="34" charset="-120"/>
              </a:rPr>
              <a:t>width (min-/max- ya da aralık söz dizimi), orientation, hover, pointer (fine / coarse)</a:t>
            </a:r>
            <a:endParaRPr lang="en-US" sz="1000" dirty="0"/>
          </a:p>
          <a:p>
            <a:pPr marL="0" indent="0">
              <a:spcAft>
                <a:spcPts val="600"/>
              </a:spcAft>
              <a:buNone/>
            </a:pPr>
            <a:r>
              <a:rPr lang="en-US" sz="1000" b="1" dirty="0">
                <a:solidFill>
                  <a:srgbClr val="A3E635"/>
                </a:solidFill>
                <a:latin typeface="Arial" pitchFamily="34" charset="0"/>
                <a:ea typeface="Arial" pitchFamily="34" charset="-122"/>
                <a:cs typeface="Arial" pitchFamily="34" charset="-120"/>
              </a:rPr>
              <a:t>Mantık: </a:t>
            </a:r>
            <a:r>
              <a:rPr lang="en-US" sz="1000" dirty="0">
                <a:solidFill>
                  <a:srgbClr val="EEF0F8"/>
                </a:solidFill>
                <a:latin typeface="Arial" pitchFamily="34" charset="0"/>
                <a:ea typeface="Arial" pitchFamily="34" charset="-122"/>
                <a:cs typeface="Arial" pitchFamily="34" charset="-120"/>
              </a:rPr>
              <a:t>and ile birleştir, virgül = veya, not ile tersine çevir</a:t>
            </a:r>
            <a:endParaRPr lang="en-US" sz="1000" dirty="0"/>
          </a:p>
        </p:txBody>
      </p:sp>
      <p:sp>
        <p:nvSpPr>
          <p:cNvPr id="17" name="kart"/>
          <p:cNvSpPr/>
          <p:nvPr/>
        </p:nvSpPr>
        <p:spPr>
          <a:xfrm>
            <a:off x="4709160" y="1371600"/>
            <a:ext cx="3886200" cy="2724912"/>
          </a:xfrm>
          <a:prstGeom prst="roundRect">
            <a:avLst>
              <a:gd name="adj" fmla="val 2685"/>
            </a:avLst>
          </a:prstGeom>
          <a:solidFill>
            <a:srgbClr val="1A2044"/>
          </a:solidFill>
          <a:ln w="9525">
            <a:solidFill>
              <a:srgbClr val="2E3768"/>
            </a:solidFill>
            <a:prstDash val="solid"/>
          </a:ln>
        </p:spPr>
      </p:sp>
      <p:sp>
        <p:nvSpPr>
          <p:cNvPr id="18" name="kart-nokta"/>
          <p:cNvSpPr/>
          <p:nvPr/>
        </p:nvSpPr>
        <p:spPr>
          <a:xfrm>
            <a:off x="4855464" y="1527048"/>
            <a:ext cx="91440" cy="91440"/>
          </a:xfrm>
          <a:prstGeom prst="ellipse">
            <a:avLst/>
          </a:prstGeom>
          <a:solidFill>
            <a:srgbClr val="A3E635"/>
          </a:solidFill>
          <a:ln/>
        </p:spPr>
      </p:sp>
      <p:sp>
        <p:nvSpPr>
          <p:cNvPr id="19" name="Text 17"/>
          <p:cNvSpPr txBox="1"/>
          <p:nvPr/>
        </p:nvSpPr>
        <p:spPr>
          <a:xfrm>
            <a:off x="5020056" y="1444752"/>
            <a:ext cx="3474720" cy="274320"/>
          </a:xfrm>
          <a:prstGeom prst="rect">
            <a:avLst/>
          </a:prstGeom>
          <a:noFill/>
          <a:ln/>
        </p:spPr>
        <p:txBody>
          <a:bodyPr wrap="square" lIns="0" tIns="0" rIns="0" bIns="0" rtlCol="0" anchor="ctr"/>
          <a:lstStyle/>
          <a:p>
            <a:pPr marL="0" indent="0">
              <a:buNone/>
            </a:pPr>
            <a:r>
              <a:rPr lang="en-US" sz="1300" b="1" dirty="0">
                <a:solidFill>
                  <a:srgbClr val="EEF0F8"/>
                </a:solidFill>
                <a:latin typeface="Arial" pitchFamily="34" charset="0"/>
                <a:ea typeface="Arial" pitchFamily="34" charset="-122"/>
                <a:cs typeface="Arial" pitchFamily="34" charset="-120"/>
              </a:rPr>
              <a:t>Mobil öncelikli (mobile first)</a:t>
            </a:r>
            <a:endParaRPr lang="en-US" sz="1300" dirty="0"/>
          </a:p>
        </p:txBody>
      </p:sp>
      <p:sp>
        <p:nvSpPr>
          <p:cNvPr id="20" name="ekran-0"/>
          <p:cNvSpPr/>
          <p:nvPr/>
        </p:nvSpPr>
        <p:spPr>
          <a:xfrm>
            <a:off x="4892040" y="2194560"/>
            <a:ext cx="411480" cy="822960"/>
          </a:xfrm>
          <a:prstGeom prst="roundRect">
            <a:avLst>
              <a:gd name="adj" fmla="val 11111"/>
            </a:avLst>
          </a:prstGeom>
          <a:solidFill>
            <a:srgbClr val="10142B"/>
          </a:solidFill>
          <a:ln w="9525">
            <a:solidFill>
              <a:srgbClr val="22D3EE"/>
            </a:solidFill>
            <a:prstDash val="solid"/>
          </a:ln>
        </p:spPr>
      </p:sp>
      <p:sp>
        <p:nvSpPr>
          <p:cNvPr id="21" name="Text 19"/>
          <p:cNvSpPr txBox="1"/>
          <p:nvPr/>
        </p:nvSpPr>
        <p:spPr>
          <a:xfrm>
            <a:off x="4709160" y="3154680"/>
            <a:ext cx="777240" cy="201168"/>
          </a:xfrm>
          <a:prstGeom prst="rect">
            <a:avLst/>
          </a:prstGeom>
          <a:noFill/>
          <a:ln/>
        </p:spPr>
        <p:txBody>
          <a:bodyPr wrap="square" lIns="0" tIns="0" rIns="0" bIns="0" rtlCol="0" anchor="t"/>
          <a:lstStyle/>
          <a:p>
            <a:pPr marL="0" indent="0" algn="ctr">
              <a:buNone/>
            </a:pPr>
            <a:r>
              <a:rPr lang="en-US" sz="800" dirty="0">
                <a:solidFill>
                  <a:srgbClr val="9AA3C7"/>
                </a:solidFill>
                <a:latin typeface="Arial" pitchFamily="34" charset="0"/>
                <a:ea typeface="Arial" pitchFamily="34" charset="-122"/>
                <a:cs typeface="Arial" pitchFamily="34" charset="-120"/>
              </a:rPr>
              <a:t>tek sütun</a:t>
            </a:r>
            <a:endParaRPr lang="en-US" sz="800" dirty="0"/>
          </a:p>
        </p:txBody>
      </p:sp>
      <p:sp>
        <p:nvSpPr>
          <p:cNvPr id="22" name="ekran-1"/>
          <p:cNvSpPr/>
          <p:nvPr/>
        </p:nvSpPr>
        <p:spPr>
          <a:xfrm>
            <a:off x="5806440" y="2084832"/>
            <a:ext cx="822960" cy="932688"/>
          </a:xfrm>
          <a:prstGeom prst="roundRect">
            <a:avLst>
              <a:gd name="adj" fmla="val 5556"/>
            </a:avLst>
          </a:prstGeom>
          <a:solidFill>
            <a:srgbClr val="10142B"/>
          </a:solidFill>
          <a:ln w="9525">
            <a:solidFill>
              <a:srgbClr val="F472B6"/>
            </a:solidFill>
            <a:prstDash val="solid"/>
          </a:ln>
        </p:spPr>
      </p:sp>
      <p:sp>
        <p:nvSpPr>
          <p:cNvPr id="23" name="Text 21"/>
          <p:cNvSpPr txBox="1"/>
          <p:nvPr/>
        </p:nvSpPr>
        <p:spPr>
          <a:xfrm>
            <a:off x="5623560" y="3154680"/>
            <a:ext cx="1188720" cy="201168"/>
          </a:xfrm>
          <a:prstGeom prst="rect">
            <a:avLst/>
          </a:prstGeom>
          <a:noFill/>
          <a:ln/>
        </p:spPr>
        <p:txBody>
          <a:bodyPr wrap="square" lIns="0" tIns="0" rIns="0" bIns="0" rtlCol="0" anchor="t"/>
          <a:lstStyle/>
          <a:p>
            <a:pPr marL="0" indent="0" algn="ctr">
              <a:buNone/>
            </a:pPr>
            <a:r>
              <a:rPr lang="en-US" sz="800" dirty="0">
                <a:solidFill>
                  <a:srgbClr val="9AA3C7"/>
                </a:solidFill>
                <a:latin typeface="Arial" pitchFamily="34" charset="0"/>
                <a:ea typeface="Arial" pitchFamily="34" charset="-122"/>
                <a:cs typeface="Arial" pitchFamily="34" charset="-120"/>
              </a:rPr>
              <a:t>40em: 2 sütun</a:t>
            </a:r>
            <a:endParaRPr lang="en-US" sz="800" dirty="0"/>
          </a:p>
        </p:txBody>
      </p:sp>
      <p:sp>
        <p:nvSpPr>
          <p:cNvPr id="24" name="ekran-2"/>
          <p:cNvSpPr/>
          <p:nvPr/>
        </p:nvSpPr>
        <p:spPr>
          <a:xfrm>
            <a:off x="7086600" y="1975104"/>
            <a:ext cx="1325880" cy="1042416"/>
          </a:xfrm>
          <a:prstGeom prst="roundRect">
            <a:avLst>
              <a:gd name="adj" fmla="val 4386"/>
            </a:avLst>
          </a:prstGeom>
          <a:solidFill>
            <a:srgbClr val="10142B"/>
          </a:solidFill>
          <a:ln w="9525">
            <a:solidFill>
              <a:srgbClr val="A3E635"/>
            </a:solidFill>
            <a:prstDash val="solid"/>
          </a:ln>
        </p:spPr>
      </p:sp>
      <p:sp>
        <p:nvSpPr>
          <p:cNvPr id="25" name="Text 23"/>
          <p:cNvSpPr txBox="1"/>
          <p:nvPr/>
        </p:nvSpPr>
        <p:spPr>
          <a:xfrm>
            <a:off x="6903720" y="3154680"/>
            <a:ext cx="1691640" cy="201168"/>
          </a:xfrm>
          <a:prstGeom prst="rect">
            <a:avLst/>
          </a:prstGeom>
          <a:noFill/>
          <a:ln/>
        </p:spPr>
        <p:txBody>
          <a:bodyPr wrap="square" lIns="0" tIns="0" rIns="0" bIns="0" rtlCol="0" anchor="t"/>
          <a:lstStyle/>
          <a:p>
            <a:pPr marL="0" indent="0" algn="ctr">
              <a:buNone/>
            </a:pPr>
            <a:r>
              <a:rPr lang="en-US" sz="800" dirty="0">
                <a:solidFill>
                  <a:srgbClr val="9AA3C7"/>
                </a:solidFill>
                <a:latin typeface="Arial" pitchFamily="34" charset="0"/>
                <a:ea typeface="Arial" pitchFamily="34" charset="-122"/>
                <a:cs typeface="Arial" pitchFamily="34" charset="-120"/>
              </a:rPr>
              <a:t>70em: 3 sütun</a:t>
            </a:r>
            <a:endParaRPr lang="en-US" sz="800" dirty="0"/>
          </a:p>
        </p:txBody>
      </p:sp>
      <p:sp>
        <p:nvSpPr>
          <p:cNvPr id="26" name="Text 24"/>
          <p:cNvSpPr txBox="1"/>
          <p:nvPr/>
        </p:nvSpPr>
        <p:spPr>
          <a:xfrm>
            <a:off x="4846320" y="3401568"/>
            <a:ext cx="3611880" cy="676656"/>
          </a:xfrm>
          <a:prstGeom prst="rect">
            <a:avLst/>
          </a:prstGeom>
          <a:noFill/>
          <a:ln/>
        </p:spPr>
        <p:txBody>
          <a:bodyPr wrap="square" lIns="0" tIns="0" rIns="0" bIns="0" rtlCol="0" anchor="t"/>
          <a:lstStyle/>
          <a:p>
            <a:pPr marL="0" indent="0">
              <a:buNone/>
            </a:pPr>
            <a:r>
              <a:rPr lang="en-US" sz="900" dirty="0">
                <a:solidFill>
                  <a:srgbClr val="9AA3C7"/>
                </a:solidFill>
                <a:latin typeface="Arial" pitchFamily="34" charset="0"/>
                <a:ea typeface="Arial" pitchFamily="34" charset="-122"/>
                <a:cs typeface="Arial" pitchFamily="34" charset="-120"/>
              </a:rPr>
              <a:t>En küçük ekranla, tek sütunla başla; ekran büyüdükçe sütun ekle. Kırılma noktalarını cihazlara göre değil, içeriğin bozulduğu yere koy ve em kullan. auto-fill + minmax ile bazen hiç sorguya gerek kalmaz.</a:t>
            </a:r>
            <a:endParaRPr lang="en-US" sz="900" dirty="0"/>
          </a:p>
        </p:txBody>
      </p:sp>
      <p:sp>
        <p:nvSpPr>
          <p:cNvPr id="27" name="benzetme"/>
          <p:cNvSpPr/>
          <p:nvPr/>
        </p:nvSpPr>
        <p:spPr>
          <a:xfrm>
            <a:off x="548640" y="4224528"/>
            <a:ext cx="8046720" cy="402336"/>
          </a:xfrm>
          <a:prstGeom prst="roundRect">
            <a:avLst>
              <a:gd name="adj" fmla="val 50000"/>
            </a:avLst>
          </a:prstGeom>
          <a:solidFill>
            <a:srgbClr val="232A55"/>
          </a:solidFill>
          <a:ln/>
        </p:spPr>
      </p:sp>
      <p:sp>
        <p:nvSpPr>
          <p:cNvPr id="28" name="benzetme-ikon"/>
          <p:cNvSpPr/>
          <p:nvPr/>
        </p:nvSpPr>
        <p:spPr>
          <a:xfrm>
            <a:off x="621792" y="4261104"/>
            <a:ext cx="329184" cy="329184"/>
          </a:xfrm>
          <a:prstGeom prst="ellipse">
            <a:avLst/>
          </a:prstGeom>
          <a:solidFill>
            <a:srgbClr val="FBBF24"/>
          </a:solidFill>
          <a:ln/>
        </p:spPr>
      </p:sp>
      <p:sp>
        <p:nvSpPr>
          <p:cNvPr id="29" name="Text 27"/>
          <p:cNvSpPr txBox="1"/>
          <p:nvPr/>
        </p:nvSpPr>
        <p:spPr>
          <a:xfrm>
            <a:off x="621792" y="4261104"/>
            <a:ext cx="329184" cy="329184"/>
          </a:xfrm>
          <a:prstGeom prst="rect">
            <a:avLst/>
          </a:prstGeom>
          <a:noFill/>
          <a:ln/>
        </p:spPr>
        <p:txBody>
          <a:bodyPr wrap="square" lIns="0" tIns="0" rIns="0" bIns="0" rtlCol="0" anchor="ctr"/>
          <a:lstStyle/>
          <a:p>
            <a:pPr marL="0" indent="0" algn="ctr">
              <a:buNone/>
            </a:pPr>
            <a:r>
              <a:rPr lang="en-US" sz="1600" b="1" dirty="0">
                <a:solidFill>
                  <a:srgbClr val="10142B"/>
                </a:solidFill>
                <a:latin typeface="Arial" pitchFamily="34" charset="0"/>
                <a:ea typeface="Arial" pitchFamily="34" charset="-122"/>
                <a:cs typeface="Arial" pitchFamily="34" charset="-120"/>
              </a:rPr>
              <a:t>≈</a:t>
            </a:r>
            <a:endParaRPr lang="en-US" sz="1600" dirty="0"/>
          </a:p>
        </p:txBody>
      </p:sp>
      <p:sp>
        <p:nvSpPr>
          <p:cNvPr id="30" name="Text 28"/>
          <p:cNvSpPr txBox="1"/>
          <p:nvPr/>
        </p:nvSpPr>
        <p:spPr>
          <a:xfrm>
            <a:off x="1042416" y="4224528"/>
            <a:ext cx="7452360" cy="402336"/>
          </a:xfrm>
          <a:prstGeom prst="rect">
            <a:avLst/>
          </a:prstGeom>
          <a:noFill/>
          <a:ln/>
        </p:spPr>
        <p:txBody>
          <a:bodyPr wrap="square" lIns="0" tIns="0" rIns="0" bIns="0" rtlCol="0" anchor="ctr"/>
          <a:lstStyle/>
          <a:p>
            <a:pPr marL="0" indent="0">
              <a:buNone/>
            </a:pPr>
            <a:r>
              <a:rPr lang="en-US" sz="1100" b="1" dirty="0">
                <a:solidFill>
                  <a:srgbClr val="FBBF24"/>
                </a:solidFill>
                <a:latin typeface="Arial" pitchFamily="34" charset="0"/>
                <a:ea typeface="Arial" pitchFamily="34" charset="-122"/>
                <a:cs typeface="Arial" pitchFamily="34" charset="-120"/>
              </a:rPr>
              <a:t>Gündelik hayatta: </a:t>
            </a:r>
            <a:r>
              <a:rPr lang="en-US" sz="1100" dirty="0">
                <a:solidFill>
                  <a:srgbClr val="EEF0F8"/>
                </a:solidFill>
                <a:latin typeface="Arial" pitchFamily="34" charset="0"/>
                <a:ea typeface="Arial" pitchFamily="34" charset="-122"/>
                <a:cs typeface="Arial" pitchFamily="34" charset="-120"/>
              </a:rPr>
              <a:t>mobil öncelikli tasarım, önce küçük bavulu hazırlayıp yer açıldıkça eşya eklemek gibi; büyükten küçüğe sıkıştırmaktan kolaydır.</a:t>
            </a:r>
            <a:endParaRPr lang="en-US" sz="1100" dirty="0"/>
          </a:p>
        </p:txBody>
      </p:sp>
    </p:spTree>
  </p:cSld>
  <p:clrMapOvr>
    <a:masterClrMapping/>
  </p:clrMapOvr>
  <p:transition spd="med">
    <p:pull/>
  </p:transition>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txBox="1"/>
          <p:nvPr/>
        </p:nvSpPr>
        <p:spPr>
          <a:xfrm>
            <a:off x="548640" y="256032"/>
            <a:ext cx="4572000" cy="201168"/>
          </a:xfrm>
          <a:prstGeom prst="rect">
            <a:avLst/>
          </a:prstGeom>
          <a:noFill/>
          <a:ln/>
        </p:spPr>
        <p:txBody>
          <a:bodyPr wrap="square" lIns="0" tIns="0" rIns="0" bIns="0" rtlCol="0" anchor="t"/>
          <a:lstStyle/>
          <a:p>
            <a:pPr marL="0" indent="0">
              <a:buNone/>
            </a:pPr>
            <a:r>
              <a:rPr lang="en-US" sz="900" b="1" kern="0" spc="200" dirty="0">
                <a:solidFill>
                  <a:srgbClr val="8B7CFF"/>
                </a:solidFill>
                <a:latin typeface="Arial" pitchFamily="34" charset="0"/>
                <a:ea typeface="Arial" pitchFamily="34" charset="-122"/>
                <a:cs typeface="Arial" pitchFamily="34" charset="-120"/>
              </a:rPr>
              <a:t>KAPANIŞ</a:t>
            </a:r>
            <a:endParaRPr lang="en-US" sz="900" dirty="0"/>
          </a:p>
        </p:txBody>
      </p:sp>
      <p:sp>
        <p:nvSpPr>
          <p:cNvPr id="3" name="mini-box-0"/>
          <p:cNvSpPr/>
          <p:nvPr/>
        </p:nvSpPr>
        <p:spPr>
          <a:xfrm>
            <a:off x="8229600" y="201168"/>
            <a:ext cx="384048" cy="384048"/>
          </a:xfrm>
          <a:prstGeom prst="rect">
            <a:avLst/>
          </a:prstGeom>
          <a:ln w="9525">
            <a:solidFill>
              <a:srgbClr val="8B7CFF"/>
            </a:solidFill>
            <a:prstDash val="solid"/>
          </a:ln>
        </p:spPr>
      </p:sp>
      <p:sp>
        <p:nvSpPr>
          <p:cNvPr id="4" name="mini-box-1"/>
          <p:cNvSpPr/>
          <p:nvPr/>
        </p:nvSpPr>
        <p:spPr>
          <a:xfrm>
            <a:off x="8293608" y="265176"/>
            <a:ext cx="256032" cy="256032"/>
          </a:xfrm>
          <a:prstGeom prst="rect">
            <a:avLst/>
          </a:prstGeom>
          <a:ln w="9525">
            <a:solidFill>
              <a:srgbClr val="EEF0F8"/>
            </a:solidFill>
            <a:prstDash val="solid"/>
          </a:ln>
        </p:spPr>
      </p:sp>
      <p:sp>
        <p:nvSpPr>
          <p:cNvPr id="5" name="mini-box-2"/>
          <p:cNvSpPr/>
          <p:nvPr/>
        </p:nvSpPr>
        <p:spPr>
          <a:xfrm>
            <a:off x="8348472" y="320040"/>
            <a:ext cx="146304" cy="146304"/>
          </a:xfrm>
          <a:prstGeom prst="rect">
            <a:avLst/>
          </a:prstGeom>
          <a:solidFill>
            <a:srgbClr val="8B7CFF"/>
          </a:solidFill>
          <a:ln w="9525">
            <a:solidFill>
              <a:srgbClr val="8B7CFF"/>
            </a:solidFill>
            <a:prstDash val="solid"/>
          </a:ln>
        </p:spPr>
      </p:sp>
      <p:sp>
        <p:nvSpPr>
          <p:cNvPr id="6" name="ilerleme-zemin"/>
          <p:cNvSpPr/>
          <p:nvPr/>
        </p:nvSpPr>
        <p:spPr>
          <a:xfrm>
            <a:off x="0" y="5070348"/>
            <a:ext cx="9144000" cy="73152"/>
          </a:xfrm>
          <a:prstGeom prst="rect">
            <a:avLst/>
          </a:prstGeom>
          <a:solidFill>
            <a:srgbClr val="1A2044"/>
          </a:solidFill>
          <a:ln/>
        </p:spPr>
      </p:sp>
      <p:sp>
        <p:nvSpPr>
          <p:cNvPr id="7" name="ilerleme"/>
          <p:cNvSpPr/>
          <p:nvPr/>
        </p:nvSpPr>
        <p:spPr>
          <a:xfrm>
            <a:off x="0" y="5070348"/>
            <a:ext cx="8506047" cy="73152"/>
          </a:xfrm>
          <a:prstGeom prst="rect">
            <a:avLst/>
          </a:prstGeom>
          <a:solidFill>
            <a:srgbClr val="8B7CFF"/>
          </a:solidFill>
          <a:ln/>
        </p:spPr>
      </p:sp>
      <p:sp>
        <p:nvSpPr>
          <p:cNvPr id="8" name="Text 6"/>
          <p:cNvSpPr txBox="1"/>
          <p:nvPr/>
        </p:nvSpPr>
        <p:spPr>
          <a:xfrm>
            <a:off x="548640" y="4791456"/>
            <a:ext cx="3657600" cy="201168"/>
          </a:xfrm>
          <a:prstGeom prst="rect">
            <a:avLst/>
          </a:prstGeom>
          <a:noFill/>
          <a:ln/>
        </p:spPr>
        <p:txBody>
          <a:bodyPr wrap="square" lIns="0" tIns="0" rIns="0" bIns="0" rtlCol="0" anchor="t"/>
          <a:lstStyle/>
          <a:p>
            <a:pPr marL="0" indent="0">
              <a:buNone/>
            </a:pPr>
            <a:r>
              <a:rPr lang="en-US" sz="850" dirty="0">
                <a:solidFill>
                  <a:srgbClr val="6C759E"/>
                </a:solidFill>
                <a:latin typeface="Arial" pitchFamily="34" charset="0"/>
                <a:ea typeface="Arial" pitchFamily="34" charset="-122"/>
                <a:cs typeface="Arial" pitchFamily="34" charset="-120"/>
              </a:rPr>
              <a:t>KCŞ A.Ş.  ·  CSS ile stil ve düzen</a:t>
            </a:r>
            <a:endParaRPr lang="en-US" sz="850" dirty="0"/>
          </a:p>
        </p:txBody>
      </p:sp>
      <p:sp>
        <p:nvSpPr>
          <p:cNvPr id="9" name="Text 7"/>
          <p:cNvSpPr txBox="1"/>
          <p:nvPr/>
        </p:nvSpPr>
        <p:spPr>
          <a:xfrm>
            <a:off x="4206240" y="4791456"/>
            <a:ext cx="3840480" cy="201168"/>
          </a:xfrm>
          <a:prstGeom prst="rect">
            <a:avLst/>
          </a:prstGeom>
          <a:noFill/>
          <a:ln/>
        </p:spPr>
        <p:txBody>
          <a:bodyPr wrap="square" lIns="0" tIns="0" rIns="0" bIns="0" rtlCol="0" anchor="t"/>
          <a:lstStyle/>
          <a:p>
            <a:pPr marL="0" indent="0" algn="r">
              <a:buNone/>
            </a:pPr>
            <a:r>
              <a:rPr lang="en-US" sz="850" dirty="0">
                <a:solidFill>
                  <a:srgbClr val="6C759E"/>
                </a:solidFill>
                <a:latin typeface="Arial" pitchFamily="34" charset="0"/>
                <a:ea typeface="Arial" pitchFamily="34" charset="-122"/>
                <a:cs typeface="Arial" pitchFamily="34" charset="-120"/>
              </a:rPr>
              <a:t>MDN · CSS styling basics · text styling · layout</a:t>
            </a:r>
            <a:endParaRPr lang="en-US" sz="850" dirty="0"/>
          </a:p>
        </p:txBody>
      </p:sp>
      <p:sp>
        <p:nvSpPr>
          <p:cNvPr id="10" name="Text 8"/>
          <p:cNvSpPr txBox="1"/>
          <p:nvPr/>
        </p:nvSpPr>
        <p:spPr>
          <a:xfrm>
            <a:off x="8092440" y="4791456"/>
            <a:ext cx="685800" cy="201168"/>
          </a:xfrm>
          <a:prstGeom prst="rect">
            <a:avLst/>
          </a:prstGeom>
          <a:noFill/>
          <a:ln/>
        </p:spPr>
        <p:txBody>
          <a:bodyPr wrap="square" lIns="0" tIns="0" rIns="0" bIns="0" rtlCol="0" anchor="t"/>
          <a:lstStyle/>
          <a:p>
            <a:pPr marL="0" indent="0" algn="r">
              <a:buNone/>
            </a:pPr>
            <a:r>
              <a:rPr lang="en-US" sz="850" dirty="0">
                <a:solidFill>
                  <a:srgbClr val="9AA3C7"/>
                </a:solidFill>
                <a:latin typeface="Courier New" pitchFamily="34" charset="0"/>
                <a:ea typeface="Courier New" pitchFamily="34" charset="-122"/>
                <a:cs typeface="Courier New" pitchFamily="34" charset="-120"/>
              </a:rPr>
              <a:t>40 / 43</a:t>
            </a:r>
            <a:endParaRPr lang="en-US" sz="850" dirty="0"/>
          </a:p>
        </p:txBody>
      </p:sp>
      <p:sp>
        <p:nvSpPr>
          <p:cNvPr id="11" name="Text 9"/>
          <p:cNvSpPr txBox="1"/>
          <p:nvPr/>
        </p:nvSpPr>
        <p:spPr>
          <a:xfrm>
            <a:off x="548640" y="502920"/>
            <a:ext cx="5943600" cy="237744"/>
          </a:xfrm>
          <a:prstGeom prst="rect">
            <a:avLst/>
          </a:prstGeom>
          <a:noFill/>
          <a:ln/>
        </p:spPr>
        <p:txBody>
          <a:bodyPr wrap="square" lIns="0" tIns="0" rIns="0" bIns="0" rtlCol="0" anchor="t"/>
          <a:lstStyle/>
          <a:p>
            <a:pPr marL="0" indent="0">
              <a:buNone/>
            </a:pPr>
            <a:r>
              <a:rPr lang="en-US" sz="1100" b="1" dirty="0">
                <a:solidFill>
                  <a:srgbClr val="8B7CFF"/>
                </a:solidFill>
                <a:latin typeface="Courier New" pitchFamily="34" charset="0"/>
                <a:ea typeface="Courier New" pitchFamily="34" charset="-122"/>
                <a:cs typeface="Courier New" pitchFamily="34" charset="-120"/>
              </a:rPr>
              <a:t>Test your skills  ·  Challenges</a:t>
            </a:r>
            <a:endParaRPr lang="en-US" sz="1100" dirty="0"/>
          </a:p>
        </p:txBody>
      </p:sp>
      <p:sp>
        <p:nvSpPr>
          <p:cNvPr id="12" name="Text 10"/>
          <p:cNvSpPr txBox="1"/>
          <p:nvPr/>
        </p:nvSpPr>
        <p:spPr>
          <a:xfrm>
            <a:off x="548640" y="749808"/>
            <a:ext cx="7589520" cy="502920"/>
          </a:xfrm>
          <a:prstGeom prst="rect">
            <a:avLst/>
          </a:prstGeom>
          <a:noFill/>
          <a:ln/>
        </p:spPr>
        <p:txBody>
          <a:bodyPr wrap="square" lIns="0" tIns="0" rIns="0" bIns="0" rtlCol="0" anchor="ctr"/>
          <a:lstStyle/>
          <a:p>
            <a:pPr marL="0" indent="0">
              <a:buNone/>
            </a:pPr>
            <a:r>
              <a:rPr lang="en-US" sz="2400" b="1" dirty="0">
                <a:solidFill>
                  <a:srgbClr val="EEF0F8"/>
                </a:solidFill>
                <a:latin typeface="Arial" pitchFamily="34" charset="0"/>
                <a:ea typeface="Arial" pitchFamily="34" charset="-122"/>
                <a:cs typeface="Arial" pitchFamily="34" charset="-120"/>
              </a:rPr>
              <a:t>Pekiştirme: testler ve uygulama görevleri</a:t>
            </a:r>
            <a:endParaRPr lang="en-US" sz="2400" dirty="0"/>
          </a:p>
        </p:txBody>
      </p:sp>
      <p:sp>
        <p:nvSpPr>
          <p:cNvPr id="13" name="kart"/>
          <p:cNvSpPr/>
          <p:nvPr/>
        </p:nvSpPr>
        <p:spPr>
          <a:xfrm>
            <a:off x="548640" y="1371600"/>
            <a:ext cx="2587752" cy="2743200"/>
          </a:xfrm>
          <a:prstGeom prst="roundRect">
            <a:avLst>
              <a:gd name="adj" fmla="val 2827"/>
            </a:avLst>
          </a:prstGeom>
          <a:solidFill>
            <a:srgbClr val="1A2044"/>
          </a:solidFill>
          <a:ln w="9525">
            <a:solidFill>
              <a:srgbClr val="2E3768"/>
            </a:solidFill>
            <a:prstDash val="solid"/>
          </a:ln>
        </p:spPr>
      </p:sp>
      <p:sp>
        <p:nvSpPr>
          <p:cNvPr id="14" name="kart-nokta"/>
          <p:cNvSpPr/>
          <p:nvPr/>
        </p:nvSpPr>
        <p:spPr>
          <a:xfrm>
            <a:off x="694944" y="1527048"/>
            <a:ext cx="91440" cy="91440"/>
          </a:xfrm>
          <a:prstGeom prst="ellipse">
            <a:avLst/>
          </a:prstGeom>
          <a:solidFill>
            <a:srgbClr val="22D3EE"/>
          </a:solidFill>
          <a:ln/>
        </p:spPr>
      </p:sp>
      <p:sp>
        <p:nvSpPr>
          <p:cNvPr id="15" name="Text 13"/>
          <p:cNvSpPr txBox="1"/>
          <p:nvPr/>
        </p:nvSpPr>
        <p:spPr>
          <a:xfrm>
            <a:off x="859536" y="1444752"/>
            <a:ext cx="2176272" cy="274320"/>
          </a:xfrm>
          <a:prstGeom prst="rect">
            <a:avLst/>
          </a:prstGeom>
          <a:noFill/>
          <a:ln/>
        </p:spPr>
        <p:txBody>
          <a:bodyPr wrap="square" lIns="0" tIns="0" rIns="0" bIns="0" rtlCol="0" anchor="ctr"/>
          <a:lstStyle/>
          <a:p>
            <a:pPr marL="0" indent="0">
              <a:buNone/>
            </a:pPr>
            <a:r>
              <a:rPr lang="en-US" sz="1300" b="1" dirty="0">
                <a:solidFill>
                  <a:srgbClr val="EEF0F8"/>
                </a:solidFill>
                <a:latin typeface="Arial" pitchFamily="34" charset="0"/>
                <a:ea typeface="Arial" pitchFamily="34" charset="-122"/>
                <a:cs typeface="Arial" pitchFamily="34" charset="-120"/>
              </a:rPr>
              <a:t>CSS temelleri</a:t>
            </a:r>
            <a:endParaRPr lang="en-US" sz="1300" dirty="0"/>
          </a:p>
        </p:txBody>
      </p:sp>
      <p:sp>
        <p:nvSpPr>
          <p:cNvPr id="16" name="Text 14"/>
          <p:cNvSpPr txBox="1"/>
          <p:nvPr/>
        </p:nvSpPr>
        <p:spPr>
          <a:xfrm>
            <a:off x="713232" y="1719072"/>
            <a:ext cx="2286000" cy="594360"/>
          </a:xfrm>
          <a:prstGeom prst="rect">
            <a:avLst/>
          </a:prstGeom>
          <a:noFill/>
          <a:ln/>
        </p:spPr>
        <p:txBody>
          <a:bodyPr wrap="square" lIns="0" tIns="0" rIns="0" bIns="0" rtlCol="0" anchor="t"/>
          <a:lstStyle/>
          <a:p>
            <a:pPr marL="0" indent="0">
              <a:buNone/>
            </a:pPr>
            <a:r>
              <a:rPr lang="en-US" sz="950" dirty="0">
                <a:solidFill>
                  <a:srgbClr val="9AA3C7"/>
                </a:solidFill>
                <a:latin typeface="Arial" pitchFamily="34" charset="0"/>
                <a:ea typeface="Arial" pitchFamily="34" charset="-122"/>
                <a:cs typeface="Arial" pitchFamily="34" charset="-120"/>
              </a:rPr>
              <a:t>8 test: seçiciler, box model, cascade, değerler, boyut, arka plan, taşma, resim/form</a:t>
            </a:r>
            <a:endParaRPr lang="en-US" sz="950" dirty="0"/>
          </a:p>
        </p:txBody>
      </p:sp>
      <p:sp>
        <p:nvSpPr>
          <p:cNvPr id="17" name="Text 15"/>
          <p:cNvSpPr txBox="1"/>
          <p:nvPr/>
        </p:nvSpPr>
        <p:spPr>
          <a:xfrm>
            <a:off x="713232" y="2331720"/>
            <a:ext cx="2286000" cy="228600"/>
          </a:xfrm>
          <a:prstGeom prst="rect">
            <a:avLst/>
          </a:prstGeom>
          <a:noFill/>
          <a:ln/>
        </p:spPr>
        <p:txBody>
          <a:bodyPr wrap="square" lIns="0" tIns="0" rIns="0" bIns="0" rtlCol="0" anchor="t"/>
          <a:lstStyle/>
          <a:p>
            <a:pPr marL="0" indent="0">
              <a:buNone/>
            </a:pPr>
            <a:r>
              <a:rPr lang="en-US" sz="1000" b="1" dirty="0">
                <a:solidFill>
                  <a:srgbClr val="22D3EE"/>
                </a:solidFill>
                <a:latin typeface="Arial" pitchFamily="34" charset="0"/>
                <a:ea typeface="Arial" pitchFamily="34" charset="-122"/>
                <a:cs typeface="Arial" pitchFamily="34" charset="-120"/>
              </a:rPr>
              <a:t>Uygulama görevleri</a:t>
            </a:r>
            <a:endParaRPr lang="en-US" sz="1000" dirty="0"/>
          </a:p>
        </p:txBody>
      </p:sp>
      <p:sp>
        <p:nvSpPr>
          <p:cNvPr id="18" name="Text 16"/>
          <p:cNvSpPr txBox="1"/>
          <p:nvPr/>
        </p:nvSpPr>
        <p:spPr>
          <a:xfrm>
            <a:off x="713232" y="2633472"/>
            <a:ext cx="2258568" cy="256032"/>
          </a:xfrm>
          <a:prstGeom prst="roundRect">
            <a:avLst>
              <a:gd name="adj" fmla="val 42857"/>
            </a:avLst>
          </a:prstGeom>
          <a:solidFill>
            <a:srgbClr val="232A55"/>
          </a:solidFill>
          <a:ln w="12700">
            <a:solidFill>
              <a:srgbClr val="22D3EE"/>
            </a:solidFill>
          </a:ln>
        </p:spPr>
        <p:txBody>
          <a:bodyPr wrap="square" lIns="0" tIns="0" rIns="0" bIns="0" rtlCol="0" anchor="ctr"/>
          <a:lstStyle/>
          <a:p>
            <a:pPr marL="0" indent="0" algn="ctr">
              <a:buNone/>
            </a:pPr>
            <a:r>
              <a:rPr lang="en-US" sz="950" b="1" dirty="0">
                <a:solidFill>
                  <a:srgbClr val="22D3EE"/>
                </a:solidFill>
                <a:latin typeface="Arial" pitchFamily="34" charset="0"/>
                <a:ea typeface="Arial" pitchFamily="34" charset="-122"/>
                <a:cs typeface="Arial" pitchFamily="34" charset="-120"/>
              </a:rPr>
              <a:t>Biyografi sayfası</a:t>
            </a:r>
            <a:endParaRPr lang="en-US" sz="950" dirty="0"/>
          </a:p>
        </p:txBody>
      </p:sp>
      <p:sp>
        <p:nvSpPr>
          <p:cNvPr id="19" name="Text 17"/>
          <p:cNvSpPr txBox="1"/>
          <p:nvPr/>
        </p:nvSpPr>
        <p:spPr>
          <a:xfrm>
            <a:off x="713232" y="2971800"/>
            <a:ext cx="2258568" cy="256032"/>
          </a:xfrm>
          <a:prstGeom prst="roundRect">
            <a:avLst>
              <a:gd name="adj" fmla="val 42857"/>
            </a:avLst>
          </a:prstGeom>
          <a:solidFill>
            <a:srgbClr val="232A55"/>
          </a:solidFill>
          <a:ln w="12700">
            <a:solidFill>
              <a:srgbClr val="22D3EE"/>
            </a:solidFill>
          </a:ln>
        </p:spPr>
        <p:txBody>
          <a:bodyPr wrap="square" lIns="0" tIns="0" rIns="0" bIns="0" rtlCol="0" anchor="ctr"/>
          <a:lstStyle/>
          <a:p>
            <a:pPr marL="0" indent="0" algn="ctr">
              <a:buNone/>
            </a:pPr>
            <a:r>
              <a:rPr lang="en-US" sz="950" b="1" dirty="0">
                <a:solidFill>
                  <a:srgbClr val="22D3EE"/>
                </a:solidFill>
                <a:latin typeface="Arial" pitchFamily="34" charset="0"/>
                <a:ea typeface="Arial" pitchFamily="34" charset="-122"/>
                <a:cs typeface="Arial" pitchFamily="34" charset="-120"/>
              </a:rPr>
              <a:t>Blog stillerini düzelt</a:t>
            </a:r>
            <a:endParaRPr lang="en-US" sz="950" dirty="0"/>
          </a:p>
        </p:txBody>
      </p:sp>
      <p:sp>
        <p:nvSpPr>
          <p:cNvPr id="20" name="Text 18"/>
          <p:cNvSpPr txBox="1"/>
          <p:nvPr/>
        </p:nvSpPr>
        <p:spPr>
          <a:xfrm>
            <a:off x="713232" y="3310128"/>
            <a:ext cx="2258568" cy="256032"/>
          </a:xfrm>
          <a:prstGeom prst="roundRect">
            <a:avLst>
              <a:gd name="adj" fmla="val 42857"/>
            </a:avLst>
          </a:prstGeom>
          <a:solidFill>
            <a:srgbClr val="232A55"/>
          </a:solidFill>
          <a:ln w="12700">
            <a:solidFill>
              <a:srgbClr val="22D3EE"/>
            </a:solidFill>
          </a:ln>
        </p:spPr>
        <p:txBody>
          <a:bodyPr wrap="square" lIns="0" tIns="0" rIns="0" bIns="0" rtlCol="0" anchor="ctr"/>
          <a:lstStyle/>
          <a:p>
            <a:pPr marL="0" indent="0" algn="ctr">
              <a:buNone/>
            </a:pPr>
            <a:r>
              <a:rPr lang="en-US" sz="950" b="1" dirty="0">
                <a:solidFill>
                  <a:srgbClr val="22D3EE"/>
                </a:solidFill>
                <a:latin typeface="Arial" pitchFamily="34" charset="0"/>
                <a:ea typeface="Arial" pitchFamily="34" charset="-122"/>
                <a:cs typeface="Arial" pitchFamily="34" charset="-120"/>
              </a:rPr>
              <a:t>Boyutla ve süsle</a:t>
            </a:r>
            <a:endParaRPr lang="en-US" sz="950" dirty="0"/>
          </a:p>
        </p:txBody>
      </p:sp>
      <p:sp>
        <p:nvSpPr>
          <p:cNvPr id="21" name="Text 19"/>
          <p:cNvSpPr txBox="1"/>
          <p:nvPr/>
        </p:nvSpPr>
        <p:spPr>
          <a:xfrm>
            <a:off x="713232" y="3648456"/>
            <a:ext cx="2258568" cy="256032"/>
          </a:xfrm>
          <a:prstGeom prst="roundRect">
            <a:avLst>
              <a:gd name="adj" fmla="val 42857"/>
            </a:avLst>
          </a:prstGeom>
          <a:solidFill>
            <a:srgbClr val="232A55"/>
          </a:solidFill>
          <a:ln w="12700">
            <a:solidFill>
              <a:srgbClr val="22D3EE"/>
            </a:solidFill>
          </a:ln>
        </p:spPr>
        <p:txBody>
          <a:bodyPr wrap="square" lIns="0" tIns="0" rIns="0" bIns="0" rtlCol="0" anchor="ctr"/>
          <a:lstStyle/>
          <a:p>
            <a:pPr marL="0" indent="0" algn="ctr">
              <a:buNone/>
            </a:pPr>
            <a:r>
              <a:rPr lang="en-US" sz="950" b="1" dirty="0">
                <a:solidFill>
                  <a:srgbClr val="22D3EE"/>
                </a:solidFill>
                <a:latin typeface="Arial" pitchFamily="34" charset="0"/>
                <a:ea typeface="Arial" pitchFamily="34" charset="-122"/>
                <a:cs typeface="Arial" pitchFamily="34" charset="-120"/>
              </a:rPr>
              <a:t>Renk şeması arama</a:t>
            </a:r>
            <a:endParaRPr lang="en-US" sz="950" dirty="0"/>
          </a:p>
        </p:txBody>
      </p:sp>
      <p:sp>
        <p:nvSpPr>
          <p:cNvPr id="22" name="kart"/>
          <p:cNvSpPr/>
          <p:nvPr/>
        </p:nvSpPr>
        <p:spPr>
          <a:xfrm>
            <a:off x="3264408" y="1371600"/>
            <a:ext cx="2587752" cy="2743200"/>
          </a:xfrm>
          <a:prstGeom prst="roundRect">
            <a:avLst>
              <a:gd name="adj" fmla="val 2827"/>
            </a:avLst>
          </a:prstGeom>
          <a:solidFill>
            <a:srgbClr val="1A2044"/>
          </a:solidFill>
          <a:ln w="9525">
            <a:solidFill>
              <a:srgbClr val="2E3768"/>
            </a:solidFill>
            <a:prstDash val="solid"/>
          </a:ln>
        </p:spPr>
      </p:sp>
      <p:sp>
        <p:nvSpPr>
          <p:cNvPr id="23" name="kart-nokta"/>
          <p:cNvSpPr/>
          <p:nvPr/>
        </p:nvSpPr>
        <p:spPr>
          <a:xfrm>
            <a:off x="3410712" y="1527048"/>
            <a:ext cx="91440" cy="91440"/>
          </a:xfrm>
          <a:prstGeom prst="ellipse">
            <a:avLst/>
          </a:prstGeom>
          <a:solidFill>
            <a:srgbClr val="F472B6"/>
          </a:solidFill>
          <a:ln/>
        </p:spPr>
      </p:sp>
      <p:sp>
        <p:nvSpPr>
          <p:cNvPr id="24" name="Text 22"/>
          <p:cNvSpPr txBox="1"/>
          <p:nvPr/>
        </p:nvSpPr>
        <p:spPr>
          <a:xfrm>
            <a:off x="3575304" y="1444752"/>
            <a:ext cx="2176272" cy="274320"/>
          </a:xfrm>
          <a:prstGeom prst="rect">
            <a:avLst/>
          </a:prstGeom>
          <a:noFill/>
          <a:ln/>
        </p:spPr>
        <p:txBody>
          <a:bodyPr wrap="square" lIns="0" tIns="0" rIns="0" bIns="0" rtlCol="0" anchor="ctr"/>
          <a:lstStyle/>
          <a:p>
            <a:pPr marL="0" indent="0">
              <a:buNone/>
            </a:pPr>
            <a:r>
              <a:rPr lang="en-US" sz="1300" b="1" dirty="0">
                <a:solidFill>
                  <a:srgbClr val="EEF0F8"/>
                </a:solidFill>
                <a:latin typeface="Arial" pitchFamily="34" charset="0"/>
                <a:ea typeface="Arial" pitchFamily="34" charset="-122"/>
                <a:cs typeface="Arial" pitchFamily="34" charset="-120"/>
              </a:rPr>
              <a:t>Metin stili</a:t>
            </a:r>
            <a:endParaRPr lang="en-US" sz="1300" dirty="0"/>
          </a:p>
        </p:txBody>
      </p:sp>
      <p:sp>
        <p:nvSpPr>
          <p:cNvPr id="25" name="Text 23"/>
          <p:cNvSpPr txBox="1"/>
          <p:nvPr/>
        </p:nvSpPr>
        <p:spPr>
          <a:xfrm>
            <a:off x="3429000" y="1719072"/>
            <a:ext cx="2286000" cy="594360"/>
          </a:xfrm>
          <a:prstGeom prst="rect">
            <a:avLst/>
          </a:prstGeom>
          <a:noFill/>
          <a:ln/>
        </p:spPr>
        <p:txBody>
          <a:bodyPr wrap="square" lIns="0" tIns="0" rIns="0" bIns="0" rtlCol="0" anchor="t"/>
          <a:lstStyle/>
          <a:p>
            <a:pPr marL="0" indent="0">
              <a:buNone/>
            </a:pPr>
            <a:r>
              <a:rPr lang="en-US" sz="950" dirty="0">
                <a:solidFill>
                  <a:srgbClr val="9AA3C7"/>
                </a:solidFill>
                <a:latin typeface="Arial" pitchFamily="34" charset="0"/>
                <a:ea typeface="Arial" pitchFamily="34" charset="-122"/>
                <a:cs typeface="Arial" pitchFamily="34" charset="-120"/>
              </a:rPr>
              <a:t>Bu modülde ayrı test yok</a:t>
            </a:r>
            <a:endParaRPr lang="en-US" sz="950" dirty="0"/>
          </a:p>
        </p:txBody>
      </p:sp>
      <p:sp>
        <p:nvSpPr>
          <p:cNvPr id="26" name="Text 24"/>
          <p:cNvSpPr txBox="1"/>
          <p:nvPr/>
        </p:nvSpPr>
        <p:spPr>
          <a:xfrm>
            <a:off x="3429000" y="2331720"/>
            <a:ext cx="2286000" cy="228600"/>
          </a:xfrm>
          <a:prstGeom prst="rect">
            <a:avLst/>
          </a:prstGeom>
          <a:noFill/>
          <a:ln/>
        </p:spPr>
        <p:txBody>
          <a:bodyPr wrap="square" lIns="0" tIns="0" rIns="0" bIns="0" rtlCol="0" anchor="t"/>
          <a:lstStyle/>
          <a:p>
            <a:pPr marL="0" indent="0">
              <a:buNone/>
            </a:pPr>
            <a:r>
              <a:rPr lang="en-US" sz="1000" b="1" dirty="0">
                <a:solidFill>
                  <a:srgbClr val="F472B6"/>
                </a:solidFill>
                <a:latin typeface="Arial" pitchFamily="34" charset="0"/>
                <a:ea typeface="Arial" pitchFamily="34" charset="-122"/>
                <a:cs typeface="Arial" pitchFamily="34" charset="-120"/>
              </a:rPr>
              <a:t>Uygulama görevleri</a:t>
            </a:r>
            <a:endParaRPr lang="en-US" sz="1000" dirty="0"/>
          </a:p>
        </p:txBody>
      </p:sp>
      <p:sp>
        <p:nvSpPr>
          <p:cNvPr id="27" name="Text 25"/>
          <p:cNvSpPr txBox="1"/>
          <p:nvPr/>
        </p:nvSpPr>
        <p:spPr>
          <a:xfrm>
            <a:off x="3429000" y="2633472"/>
            <a:ext cx="2258568" cy="256032"/>
          </a:xfrm>
          <a:prstGeom prst="roundRect">
            <a:avLst>
              <a:gd name="adj" fmla="val 42857"/>
            </a:avLst>
          </a:prstGeom>
          <a:solidFill>
            <a:srgbClr val="232A55"/>
          </a:solidFill>
          <a:ln w="12700">
            <a:solidFill>
              <a:srgbClr val="F472B6"/>
            </a:solidFill>
          </a:ln>
        </p:spPr>
        <p:txBody>
          <a:bodyPr wrap="square" lIns="0" tIns="0" rIns="0" bIns="0" rtlCol="0" anchor="ctr"/>
          <a:lstStyle/>
          <a:p>
            <a:pPr marL="0" indent="0" algn="ctr">
              <a:buNone/>
            </a:pPr>
            <a:r>
              <a:rPr lang="en-US" sz="950" b="1" dirty="0">
                <a:solidFill>
                  <a:srgbClr val="F472B6"/>
                </a:solidFill>
                <a:latin typeface="Arial" pitchFamily="34" charset="0"/>
                <a:ea typeface="Arial" pitchFamily="34" charset="-122"/>
                <a:cs typeface="Arial" pitchFamily="34" charset="-120"/>
              </a:rPr>
              <a:t>Okul ana sayfası dizgisi</a:t>
            </a:r>
            <a:endParaRPr lang="en-US" sz="950" dirty="0"/>
          </a:p>
        </p:txBody>
      </p:sp>
      <p:sp>
        <p:nvSpPr>
          <p:cNvPr id="28" name="kart"/>
          <p:cNvSpPr/>
          <p:nvPr/>
        </p:nvSpPr>
        <p:spPr>
          <a:xfrm>
            <a:off x="5980176" y="1371600"/>
            <a:ext cx="2587752" cy="2743200"/>
          </a:xfrm>
          <a:prstGeom prst="roundRect">
            <a:avLst>
              <a:gd name="adj" fmla="val 2827"/>
            </a:avLst>
          </a:prstGeom>
          <a:solidFill>
            <a:srgbClr val="1A2044"/>
          </a:solidFill>
          <a:ln w="9525">
            <a:solidFill>
              <a:srgbClr val="2E3768"/>
            </a:solidFill>
            <a:prstDash val="solid"/>
          </a:ln>
        </p:spPr>
      </p:sp>
      <p:sp>
        <p:nvSpPr>
          <p:cNvPr id="29" name="kart-nokta"/>
          <p:cNvSpPr/>
          <p:nvPr/>
        </p:nvSpPr>
        <p:spPr>
          <a:xfrm>
            <a:off x="6126480" y="1527048"/>
            <a:ext cx="91440" cy="91440"/>
          </a:xfrm>
          <a:prstGeom prst="ellipse">
            <a:avLst/>
          </a:prstGeom>
          <a:solidFill>
            <a:srgbClr val="A3E635"/>
          </a:solidFill>
          <a:ln/>
        </p:spPr>
      </p:sp>
      <p:sp>
        <p:nvSpPr>
          <p:cNvPr id="30" name="Text 28"/>
          <p:cNvSpPr txBox="1"/>
          <p:nvPr/>
        </p:nvSpPr>
        <p:spPr>
          <a:xfrm>
            <a:off x="6291072" y="1444752"/>
            <a:ext cx="2176272" cy="274320"/>
          </a:xfrm>
          <a:prstGeom prst="rect">
            <a:avLst/>
          </a:prstGeom>
          <a:noFill/>
          <a:ln/>
        </p:spPr>
        <p:txBody>
          <a:bodyPr wrap="square" lIns="0" tIns="0" rIns="0" bIns="0" rtlCol="0" anchor="ctr"/>
          <a:lstStyle/>
          <a:p>
            <a:pPr marL="0" indent="0">
              <a:buNone/>
            </a:pPr>
            <a:r>
              <a:rPr lang="en-US" sz="1300" b="1" dirty="0">
                <a:solidFill>
                  <a:srgbClr val="EEF0F8"/>
                </a:solidFill>
                <a:latin typeface="Arial" pitchFamily="34" charset="0"/>
                <a:ea typeface="Arial" pitchFamily="34" charset="-122"/>
                <a:cs typeface="Arial" pitchFamily="34" charset="-120"/>
              </a:rPr>
              <a:t>CSS düzeni</a:t>
            </a:r>
            <a:endParaRPr lang="en-US" sz="1300" dirty="0"/>
          </a:p>
        </p:txBody>
      </p:sp>
      <p:sp>
        <p:nvSpPr>
          <p:cNvPr id="31" name="Text 29"/>
          <p:cNvSpPr txBox="1"/>
          <p:nvPr/>
        </p:nvSpPr>
        <p:spPr>
          <a:xfrm>
            <a:off x="6144768" y="1719072"/>
            <a:ext cx="2286000" cy="594360"/>
          </a:xfrm>
          <a:prstGeom prst="rect">
            <a:avLst/>
          </a:prstGeom>
          <a:noFill/>
          <a:ln/>
        </p:spPr>
        <p:txBody>
          <a:bodyPr wrap="square" lIns="0" tIns="0" rIns="0" bIns="0" rtlCol="0" anchor="t"/>
          <a:lstStyle/>
          <a:p>
            <a:pPr marL="0" indent="0">
              <a:buNone/>
            </a:pPr>
            <a:r>
              <a:rPr lang="en-US" sz="950" dirty="0">
                <a:solidFill>
                  <a:srgbClr val="9AA3C7"/>
                </a:solidFill>
                <a:latin typeface="Arial" pitchFamily="34" charset="0"/>
                <a:ea typeface="Arial" pitchFamily="34" charset="-122"/>
                <a:cs typeface="Arial" pitchFamily="34" charset="-120"/>
              </a:rPr>
              <a:t>5 test: float, position, flexbox, grid, responsive</a:t>
            </a:r>
            <a:endParaRPr lang="en-US" sz="950" dirty="0"/>
          </a:p>
        </p:txBody>
      </p:sp>
      <p:sp>
        <p:nvSpPr>
          <p:cNvPr id="32" name="Text 30"/>
          <p:cNvSpPr txBox="1"/>
          <p:nvPr/>
        </p:nvSpPr>
        <p:spPr>
          <a:xfrm>
            <a:off x="6144768" y="2331720"/>
            <a:ext cx="2286000" cy="228600"/>
          </a:xfrm>
          <a:prstGeom prst="rect">
            <a:avLst/>
          </a:prstGeom>
          <a:noFill/>
          <a:ln/>
        </p:spPr>
        <p:txBody>
          <a:bodyPr wrap="square" lIns="0" tIns="0" rIns="0" bIns="0" rtlCol="0" anchor="t"/>
          <a:lstStyle/>
          <a:p>
            <a:pPr marL="0" indent="0">
              <a:buNone/>
            </a:pPr>
            <a:r>
              <a:rPr lang="en-US" sz="1000" b="1" dirty="0">
                <a:solidFill>
                  <a:srgbClr val="A3E635"/>
                </a:solidFill>
                <a:latin typeface="Arial" pitchFamily="34" charset="0"/>
                <a:ea typeface="Arial" pitchFamily="34" charset="-122"/>
                <a:cs typeface="Arial" pitchFamily="34" charset="-120"/>
              </a:rPr>
              <a:t>Uygulama görevleri</a:t>
            </a:r>
            <a:endParaRPr lang="en-US" sz="1000" dirty="0"/>
          </a:p>
        </p:txBody>
      </p:sp>
      <p:sp>
        <p:nvSpPr>
          <p:cNvPr id="33" name="Text 31"/>
          <p:cNvSpPr txBox="1"/>
          <p:nvPr/>
        </p:nvSpPr>
        <p:spPr>
          <a:xfrm>
            <a:off x="6144768" y="2633472"/>
            <a:ext cx="2258568" cy="256032"/>
          </a:xfrm>
          <a:prstGeom prst="roundRect">
            <a:avLst>
              <a:gd name="adj" fmla="val 42857"/>
            </a:avLst>
          </a:prstGeom>
          <a:solidFill>
            <a:srgbClr val="232A55"/>
          </a:solidFill>
          <a:ln w="12700">
            <a:solidFill>
              <a:srgbClr val="A3E635"/>
            </a:solidFill>
          </a:ln>
        </p:spPr>
        <p:txBody>
          <a:bodyPr wrap="square" lIns="0" tIns="0" rIns="0" bIns="0" rtlCol="0" anchor="ctr"/>
          <a:lstStyle/>
          <a:p>
            <a:pPr marL="0" indent="0" algn="ctr">
              <a:buNone/>
            </a:pPr>
            <a:r>
              <a:rPr lang="en-US" sz="950" b="1" dirty="0">
                <a:solidFill>
                  <a:srgbClr val="A3E635"/>
                </a:solidFill>
                <a:latin typeface="Arial" pitchFamily="34" charset="0"/>
                <a:ea typeface="Arial" pitchFamily="34" charset="-122"/>
                <a:cs typeface="Arial" pitchFamily="34" charset="-120"/>
              </a:rPr>
              <a:t>Temel düzen</a:t>
            </a:r>
            <a:endParaRPr lang="en-US" sz="950" dirty="0"/>
          </a:p>
        </p:txBody>
      </p:sp>
      <p:sp>
        <p:nvSpPr>
          <p:cNvPr id="34" name="Text 32"/>
          <p:cNvSpPr txBox="1"/>
          <p:nvPr/>
        </p:nvSpPr>
        <p:spPr>
          <a:xfrm>
            <a:off x="6144768" y="2971800"/>
            <a:ext cx="2258568" cy="256032"/>
          </a:xfrm>
          <a:prstGeom prst="roundRect">
            <a:avLst>
              <a:gd name="adj" fmla="val 42857"/>
            </a:avLst>
          </a:prstGeom>
          <a:solidFill>
            <a:srgbClr val="232A55"/>
          </a:solidFill>
          <a:ln w="12700">
            <a:solidFill>
              <a:srgbClr val="A3E635"/>
            </a:solidFill>
          </a:ln>
        </p:spPr>
        <p:txBody>
          <a:bodyPr wrap="square" lIns="0" tIns="0" rIns="0" bIns="0" rtlCol="0" anchor="ctr"/>
          <a:lstStyle/>
          <a:p>
            <a:pPr marL="0" indent="0" algn="ctr">
              <a:buNone/>
            </a:pPr>
            <a:r>
              <a:rPr lang="en-US" sz="950" b="1" dirty="0">
                <a:solidFill>
                  <a:srgbClr val="A3E635"/>
                </a:solidFill>
                <a:latin typeface="Arial" pitchFamily="34" charset="0"/>
                <a:ea typeface="Arial" pitchFamily="34" charset="-122"/>
                <a:cs typeface="Arial" pitchFamily="34" charset="-120"/>
              </a:rPr>
              <a:t>Mobil öncelikli</a:t>
            </a:r>
            <a:endParaRPr lang="en-US" sz="950" dirty="0"/>
          </a:p>
        </p:txBody>
      </p:sp>
      <p:sp>
        <p:nvSpPr>
          <p:cNvPr id="35" name="benzetme"/>
          <p:cNvSpPr/>
          <p:nvPr/>
        </p:nvSpPr>
        <p:spPr>
          <a:xfrm>
            <a:off x="548640" y="4224528"/>
            <a:ext cx="8046720" cy="402336"/>
          </a:xfrm>
          <a:prstGeom prst="roundRect">
            <a:avLst>
              <a:gd name="adj" fmla="val 50000"/>
            </a:avLst>
          </a:prstGeom>
          <a:solidFill>
            <a:srgbClr val="232A55"/>
          </a:solidFill>
          <a:ln/>
        </p:spPr>
      </p:sp>
      <p:sp>
        <p:nvSpPr>
          <p:cNvPr id="36" name="benzetme-ikon"/>
          <p:cNvSpPr/>
          <p:nvPr/>
        </p:nvSpPr>
        <p:spPr>
          <a:xfrm>
            <a:off x="621792" y="4261104"/>
            <a:ext cx="329184" cy="329184"/>
          </a:xfrm>
          <a:prstGeom prst="ellipse">
            <a:avLst/>
          </a:prstGeom>
          <a:solidFill>
            <a:srgbClr val="FBBF24"/>
          </a:solidFill>
          <a:ln/>
        </p:spPr>
      </p:sp>
      <p:sp>
        <p:nvSpPr>
          <p:cNvPr id="37" name="Text 35"/>
          <p:cNvSpPr txBox="1"/>
          <p:nvPr/>
        </p:nvSpPr>
        <p:spPr>
          <a:xfrm>
            <a:off x="621792" y="4261104"/>
            <a:ext cx="329184" cy="329184"/>
          </a:xfrm>
          <a:prstGeom prst="rect">
            <a:avLst/>
          </a:prstGeom>
          <a:noFill/>
          <a:ln/>
        </p:spPr>
        <p:txBody>
          <a:bodyPr wrap="square" lIns="0" tIns="0" rIns="0" bIns="0" rtlCol="0" anchor="ctr"/>
          <a:lstStyle/>
          <a:p>
            <a:pPr marL="0" indent="0" algn="ctr">
              <a:buNone/>
            </a:pPr>
            <a:r>
              <a:rPr lang="en-US" sz="1600" b="1" dirty="0">
                <a:solidFill>
                  <a:srgbClr val="10142B"/>
                </a:solidFill>
                <a:latin typeface="Arial" pitchFamily="34" charset="0"/>
                <a:ea typeface="Arial" pitchFamily="34" charset="-122"/>
                <a:cs typeface="Arial" pitchFamily="34" charset="-120"/>
              </a:rPr>
              <a:t>≈</a:t>
            </a:r>
            <a:endParaRPr lang="en-US" sz="1600" dirty="0"/>
          </a:p>
        </p:txBody>
      </p:sp>
      <p:sp>
        <p:nvSpPr>
          <p:cNvPr id="38" name="Text 36"/>
          <p:cNvSpPr txBox="1"/>
          <p:nvPr/>
        </p:nvSpPr>
        <p:spPr>
          <a:xfrm>
            <a:off x="1042416" y="4224528"/>
            <a:ext cx="7452360" cy="402336"/>
          </a:xfrm>
          <a:prstGeom prst="rect">
            <a:avLst/>
          </a:prstGeom>
          <a:noFill/>
          <a:ln/>
        </p:spPr>
        <p:txBody>
          <a:bodyPr wrap="square" lIns="0" tIns="0" rIns="0" bIns="0" rtlCol="0" anchor="ctr"/>
          <a:lstStyle/>
          <a:p>
            <a:pPr marL="0" indent="0">
              <a:buNone/>
            </a:pPr>
            <a:r>
              <a:rPr lang="en-US" sz="1100" b="1" dirty="0">
                <a:solidFill>
                  <a:srgbClr val="FBBF24"/>
                </a:solidFill>
                <a:latin typeface="Arial" pitchFamily="34" charset="0"/>
                <a:ea typeface="Arial" pitchFamily="34" charset="-122"/>
                <a:cs typeface="Arial" pitchFamily="34" charset="-120"/>
              </a:rPr>
              <a:t>Gündelik hayatta: </a:t>
            </a:r>
            <a:r>
              <a:rPr lang="en-US" sz="1100" dirty="0">
                <a:solidFill>
                  <a:srgbClr val="EEF0F8"/>
                </a:solidFill>
                <a:latin typeface="Arial" pitchFamily="34" charset="0"/>
                <a:ea typeface="Arial" pitchFamily="34" charset="-122"/>
                <a:cs typeface="Arial" pitchFamily="34" charset="-120"/>
              </a:rPr>
              <a:t>ehliyet gibi: dersler teorik sınav, testler deneme sınavı, uygulama görevleri direksiyon sınavıdır.</a:t>
            </a:r>
            <a:endParaRPr lang="en-US" sz="1100" dirty="0"/>
          </a:p>
        </p:txBody>
      </p:sp>
    </p:spTree>
  </p:cSld>
  <p:clrMapOvr>
    <a:masterClrMapping/>
  </p:clrMapOvr>
  <p:transition spd="med">
    <p:pull/>
  </p:transition>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txBox="1"/>
          <p:nvPr/>
        </p:nvSpPr>
        <p:spPr>
          <a:xfrm>
            <a:off x="548640" y="256032"/>
            <a:ext cx="4572000" cy="201168"/>
          </a:xfrm>
          <a:prstGeom prst="rect">
            <a:avLst/>
          </a:prstGeom>
          <a:noFill/>
          <a:ln/>
        </p:spPr>
        <p:txBody>
          <a:bodyPr wrap="square" lIns="0" tIns="0" rIns="0" bIns="0" rtlCol="0" anchor="t"/>
          <a:lstStyle/>
          <a:p>
            <a:pPr marL="0" indent="0">
              <a:buNone/>
            </a:pPr>
            <a:r>
              <a:rPr lang="en-US" sz="900" b="1" kern="0" spc="200" dirty="0">
                <a:solidFill>
                  <a:srgbClr val="8B7CFF"/>
                </a:solidFill>
                <a:latin typeface="Arial" pitchFamily="34" charset="0"/>
                <a:ea typeface="Arial" pitchFamily="34" charset="-122"/>
                <a:cs typeface="Arial" pitchFamily="34" charset="-120"/>
              </a:rPr>
              <a:t>KAPANIŞ</a:t>
            </a:r>
            <a:endParaRPr lang="en-US" sz="900" dirty="0"/>
          </a:p>
        </p:txBody>
      </p:sp>
      <p:sp>
        <p:nvSpPr>
          <p:cNvPr id="3" name="mini-box-0"/>
          <p:cNvSpPr/>
          <p:nvPr/>
        </p:nvSpPr>
        <p:spPr>
          <a:xfrm>
            <a:off x="8229600" y="201168"/>
            <a:ext cx="384048" cy="384048"/>
          </a:xfrm>
          <a:prstGeom prst="rect">
            <a:avLst/>
          </a:prstGeom>
          <a:ln w="9525">
            <a:solidFill>
              <a:srgbClr val="8B7CFF"/>
            </a:solidFill>
            <a:prstDash val="solid"/>
          </a:ln>
        </p:spPr>
      </p:sp>
      <p:sp>
        <p:nvSpPr>
          <p:cNvPr id="4" name="mini-box-1"/>
          <p:cNvSpPr/>
          <p:nvPr/>
        </p:nvSpPr>
        <p:spPr>
          <a:xfrm>
            <a:off x="8293608" y="265176"/>
            <a:ext cx="256032" cy="256032"/>
          </a:xfrm>
          <a:prstGeom prst="rect">
            <a:avLst/>
          </a:prstGeom>
          <a:ln w="9525">
            <a:solidFill>
              <a:srgbClr val="EEF0F8"/>
            </a:solidFill>
            <a:prstDash val="solid"/>
          </a:ln>
        </p:spPr>
      </p:sp>
      <p:sp>
        <p:nvSpPr>
          <p:cNvPr id="5" name="mini-box-2"/>
          <p:cNvSpPr/>
          <p:nvPr/>
        </p:nvSpPr>
        <p:spPr>
          <a:xfrm>
            <a:off x="8348472" y="320040"/>
            <a:ext cx="146304" cy="146304"/>
          </a:xfrm>
          <a:prstGeom prst="rect">
            <a:avLst/>
          </a:prstGeom>
          <a:solidFill>
            <a:srgbClr val="8B7CFF"/>
          </a:solidFill>
          <a:ln w="9525">
            <a:solidFill>
              <a:srgbClr val="8B7CFF"/>
            </a:solidFill>
            <a:prstDash val="solid"/>
          </a:ln>
        </p:spPr>
      </p:sp>
      <p:sp>
        <p:nvSpPr>
          <p:cNvPr id="6" name="ilerleme-zemin"/>
          <p:cNvSpPr/>
          <p:nvPr/>
        </p:nvSpPr>
        <p:spPr>
          <a:xfrm>
            <a:off x="0" y="5070348"/>
            <a:ext cx="9144000" cy="73152"/>
          </a:xfrm>
          <a:prstGeom prst="rect">
            <a:avLst/>
          </a:prstGeom>
          <a:solidFill>
            <a:srgbClr val="1A2044"/>
          </a:solidFill>
          <a:ln/>
        </p:spPr>
      </p:sp>
      <p:sp>
        <p:nvSpPr>
          <p:cNvPr id="7" name="ilerleme"/>
          <p:cNvSpPr/>
          <p:nvPr/>
        </p:nvSpPr>
        <p:spPr>
          <a:xfrm>
            <a:off x="0" y="5070348"/>
            <a:ext cx="8718698" cy="73152"/>
          </a:xfrm>
          <a:prstGeom prst="rect">
            <a:avLst/>
          </a:prstGeom>
          <a:solidFill>
            <a:srgbClr val="8B7CFF"/>
          </a:solidFill>
          <a:ln/>
        </p:spPr>
      </p:sp>
      <p:sp>
        <p:nvSpPr>
          <p:cNvPr id="8" name="Text 6"/>
          <p:cNvSpPr txBox="1"/>
          <p:nvPr/>
        </p:nvSpPr>
        <p:spPr>
          <a:xfrm>
            <a:off x="548640" y="4791456"/>
            <a:ext cx="3657600" cy="201168"/>
          </a:xfrm>
          <a:prstGeom prst="rect">
            <a:avLst/>
          </a:prstGeom>
          <a:noFill/>
          <a:ln/>
        </p:spPr>
        <p:txBody>
          <a:bodyPr wrap="square" lIns="0" tIns="0" rIns="0" bIns="0" rtlCol="0" anchor="t"/>
          <a:lstStyle/>
          <a:p>
            <a:pPr marL="0" indent="0">
              <a:buNone/>
            </a:pPr>
            <a:r>
              <a:rPr lang="en-US" sz="850" dirty="0">
                <a:solidFill>
                  <a:srgbClr val="6C759E"/>
                </a:solidFill>
                <a:latin typeface="Arial" pitchFamily="34" charset="0"/>
                <a:ea typeface="Arial" pitchFamily="34" charset="-122"/>
                <a:cs typeface="Arial" pitchFamily="34" charset="-120"/>
              </a:rPr>
              <a:t>KCŞ A.Ş.  ·  CSS ile stil ve düzen</a:t>
            </a:r>
            <a:endParaRPr lang="en-US" sz="850" dirty="0"/>
          </a:p>
        </p:txBody>
      </p:sp>
      <p:sp>
        <p:nvSpPr>
          <p:cNvPr id="9" name="Text 7"/>
          <p:cNvSpPr txBox="1"/>
          <p:nvPr/>
        </p:nvSpPr>
        <p:spPr>
          <a:xfrm>
            <a:off x="4206240" y="4791456"/>
            <a:ext cx="3840480" cy="201168"/>
          </a:xfrm>
          <a:prstGeom prst="rect">
            <a:avLst/>
          </a:prstGeom>
          <a:noFill/>
          <a:ln/>
        </p:spPr>
        <p:txBody>
          <a:bodyPr wrap="square" lIns="0" tIns="0" rIns="0" bIns="0" rtlCol="0" anchor="t"/>
          <a:lstStyle/>
          <a:p>
            <a:pPr marL="0" indent="0" algn="r">
              <a:buNone/>
            </a:pPr>
            <a:r>
              <a:rPr lang="en-US" sz="850" dirty="0">
                <a:solidFill>
                  <a:srgbClr val="6C759E"/>
                </a:solidFill>
                <a:latin typeface="Arial" pitchFamily="34" charset="0"/>
                <a:ea typeface="Arial" pitchFamily="34" charset="-122"/>
                <a:cs typeface="Arial" pitchFamily="34" charset="-120"/>
              </a:rPr>
              <a:t>MDN · Additional tutorials</a:t>
            </a:r>
            <a:endParaRPr lang="en-US" sz="850" dirty="0"/>
          </a:p>
        </p:txBody>
      </p:sp>
      <p:sp>
        <p:nvSpPr>
          <p:cNvPr id="10" name="Text 8"/>
          <p:cNvSpPr txBox="1"/>
          <p:nvPr/>
        </p:nvSpPr>
        <p:spPr>
          <a:xfrm>
            <a:off x="8092440" y="4791456"/>
            <a:ext cx="685800" cy="201168"/>
          </a:xfrm>
          <a:prstGeom prst="rect">
            <a:avLst/>
          </a:prstGeom>
          <a:noFill/>
          <a:ln/>
        </p:spPr>
        <p:txBody>
          <a:bodyPr wrap="square" lIns="0" tIns="0" rIns="0" bIns="0" rtlCol="0" anchor="t"/>
          <a:lstStyle/>
          <a:p>
            <a:pPr marL="0" indent="0" algn="r">
              <a:buNone/>
            </a:pPr>
            <a:r>
              <a:rPr lang="en-US" sz="850" dirty="0">
                <a:solidFill>
                  <a:srgbClr val="9AA3C7"/>
                </a:solidFill>
                <a:latin typeface="Courier New" pitchFamily="34" charset="0"/>
                <a:ea typeface="Courier New" pitchFamily="34" charset="-122"/>
                <a:cs typeface="Courier New" pitchFamily="34" charset="-120"/>
              </a:rPr>
              <a:t>41 / 43</a:t>
            </a:r>
            <a:endParaRPr lang="en-US" sz="850" dirty="0"/>
          </a:p>
        </p:txBody>
      </p:sp>
      <p:sp>
        <p:nvSpPr>
          <p:cNvPr id="11" name="Text 9"/>
          <p:cNvSpPr txBox="1"/>
          <p:nvPr/>
        </p:nvSpPr>
        <p:spPr>
          <a:xfrm>
            <a:off x="548640" y="502920"/>
            <a:ext cx="5943600" cy="237744"/>
          </a:xfrm>
          <a:prstGeom prst="rect">
            <a:avLst/>
          </a:prstGeom>
          <a:noFill/>
          <a:ln/>
        </p:spPr>
        <p:txBody>
          <a:bodyPr wrap="square" lIns="0" tIns="0" rIns="0" bIns="0" rtlCol="0" anchor="t"/>
          <a:lstStyle/>
          <a:p>
            <a:pPr marL="0" indent="0">
              <a:buNone/>
            </a:pPr>
            <a:r>
              <a:rPr lang="en-US" sz="1100" b="1" dirty="0">
                <a:solidFill>
                  <a:srgbClr val="8B7CFF"/>
                </a:solidFill>
                <a:latin typeface="Courier New" pitchFamily="34" charset="0"/>
                <a:ea typeface="Courier New" pitchFamily="34" charset="-122"/>
                <a:cs typeface="Courier New" pitchFamily="34" charset="-120"/>
              </a:rPr>
              <a:t>Additional tutorials</a:t>
            </a:r>
            <a:endParaRPr lang="en-US" sz="1100" dirty="0"/>
          </a:p>
        </p:txBody>
      </p:sp>
      <p:sp>
        <p:nvSpPr>
          <p:cNvPr id="12" name="Text 10"/>
          <p:cNvSpPr txBox="1"/>
          <p:nvPr/>
        </p:nvSpPr>
        <p:spPr>
          <a:xfrm>
            <a:off x="548640" y="749808"/>
            <a:ext cx="7589520" cy="502920"/>
          </a:xfrm>
          <a:prstGeom prst="rect">
            <a:avLst/>
          </a:prstGeom>
          <a:noFill/>
          <a:ln/>
        </p:spPr>
        <p:txBody>
          <a:bodyPr wrap="square" lIns="0" tIns="0" rIns="0" bIns="0" rtlCol="0" anchor="ctr"/>
          <a:lstStyle/>
          <a:p>
            <a:pPr marL="0" indent="0">
              <a:buNone/>
            </a:pPr>
            <a:r>
              <a:rPr lang="en-US" sz="2400" b="1" dirty="0">
                <a:solidFill>
                  <a:srgbClr val="EEF0F8"/>
                </a:solidFill>
                <a:latin typeface="Arial" pitchFamily="34" charset="0"/>
                <a:ea typeface="Arial" pitchFamily="34" charset="-122"/>
                <a:cs typeface="Arial" pitchFamily="34" charset="-120"/>
              </a:rPr>
              <a:t>Ek kılavuzlar: bir sonraki adım</a:t>
            </a:r>
            <a:endParaRPr lang="en-US" sz="2400" dirty="0"/>
          </a:p>
        </p:txBody>
      </p:sp>
      <p:sp>
        <p:nvSpPr>
          <p:cNvPr id="13" name="ek-0"/>
          <p:cNvSpPr/>
          <p:nvPr/>
        </p:nvSpPr>
        <p:spPr>
          <a:xfrm>
            <a:off x="548640" y="1371600"/>
            <a:ext cx="1901952" cy="1261872"/>
          </a:xfrm>
          <a:prstGeom prst="roundRect">
            <a:avLst>
              <a:gd name="adj" fmla="val 5797"/>
            </a:avLst>
          </a:prstGeom>
          <a:solidFill>
            <a:srgbClr val="1A2044"/>
          </a:solidFill>
          <a:ln w="9525">
            <a:solidFill>
              <a:srgbClr val="22D3EE"/>
            </a:solidFill>
            <a:prstDash val="solid"/>
          </a:ln>
        </p:spPr>
      </p:sp>
      <p:sp>
        <p:nvSpPr>
          <p:cNvPr id="14" name="Text 12"/>
          <p:cNvSpPr txBox="1"/>
          <p:nvPr/>
        </p:nvSpPr>
        <p:spPr>
          <a:xfrm>
            <a:off x="685800" y="1481328"/>
            <a:ext cx="1645920" cy="457200"/>
          </a:xfrm>
          <a:prstGeom prst="rect">
            <a:avLst/>
          </a:prstGeom>
          <a:noFill/>
          <a:ln/>
        </p:spPr>
        <p:txBody>
          <a:bodyPr wrap="square" lIns="0" tIns="0" rIns="0" bIns="0" rtlCol="0" anchor="t"/>
          <a:lstStyle/>
          <a:p>
            <a:pPr marL="0" indent="0">
              <a:buNone/>
            </a:pPr>
            <a:r>
              <a:rPr lang="en-US" sz="1150" b="1" dirty="0">
                <a:solidFill>
                  <a:srgbClr val="EEF0F8"/>
                </a:solidFill>
                <a:latin typeface="Arial" pitchFamily="34" charset="0"/>
                <a:ea typeface="Arial" pitchFamily="34" charset="-122"/>
                <a:cs typeface="Arial" pitchFamily="34" charset="-120"/>
              </a:rPr>
              <a:t>Gelişmiş efektler</a:t>
            </a:r>
            <a:endParaRPr lang="en-US" sz="1150" dirty="0"/>
          </a:p>
        </p:txBody>
      </p:sp>
      <p:sp>
        <p:nvSpPr>
          <p:cNvPr id="15" name="Text 13"/>
          <p:cNvSpPr txBox="1"/>
          <p:nvPr/>
        </p:nvSpPr>
        <p:spPr>
          <a:xfrm>
            <a:off x="685800" y="1965960"/>
            <a:ext cx="1645920" cy="594360"/>
          </a:xfrm>
          <a:prstGeom prst="rect">
            <a:avLst/>
          </a:prstGeom>
          <a:noFill/>
          <a:ln/>
        </p:spPr>
        <p:txBody>
          <a:bodyPr wrap="square" lIns="0" tIns="0" rIns="0" bIns="0" rtlCol="0" anchor="t"/>
          <a:lstStyle/>
          <a:p>
            <a:pPr marL="0" indent="0">
              <a:buNone/>
            </a:pPr>
            <a:r>
              <a:rPr lang="en-US" sz="950" dirty="0">
                <a:solidFill>
                  <a:srgbClr val="9AA3C7"/>
                </a:solidFill>
                <a:latin typeface="Arial" pitchFamily="34" charset="0"/>
                <a:ea typeface="Arial" pitchFamily="34" charset="-122"/>
                <a:cs typeface="Arial" pitchFamily="34" charset="-120"/>
              </a:rPr>
              <a:t>box-shadow, filter, karışım modları</a:t>
            </a:r>
            <a:endParaRPr lang="en-US" sz="950" dirty="0"/>
          </a:p>
        </p:txBody>
      </p:sp>
      <p:sp>
        <p:nvSpPr>
          <p:cNvPr id="16" name="ek-1"/>
          <p:cNvSpPr/>
          <p:nvPr/>
        </p:nvSpPr>
        <p:spPr>
          <a:xfrm>
            <a:off x="2578608" y="1371600"/>
            <a:ext cx="1901952" cy="1261872"/>
          </a:xfrm>
          <a:prstGeom prst="roundRect">
            <a:avLst>
              <a:gd name="adj" fmla="val 5797"/>
            </a:avLst>
          </a:prstGeom>
          <a:solidFill>
            <a:srgbClr val="1A2044"/>
          </a:solidFill>
          <a:ln w="9525">
            <a:solidFill>
              <a:srgbClr val="22D3EE"/>
            </a:solidFill>
            <a:prstDash val="solid"/>
          </a:ln>
        </p:spPr>
      </p:sp>
      <p:sp>
        <p:nvSpPr>
          <p:cNvPr id="17" name="Text 15"/>
          <p:cNvSpPr txBox="1"/>
          <p:nvPr/>
        </p:nvSpPr>
        <p:spPr>
          <a:xfrm>
            <a:off x="2715768" y="1481328"/>
            <a:ext cx="1645920" cy="457200"/>
          </a:xfrm>
          <a:prstGeom prst="rect">
            <a:avLst/>
          </a:prstGeom>
          <a:noFill/>
          <a:ln/>
        </p:spPr>
        <p:txBody>
          <a:bodyPr wrap="square" lIns="0" tIns="0" rIns="0" bIns="0" rtlCol="0" anchor="t"/>
          <a:lstStyle/>
          <a:p>
            <a:pPr marL="0" indent="0">
              <a:buNone/>
            </a:pPr>
            <a:r>
              <a:rPr lang="en-US" sz="1150" b="1" dirty="0">
                <a:solidFill>
                  <a:srgbClr val="EEF0F8"/>
                </a:solidFill>
                <a:latin typeface="Arial" pitchFamily="34" charset="0"/>
                <a:ea typeface="Arial" pitchFamily="34" charset="-122"/>
                <a:cs typeface="Arial" pitchFamily="34" charset="-120"/>
              </a:rPr>
              <a:t>Cascade layers</a:t>
            </a:r>
            <a:endParaRPr lang="en-US" sz="1150" dirty="0"/>
          </a:p>
        </p:txBody>
      </p:sp>
      <p:sp>
        <p:nvSpPr>
          <p:cNvPr id="18" name="Text 16"/>
          <p:cNvSpPr txBox="1"/>
          <p:nvPr/>
        </p:nvSpPr>
        <p:spPr>
          <a:xfrm>
            <a:off x="2715768" y="1965960"/>
            <a:ext cx="1645920" cy="594360"/>
          </a:xfrm>
          <a:prstGeom prst="rect">
            <a:avLst/>
          </a:prstGeom>
          <a:noFill/>
          <a:ln/>
        </p:spPr>
        <p:txBody>
          <a:bodyPr wrap="square" lIns="0" tIns="0" rIns="0" bIns="0" rtlCol="0" anchor="t"/>
          <a:lstStyle/>
          <a:p>
            <a:pPr marL="0" indent="0">
              <a:buNone/>
            </a:pPr>
            <a:r>
              <a:rPr lang="en-US" sz="950" dirty="0">
                <a:solidFill>
                  <a:srgbClr val="9AA3C7"/>
                </a:solidFill>
                <a:latin typeface="Arial" pitchFamily="34" charset="0"/>
                <a:ea typeface="Arial" pitchFamily="34" charset="-122"/>
                <a:cs typeface="Arial" pitchFamily="34" charset="-120"/>
              </a:rPr>
              <a:t>@layer ile kuralları katmanlara ayırma</a:t>
            </a:r>
            <a:endParaRPr lang="en-US" sz="950" dirty="0"/>
          </a:p>
        </p:txBody>
      </p:sp>
      <p:sp>
        <p:nvSpPr>
          <p:cNvPr id="19" name="ek-2"/>
          <p:cNvSpPr/>
          <p:nvPr/>
        </p:nvSpPr>
        <p:spPr>
          <a:xfrm>
            <a:off x="4608576" y="1371600"/>
            <a:ext cx="1901952" cy="1261872"/>
          </a:xfrm>
          <a:prstGeom prst="roundRect">
            <a:avLst>
              <a:gd name="adj" fmla="val 5797"/>
            </a:avLst>
          </a:prstGeom>
          <a:solidFill>
            <a:srgbClr val="1A2044"/>
          </a:solidFill>
          <a:ln w="9525">
            <a:solidFill>
              <a:srgbClr val="22D3EE"/>
            </a:solidFill>
            <a:prstDash val="solid"/>
          </a:ln>
        </p:spPr>
      </p:sp>
      <p:sp>
        <p:nvSpPr>
          <p:cNvPr id="20" name="Text 18"/>
          <p:cNvSpPr txBox="1"/>
          <p:nvPr/>
        </p:nvSpPr>
        <p:spPr>
          <a:xfrm>
            <a:off x="4745736" y="1481328"/>
            <a:ext cx="1645920" cy="457200"/>
          </a:xfrm>
          <a:prstGeom prst="rect">
            <a:avLst/>
          </a:prstGeom>
          <a:noFill/>
          <a:ln/>
        </p:spPr>
        <p:txBody>
          <a:bodyPr wrap="square" lIns="0" tIns="0" rIns="0" bIns="0" rtlCol="0" anchor="t"/>
          <a:lstStyle/>
          <a:p>
            <a:pPr marL="0" indent="0">
              <a:buNone/>
            </a:pPr>
            <a:r>
              <a:rPr lang="en-US" sz="1150" b="1" dirty="0">
                <a:solidFill>
                  <a:srgbClr val="EEF0F8"/>
                </a:solidFill>
                <a:latin typeface="Arial" pitchFamily="34" charset="0"/>
                <a:ea typeface="Arial" pitchFamily="34" charset="-122"/>
                <a:cs typeface="Arial" pitchFamily="34" charset="-120"/>
              </a:rPr>
              <a:t>Çok yönlü metin</a:t>
            </a:r>
            <a:endParaRPr lang="en-US" sz="1150" dirty="0"/>
          </a:p>
        </p:txBody>
      </p:sp>
      <p:sp>
        <p:nvSpPr>
          <p:cNvPr id="21" name="Text 19"/>
          <p:cNvSpPr txBox="1"/>
          <p:nvPr/>
        </p:nvSpPr>
        <p:spPr>
          <a:xfrm>
            <a:off x="4745736" y="1965960"/>
            <a:ext cx="1645920" cy="594360"/>
          </a:xfrm>
          <a:prstGeom prst="rect">
            <a:avLst/>
          </a:prstGeom>
          <a:noFill/>
          <a:ln/>
        </p:spPr>
        <p:txBody>
          <a:bodyPr wrap="square" lIns="0" tIns="0" rIns="0" bIns="0" rtlCol="0" anchor="t"/>
          <a:lstStyle/>
          <a:p>
            <a:pPr marL="0" indent="0">
              <a:buNone/>
            </a:pPr>
            <a:r>
              <a:rPr lang="en-US" sz="950" dirty="0">
                <a:solidFill>
                  <a:srgbClr val="9AA3C7"/>
                </a:solidFill>
                <a:latin typeface="Arial" pitchFamily="34" charset="0"/>
                <a:ea typeface="Arial" pitchFamily="34" charset="-122"/>
                <a:cs typeface="Arial" pitchFamily="34" charset="-120"/>
              </a:rPr>
              <a:t>writing-mode ve mantıksal özellikler</a:t>
            </a:r>
            <a:endParaRPr lang="en-US" sz="950" dirty="0"/>
          </a:p>
        </p:txBody>
      </p:sp>
      <p:sp>
        <p:nvSpPr>
          <p:cNvPr id="22" name="ek-3"/>
          <p:cNvSpPr/>
          <p:nvPr/>
        </p:nvSpPr>
        <p:spPr>
          <a:xfrm>
            <a:off x="6638544" y="1371600"/>
            <a:ext cx="1901952" cy="1261872"/>
          </a:xfrm>
          <a:prstGeom prst="roundRect">
            <a:avLst>
              <a:gd name="adj" fmla="val 5797"/>
            </a:avLst>
          </a:prstGeom>
          <a:solidFill>
            <a:srgbClr val="1A2044"/>
          </a:solidFill>
          <a:ln w="9525">
            <a:solidFill>
              <a:srgbClr val="22D3EE"/>
            </a:solidFill>
            <a:prstDash val="solid"/>
          </a:ln>
        </p:spPr>
      </p:sp>
      <p:sp>
        <p:nvSpPr>
          <p:cNvPr id="23" name="Text 21"/>
          <p:cNvSpPr txBox="1"/>
          <p:nvPr/>
        </p:nvSpPr>
        <p:spPr>
          <a:xfrm>
            <a:off x="6775704" y="1481328"/>
            <a:ext cx="1645920" cy="457200"/>
          </a:xfrm>
          <a:prstGeom prst="rect">
            <a:avLst/>
          </a:prstGeom>
          <a:noFill/>
          <a:ln/>
        </p:spPr>
        <p:txBody>
          <a:bodyPr wrap="square" lIns="0" tIns="0" rIns="0" bIns="0" rtlCol="0" anchor="t"/>
          <a:lstStyle/>
          <a:p>
            <a:pPr marL="0" indent="0">
              <a:buNone/>
            </a:pPr>
            <a:r>
              <a:rPr lang="en-US" sz="1150" b="1" dirty="0">
                <a:solidFill>
                  <a:srgbClr val="EEF0F8"/>
                </a:solidFill>
                <a:latin typeface="Arial" pitchFamily="34" charset="0"/>
                <a:ea typeface="Arial" pitchFamily="34" charset="-122"/>
                <a:cs typeface="Arial" pitchFamily="34" charset="-120"/>
              </a:rPr>
              <a:t>CSS'i düzenlemek</a:t>
            </a:r>
            <a:endParaRPr lang="en-US" sz="1150" dirty="0"/>
          </a:p>
        </p:txBody>
      </p:sp>
      <p:sp>
        <p:nvSpPr>
          <p:cNvPr id="24" name="Text 22"/>
          <p:cNvSpPr txBox="1"/>
          <p:nvPr/>
        </p:nvSpPr>
        <p:spPr>
          <a:xfrm>
            <a:off x="6775704" y="1965960"/>
            <a:ext cx="1645920" cy="594360"/>
          </a:xfrm>
          <a:prstGeom prst="rect">
            <a:avLst/>
          </a:prstGeom>
          <a:noFill/>
          <a:ln/>
        </p:spPr>
        <p:txBody>
          <a:bodyPr wrap="square" lIns="0" tIns="0" rIns="0" bIns="0" rtlCol="0" anchor="t"/>
          <a:lstStyle/>
          <a:p>
            <a:pPr marL="0" indent="0">
              <a:buNone/>
            </a:pPr>
            <a:r>
              <a:rPr lang="en-US" sz="950" dirty="0">
                <a:solidFill>
                  <a:srgbClr val="9AA3C7"/>
                </a:solidFill>
                <a:latin typeface="Arial" pitchFamily="34" charset="0"/>
                <a:ea typeface="Arial" pitchFamily="34" charset="-122"/>
                <a:cs typeface="Arial" pitchFamily="34" charset="-120"/>
              </a:rPr>
              <a:t>yorumlar, stil rehberi, metodolojiler</a:t>
            </a:r>
            <a:endParaRPr lang="en-US" sz="950" dirty="0"/>
          </a:p>
        </p:txBody>
      </p:sp>
      <p:sp>
        <p:nvSpPr>
          <p:cNvPr id="25" name="ek-4"/>
          <p:cNvSpPr/>
          <p:nvPr/>
        </p:nvSpPr>
        <p:spPr>
          <a:xfrm>
            <a:off x="548640" y="2743200"/>
            <a:ext cx="1901952" cy="1261872"/>
          </a:xfrm>
          <a:prstGeom prst="roundRect">
            <a:avLst>
              <a:gd name="adj" fmla="val 5797"/>
            </a:avLst>
          </a:prstGeom>
          <a:solidFill>
            <a:srgbClr val="1A2044"/>
          </a:solidFill>
          <a:ln w="9525">
            <a:solidFill>
              <a:srgbClr val="A3E635"/>
            </a:solidFill>
            <a:prstDash val="solid"/>
          </a:ln>
        </p:spPr>
      </p:sp>
      <p:sp>
        <p:nvSpPr>
          <p:cNvPr id="26" name="Text 24"/>
          <p:cNvSpPr txBox="1"/>
          <p:nvPr/>
        </p:nvSpPr>
        <p:spPr>
          <a:xfrm>
            <a:off x="685800" y="2852928"/>
            <a:ext cx="1645920" cy="457200"/>
          </a:xfrm>
          <a:prstGeom prst="rect">
            <a:avLst/>
          </a:prstGeom>
          <a:noFill/>
          <a:ln/>
        </p:spPr>
        <p:txBody>
          <a:bodyPr wrap="square" lIns="0" tIns="0" rIns="0" bIns="0" rtlCol="0" anchor="t"/>
          <a:lstStyle/>
          <a:p>
            <a:pPr marL="0" indent="0">
              <a:buNone/>
            </a:pPr>
            <a:r>
              <a:rPr lang="en-US" sz="1150" b="1" dirty="0">
                <a:solidFill>
                  <a:srgbClr val="EEF0F8"/>
                </a:solidFill>
                <a:latin typeface="Arial" pitchFamily="34" charset="0"/>
                <a:ea typeface="Arial" pitchFamily="34" charset="-122"/>
                <a:cs typeface="Arial" pitchFamily="34" charset="-120"/>
              </a:rPr>
              <a:t>Çok sütunlu düzen</a:t>
            </a:r>
            <a:endParaRPr lang="en-US" sz="1150" dirty="0"/>
          </a:p>
        </p:txBody>
      </p:sp>
      <p:sp>
        <p:nvSpPr>
          <p:cNvPr id="27" name="Text 25"/>
          <p:cNvSpPr txBox="1"/>
          <p:nvPr/>
        </p:nvSpPr>
        <p:spPr>
          <a:xfrm>
            <a:off x="685800" y="3337560"/>
            <a:ext cx="1645920" cy="594360"/>
          </a:xfrm>
          <a:prstGeom prst="rect">
            <a:avLst/>
          </a:prstGeom>
          <a:noFill/>
          <a:ln/>
        </p:spPr>
        <p:txBody>
          <a:bodyPr wrap="square" lIns="0" tIns="0" rIns="0" bIns="0" rtlCol="0" anchor="t"/>
          <a:lstStyle/>
          <a:p>
            <a:pPr marL="0" indent="0">
              <a:buNone/>
            </a:pPr>
            <a:r>
              <a:rPr lang="en-US" sz="950" dirty="0">
                <a:solidFill>
                  <a:srgbClr val="9AA3C7"/>
                </a:solidFill>
                <a:latin typeface="Arial" pitchFamily="34" charset="0"/>
                <a:ea typeface="Arial" pitchFamily="34" charset="-122"/>
                <a:cs typeface="Arial" pitchFamily="34" charset="-120"/>
              </a:rPr>
              <a:t>column-count, column-width</a:t>
            </a:r>
            <a:endParaRPr lang="en-US" sz="950" dirty="0"/>
          </a:p>
        </p:txBody>
      </p:sp>
      <p:sp>
        <p:nvSpPr>
          <p:cNvPr id="28" name="ek-5"/>
          <p:cNvSpPr/>
          <p:nvPr/>
        </p:nvSpPr>
        <p:spPr>
          <a:xfrm>
            <a:off x="2578608" y="2743200"/>
            <a:ext cx="1901952" cy="1261872"/>
          </a:xfrm>
          <a:prstGeom prst="roundRect">
            <a:avLst>
              <a:gd name="adj" fmla="val 5797"/>
            </a:avLst>
          </a:prstGeom>
          <a:solidFill>
            <a:srgbClr val="1A2044"/>
          </a:solidFill>
          <a:ln w="9525">
            <a:solidFill>
              <a:srgbClr val="A3E635"/>
            </a:solidFill>
            <a:prstDash val="solid"/>
          </a:ln>
        </p:spPr>
      </p:sp>
      <p:sp>
        <p:nvSpPr>
          <p:cNvPr id="29" name="Text 27"/>
          <p:cNvSpPr txBox="1"/>
          <p:nvPr/>
        </p:nvSpPr>
        <p:spPr>
          <a:xfrm>
            <a:off x="2715768" y="2852928"/>
            <a:ext cx="1645920" cy="457200"/>
          </a:xfrm>
          <a:prstGeom prst="rect">
            <a:avLst/>
          </a:prstGeom>
          <a:noFill/>
          <a:ln/>
        </p:spPr>
        <p:txBody>
          <a:bodyPr wrap="square" lIns="0" tIns="0" rIns="0" bIns="0" rtlCol="0" anchor="t"/>
          <a:lstStyle/>
          <a:p>
            <a:pPr marL="0" indent="0">
              <a:buNone/>
            </a:pPr>
            <a:r>
              <a:rPr lang="en-US" sz="1150" b="1" dirty="0">
                <a:solidFill>
                  <a:srgbClr val="EEF0F8"/>
                </a:solidFill>
                <a:latin typeface="Arial" pitchFamily="34" charset="0"/>
                <a:ea typeface="Arial" pitchFamily="34" charset="-122"/>
                <a:cs typeface="Arial" pitchFamily="34" charset="-120"/>
              </a:rPr>
              <a:t>Pratik konumlandırma</a:t>
            </a:r>
            <a:endParaRPr lang="en-US" sz="1150" dirty="0"/>
          </a:p>
        </p:txBody>
      </p:sp>
      <p:sp>
        <p:nvSpPr>
          <p:cNvPr id="30" name="Text 28"/>
          <p:cNvSpPr txBox="1"/>
          <p:nvPr/>
        </p:nvSpPr>
        <p:spPr>
          <a:xfrm>
            <a:off x="2715768" y="3337560"/>
            <a:ext cx="1645920" cy="594360"/>
          </a:xfrm>
          <a:prstGeom prst="rect">
            <a:avLst/>
          </a:prstGeom>
          <a:noFill/>
          <a:ln/>
        </p:spPr>
        <p:txBody>
          <a:bodyPr wrap="square" lIns="0" tIns="0" rIns="0" bIns="0" rtlCol="0" anchor="t"/>
          <a:lstStyle/>
          <a:p>
            <a:pPr marL="0" indent="0">
              <a:buNone/>
            </a:pPr>
            <a:r>
              <a:rPr lang="en-US" sz="950" dirty="0">
                <a:solidFill>
                  <a:srgbClr val="9AA3C7"/>
                </a:solidFill>
                <a:latin typeface="Arial" pitchFamily="34" charset="0"/>
                <a:ea typeface="Arial" pitchFamily="34" charset="-122"/>
                <a:cs typeface="Arial" pitchFamily="34" charset="-120"/>
              </a:rPr>
              <a:t>sekmeli kutu, kayan panel örnekleri</a:t>
            </a:r>
            <a:endParaRPr lang="en-US" sz="950" dirty="0"/>
          </a:p>
        </p:txBody>
      </p:sp>
      <p:sp>
        <p:nvSpPr>
          <p:cNvPr id="31" name="ek-6"/>
          <p:cNvSpPr/>
          <p:nvPr/>
        </p:nvSpPr>
        <p:spPr>
          <a:xfrm>
            <a:off x="4608576" y="2743200"/>
            <a:ext cx="1901952" cy="1261872"/>
          </a:xfrm>
          <a:prstGeom prst="roundRect">
            <a:avLst>
              <a:gd name="adj" fmla="val 5797"/>
            </a:avLst>
          </a:prstGeom>
          <a:solidFill>
            <a:srgbClr val="1A2044"/>
          </a:solidFill>
          <a:ln w="9525">
            <a:solidFill>
              <a:srgbClr val="A3E635"/>
            </a:solidFill>
            <a:prstDash val="solid"/>
          </a:ln>
        </p:spPr>
      </p:sp>
      <p:sp>
        <p:nvSpPr>
          <p:cNvPr id="32" name="Text 30"/>
          <p:cNvSpPr txBox="1"/>
          <p:nvPr/>
        </p:nvSpPr>
        <p:spPr>
          <a:xfrm>
            <a:off x="4745736" y="2852928"/>
            <a:ext cx="1645920" cy="457200"/>
          </a:xfrm>
          <a:prstGeom prst="rect">
            <a:avLst/>
          </a:prstGeom>
          <a:noFill/>
          <a:ln/>
        </p:spPr>
        <p:txBody>
          <a:bodyPr wrap="square" lIns="0" tIns="0" rIns="0" bIns="0" rtlCol="0" anchor="t"/>
          <a:lstStyle/>
          <a:p>
            <a:pPr marL="0" indent="0">
              <a:buNone/>
            </a:pPr>
            <a:r>
              <a:rPr lang="en-US" sz="1150" b="1" dirty="0">
                <a:solidFill>
                  <a:srgbClr val="EEF0F8"/>
                </a:solidFill>
                <a:latin typeface="Arial" pitchFamily="34" charset="0"/>
                <a:ea typeface="Arial" pitchFamily="34" charset="-122"/>
                <a:cs typeface="Arial" pitchFamily="34" charset="-120"/>
              </a:rPr>
              <a:t>Eski düzen yöntemleri</a:t>
            </a:r>
            <a:endParaRPr lang="en-US" sz="1150" dirty="0"/>
          </a:p>
        </p:txBody>
      </p:sp>
      <p:sp>
        <p:nvSpPr>
          <p:cNvPr id="33" name="Text 31"/>
          <p:cNvSpPr txBox="1"/>
          <p:nvPr/>
        </p:nvSpPr>
        <p:spPr>
          <a:xfrm>
            <a:off x="4745736" y="3337560"/>
            <a:ext cx="1645920" cy="594360"/>
          </a:xfrm>
          <a:prstGeom prst="rect">
            <a:avLst/>
          </a:prstGeom>
          <a:noFill/>
          <a:ln/>
        </p:spPr>
        <p:txBody>
          <a:bodyPr wrap="square" lIns="0" tIns="0" rIns="0" bIns="0" rtlCol="0" anchor="t"/>
          <a:lstStyle/>
          <a:p>
            <a:pPr marL="0" indent="0">
              <a:buNone/>
            </a:pPr>
            <a:r>
              <a:rPr lang="en-US" sz="950" dirty="0">
                <a:solidFill>
                  <a:srgbClr val="9AA3C7"/>
                </a:solidFill>
                <a:latin typeface="Arial" pitchFamily="34" charset="0"/>
                <a:ea typeface="Arial" pitchFamily="34" charset="-122"/>
                <a:cs typeface="Arial" pitchFamily="34" charset="-120"/>
              </a:rPr>
              <a:t>float tabanlı ızgara sistemleri</a:t>
            </a:r>
            <a:endParaRPr lang="en-US" sz="950" dirty="0"/>
          </a:p>
        </p:txBody>
      </p:sp>
      <p:sp>
        <p:nvSpPr>
          <p:cNvPr id="34" name="ek-7"/>
          <p:cNvSpPr/>
          <p:nvPr/>
        </p:nvSpPr>
        <p:spPr>
          <a:xfrm>
            <a:off x="6638544" y="2743200"/>
            <a:ext cx="1901952" cy="1261872"/>
          </a:xfrm>
          <a:prstGeom prst="roundRect">
            <a:avLst>
              <a:gd name="adj" fmla="val 5797"/>
            </a:avLst>
          </a:prstGeom>
          <a:solidFill>
            <a:srgbClr val="1A2044"/>
          </a:solidFill>
          <a:ln w="9525">
            <a:solidFill>
              <a:srgbClr val="A3E635"/>
            </a:solidFill>
            <a:prstDash val="solid"/>
          </a:ln>
        </p:spPr>
      </p:sp>
      <p:sp>
        <p:nvSpPr>
          <p:cNvPr id="35" name="Text 33"/>
          <p:cNvSpPr txBox="1"/>
          <p:nvPr/>
        </p:nvSpPr>
        <p:spPr>
          <a:xfrm>
            <a:off x="6775704" y="2852928"/>
            <a:ext cx="1645920" cy="457200"/>
          </a:xfrm>
          <a:prstGeom prst="rect">
            <a:avLst/>
          </a:prstGeom>
          <a:noFill/>
          <a:ln/>
        </p:spPr>
        <p:txBody>
          <a:bodyPr wrap="square" lIns="0" tIns="0" rIns="0" bIns="0" rtlCol="0" anchor="t"/>
          <a:lstStyle/>
          <a:p>
            <a:pPr marL="0" indent="0">
              <a:buNone/>
            </a:pPr>
            <a:r>
              <a:rPr lang="en-US" sz="1150" b="1" dirty="0">
                <a:solidFill>
                  <a:srgbClr val="EEF0F8"/>
                </a:solidFill>
                <a:latin typeface="Arial" pitchFamily="34" charset="0"/>
                <a:ea typeface="Arial" pitchFamily="34" charset="-122"/>
                <a:cs typeface="Arial" pitchFamily="34" charset="-120"/>
              </a:rPr>
              <a:t>Eski tarayıcılar</a:t>
            </a:r>
            <a:endParaRPr lang="en-US" sz="1150" dirty="0"/>
          </a:p>
        </p:txBody>
      </p:sp>
      <p:sp>
        <p:nvSpPr>
          <p:cNvPr id="36" name="Text 34"/>
          <p:cNvSpPr txBox="1"/>
          <p:nvPr/>
        </p:nvSpPr>
        <p:spPr>
          <a:xfrm>
            <a:off x="6775704" y="3337560"/>
            <a:ext cx="1645920" cy="594360"/>
          </a:xfrm>
          <a:prstGeom prst="rect">
            <a:avLst/>
          </a:prstGeom>
          <a:noFill/>
          <a:ln/>
        </p:spPr>
        <p:txBody>
          <a:bodyPr wrap="square" lIns="0" tIns="0" rIns="0" bIns="0" rtlCol="0" anchor="t"/>
          <a:lstStyle/>
          <a:p>
            <a:pPr marL="0" indent="0">
              <a:buNone/>
            </a:pPr>
            <a:r>
              <a:rPr lang="en-US" sz="950" dirty="0">
                <a:solidFill>
                  <a:srgbClr val="9AA3C7"/>
                </a:solidFill>
                <a:latin typeface="Arial" pitchFamily="34" charset="0"/>
                <a:ea typeface="Arial" pitchFamily="34" charset="-122"/>
                <a:cs typeface="Arial" pitchFamily="34" charset="-120"/>
              </a:rPr>
              <a:t>@supports ile özellik sorguları</a:t>
            </a:r>
            <a:endParaRPr lang="en-US" sz="950" dirty="0"/>
          </a:p>
        </p:txBody>
      </p:sp>
      <p:sp>
        <p:nvSpPr>
          <p:cNvPr id="37" name="Text 35"/>
          <p:cNvSpPr txBox="1"/>
          <p:nvPr/>
        </p:nvSpPr>
        <p:spPr>
          <a:xfrm>
            <a:off x="548640" y="4023360"/>
            <a:ext cx="8046720" cy="182880"/>
          </a:xfrm>
          <a:prstGeom prst="rect">
            <a:avLst/>
          </a:prstGeom>
          <a:noFill/>
          <a:ln/>
        </p:spPr>
        <p:txBody>
          <a:bodyPr wrap="square" lIns="0" tIns="0" rIns="0" bIns="0" rtlCol="0" anchor="t"/>
          <a:lstStyle/>
          <a:p>
            <a:pPr marL="0" indent="0">
              <a:buNone/>
            </a:pPr>
            <a:r>
              <a:rPr lang="en-US" sz="900" dirty="0">
                <a:solidFill>
                  <a:srgbClr val="22D3EE"/>
                </a:solidFill>
                <a:latin typeface="Arial" pitchFamily="34" charset="0"/>
                <a:ea typeface="Arial" pitchFamily="34" charset="-122"/>
                <a:cs typeface="Arial" pitchFamily="34" charset="-120"/>
              </a:rPr>
              <a:t>■ </a:t>
            </a:r>
            <a:r>
              <a:rPr lang="en-US" sz="900" dirty="0">
                <a:solidFill>
                  <a:srgbClr val="9AA3C7"/>
                </a:solidFill>
                <a:latin typeface="Arial" pitchFamily="34" charset="0"/>
                <a:ea typeface="Arial" pitchFamily="34" charset="-122"/>
                <a:cs typeface="Arial" pitchFamily="34" charset="-120"/>
              </a:rPr>
              <a:t>CSS styling basics ek kılavuzları     </a:t>
            </a:r>
            <a:r>
              <a:rPr lang="en-US" sz="900" dirty="0">
                <a:solidFill>
                  <a:srgbClr val="A3E635"/>
                </a:solidFill>
                <a:latin typeface="Arial" pitchFamily="34" charset="0"/>
                <a:ea typeface="Arial" pitchFamily="34" charset="-122"/>
                <a:cs typeface="Arial" pitchFamily="34" charset="-120"/>
              </a:rPr>
              <a:t>■ </a:t>
            </a:r>
            <a:r>
              <a:rPr lang="en-US" sz="900" dirty="0">
                <a:solidFill>
                  <a:srgbClr val="9AA3C7"/>
                </a:solidFill>
                <a:latin typeface="Arial" pitchFamily="34" charset="0"/>
                <a:ea typeface="Arial" pitchFamily="34" charset="-122"/>
                <a:cs typeface="Arial" pitchFamily="34" charset="-120"/>
              </a:rPr>
              <a:t>CSS layout ek kılavuzları</a:t>
            </a:r>
            <a:endParaRPr lang="en-US" sz="900" dirty="0"/>
          </a:p>
        </p:txBody>
      </p:sp>
      <p:sp>
        <p:nvSpPr>
          <p:cNvPr id="38" name="benzetme"/>
          <p:cNvSpPr/>
          <p:nvPr/>
        </p:nvSpPr>
        <p:spPr>
          <a:xfrm>
            <a:off x="548640" y="4224528"/>
            <a:ext cx="8046720" cy="402336"/>
          </a:xfrm>
          <a:prstGeom prst="roundRect">
            <a:avLst>
              <a:gd name="adj" fmla="val 50000"/>
            </a:avLst>
          </a:prstGeom>
          <a:solidFill>
            <a:srgbClr val="232A55"/>
          </a:solidFill>
          <a:ln/>
        </p:spPr>
      </p:sp>
      <p:sp>
        <p:nvSpPr>
          <p:cNvPr id="39" name="benzetme-ikon"/>
          <p:cNvSpPr/>
          <p:nvPr/>
        </p:nvSpPr>
        <p:spPr>
          <a:xfrm>
            <a:off x="621792" y="4261104"/>
            <a:ext cx="329184" cy="329184"/>
          </a:xfrm>
          <a:prstGeom prst="ellipse">
            <a:avLst/>
          </a:prstGeom>
          <a:solidFill>
            <a:srgbClr val="FBBF24"/>
          </a:solidFill>
          <a:ln/>
        </p:spPr>
      </p:sp>
      <p:sp>
        <p:nvSpPr>
          <p:cNvPr id="40" name="Text 38"/>
          <p:cNvSpPr txBox="1"/>
          <p:nvPr/>
        </p:nvSpPr>
        <p:spPr>
          <a:xfrm>
            <a:off x="621792" y="4261104"/>
            <a:ext cx="329184" cy="329184"/>
          </a:xfrm>
          <a:prstGeom prst="rect">
            <a:avLst/>
          </a:prstGeom>
          <a:noFill/>
          <a:ln/>
        </p:spPr>
        <p:txBody>
          <a:bodyPr wrap="square" lIns="0" tIns="0" rIns="0" bIns="0" rtlCol="0" anchor="ctr"/>
          <a:lstStyle/>
          <a:p>
            <a:pPr marL="0" indent="0" algn="ctr">
              <a:buNone/>
            </a:pPr>
            <a:r>
              <a:rPr lang="en-US" sz="1600" b="1" dirty="0">
                <a:solidFill>
                  <a:srgbClr val="10142B"/>
                </a:solidFill>
                <a:latin typeface="Arial" pitchFamily="34" charset="0"/>
                <a:ea typeface="Arial" pitchFamily="34" charset="-122"/>
                <a:cs typeface="Arial" pitchFamily="34" charset="-120"/>
              </a:rPr>
              <a:t>≈</a:t>
            </a:r>
            <a:endParaRPr lang="en-US" sz="1600" dirty="0"/>
          </a:p>
        </p:txBody>
      </p:sp>
      <p:sp>
        <p:nvSpPr>
          <p:cNvPr id="41" name="Text 39"/>
          <p:cNvSpPr txBox="1"/>
          <p:nvPr/>
        </p:nvSpPr>
        <p:spPr>
          <a:xfrm>
            <a:off x="1042416" y="4224528"/>
            <a:ext cx="7452360" cy="402336"/>
          </a:xfrm>
          <a:prstGeom prst="rect">
            <a:avLst/>
          </a:prstGeom>
          <a:noFill/>
          <a:ln/>
        </p:spPr>
        <p:txBody>
          <a:bodyPr wrap="square" lIns="0" tIns="0" rIns="0" bIns="0" rtlCol="0" anchor="ctr"/>
          <a:lstStyle/>
          <a:p>
            <a:pPr marL="0" indent="0">
              <a:buNone/>
            </a:pPr>
            <a:r>
              <a:rPr lang="en-US" sz="1100" b="1" dirty="0">
                <a:solidFill>
                  <a:srgbClr val="FBBF24"/>
                </a:solidFill>
                <a:latin typeface="Arial" pitchFamily="34" charset="0"/>
                <a:ea typeface="Arial" pitchFamily="34" charset="-122"/>
                <a:cs typeface="Arial" pitchFamily="34" charset="-120"/>
              </a:rPr>
              <a:t>Gündelik hayatta: </a:t>
            </a:r>
            <a:r>
              <a:rPr lang="en-US" sz="1100" dirty="0">
                <a:solidFill>
                  <a:srgbClr val="EEF0F8"/>
                </a:solidFill>
                <a:latin typeface="Arial" pitchFamily="34" charset="0"/>
                <a:ea typeface="Arial" pitchFamily="34" charset="-122"/>
                <a:cs typeface="Arial" pitchFamily="34" charset="-120"/>
              </a:rPr>
              <a:t>ana yemekten sonraki tatlı menüsü: zorunlu değil, ama merak edene yeni lezzetler sunar.</a:t>
            </a:r>
            <a:endParaRPr lang="en-US" sz="1100" dirty="0"/>
          </a:p>
        </p:txBody>
      </p:sp>
    </p:spTree>
  </p:cSld>
  <p:clrMapOvr>
    <a:masterClrMapping/>
  </p:clrMapOvr>
  <p:transition spd="med">
    <p:pull/>
  </p:transition>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txBox="1"/>
          <p:nvPr/>
        </p:nvSpPr>
        <p:spPr>
          <a:xfrm>
            <a:off x="548640" y="256032"/>
            <a:ext cx="4572000" cy="201168"/>
          </a:xfrm>
          <a:prstGeom prst="rect">
            <a:avLst/>
          </a:prstGeom>
          <a:noFill/>
          <a:ln/>
        </p:spPr>
        <p:txBody>
          <a:bodyPr wrap="square" lIns="0" tIns="0" rIns="0" bIns="0" rtlCol="0" anchor="t"/>
          <a:lstStyle/>
          <a:p>
            <a:pPr marL="0" indent="0">
              <a:buNone/>
            </a:pPr>
            <a:r>
              <a:rPr lang="en-US" sz="900" b="1" kern="0" spc="200" dirty="0">
                <a:solidFill>
                  <a:srgbClr val="8B7CFF"/>
                </a:solidFill>
                <a:latin typeface="Arial" pitchFamily="34" charset="0"/>
                <a:ea typeface="Arial" pitchFamily="34" charset="-122"/>
                <a:cs typeface="Arial" pitchFamily="34" charset="-120"/>
              </a:rPr>
              <a:t>KAPANIŞ</a:t>
            </a:r>
            <a:endParaRPr lang="en-US" sz="900" dirty="0"/>
          </a:p>
        </p:txBody>
      </p:sp>
      <p:sp>
        <p:nvSpPr>
          <p:cNvPr id="3" name="mini-box-0"/>
          <p:cNvSpPr/>
          <p:nvPr/>
        </p:nvSpPr>
        <p:spPr>
          <a:xfrm>
            <a:off x="8229600" y="201168"/>
            <a:ext cx="384048" cy="384048"/>
          </a:xfrm>
          <a:prstGeom prst="rect">
            <a:avLst/>
          </a:prstGeom>
          <a:ln w="9525">
            <a:solidFill>
              <a:srgbClr val="8B7CFF"/>
            </a:solidFill>
            <a:prstDash val="solid"/>
          </a:ln>
        </p:spPr>
      </p:sp>
      <p:sp>
        <p:nvSpPr>
          <p:cNvPr id="4" name="mini-box-1"/>
          <p:cNvSpPr/>
          <p:nvPr/>
        </p:nvSpPr>
        <p:spPr>
          <a:xfrm>
            <a:off x="8293608" y="265176"/>
            <a:ext cx="256032" cy="256032"/>
          </a:xfrm>
          <a:prstGeom prst="rect">
            <a:avLst/>
          </a:prstGeom>
          <a:ln w="9525">
            <a:solidFill>
              <a:srgbClr val="EEF0F8"/>
            </a:solidFill>
            <a:prstDash val="solid"/>
          </a:ln>
        </p:spPr>
      </p:sp>
      <p:sp>
        <p:nvSpPr>
          <p:cNvPr id="5" name="mini-box-2"/>
          <p:cNvSpPr/>
          <p:nvPr/>
        </p:nvSpPr>
        <p:spPr>
          <a:xfrm>
            <a:off x="8348472" y="320040"/>
            <a:ext cx="146304" cy="146304"/>
          </a:xfrm>
          <a:prstGeom prst="rect">
            <a:avLst/>
          </a:prstGeom>
          <a:solidFill>
            <a:srgbClr val="8B7CFF"/>
          </a:solidFill>
          <a:ln w="9525">
            <a:solidFill>
              <a:srgbClr val="8B7CFF"/>
            </a:solidFill>
            <a:prstDash val="solid"/>
          </a:ln>
        </p:spPr>
      </p:sp>
      <p:sp>
        <p:nvSpPr>
          <p:cNvPr id="6" name="ilerleme-zemin"/>
          <p:cNvSpPr/>
          <p:nvPr/>
        </p:nvSpPr>
        <p:spPr>
          <a:xfrm>
            <a:off x="0" y="5070348"/>
            <a:ext cx="9144000" cy="73152"/>
          </a:xfrm>
          <a:prstGeom prst="rect">
            <a:avLst/>
          </a:prstGeom>
          <a:solidFill>
            <a:srgbClr val="1A2044"/>
          </a:solidFill>
          <a:ln/>
        </p:spPr>
      </p:sp>
      <p:sp>
        <p:nvSpPr>
          <p:cNvPr id="7" name="ilerleme"/>
          <p:cNvSpPr/>
          <p:nvPr/>
        </p:nvSpPr>
        <p:spPr>
          <a:xfrm>
            <a:off x="0" y="5070348"/>
            <a:ext cx="8931349" cy="73152"/>
          </a:xfrm>
          <a:prstGeom prst="rect">
            <a:avLst/>
          </a:prstGeom>
          <a:solidFill>
            <a:srgbClr val="8B7CFF"/>
          </a:solidFill>
          <a:ln/>
        </p:spPr>
      </p:sp>
      <p:sp>
        <p:nvSpPr>
          <p:cNvPr id="8" name="Text 6"/>
          <p:cNvSpPr txBox="1"/>
          <p:nvPr/>
        </p:nvSpPr>
        <p:spPr>
          <a:xfrm>
            <a:off x="548640" y="4791456"/>
            <a:ext cx="3657600" cy="201168"/>
          </a:xfrm>
          <a:prstGeom prst="rect">
            <a:avLst/>
          </a:prstGeom>
          <a:noFill/>
          <a:ln/>
        </p:spPr>
        <p:txBody>
          <a:bodyPr wrap="square" lIns="0" tIns="0" rIns="0" bIns="0" rtlCol="0" anchor="t"/>
          <a:lstStyle/>
          <a:p>
            <a:pPr marL="0" indent="0">
              <a:buNone/>
            </a:pPr>
            <a:r>
              <a:rPr lang="en-US" sz="850" dirty="0">
                <a:solidFill>
                  <a:srgbClr val="6C759E"/>
                </a:solidFill>
                <a:latin typeface="Arial" pitchFamily="34" charset="0"/>
                <a:ea typeface="Arial" pitchFamily="34" charset="-122"/>
                <a:cs typeface="Arial" pitchFamily="34" charset="-120"/>
              </a:rPr>
              <a:t>KCŞ A.Ş.  ·  CSS ile stil ve düzen</a:t>
            </a:r>
            <a:endParaRPr lang="en-US" sz="850" dirty="0"/>
          </a:p>
        </p:txBody>
      </p:sp>
      <p:sp>
        <p:nvSpPr>
          <p:cNvPr id="9" name="Text 7"/>
          <p:cNvSpPr txBox="1"/>
          <p:nvPr/>
        </p:nvSpPr>
        <p:spPr>
          <a:xfrm>
            <a:off x="4206240" y="4791456"/>
            <a:ext cx="3840480" cy="201168"/>
          </a:xfrm>
          <a:prstGeom prst="rect">
            <a:avLst/>
          </a:prstGeom>
          <a:noFill/>
          <a:ln/>
        </p:spPr>
        <p:txBody>
          <a:bodyPr wrap="square" lIns="0" tIns="0" rIns="0" bIns="0" rtlCol="0" anchor="t"/>
          <a:lstStyle/>
          <a:p>
            <a:pPr marL="0" indent="0" algn="r">
              <a:buNone/>
            </a:pPr>
            <a:r>
              <a:rPr lang="en-US" sz="850" dirty="0">
                <a:solidFill>
                  <a:srgbClr val="6C759E"/>
                </a:solidFill>
                <a:latin typeface="Arial" pitchFamily="34" charset="0"/>
                <a:ea typeface="Arial" pitchFamily="34" charset="-122"/>
                <a:cs typeface="Arial" pitchFamily="34" charset="-120"/>
              </a:rPr>
              <a:t>MDN · CSS styling basics · text styling · layout</a:t>
            </a:r>
            <a:endParaRPr lang="en-US" sz="850" dirty="0"/>
          </a:p>
        </p:txBody>
      </p:sp>
      <p:sp>
        <p:nvSpPr>
          <p:cNvPr id="10" name="Text 8"/>
          <p:cNvSpPr txBox="1"/>
          <p:nvPr/>
        </p:nvSpPr>
        <p:spPr>
          <a:xfrm>
            <a:off x="8092440" y="4791456"/>
            <a:ext cx="685800" cy="201168"/>
          </a:xfrm>
          <a:prstGeom prst="rect">
            <a:avLst/>
          </a:prstGeom>
          <a:noFill/>
          <a:ln/>
        </p:spPr>
        <p:txBody>
          <a:bodyPr wrap="square" lIns="0" tIns="0" rIns="0" bIns="0" rtlCol="0" anchor="t"/>
          <a:lstStyle/>
          <a:p>
            <a:pPr marL="0" indent="0" algn="r">
              <a:buNone/>
            </a:pPr>
            <a:r>
              <a:rPr lang="en-US" sz="850" dirty="0">
                <a:solidFill>
                  <a:srgbClr val="9AA3C7"/>
                </a:solidFill>
                <a:latin typeface="Courier New" pitchFamily="34" charset="0"/>
                <a:ea typeface="Courier New" pitchFamily="34" charset="-122"/>
                <a:cs typeface="Courier New" pitchFamily="34" charset="-120"/>
              </a:rPr>
              <a:t>42 / 43</a:t>
            </a:r>
            <a:endParaRPr lang="en-US" sz="850" dirty="0"/>
          </a:p>
        </p:txBody>
      </p:sp>
      <p:sp>
        <p:nvSpPr>
          <p:cNvPr id="11" name="Text 9"/>
          <p:cNvSpPr txBox="1"/>
          <p:nvPr/>
        </p:nvSpPr>
        <p:spPr>
          <a:xfrm>
            <a:off x="548640" y="502920"/>
            <a:ext cx="5943600" cy="237744"/>
          </a:xfrm>
          <a:prstGeom prst="rect">
            <a:avLst/>
          </a:prstGeom>
          <a:noFill/>
          <a:ln/>
        </p:spPr>
        <p:txBody>
          <a:bodyPr wrap="square" lIns="0" tIns="0" rIns="0" bIns="0" rtlCol="0" anchor="t"/>
          <a:lstStyle/>
          <a:p>
            <a:pPr marL="0" indent="0">
              <a:buNone/>
            </a:pPr>
            <a:r>
              <a:rPr lang="en-US" sz="1100" b="1" dirty="0">
                <a:solidFill>
                  <a:srgbClr val="8B7CFF"/>
                </a:solidFill>
                <a:latin typeface="Courier New" pitchFamily="34" charset="0"/>
                <a:ea typeface="Courier New" pitchFamily="34" charset="-122"/>
                <a:cs typeface="Courier New" pitchFamily="34" charset="-120"/>
              </a:rPr>
              <a:t>/* özet */</a:t>
            </a:r>
            <a:endParaRPr lang="en-US" sz="1100" dirty="0"/>
          </a:p>
        </p:txBody>
      </p:sp>
      <p:sp>
        <p:nvSpPr>
          <p:cNvPr id="12" name="Text 10"/>
          <p:cNvSpPr txBox="1"/>
          <p:nvPr/>
        </p:nvSpPr>
        <p:spPr>
          <a:xfrm>
            <a:off x="548640" y="749808"/>
            <a:ext cx="7589520" cy="502920"/>
          </a:xfrm>
          <a:prstGeom prst="rect">
            <a:avLst/>
          </a:prstGeom>
          <a:noFill/>
          <a:ln/>
        </p:spPr>
        <p:txBody>
          <a:bodyPr wrap="square" lIns="0" tIns="0" rIns="0" bIns="0" rtlCol="0" anchor="ctr"/>
          <a:lstStyle/>
          <a:p>
            <a:pPr marL="0" indent="0">
              <a:buNone/>
            </a:pPr>
            <a:r>
              <a:rPr lang="en-US" sz="2400" b="1" dirty="0">
                <a:solidFill>
                  <a:srgbClr val="EEF0F8"/>
                </a:solidFill>
                <a:latin typeface="Arial" pitchFamily="34" charset="0"/>
                <a:ea typeface="Arial" pitchFamily="34" charset="-122"/>
                <a:cs typeface="Arial" pitchFamily="34" charset="-120"/>
              </a:rPr>
              <a:t>Özet: bugün ne öğrendik?</a:t>
            </a:r>
            <a:endParaRPr lang="en-US" sz="2400" dirty="0"/>
          </a:p>
        </p:txBody>
      </p:sp>
      <p:sp>
        <p:nvSpPr>
          <p:cNvPr id="13" name="ozet-0"/>
          <p:cNvSpPr/>
          <p:nvPr/>
        </p:nvSpPr>
        <p:spPr>
          <a:xfrm>
            <a:off x="548640" y="1371600"/>
            <a:ext cx="2587752" cy="1261872"/>
          </a:xfrm>
          <a:prstGeom prst="roundRect">
            <a:avLst>
              <a:gd name="adj" fmla="val 5797"/>
            </a:avLst>
          </a:prstGeom>
          <a:solidFill>
            <a:srgbClr val="1A2044"/>
          </a:solidFill>
          <a:ln w="9525">
            <a:solidFill>
              <a:srgbClr val="22D3EE"/>
            </a:solidFill>
            <a:prstDash val="solid"/>
          </a:ln>
        </p:spPr>
      </p:sp>
      <p:sp>
        <p:nvSpPr>
          <p:cNvPr id="14" name="Text 12"/>
          <p:cNvSpPr txBox="1"/>
          <p:nvPr/>
        </p:nvSpPr>
        <p:spPr>
          <a:xfrm>
            <a:off x="713232" y="1481328"/>
            <a:ext cx="2286000" cy="320040"/>
          </a:xfrm>
          <a:prstGeom prst="rect">
            <a:avLst/>
          </a:prstGeom>
          <a:noFill/>
          <a:ln/>
        </p:spPr>
        <p:txBody>
          <a:bodyPr wrap="square" lIns="0" tIns="0" rIns="0" bIns="0" rtlCol="0" anchor="t"/>
          <a:lstStyle/>
          <a:p>
            <a:pPr marL="0" indent="0">
              <a:buNone/>
            </a:pPr>
            <a:r>
              <a:rPr lang="en-US" sz="1500" b="1" dirty="0">
                <a:solidFill>
                  <a:srgbClr val="22D3EE"/>
                </a:solidFill>
                <a:latin typeface="Arial" pitchFamily="34" charset="0"/>
                <a:ea typeface="Arial" pitchFamily="34" charset="-122"/>
                <a:cs typeface="Arial" pitchFamily="34" charset="-120"/>
              </a:rPr>
              <a:t>Kural</a:t>
            </a:r>
            <a:endParaRPr lang="en-US" sz="1500" dirty="0"/>
          </a:p>
        </p:txBody>
      </p:sp>
      <p:sp>
        <p:nvSpPr>
          <p:cNvPr id="15" name="Text 13"/>
          <p:cNvSpPr txBox="1"/>
          <p:nvPr/>
        </p:nvSpPr>
        <p:spPr>
          <a:xfrm>
            <a:off x="713232" y="1847088"/>
            <a:ext cx="2286000" cy="731520"/>
          </a:xfrm>
          <a:prstGeom prst="rect">
            <a:avLst/>
          </a:prstGeom>
          <a:noFill/>
          <a:ln/>
        </p:spPr>
        <p:txBody>
          <a:bodyPr wrap="square" lIns="0" tIns="0" rIns="0" bIns="0" rtlCol="0" anchor="t"/>
          <a:lstStyle/>
          <a:p>
            <a:pPr marL="0" indent="0">
              <a:buNone/>
            </a:pPr>
            <a:r>
              <a:rPr lang="en-US" sz="1050" dirty="0">
                <a:solidFill>
                  <a:srgbClr val="EEF0F8"/>
                </a:solidFill>
                <a:latin typeface="Arial" pitchFamily="34" charset="0"/>
                <a:ea typeface="Arial" pitchFamily="34" charset="-122"/>
                <a:cs typeface="Arial" pitchFamily="34" charset="-120"/>
              </a:rPr>
              <a:t>seçici { özellik: değer; } · harici dosya tercih edilir</a:t>
            </a:r>
            <a:endParaRPr lang="en-US" sz="1050" dirty="0"/>
          </a:p>
        </p:txBody>
      </p:sp>
      <p:sp>
        <p:nvSpPr>
          <p:cNvPr id="16" name="ozet-1"/>
          <p:cNvSpPr/>
          <p:nvPr/>
        </p:nvSpPr>
        <p:spPr>
          <a:xfrm>
            <a:off x="3264408" y="1371600"/>
            <a:ext cx="2587752" cy="1261872"/>
          </a:xfrm>
          <a:prstGeom prst="roundRect">
            <a:avLst>
              <a:gd name="adj" fmla="val 5797"/>
            </a:avLst>
          </a:prstGeom>
          <a:solidFill>
            <a:srgbClr val="1A2044"/>
          </a:solidFill>
          <a:ln w="9525">
            <a:solidFill>
              <a:srgbClr val="22D3EE"/>
            </a:solidFill>
            <a:prstDash val="solid"/>
          </a:ln>
        </p:spPr>
      </p:sp>
      <p:sp>
        <p:nvSpPr>
          <p:cNvPr id="17" name="Text 15"/>
          <p:cNvSpPr txBox="1"/>
          <p:nvPr/>
        </p:nvSpPr>
        <p:spPr>
          <a:xfrm>
            <a:off x="3429000" y="1481328"/>
            <a:ext cx="2286000" cy="320040"/>
          </a:xfrm>
          <a:prstGeom prst="rect">
            <a:avLst/>
          </a:prstGeom>
          <a:noFill/>
          <a:ln/>
        </p:spPr>
        <p:txBody>
          <a:bodyPr wrap="square" lIns="0" tIns="0" rIns="0" bIns="0" rtlCol="0" anchor="t"/>
          <a:lstStyle/>
          <a:p>
            <a:pPr marL="0" indent="0">
              <a:buNone/>
            </a:pPr>
            <a:r>
              <a:rPr lang="en-US" sz="1500" b="1" dirty="0">
                <a:solidFill>
                  <a:srgbClr val="22D3EE"/>
                </a:solidFill>
                <a:latin typeface="Arial" pitchFamily="34" charset="0"/>
                <a:ea typeface="Arial" pitchFamily="34" charset="-122"/>
                <a:cs typeface="Arial" pitchFamily="34" charset="-120"/>
              </a:rPr>
              <a:t>Seçiciler</a:t>
            </a:r>
            <a:endParaRPr lang="en-US" sz="1500" dirty="0"/>
          </a:p>
        </p:txBody>
      </p:sp>
      <p:sp>
        <p:nvSpPr>
          <p:cNvPr id="18" name="Text 16"/>
          <p:cNvSpPr txBox="1"/>
          <p:nvPr/>
        </p:nvSpPr>
        <p:spPr>
          <a:xfrm>
            <a:off x="3429000" y="1847088"/>
            <a:ext cx="2286000" cy="731520"/>
          </a:xfrm>
          <a:prstGeom prst="rect">
            <a:avLst/>
          </a:prstGeom>
          <a:noFill/>
          <a:ln/>
        </p:spPr>
        <p:txBody>
          <a:bodyPr wrap="square" lIns="0" tIns="0" rIns="0" bIns="0" rtlCol="0" anchor="t"/>
          <a:lstStyle/>
          <a:p>
            <a:pPr marL="0" indent="0">
              <a:buNone/>
            </a:pPr>
            <a:r>
              <a:rPr lang="en-US" sz="1050" dirty="0">
                <a:solidFill>
                  <a:srgbClr val="EEF0F8"/>
                </a:solidFill>
                <a:latin typeface="Arial" pitchFamily="34" charset="0"/>
                <a:ea typeface="Arial" pitchFamily="34" charset="-122"/>
                <a:cs typeface="Arial" pitchFamily="34" charset="-120"/>
              </a:rPr>
              <a:t>tür, sınıf, id, öznitelik, sözde, birleştirici</a:t>
            </a:r>
            <a:endParaRPr lang="en-US" sz="1050" dirty="0"/>
          </a:p>
        </p:txBody>
      </p:sp>
      <p:sp>
        <p:nvSpPr>
          <p:cNvPr id="19" name="ozet-2"/>
          <p:cNvSpPr/>
          <p:nvPr/>
        </p:nvSpPr>
        <p:spPr>
          <a:xfrm>
            <a:off x="5980176" y="1371600"/>
            <a:ext cx="2587752" cy="1261872"/>
          </a:xfrm>
          <a:prstGeom prst="roundRect">
            <a:avLst>
              <a:gd name="adj" fmla="val 5797"/>
            </a:avLst>
          </a:prstGeom>
          <a:solidFill>
            <a:srgbClr val="1A2044"/>
          </a:solidFill>
          <a:ln w="9525">
            <a:solidFill>
              <a:srgbClr val="22D3EE"/>
            </a:solidFill>
            <a:prstDash val="solid"/>
          </a:ln>
        </p:spPr>
      </p:sp>
      <p:sp>
        <p:nvSpPr>
          <p:cNvPr id="20" name="Text 18"/>
          <p:cNvSpPr txBox="1"/>
          <p:nvPr/>
        </p:nvSpPr>
        <p:spPr>
          <a:xfrm>
            <a:off x="6144768" y="1481328"/>
            <a:ext cx="2286000" cy="320040"/>
          </a:xfrm>
          <a:prstGeom prst="rect">
            <a:avLst/>
          </a:prstGeom>
          <a:noFill/>
          <a:ln/>
        </p:spPr>
        <p:txBody>
          <a:bodyPr wrap="square" lIns="0" tIns="0" rIns="0" bIns="0" rtlCol="0" anchor="t"/>
          <a:lstStyle/>
          <a:p>
            <a:pPr marL="0" indent="0">
              <a:buNone/>
            </a:pPr>
            <a:r>
              <a:rPr lang="en-US" sz="1500" b="1" dirty="0">
                <a:solidFill>
                  <a:srgbClr val="22D3EE"/>
                </a:solidFill>
                <a:latin typeface="Arial" pitchFamily="34" charset="0"/>
                <a:ea typeface="Arial" pitchFamily="34" charset="-122"/>
                <a:cs typeface="Arial" pitchFamily="34" charset="-120"/>
              </a:rPr>
              <a:t>Box model</a:t>
            </a:r>
            <a:endParaRPr lang="en-US" sz="1500" dirty="0"/>
          </a:p>
        </p:txBody>
      </p:sp>
      <p:sp>
        <p:nvSpPr>
          <p:cNvPr id="21" name="Text 19"/>
          <p:cNvSpPr txBox="1"/>
          <p:nvPr/>
        </p:nvSpPr>
        <p:spPr>
          <a:xfrm>
            <a:off x="6144768" y="1847088"/>
            <a:ext cx="2286000" cy="731520"/>
          </a:xfrm>
          <a:prstGeom prst="rect">
            <a:avLst/>
          </a:prstGeom>
          <a:noFill/>
          <a:ln/>
        </p:spPr>
        <p:txBody>
          <a:bodyPr wrap="square" lIns="0" tIns="0" rIns="0" bIns="0" rtlCol="0" anchor="t"/>
          <a:lstStyle/>
          <a:p>
            <a:pPr marL="0" indent="0">
              <a:buNone/>
            </a:pPr>
            <a:r>
              <a:rPr lang="en-US" sz="1050" dirty="0">
                <a:solidFill>
                  <a:srgbClr val="EEF0F8"/>
                </a:solidFill>
                <a:latin typeface="Arial" pitchFamily="34" charset="0"/>
                <a:ea typeface="Arial" pitchFamily="34" charset="-122"/>
                <a:cs typeface="Arial" pitchFamily="34" charset="-120"/>
              </a:rPr>
              <a:t>content, padding, border, margin · border-box</a:t>
            </a:r>
            <a:endParaRPr lang="en-US" sz="1050" dirty="0"/>
          </a:p>
        </p:txBody>
      </p:sp>
      <p:sp>
        <p:nvSpPr>
          <p:cNvPr id="22" name="ozet-3"/>
          <p:cNvSpPr/>
          <p:nvPr/>
        </p:nvSpPr>
        <p:spPr>
          <a:xfrm>
            <a:off x="548640" y="2743200"/>
            <a:ext cx="2587752" cy="1261872"/>
          </a:xfrm>
          <a:prstGeom prst="roundRect">
            <a:avLst>
              <a:gd name="adj" fmla="val 5797"/>
            </a:avLst>
          </a:prstGeom>
          <a:solidFill>
            <a:srgbClr val="1A2044"/>
          </a:solidFill>
          <a:ln w="9525">
            <a:solidFill>
              <a:srgbClr val="22D3EE"/>
            </a:solidFill>
            <a:prstDash val="solid"/>
          </a:ln>
        </p:spPr>
      </p:sp>
      <p:sp>
        <p:nvSpPr>
          <p:cNvPr id="23" name="Text 21"/>
          <p:cNvSpPr txBox="1"/>
          <p:nvPr/>
        </p:nvSpPr>
        <p:spPr>
          <a:xfrm>
            <a:off x="713232" y="2852928"/>
            <a:ext cx="2286000" cy="320040"/>
          </a:xfrm>
          <a:prstGeom prst="rect">
            <a:avLst/>
          </a:prstGeom>
          <a:noFill/>
          <a:ln/>
        </p:spPr>
        <p:txBody>
          <a:bodyPr wrap="square" lIns="0" tIns="0" rIns="0" bIns="0" rtlCol="0" anchor="t"/>
          <a:lstStyle/>
          <a:p>
            <a:pPr marL="0" indent="0">
              <a:buNone/>
            </a:pPr>
            <a:r>
              <a:rPr lang="en-US" sz="1500" b="1" dirty="0">
                <a:solidFill>
                  <a:srgbClr val="22D3EE"/>
                </a:solidFill>
                <a:latin typeface="Arial" pitchFamily="34" charset="0"/>
                <a:ea typeface="Arial" pitchFamily="34" charset="-122"/>
                <a:cs typeface="Arial" pitchFamily="34" charset="-120"/>
              </a:rPr>
              <a:t>Çakışmalar</a:t>
            </a:r>
            <a:endParaRPr lang="en-US" sz="1500" dirty="0"/>
          </a:p>
        </p:txBody>
      </p:sp>
      <p:sp>
        <p:nvSpPr>
          <p:cNvPr id="24" name="Text 22"/>
          <p:cNvSpPr txBox="1"/>
          <p:nvPr/>
        </p:nvSpPr>
        <p:spPr>
          <a:xfrm>
            <a:off x="713232" y="3218688"/>
            <a:ext cx="2286000" cy="731520"/>
          </a:xfrm>
          <a:prstGeom prst="rect">
            <a:avLst/>
          </a:prstGeom>
          <a:noFill/>
          <a:ln/>
        </p:spPr>
        <p:txBody>
          <a:bodyPr wrap="square" lIns="0" tIns="0" rIns="0" bIns="0" rtlCol="0" anchor="t"/>
          <a:lstStyle/>
          <a:p>
            <a:pPr marL="0" indent="0">
              <a:buNone/>
            </a:pPr>
            <a:r>
              <a:rPr lang="en-US" sz="1050" dirty="0">
                <a:solidFill>
                  <a:srgbClr val="EEF0F8"/>
                </a:solidFill>
                <a:latin typeface="Arial" pitchFamily="34" charset="0"/>
                <a:ea typeface="Arial" pitchFamily="34" charset="-122"/>
                <a:cs typeface="Arial" pitchFamily="34" charset="-120"/>
              </a:rPr>
              <a:t>cascade, özgüllük, kalıtım · !important'tan kaçın</a:t>
            </a:r>
            <a:endParaRPr lang="en-US" sz="1050" dirty="0"/>
          </a:p>
        </p:txBody>
      </p:sp>
      <p:sp>
        <p:nvSpPr>
          <p:cNvPr id="25" name="ozet-4"/>
          <p:cNvSpPr/>
          <p:nvPr/>
        </p:nvSpPr>
        <p:spPr>
          <a:xfrm>
            <a:off x="3264408" y="2743200"/>
            <a:ext cx="2587752" cy="1261872"/>
          </a:xfrm>
          <a:prstGeom prst="roundRect">
            <a:avLst>
              <a:gd name="adj" fmla="val 5797"/>
            </a:avLst>
          </a:prstGeom>
          <a:solidFill>
            <a:srgbClr val="1A2044"/>
          </a:solidFill>
          <a:ln w="9525">
            <a:solidFill>
              <a:srgbClr val="F472B6"/>
            </a:solidFill>
            <a:prstDash val="solid"/>
          </a:ln>
        </p:spPr>
      </p:sp>
      <p:sp>
        <p:nvSpPr>
          <p:cNvPr id="26" name="Text 24"/>
          <p:cNvSpPr txBox="1"/>
          <p:nvPr/>
        </p:nvSpPr>
        <p:spPr>
          <a:xfrm>
            <a:off x="3429000" y="2852928"/>
            <a:ext cx="2286000" cy="320040"/>
          </a:xfrm>
          <a:prstGeom prst="rect">
            <a:avLst/>
          </a:prstGeom>
          <a:noFill/>
          <a:ln/>
        </p:spPr>
        <p:txBody>
          <a:bodyPr wrap="square" lIns="0" tIns="0" rIns="0" bIns="0" rtlCol="0" anchor="t"/>
          <a:lstStyle/>
          <a:p>
            <a:pPr marL="0" indent="0">
              <a:buNone/>
            </a:pPr>
            <a:r>
              <a:rPr lang="en-US" sz="1500" b="1" dirty="0">
                <a:solidFill>
                  <a:srgbClr val="F472B6"/>
                </a:solidFill>
                <a:latin typeface="Arial" pitchFamily="34" charset="0"/>
                <a:ea typeface="Arial" pitchFamily="34" charset="-122"/>
                <a:cs typeface="Arial" pitchFamily="34" charset="-120"/>
              </a:rPr>
              <a:t>Metin</a:t>
            </a:r>
            <a:endParaRPr lang="en-US" sz="1500" dirty="0"/>
          </a:p>
        </p:txBody>
      </p:sp>
      <p:sp>
        <p:nvSpPr>
          <p:cNvPr id="27" name="Text 25"/>
          <p:cNvSpPr txBox="1"/>
          <p:nvPr/>
        </p:nvSpPr>
        <p:spPr>
          <a:xfrm>
            <a:off x="3429000" y="3218688"/>
            <a:ext cx="2286000" cy="731520"/>
          </a:xfrm>
          <a:prstGeom prst="rect">
            <a:avLst/>
          </a:prstGeom>
          <a:noFill/>
          <a:ln/>
        </p:spPr>
        <p:txBody>
          <a:bodyPr wrap="square" lIns="0" tIns="0" rIns="0" bIns="0" rtlCol="0" anchor="t"/>
          <a:lstStyle/>
          <a:p>
            <a:pPr marL="0" indent="0">
              <a:buNone/>
            </a:pPr>
            <a:r>
              <a:rPr lang="en-US" sz="1050" dirty="0">
                <a:solidFill>
                  <a:srgbClr val="EEF0F8"/>
                </a:solidFill>
                <a:latin typeface="Arial" pitchFamily="34" charset="0"/>
                <a:ea typeface="Arial" pitchFamily="34" charset="-122"/>
                <a:cs typeface="Arial" pitchFamily="34" charset="-120"/>
              </a:rPr>
              <a:t>font yığını, rem, line-height, LoVe FeArs HAte, @font-face</a:t>
            </a:r>
            <a:endParaRPr lang="en-US" sz="1050" dirty="0"/>
          </a:p>
        </p:txBody>
      </p:sp>
      <p:sp>
        <p:nvSpPr>
          <p:cNvPr id="28" name="ozet-5"/>
          <p:cNvSpPr/>
          <p:nvPr/>
        </p:nvSpPr>
        <p:spPr>
          <a:xfrm>
            <a:off x="5980176" y="2743200"/>
            <a:ext cx="2587752" cy="1261872"/>
          </a:xfrm>
          <a:prstGeom prst="roundRect">
            <a:avLst>
              <a:gd name="adj" fmla="val 5797"/>
            </a:avLst>
          </a:prstGeom>
          <a:solidFill>
            <a:srgbClr val="1A2044"/>
          </a:solidFill>
          <a:ln w="9525">
            <a:solidFill>
              <a:srgbClr val="A3E635"/>
            </a:solidFill>
            <a:prstDash val="solid"/>
          </a:ln>
        </p:spPr>
      </p:sp>
      <p:sp>
        <p:nvSpPr>
          <p:cNvPr id="29" name="Text 27"/>
          <p:cNvSpPr txBox="1"/>
          <p:nvPr/>
        </p:nvSpPr>
        <p:spPr>
          <a:xfrm>
            <a:off x="6144768" y="2852928"/>
            <a:ext cx="2286000" cy="320040"/>
          </a:xfrm>
          <a:prstGeom prst="rect">
            <a:avLst/>
          </a:prstGeom>
          <a:noFill/>
          <a:ln/>
        </p:spPr>
        <p:txBody>
          <a:bodyPr wrap="square" lIns="0" tIns="0" rIns="0" bIns="0" rtlCol="0" anchor="t"/>
          <a:lstStyle/>
          <a:p>
            <a:pPr marL="0" indent="0">
              <a:buNone/>
            </a:pPr>
            <a:r>
              <a:rPr lang="en-US" sz="1500" b="1" dirty="0">
                <a:solidFill>
                  <a:srgbClr val="A3E635"/>
                </a:solidFill>
                <a:latin typeface="Arial" pitchFamily="34" charset="0"/>
                <a:ea typeface="Arial" pitchFamily="34" charset="-122"/>
                <a:cs typeface="Arial" pitchFamily="34" charset="-120"/>
              </a:rPr>
              <a:t>Düzen</a:t>
            </a:r>
            <a:endParaRPr lang="en-US" sz="1500" dirty="0"/>
          </a:p>
        </p:txBody>
      </p:sp>
      <p:sp>
        <p:nvSpPr>
          <p:cNvPr id="30" name="Text 28"/>
          <p:cNvSpPr txBox="1"/>
          <p:nvPr/>
        </p:nvSpPr>
        <p:spPr>
          <a:xfrm>
            <a:off x="6144768" y="3218688"/>
            <a:ext cx="2286000" cy="731520"/>
          </a:xfrm>
          <a:prstGeom prst="rect">
            <a:avLst/>
          </a:prstGeom>
          <a:noFill/>
          <a:ln/>
        </p:spPr>
        <p:txBody>
          <a:bodyPr wrap="square" lIns="0" tIns="0" rIns="0" bIns="0" rtlCol="0" anchor="t"/>
          <a:lstStyle/>
          <a:p>
            <a:pPr marL="0" indent="0">
              <a:buNone/>
            </a:pPr>
            <a:r>
              <a:rPr lang="en-US" sz="1050" dirty="0">
                <a:solidFill>
                  <a:srgbClr val="EEF0F8"/>
                </a:solidFill>
                <a:latin typeface="Arial" pitchFamily="34" charset="0"/>
                <a:ea typeface="Arial" pitchFamily="34" charset="-122"/>
                <a:cs typeface="Arial" pitchFamily="34" charset="-120"/>
              </a:rPr>
              <a:t>normal akış, float, position, flex (1B), grid (2B), mobil öncelikli</a:t>
            </a:r>
            <a:endParaRPr lang="en-US" sz="1050" dirty="0"/>
          </a:p>
        </p:txBody>
      </p:sp>
      <p:sp>
        <p:nvSpPr>
          <p:cNvPr id="31" name="benzetme"/>
          <p:cNvSpPr/>
          <p:nvPr/>
        </p:nvSpPr>
        <p:spPr>
          <a:xfrm>
            <a:off x="548640" y="4224528"/>
            <a:ext cx="8046720" cy="402336"/>
          </a:xfrm>
          <a:prstGeom prst="roundRect">
            <a:avLst>
              <a:gd name="adj" fmla="val 50000"/>
            </a:avLst>
          </a:prstGeom>
          <a:solidFill>
            <a:srgbClr val="232A55"/>
          </a:solidFill>
          <a:ln/>
        </p:spPr>
      </p:sp>
      <p:sp>
        <p:nvSpPr>
          <p:cNvPr id="32" name="benzetme-ikon"/>
          <p:cNvSpPr/>
          <p:nvPr/>
        </p:nvSpPr>
        <p:spPr>
          <a:xfrm>
            <a:off x="621792" y="4261104"/>
            <a:ext cx="329184" cy="329184"/>
          </a:xfrm>
          <a:prstGeom prst="ellipse">
            <a:avLst/>
          </a:prstGeom>
          <a:solidFill>
            <a:srgbClr val="FBBF24"/>
          </a:solidFill>
          <a:ln/>
        </p:spPr>
      </p:sp>
      <p:sp>
        <p:nvSpPr>
          <p:cNvPr id="33" name="Text 31"/>
          <p:cNvSpPr txBox="1"/>
          <p:nvPr/>
        </p:nvSpPr>
        <p:spPr>
          <a:xfrm>
            <a:off x="621792" y="4261104"/>
            <a:ext cx="329184" cy="329184"/>
          </a:xfrm>
          <a:prstGeom prst="rect">
            <a:avLst/>
          </a:prstGeom>
          <a:noFill/>
          <a:ln/>
        </p:spPr>
        <p:txBody>
          <a:bodyPr wrap="square" lIns="0" tIns="0" rIns="0" bIns="0" rtlCol="0" anchor="ctr"/>
          <a:lstStyle/>
          <a:p>
            <a:pPr marL="0" indent="0" algn="ctr">
              <a:buNone/>
            </a:pPr>
            <a:r>
              <a:rPr lang="en-US" sz="1600" b="1" dirty="0">
                <a:solidFill>
                  <a:srgbClr val="10142B"/>
                </a:solidFill>
                <a:latin typeface="Arial" pitchFamily="34" charset="0"/>
                <a:ea typeface="Arial" pitchFamily="34" charset="-122"/>
                <a:cs typeface="Arial" pitchFamily="34" charset="-120"/>
              </a:rPr>
              <a:t>≈</a:t>
            </a:r>
            <a:endParaRPr lang="en-US" sz="1600" dirty="0"/>
          </a:p>
        </p:txBody>
      </p:sp>
      <p:sp>
        <p:nvSpPr>
          <p:cNvPr id="34" name="Text 32"/>
          <p:cNvSpPr txBox="1"/>
          <p:nvPr/>
        </p:nvSpPr>
        <p:spPr>
          <a:xfrm>
            <a:off x="1042416" y="4224528"/>
            <a:ext cx="7452360" cy="402336"/>
          </a:xfrm>
          <a:prstGeom prst="rect">
            <a:avLst/>
          </a:prstGeom>
          <a:noFill/>
          <a:ln/>
        </p:spPr>
        <p:txBody>
          <a:bodyPr wrap="square" lIns="0" tIns="0" rIns="0" bIns="0" rtlCol="0" anchor="ctr"/>
          <a:lstStyle/>
          <a:p>
            <a:pPr marL="0" indent="0">
              <a:buNone/>
            </a:pPr>
            <a:r>
              <a:rPr lang="en-US" sz="1100" b="1" dirty="0">
                <a:solidFill>
                  <a:srgbClr val="FBBF24"/>
                </a:solidFill>
                <a:latin typeface="Arial" pitchFamily="34" charset="0"/>
                <a:ea typeface="Arial" pitchFamily="34" charset="-122"/>
                <a:cs typeface="Arial" pitchFamily="34" charset="-120"/>
              </a:rPr>
              <a:t>Gündelik hayatta: </a:t>
            </a:r>
            <a:r>
              <a:rPr lang="en-US" sz="1100" dirty="0">
                <a:solidFill>
                  <a:srgbClr val="EEF0F8"/>
                </a:solidFill>
                <a:latin typeface="Arial" pitchFamily="34" charset="0"/>
                <a:ea typeface="Arial" pitchFamily="34" charset="-122"/>
                <a:cs typeface="Arial" pitchFamily="34" charset="-120"/>
              </a:rPr>
              <a:t>HTML iskelet, CSS kıyafet ve duruş: aynı insan farklı kıyafetle bambaşka görünür, ama iskelet aynı kalır.</a:t>
            </a:r>
            <a:endParaRPr lang="en-US" sz="1100" dirty="0"/>
          </a:p>
        </p:txBody>
      </p:sp>
    </p:spTree>
  </p:cSld>
  <p:clrMapOvr>
    <a:masterClrMapping/>
  </p:clrMapOvr>
  <p:transition spd="med">
    <p:pull/>
  </p:transition>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txBox="1"/>
          <p:nvPr/>
        </p:nvSpPr>
        <p:spPr>
          <a:xfrm>
            <a:off x="548640" y="256032"/>
            <a:ext cx="4572000" cy="201168"/>
          </a:xfrm>
          <a:prstGeom prst="rect">
            <a:avLst/>
          </a:prstGeom>
          <a:noFill/>
          <a:ln/>
        </p:spPr>
        <p:txBody>
          <a:bodyPr wrap="square" lIns="0" tIns="0" rIns="0" bIns="0" rtlCol="0" anchor="t"/>
          <a:lstStyle/>
          <a:p>
            <a:pPr marL="0" indent="0">
              <a:buNone/>
            </a:pPr>
            <a:r>
              <a:rPr lang="en-US" sz="900" b="1" kern="0" spc="200" dirty="0">
                <a:solidFill>
                  <a:srgbClr val="8B7CFF"/>
                </a:solidFill>
                <a:latin typeface="Arial" pitchFamily="34" charset="0"/>
                <a:ea typeface="Arial" pitchFamily="34" charset="-122"/>
                <a:cs typeface="Arial" pitchFamily="34" charset="-120"/>
              </a:rPr>
              <a:t>KAPANIŞ</a:t>
            </a:r>
            <a:endParaRPr lang="en-US" sz="900" dirty="0"/>
          </a:p>
        </p:txBody>
      </p:sp>
      <p:sp>
        <p:nvSpPr>
          <p:cNvPr id="3" name="mini-box-0"/>
          <p:cNvSpPr/>
          <p:nvPr/>
        </p:nvSpPr>
        <p:spPr>
          <a:xfrm>
            <a:off x="8229600" y="201168"/>
            <a:ext cx="384048" cy="384048"/>
          </a:xfrm>
          <a:prstGeom prst="rect">
            <a:avLst/>
          </a:prstGeom>
          <a:ln w="9525">
            <a:solidFill>
              <a:srgbClr val="8B7CFF"/>
            </a:solidFill>
            <a:prstDash val="solid"/>
          </a:ln>
        </p:spPr>
      </p:sp>
      <p:sp>
        <p:nvSpPr>
          <p:cNvPr id="4" name="mini-box-1"/>
          <p:cNvSpPr/>
          <p:nvPr/>
        </p:nvSpPr>
        <p:spPr>
          <a:xfrm>
            <a:off x="8293608" y="265176"/>
            <a:ext cx="256032" cy="256032"/>
          </a:xfrm>
          <a:prstGeom prst="rect">
            <a:avLst/>
          </a:prstGeom>
          <a:ln w="9525">
            <a:solidFill>
              <a:srgbClr val="EEF0F8"/>
            </a:solidFill>
            <a:prstDash val="solid"/>
          </a:ln>
        </p:spPr>
      </p:sp>
      <p:sp>
        <p:nvSpPr>
          <p:cNvPr id="5" name="mini-box-2"/>
          <p:cNvSpPr/>
          <p:nvPr/>
        </p:nvSpPr>
        <p:spPr>
          <a:xfrm>
            <a:off x="8348472" y="320040"/>
            <a:ext cx="146304" cy="146304"/>
          </a:xfrm>
          <a:prstGeom prst="rect">
            <a:avLst/>
          </a:prstGeom>
          <a:solidFill>
            <a:srgbClr val="8B7CFF"/>
          </a:solidFill>
          <a:ln w="9525">
            <a:solidFill>
              <a:srgbClr val="8B7CFF"/>
            </a:solidFill>
            <a:prstDash val="solid"/>
          </a:ln>
        </p:spPr>
      </p:sp>
      <p:sp>
        <p:nvSpPr>
          <p:cNvPr id="6" name="ilerleme-zemin"/>
          <p:cNvSpPr/>
          <p:nvPr/>
        </p:nvSpPr>
        <p:spPr>
          <a:xfrm>
            <a:off x="0" y="5070348"/>
            <a:ext cx="9144000" cy="73152"/>
          </a:xfrm>
          <a:prstGeom prst="rect">
            <a:avLst/>
          </a:prstGeom>
          <a:solidFill>
            <a:srgbClr val="1A2044"/>
          </a:solidFill>
          <a:ln/>
        </p:spPr>
      </p:sp>
      <p:sp>
        <p:nvSpPr>
          <p:cNvPr id="7" name="ilerleme"/>
          <p:cNvSpPr/>
          <p:nvPr/>
        </p:nvSpPr>
        <p:spPr>
          <a:xfrm>
            <a:off x="0" y="5070348"/>
            <a:ext cx="9144000" cy="73152"/>
          </a:xfrm>
          <a:prstGeom prst="rect">
            <a:avLst/>
          </a:prstGeom>
          <a:solidFill>
            <a:srgbClr val="8B7CFF"/>
          </a:solidFill>
          <a:ln/>
        </p:spPr>
      </p:sp>
      <p:sp>
        <p:nvSpPr>
          <p:cNvPr id="8" name="Text 6"/>
          <p:cNvSpPr txBox="1"/>
          <p:nvPr/>
        </p:nvSpPr>
        <p:spPr>
          <a:xfrm>
            <a:off x="548640" y="4791456"/>
            <a:ext cx="3657600" cy="201168"/>
          </a:xfrm>
          <a:prstGeom prst="rect">
            <a:avLst/>
          </a:prstGeom>
          <a:noFill/>
          <a:ln/>
        </p:spPr>
        <p:txBody>
          <a:bodyPr wrap="square" lIns="0" tIns="0" rIns="0" bIns="0" rtlCol="0" anchor="t"/>
          <a:lstStyle/>
          <a:p>
            <a:pPr marL="0" indent="0">
              <a:buNone/>
            </a:pPr>
            <a:r>
              <a:rPr lang="en-US" sz="850" dirty="0">
                <a:solidFill>
                  <a:srgbClr val="6C759E"/>
                </a:solidFill>
                <a:latin typeface="Arial" pitchFamily="34" charset="0"/>
                <a:ea typeface="Arial" pitchFamily="34" charset="-122"/>
                <a:cs typeface="Arial" pitchFamily="34" charset="-120"/>
              </a:rPr>
              <a:t>KCŞ A.Ş.  ·  CSS ile stil ve düzen</a:t>
            </a:r>
            <a:endParaRPr lang="en-US" sz="850" dirty="0"/>
          </a:p>
        </p:txBody>
      </p:sp>
      <p:sp>
        <p:nvSpPr>
          <p:cNvPr id="9" name="Text 7"/>
          <p:cNvSpPr txBox="1"/>
          <p:nvPr/>
        </p:nvSpPr>
        <p:spPr>
          <a:xfrm>
            <a:off x="8092440" y="4791456"/>
            <a:ext cx="685800" cy="201168"/>
          </a:xfrm>
          <a:prstGeom prst="rect">
            <a:avLst/>
          </a:prstGeom>
          <a:noFill/>
          <a:ln/>
        </p:spPr>
        <p:txBody>
          <a:bodyPr wrap="square" lIns="0" tIns="0" rIns="0" bIns="0" rtlCol="0" anchor="t"/>
          <a:lstStyle/>
          <a:p>
            <a:pPr marL="0" indent="0" algn="r">
              <a:buNone/>
            </a:pPr>
            <a:r>
              <a:rPr lang="en-US" sz="850" dirty="0">
                <a:solidFill>
                  <a:srgbClr val="9AA3C7"/>
                </a:solidFill>
                <a:latin typeface="Courier New" pitchFamily="34" charset="0"/>
                <a:ea typeface="Courier New" pitchFamily="34" charset="-122"/>
                <a:cs typeface="Courier New" pitchFamily="34" charset="-120"/>
              </a:rPr>
              <a:t>43 / 43</a:t>
            </a:r>
            <a:endParaRPr lang="en-US" sz="850" dirty="0"/>
          </a:p>
        </p:txBody>
      </p:sp>
      <p:sp>
        <p:nvSpPr>
          <p:cNvPr id="10" name="Text 8"/>
          <p:cNvSpPr txBox="1"/>
          <p:nvPr/>
        </p:nvSpPr>
        <p:spPr>
          <a:xfrm>
            <a:off x="548640" y="548640"/>
            <a:ext cx="5486400" cy="228600"/>
          </a:xfrm>
          <a:prstGeom prst="rect">
            <a:avLst/>
          </a:prstGeom>
          <a:noFill/>
          <a:ln/>
        </p:spPr>
        <p:txBody>
          <a:bodyPr wrap="square" lIns="0" tIns="0" rIns="0" bIns="0" rtlCol="0" anchor="t"/>
          <a:lstStyle/>
          <a:p>
            <a:pPr marL="0" indent="0">
              <a:buNone/>
            </a:pPr>
            <a:r>
              <a:rPr lang="en-US" sz="1000" b="1" kern="0" spc="200" dirty="0">
                <a:solidFill>
                  <a:srgbClr val="FBBF24"/>
                </a:solidFill>
                <a:latin typeface="Arial" pitchFamily="34" charset="0"/>
                <a:ea typeface="Arial" pitchFamily="34" charset="-122"/>
                <a:cs typeface="Arial" pitchFamily="34" charset="-120"/>
              </a:rPr>
              <a:t>SORU-CEVAP ZAMANI</a:t>
            </a:r>
            <a:endParaRPr lang="en-US" sz="1000" dirty="0"/>
          </a:p>
        </p:txBody>
      </p:sp>
      <p:sp>
        <p:nvSpPr>
          <p:cNvPr id="11" name="Text 9"/>
          <p:cNvSpPr txBox="1"/>
          <p:nvPr/>
        </p:nvSpPr>
        <p:spPr>
          <a:xfrm>
            <a:off x="548640" y="914400"/>
            <a:ext cx="5029200" cy="822960"/>
          </a:xfrm>
          <a:prstGeom prst="rect">
            <a:avLst/>
          </a:prstGeom>
          <a:noFill/>
          <a:ln/>
        </p:spPr>
        <p:txBody>
          <a:bodyPr wrap="square" lIns="0" tIns="0" rIns="0" bIns="0" rtlCol="0" anchor="t"/>
          <a:lstStyle/>
          <a:p>
            <a:pPr marL="0" indent="0">
              <a:buNone/>
            </a:pPr>
            <a:r>
              <a:rPr lang="en-US" sz="4600" b="1" dirty="0">
                <a:solidFill>
                  <a:srgbClr val="EEF0F8"/>
                </a:solidFill>
                <a:latin typeface="Arial" pitchFamily="34" charset="0"/>
                <a:ea typeface="Arial" pitchFamily="34" charset="-122"/>
                <a:cs typeface="Arial" pitchFamily="34" charset="-120"/>
              </a:rPr>
              <a:t>Teşekkürler!</a:t>
            </a:r>
            <a:endParaRPr lang="en-US" sz="4600" dirty="0"/>
          </a:p>
        </p:txBody>
      </p:sp>
      <p:sp>
        <p:nvSpPr>
          <p:cNvPr id="12" name="Text 10"/>
          <p:cNvSpPr txBox="1"/>
          <p:nvPr/>
        </p:nvSpPr>
        <p:spPr>
          <a:xfrm>
            <a:off x="548640" y="1783080"/>
            <a:ext cx="5029200" cy="365760"/>
          </a:xfrm>
          <a:prstGeom prst="rect">
            <a:avLst/>
          </a:prstGeom>
          <a:noFill/>
          <a:ln/>
        </p:spPr>
        <p:txBody>
          <a:bodyPr wrap="square" lIns="0" tIns="0" rIns="0" bIns="0" rtlCol="0" anchor="t"/>
          <a:lstStyle/>
          <a:p>
            <a:pPr marL="0" indent="0">
              <a:buNone/>
            </a:pPr>
            <a:r>
              <a:rPr lang="en-US" sz="1700" dirty="0">
                <a:solidFill>
                  <a:srgbClr val="22D3EE"/>
                </a:solidFill>
                <a:latin typeface="Courier New" pitchFamily="34" charset="0"/>
                <a:ea typeface="Courier New" pitchFamily="34" charset="-122"/>
                <a:cs typeface="Courier New" pitchFamily="34" charset="-120"/>
              </a:rPr>
              <a:t>Sorularınızı bekliyoruz.</a:t>
            </a:r>
            <a:endParaRPr lang="en-US" sz="1700" dirty="0"/>
          </a:p>
        </p:txBody>
      </p:sp>
      <p:sp>
        <p:nvSpPr>
          <p:cNvPr id="13" name="Text 11"/>
          <p:cNvSpPr txBox="1"/>
          <p:nvPr/>
        </p:nvSpPr>
        <p:spPr>
          <a:xfrm>
            <a:off x="548640" y="2331720"/>
            <a:ext cx="5120640" cy="274320"/>
          </a:xfrm>
          <a:prstGeom prst="rect">
            <a:avLst/>
          </a:prstGeom>
          <a:noFill/>
          <a:ln/>
        </p:spPr>
        <p:txBody>
          <a:bodyPr wrap="square" lIns="0" tIns="0" rIns="0" bIns="0" rtlCol="0" anchor="t"/>
          <a:lstStyle/>
          <a:p>
            <a:pPr marL="0" indent="0">
              <a:buNone/>
            </a:pPr>
            <a:r>
              <a:rPr lang="en-US" sz="1200" dirty="0">
                <a:solidFill>
                  <a:srgbClr val="EEF0F8"/>
                </a:solidFill>
                <a:latin typeface="Arial" pitchFamily="34" charset="0"/>
                <a:ea typeface="Arial" pitchFamily="34" charset="-122"/>
                <a:cs typeface="Arial" pitchFamily="34" charset="-120"/>
              </a:rPr>
              <a:t>KCŞ A.Ş.  |  CSS styling basics · CSS text styling · CSS layout</a:t>
            </a:r>
            <a:endParaRPr lang="en-US" sz="1200" dirty="0"/>
          </a:p>
        </p:txBody>
      </p:sp>
      <p:sp>
        <p:nvSpPr>
          <p:cNvPr id="14" name="Text 12"/>
          <p:cNvSpPr txBox="1"/>
          <p:nvPr/>
        </p:nvSpPr>
        <p:spPr>
          <a:xfrm>
            <a:off x="548640" y="2651760"/>
            <a:ext cx="5120640" cy="274320"/>
          </a:xfrm>
          <a:prstGeom prst="rect">
            <a:avLst/>
          </a:prstGeom>
          <a:noFill/>
          <a:ln/>
        </p:spPr>
        <p:txBody>
          <a:bodyPr wrap="square" lIns="0" tIns="0" rIns="0" bIns="0" rtlCol="0" anchor="t"/>
          <a:lstStyle/>
          <a:p>
            <a:pPr marL="0" indent="0">
              <a:buNone/>
            </a:pPr>
            <a:r>
              <a:rPr lang="en-US" sz="1000" dirty="0">
                <a:solidFill>
                  <a:srgbClr val="9AA3C7"/>
                </a:solidFill>
                <a:latin typeface="Arial" pitchFamily="34" charset="0"/>
                <a:ea typeface="Arial" pitchFamily="34" charset="-122"/>
                <a:cs typeface="Arial" pitchFamily="34" charset="-120"/>
              </a:rPr>
              <a:t>Kaynak: MDN Web Docs · Learn web development › Core</a:t>
            </a:r>
            <a:endParaRPr lang="en-US" sz="1000" dirty="0"/>
          </a:p>
        </p:txBody>
      </p:sp>
      <p:sp>
        <p:nvSpPr>
          <p:cNvPr id="15" name="Text 13"/>
          <p:cNvSpPr txBox="1"/>
          <p:nvPr/>
        </p:nvSpPr>
        <p:spPr>
          <a:xfrm>
            <a:off x="548640" y="3977640"/>
            <a:ext cx="8046720" cy="640080"/>
          </a:xfrm>
          <a:prstGeom prst="rect">
            <a:avLst/>
          </a:prstGeom>
          <a:noFill/>
          <a:ln/>
        </p:spPr>
        <p:txBody>
          <a:bodyPr wrap="square" lIns="0" tIns="0" rIns="0" bIns="0" rtlCol="0" anchor="t"/>
          <a:lstStyle/>
          <a:p>
            <a:pPr marL="0" indent="0">
              <a:buNone/>
            </a:pPr>
            <a:r>
              <a:rPr lang="en-US" sz="850" dirty="0">
                <a:solidFill>
                  <a:srgbClr val="6C759E"/>
                </a:solidFill>
                <a:latin typeface="Arial" pitchFamily="34" charset="0"/>
                <a:ea typeface="Arial" pitchFamily="34" charset="-122"/>
                <a:cs typeface="Arial" pitchFamily="34" charset="-120"/>
              </a:rPr>
              <a:t>Uyarı: Bu içerik, SCÜ Şarkışla UBYO Web Programlama I dersi kapsamında tamamen eğitim amaçlı çevrilmiş ve derlenmiştir. Orijinal dokümantasyon kaynakları (MDN Web Docs, Vue.js, Three.js vb.) kendi orijinal lisanslarına (CC-BY-SA, MIT) tabidir. Bu çalışmanın hiçbir ticari amacı yoktur.</a:t>
            </a:r>
            <a:endParaRPr lang="en-US" sz="850" dirty="0"/>
          </a:p>
        </p:txBody>
      </p:sp>
      <p:sp>
        <p:nvSpPr>
          <p:cNvPr id="16" name="kod-paneli"/>
          <p:cNvSpPr/>
          <p:nvPr/>
        </p:nvSpPr>
        <p:spPr>
          <a:xfrm>
            <a:off x="5669280" y="640080"/>
            <a:ext cx="2926080" cy="2377440"/>
          </a:xfrm>
          <a:prstGeom prst="roundRect">
            <a:avLst>
              <a:gd name="adj" fmla="val 3077"/>
            </a:avLst>
          </a:prstGeom>
          <a:solidFill>
            <a:srgbClr val="0A0D1F"/>
          </a:solidFill>
          <a:ln w="9525">
            <a:solidFill>
              <a:srgbClr val="2E3768"/>
            </a:solidFill>
            <a:prstDash val="solid"/>
          </a:ln>
        </p:spPr>
      </p:sp>
      <p:sp>
        <p:nvSpPr>
          <p:cNvPr id="17" name="Text 15"/>
          <p:cNvSpPr txBox="1"/>
          <p:nvPr/>
        </p:nvSpPr>
        <p:spPr>
          <a:xfrm>
            <a:off x="7132320" y="694944"/>
            <a:ext cx="1371600" cy="182880"/>
          </a:xfrm>
          <a:prstGeom prst="rect">
            <a:avLst/>
          </a:prstGeom>
          <a:noFill/>
          <a:ln/>
        </p:spPr>
        <p:txBody>
          <a:bodyPr wrap="square" lIns="0" tIns="0" rIns="0" bIns="0" rtlCol="0" anchor="t"/>
          <a:lstStyle/>
          <a:p>
            <a:pPr marL="0" indent="0" algn="r">
              <a:buNone/>
            </a:pPr>
            <a:r>
              <a:rPr lang="en-US" sz="800" dirty="0">
                <a:solidFill>
                  <a:srgbClr val="6C759E"/>
                </a:solidFill>
                <a:latin typeface="Courier New" pitchFamily="34" charset="0"/>
                <a:ea typeface="Courier New" pitchFamily="34" charset="-122"/>
                <a:cs typeface="Courier New" pitchFamily="34" charset="-120"/>
              </a:rPr>
              <a:t>son.css</a:t>
            </a:r>
            <a:endParaRPr lang="en-US" sz="800" dirty="0"/>
          </a:p>
        </p:txBody>
      </p:sp>
      <p:sp>
        <p:nvSpPr>
          <p:cNvPr id="18" name="Text 16"/>
          <p:cNvSpPr txBox="1"/>
          <p:nvPr/>
        </p:nvSpPr>
        <p:spPr>
          <a:xfrm>
            <a:off x="5815584" y="877824"/>
            <a:ext cx="2651760" cy="2066544"/>
          </a:xfrm>
          <a:prstGeom prst="rect">
            <a:avLst/>
          </a:prstGeom>
          <a:noFill/>
          <a:ln/>
        </p:spPr>
        <p:txBody>
          <a:bodyPr wrap="square" lIns="0" tIns="0" rIns="0" bIns="0" rtlCol="0" anchor="ctr"/>
          <a:lstStyle/>
          <a:p>
            <a:pPr marL="0" indent="0">
              <a:buNone/>
            </a:pPr>
            <a:r>
              <a:rPr lang="en-US" sz="1100" dirty="0">
                <a:solidFill>
                  <a:srgbClr val="F472B6"/>
                </a:solidFill>
                <a:latin typeface="Courier New" pitchFamily="34" charset="0"/>
                <a:ea typeface="Courier New" pitchFamily="34" charset="-122"/>
                <a:cs typeface="Courier New" pitchFamily="34" charset="-120"/>
              </a:rPr>
              <a:t>.sunum </a:t>
            </a:r>
            <a:r>
              <a:rPr lang="en-US" sz="1100" dirty="0">
                <a:solidFill>
                  <a:srgbClr val="6C759E"/>
                </a:solidFill>
                <a:latin typeface="Courier New" pitchFamily="34" charset="0"/>
                <a:ea typeface="Courier New" pitchFamily="34" charset="-122"/>
                <a:cs typeface="Courier New" pitchFamily="34" charset="-120"/>
              </a:rPr>
              <a:t>{</a:t>
            </a:r>
            <a:endParaRPr lang="en-US" sz="1100" dirty="0"/>
          </a:p>
          <a:p>
            <a:pPr marL="0" indent="0">
              <a:buNone/>
            </a:pPr>
            <a:r>
              <a:rPr lang="en-US" sz="1100" dirty="0">
                <a:solidFill>
                  <a:srgbClr val="EEF0F8"/>
                </a:solidFill>
                <a:latin typeface="Courier New" pitchFamily="34" charset="0"/>
                <a:ea typeface="Courier New" pitchFamily="34" charset="-122"/>
                <a:cs typeface="Courier New" pitchFamily="34" charset="-120"/>
              </a:rPr>
              <a:t>  </a:t>
            </a:r>
            <a:r>
              <a:rPr lang="en-US" sz="1100" dirty="0">
                <a:solidFill>
                  <a:srgbClr val="22D3EE"/>
                </a:solidFill>
                <a:latin typeface="Courier New" pitchFamily="34" charset="0"/>
                <a:ea typeface="Courier New" pitchFamily="34" charset="-122"/>
                <a:cs typeface="Courier New" pitchFamily="34" charset="-120"/>
              </a:rPr>
              <a:t>display</a:t>
            </a:r>
            <a:r>
              <a:rPr lang="en-US" sz="1100" dirty="0">
                <a:solidFill>
                  <a:srgbClr val="6C759E"/>
                </a:solidFill>
                <a:latin typeface="Courier New" pitchFamily="34" charset="0"/>
                <a:ea typeface="Courier New" pitchFamily="34" charset="-122"/>
                <a:cs typeface="Courier New" pitchFamily="34" charset="-120"/>
              </a:rPr>
              <a:t>: </a:t>
            </a:r>
            <a:r>
              <a:rPr lang="en-US" sz="1100" dirty="0">
                <a:solidFill>
                  <a:srgbClr val="FBBF24"/>
                </a:solidFill>
                <a:latin typeface="Courier New" pitchFamily="34" charset="0"/>
                <a:ea typeface="Courier New" pitchFamily="34" charset="-122"/>
                <a:cs typeface="Courier New" pitchFamily="34" charset="-120"/>
              </a:rPr>
              <a:t>flex;</a:t>
            </a:r>
            <a:endParaRPr lang="en-US" sz="1100" dirty="0"/>
          </a:p>
          <a:p>
            <a:pPr marL="0" indent="0">
              <a:buNone/>
            </a:pPr>
            <a:r>
              <a:rPr lang="en-US" sz="1100" dirty="0">
                <a:solidFill>
                  <a:srgbClr val="EEF0F8"/>
                </a:solidFill>
                <a:latin typeface="Courier New" pitchFamily="34" charset="0"/>
                <a:ea typeface="Courier New" pitchFamily="34" charset="-122"/>
                <a:cs typeface="Courier New" pitchFamily="34" charset="-120"/>
              </a:rPr>
              <a:t>  </a:t>
            </a:r>
            <a:r>
              <a:rPr lang="en-US" sz="1100" dirty="0">
                <a:solidFill>
                  <a:srgbClr val="22D3EE"/>
                </a:solidFill>
                <a:latin typeface="Courier New" pitchFamily="34" charset="0"/>
                <a:ea typeface="Courier New" pitchFamily="34" charset="-122"/>
                <a:cs typeface="Courier New" pitchFamily="34" charset="-120"/>
              </a:rPr>
              <a:t>align-items</a:t>
            </a:r>
            <a:r>
              <a:rPr lang="en-US" sz="1100" dirty="0">
                <a:solidFill>
                  <a:srgbClr val="6C759E"/>
                </a:solidFill>
                <a:latin typeface="Courier New" pitchFamily="34" charset="0"/>
                <a:ea typeface="Courier New" pitchFamily="34" charset="-122"/>
                <a:cs typeface="Courier New" pitchFamily="34" charset="-120"/>
              </a:rPr>
              <a:t>: </a:t>
            </a:r>
            <a:r>
              <a:rPr lang="en-US" sz="1100" dirty="0">
                <a:solidFill>
                  <a:srgbClr val="FBBF24"/>
                </a:solidFill>
                <a:latin typeface="Courier New" pitchFamily="34" charset="0"/>
                <a:ea typeface="Courier New" pitchFamily="34" charset="-122"/>
                <a:cs typeface="Courier New" pitchFamily="34" charset="-120"/>
              </a:rPr>
              <a:t>center;</a:t>
            </a:r>
            <a:endParaRPr lang="en-US" sz="1100" dirty="0"/>
          </a:p>
          <a:p>
            <a:pPr marL="0" indent="0">
              <a:buNone/>
            </a:pPr>
            <a:r>
              <a:rPr lang="en-US" sz="1100" dirty="0">
                <a:solidFill>
                  <a:srgbClr val="6C759E"/>
                </a:solidFill>
                <a:latin typeface="Courier New" pitchFamily="34" charset="0"/>
                <a:ea typeface="Courier New" pitchFamily="34" charset="-122"/>
                <a:cs typeface="Courier New" pitchFamily="34" charset="-120"/>
              </a:rPr>
              <a:t>}</a:t>
            </a:r>
            <a:endParaRPr lang="en-US" sz="1100" dirty="0"/>
          </a:p>
          <a:p>
            <a:pPr marL="0" indent="0">
              <a:buNone/>
            </a:pPr>
            <a:r>
              <a:rPr lang="en-US" sz="1100" dirty="0">
                <a:solidFill>
                  <a:srgbClr val="F472B6"/>
                </a:solidFill>
                <a:latin typeface="Courier New" pitchFamily="34" charset="0"/>
                <a:ea typeface="Courier New" pitchFamily="34" charset="-122"/>
                <a:cs typeface="Courier New" pitchFamily="34" charset="-120"/>
              </a:rPr>
              <a:t>.sorular:hover </a:t>
            </a:r>
            <a:r>
              <a:rPr lang="en-US" sz="1100" dirty="0">
                <a:solidFill>
                  <a:srgbClr val="6C759E"/>
                </a:solidFill>
                <a:latin typeface="Courier New" pitchFamily="34" charset="0"/>
                <a:ea typeface="Courier New" pitchFamily="34" charset="-122"/>
                <a:cs typeface="Courier New" pitchFamily="34" charset="-120"/>
              </a:rPr>
              <a:t>{</a:t>
            </a:r>
            <a:endParaRPr lang="en-US" sz="1100" dirty="0"/>
          </a:p>
          <a:p>
            <a:pPr marL="0" indent="0">
              <a:buNone/>
            </a:pPr>
            <a:r>
              <a:rPr lang="en-US" sz="1100" dirty="0">
                <a:solidFill>
                  <a:srgbClr val="EEF0F8"/>
                </a:solidFill>
                <a:latin typeface="Courier New" pitchFamily="34" charset="0"/>
                <a:ea typeface="Courier New" pitchFamily="34" charset="-122"/>
                <a:cs typeface="Courier New" pitchFamily="34" charset="-120"/>
              </a:rPr>
              <a:t>  </a:t>
            </a:r>
            <a:r>
              <a:rPr lang="en-US" sz="1100" dirty="0">
                <a:solidFill>
                  <a:srgbClr val="22D3EE"/>
                </a:solidFill>
                <a:latin typeface="Courier New" pitchFamily="34" charset="0"/>
                <a:ea typeface="Courier New" pitchFamily="34" charset="-122"/>
                <a:cs typeface="Courier New" pitchFamily="34" charset="-120"/>
              </a:rPr>
              <a:t>cursor</a:t>
            </a:r>
            <a:r>
              <a:rPr lang="en-US" sz="1100" dirty="0">
                <a:solidFill>
                  <a:srgbClr val="6C759E"/>
                </a:solidFill>
                <a:latin typeface="Courier New" pitchFamily="34" charset="0"/>
                <a:ea typeface="Courier New" pitchFamily="34" charset="-122"/>
                <a:cs typeface="Courier New" pitchFamily="34" charset="-120"/>
              </a:rPr>
              <a:t>: </a:t>
            </a:r>
            <a:r>
              <a:rPr lang="en-US" sz="1100" dirty="0">
                <a:solidFill>
                  <a:srgbClr val="FBBF24"/>
                </a:solidFill>
                <a:latin typeface="Courier New" pitchFamily="34" charset="0"/>
                <a:ea typeface="Courier New" pitchFamily="34" charset="-122"/>
                <a:cs typeface="Courier New" pitchFamily="34" charset="-120"/>
              </a:rPr>
              <a:t>pointer;</a:t>
            </a:r>
            <a:endParaRPr lang="en-US" sz="1100" dirty="0"/>
          </a:p>
          <a:p>
            <a:pPr marL="0" indent="0">
              <a:buNone/>
            </a:pPr>
            <a:r>
              <a:rPr lang="en-US" sz="1100" dirty="0">
                <a:solidFill>
                  <a:srgbClr val="6C759E"/>
                </a:solidFill>
                <a:latin typeface="Courier New" pitchFamily="34" charset="0"/>
                <a:ea typeface="Courier New" pitchFamily="34" charset="-122"/>
                <a:cs typeface="Courier New" pitchFamily="34" charset="-120"/>
              </a:rPr>
              <a:t>}</a:t>
            </a:r>
            <a:endParaRPr lang="en-US" sz="1100" dirty="0"/>
          </a:p>
        </p:txBody>
      </p:sp>
    </p:spTree>
  </p:cSld>
  <p:clrMapOvr>
    <a:masterClrMapping/>
  </p:clrMapOvr>
  <p:transition spd="med">
    <p:pul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12678</Words>
  <Application>Microsoft Office PowerPoint</Application>
  <PresentationFormat>Ekran Gösterisi (16:9)</PresentationFormat>
  <Paragraphs>1097</Paragraphs>
  <Slides>43</Slides>
  <Notes>43</Notes>
  <HiddenSlides>0</HiddenSlides>
  <MMClips>0</MMClips>
  <ScaleCrop>false</ScaleCrop>
  <HeadingPairs>
    <vt:vector size="6" baseType="variant">
      <vt:variant>
        <vt:lpstr>Kullanılan Yazı Tipleri</vt:lpstr>
      </vt:variant>
      <vt:variant>
        <vt:i4>2</vt:i4>
      </vt:variant>
      <vt:variant>
        <vt:lpstr>Tema</vt:lpstr>
      </vt:variant>
      <vt:variant>
        <vt:i4>1</vt:i4>
      </vt:variant>
      <vt:variant>
        <vt:lpstr>Slayt Başlıkları</vt:lpstr>
      </vt:variant>
      <vt:variant>
        <vt:i4>43</vt:i4>
      </vt:variant>
    </vt:vector>
  </HeadingPairs>
  <TitlesOfParts>
    <vt:vector size="46" baseType="lpstr">
      <vt:lpstr>Arial</vt:lpstr>
      <vt:lpstr>Courier New</vt:lpstr>
      <vt:lpstr>Office Theme</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KCŞ A.Ş.</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KCŞ A.Ş. - CSS ile Stil ve Düzen</dc:title>
  <dc:subject>Web Programlama I - CSS styling basics, CSS text styling, CSS layout</dc:subject>
  <dc:creator>KCŞ A.Ş.</dc:creator>
  <cp:lastModifiedBy>merve</cp:lastModifiedBy>
  <cp:revision>2</cp:revision>
  <dcterms:created xsi:type="dcterms:W3CDTF">2026-10-26T15:41:49Z</dcterms:created>
  <dcterms:modified xsi:type="dcterms:W3CDTF">2026-10-26T19:24:41Z</dcterms:modified>
</cp:coreProperties>
</file>